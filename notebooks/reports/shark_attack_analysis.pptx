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2"/>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5" r:id="rId68"/>
    <p:sldId id="326" r:id="rId69"/>
    <p:sldId id="327" r:id="rId70"/>
    <p:sldId id="328" r:id="rId71"/>
  </p:sldIdLst>
  <p:sldSz cx="18288000" cy="10287000"/>
  <p:notesSz cx="6858000" cy="9144000"/>
  <p:embeddedFontLst>
    <p:embeddedFont>
      <p:font typeface="Arial MT Pro" panose="020B0604020202020204" charset="0"/>
      <p:regular r:id="rId73"/>
    </p:embeddedFont>
    <p:embeddedFont>
      <p:font typeface="Arial MT Pro Bold" panose="020B0604020202020204" charset="0"/>
      <p:regular r:id="rId74"/>
    </p:embeddedFont>
    <p:embeddedFont>
      <p:font typeface="Arial MT Pro Italics" panose="020B0604020202020204" charset="0"/>
      <p:regular r:id="rId75"/>
    </p:embeddedFont>
    <p:embeddedFont>
      <p:font typeface="Canva Sans" panose="020B0604020202020204" charset="0"/>
      <p:regular r:id="rId76"/>
    </p:embeddedFont>
    <p:embeddedFont>
      <p:font typeface="Canva Sans Bold" panose="020B0604020202020204" charset="0"/>
      <p:regular r:id="rId77"/>
    </p:embeddedFont>
    <p:embeddedFont>
      <p:font typeface="Poppins" panose="020B0502040204020203" pitchFamily="2" charset="0"/>
      <p:regular r:id="rId78"/>
    </p:embeddedFont>
    <p:embeddedFont>
      <p:font typeface="Poppins Bold" panose="020B0604020202020204" charset="0"/>
      <p:regular r:id="rId7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Identify the 5 Vs of Big Data. Explain using this section.</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Discuss the advantages and challenges to an organisation of using complex data sets for decision making.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Detail the process of preparing data for analytical modeling, starting with data cleaning, where erroneous or missing values are identified and corrected to ensure data quality. Then, discuss discretization, the process of converting continuous variables into categorical ones, which can simplify analysis and improve interpretability. Move on to aggregation, where data is combined into summary statistics or categories to reduce complexity and facilitate analysis. Finally, explain data reduction, which involves techniques such as principal component analysis or feature selection to reduce the dimensionality of the dataset while retaining relevant information, thereby improving computational efficiency and model performance. </a:t>
            </a:r>
          </a:p>
          <a:p>
            <a:endParaRPr lang="en-US"/>
          </a:p>
          <a:p>
            <a:endParaRPr lang="en-US"/>
          </a:p>
          <a:p>
            <a:r>
              <a:rPr lang="en-US"/>
              <a:t>Identify three potential issues that may arise during the preparation of data for an applied analytical model. First, discuss data quality issues, such as missing values, outliers, or inconsistencies, which can skew analysis results and undermine the reliability of the model. Second, highlight the challenge of feature selection, where selecting the most relevant variables from a large pool of potential predictors can be subjective and may lead to model overfitting or underfitting. Lastly, address the issue of data imbalance, particularly in classification tasks, where one class may be significantly underrepresented, leading to biased model performance and inaccurate predictions.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Detail the process of preparing data for analytical modeling, starting with data cleaning, where erroneous or missing values are identified and corrected to ensure data quality. Then, discuss discretization, the process of converting continuous variables into categorical ones, which can simplify analysis and improve interpretability. Move on to aggregation, where data is combined into summary statistics or categories to reduce complexity and facilitate analysis. Finally, explain data reduction, which involves techniques such as principal component analysis or feature selection to reduce the dimensionality of the dataset while retaining relevant information, thereby improving computational efficiency and model performance. </a:t>
            </a:r>
          </a:p>
          <a:p>
            <a:endParaRPr lang="en-US"/>
          </a:p>
          <a:p>
            <a:endParaRPr lang="en-US"/>
          </a:p>
          <a:p>
            <a:r>
              <a:rPr lang="en-US"/>
              <a:t>Identify three potential issues that may arise during the preparation of data for an applied analytical model. First, discuss data quality issues, such as missing values, outliers, or inconsistencies, which can skew analysis results and undermine the reliability of the model. Second, highlight the challenge of feature selection, where selecting the most relevant variables from a large pool of potential predictors can be subjective and may lead to model overfitting or underfitting. Lastly, address the issue of data imbalance, particularly in classification tasks, where one class may be significantly underrepresented, leading to biased model performance and inaccurate predictions.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Detail the process of preparing data for analytical modeling, starting with data cleaning, where erroneous or missing values are identified and corrected to ensure data quality. Then, discuss discretization, the process of converting continuous variables into categorical ones, which can simplify analysis and improve interpretability. Move on to aggregation, where data is combined into summary statistics or categories to reduce complexity and facilitate analysis. Finally, explain data reduction, which involves techniques such as principal component analysis or feature selection to reduce the dimensionality of the dataset while retaining relevant information, thereby improving computational efficiency and model performance. </a:t>
            </a:r>
          </a:p>
          <a:p>
            <a:endParaRPr lang="en-US"/>
          </a:p>
          <a:p>
            <a:endParaRPr lang="en-US"/>
          </a:p>
          <a:p>
            <a:r>
              <a:rPr lang="en-US"/>
              <a:t>Identify three potential issues that may arise during the preparation of data for an applied analytical model. First, discuss data quality issues, such as missing values, outliers, or inconsistencies, which can skew analysis results and undermine the reliability of the model. Second, highlight the challenge of feature selection, where selecting the most relevant variables from a large pool of potential predictors can be subjective and may lead to model overfitting or underfitting. Lastly, address the issue of data imbalance, particularly in classification tasks, where one class may be significantly underrepresented, leading to biased model performance and inaccurate predictions.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Detail the process of preparing data for analytical modeling, starting with data cleaning, where erroneous or missing values are identified and corrected to ensure data quality. Then, discuss discretization, the process of converting continuous variables into categorical ones, which can simplify analysis and improve interpretability. Move on to aggregation, where data is combined into summary statistics or categories to reduce complexity and facilitate analysis. Finally, explain data reduction, which involves techniques such as principal component analysis or feature selection to reduce the dimensionality of the dataset while retaining relevant information, thereby improving computational efficiency and model performance. </a:t>
            </a:r>
          </a:p>
          <a:p>
            <a:endParaRPr lang="en-US"/>
          </a:p>
          <a:p>
            <a:endParaRPr lang="en-US"/>
          </a:p>
          <a:p>
            <a:r>
              <a:rPr lang="en-US"/>
              <a:t>Identify three potential issues that may arise during the preparation of data for an applied analytical model. First, discuss data quality issues, such as missing values, outliers, or inconsistencies, which can skew analysis results and undermine the reliability of the model. Second, highlight the challenge of feature selection, where selecting the most relevant variables from a large pool of potential predictors can be subjective and may lead to model overfitting or underfitting. Lastly, address the issue of data imbalance, particularly in classification tasks, where one class may be significantly underrepresented, leading to biased model performance and inaccurate predictions.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Detail the process of preparing data for analytical modeling, starting with data cleaning, where erroneous or missing values are identified and corrected to ensure data quality. Then, discuss discretization, the process of converting continuous variables into categorical ones, which can simplify analysis and improve interpretability. Move on to aggregation, where data is combined into summary statistics or categories to reduce complexity and facilitate analysis. Finally, explain data reduction, which involves techniques such as principal component analysis or feature selection to reduce the dimensionality of the dataset while retaining relevant information, thereby improving computational efficiency and model performance. </a:t>
            </a:r>
          </a:p>
          <a:p>
            <a:endParaRPr lang="en-US"/>
          </a:p>
          <a:p>
            <a:endParaRPr lang="en-US"/>
          </a:p>
          <a:p>
            <a:r>
              <a:rPr lang="en-US"/>
              <a:t>Identify three potential issues that may arise during the preparation of data for an applied analytical model. First, discuss data quality issues, such as missing values, outliers, or inconsistencies, which can skew analysis results and undermine the reliability of the model. Second, highlight the challenge of feature selection, where selecting the most relevant variables from a large pool of potential predictors can be subjective and may lead to model overfitting or underfitting. Lastly, address the issue of data imbalance, particularly in classification tasks, where one class may be significantly underrepresented, leading to biased model performance and inaccurate predictions.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Emphasize the primary reasons for performing data transformation before inputting it into an applied analytical model. Firstly, discuss the need to normalize or standardize data to ensure that variables are on a comparable scale, preventing certain features from dominating the analysis due to their larger magnitude. Secondly, highlight the importance of handling skewed distributions through techniques like log transformation or power transformation, which can improve the performance of certain models by making the data more symmetric and reducing the impact of outliers. Lastly, mention the necessity of encoding categorical variables into numerical representations to enable their inclusion in mathematical models, ensuring that all relevant information is captured for analysis.</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Emphasize the primary reasons for performing data transformation before inputting it into an applied analytical model. Firstly, discuss the need to normalize or standardize data to ensure that variables are on a comparable scale, preventing certain features from dominating the analysis due to their larger magnitude. Secondly, highlight the importance of handling skewed distributions through techniques like log transformation or power transformation, which can improve the performance of certain models by making the data more symmetric and reducing the impact of outliers. Lastly, mention the necessity of encoding categorical variables into numerical representations to enable their inclusion in mathematical models, ensuring that all relevant information is captured for analysis.</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Emphasize the primary reasons for performing data transformation before inputting it into an applied analytical model. Firstly, discuss the need to normalize or standardize data to ensure that variables are on a comparable scale, preventing certain features from dominating the analysis due to their larger magnitude. Secondly, highlight the importance of handling skewed distributions through techniques like log transformation or power transformation, which can improve the performance of certain models by making the data more symmetric and reducing the impact of outliers. Lastly, mention the necessity of encoding categorical variables into numerical representations to enable their inclusion in mathematical models, ensuring that all relevant information is captured for analysis.</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469818"/>
            <a:ext cx="13373100" cy="1117763"/>
            <a:chOff x="0" y="0"/>
            <a:chExt cx="17830800" cy="1490351"/>
          </a:xfrm>
        </p:grpSpPr>
        <p:sp>
          <p:nvSpPr>
            <p:cNvPr id="3" name="Freeform 3"/>
            <p:cNvSpPr/>
            <p:nvPr/>
          </p:nvSpPr>
          <p:spPr>
            <a:xfrm>
              <a:off x="0" y="0"/>
              <a:ext cx="17830800" cy="1490351"/>
            </a:xfrm>
            <a:custGeom>
              <a:avLst/>
              <a:gdLst/>
              <a:ahLst/>
              <a:cxnLst/>
              <a:rect l="l" t="t" r="r" b="b"/>
              <a:pathLst>
                <a:path w="17830800" h="1490351">
                  <a:moveTo>
                    <a:pt x="0" y="0"/>
                  </a:moveTo>
                  <a:lnTo>
                    <a:pt x="17830800" y="0"/>
                  </a:lnTo>
                  <a:lnTo>
                    <a:pt x="17830800" y="1490351"/>
                  </a:lnTo>
                  <a:lnTo>
                    <a:pt x="0" y="1490351"/>
                  </a:lnTo>
                  <a:close/>
                </a:path>
              </a:pathLst>
            </a:custGeom>
          </p:spPr>
        </p:sp>
        <p:sp>
          <p:nvSpPr>
            <p:cNvPr id="4" name="TextBox 4"/>
            <p:cNvSpPr txBox="1"/>
            <p:nvPr/>
          </p:nvSpPr>
          <p:spPr>
            <a:xfrm>
              <a:off x="0" y="-114300"/>
              <a:ext cx="17830800"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Prescriptive and Predictive Analytical Models</a:t>
              </a:r>
            </a:p>
          </p:txBody>
        </p:sp>
      </p:grpSp>
      <p:grpSp>
        <p:nvGrpSpPr>
          <p:cNvPr id="5" name="Group 5"/>
          <p:cNvGrpSpPr/>
          <p:nvPr/>
        </p:nvGrpSpPr>
        <p:grpSpPr>
          <a:xfrm>
            <a:off x="1028700" y="1587582"/>
            <a:ext cx="16230600" cy="2841755"/>
            <a:chOff x="0" y="0"/>
            <a:chExt cx="21640800" cy="3789006"/>
          </a:xfrm>
        </p:grpSpPr>
        <p:sp>
          <p:nvSpPr>
            <p:cNvPr id="6" name="Freeform 6"/>
            <p:cNvSpPr/>
            <p:nvPr/>
          </p:nvSpPr>
          <p:spPr>
            <a:xfrm>
              <a:off x="0" y="0"/>
              <a:ext cx="21640800" cy="3789006"/>
            </a:xfrm>
            <a:custGeom>
              <a:avLst/>
              <a:gdLst/>
              <a:ahLst/>
              <a:cxnLst/>
              <a:rect l="l" t="t" r="r" b="b"/>
              <a:pathLst>
                <a:path w="21640800" h="3789006">
                  <a:moveTo>
                    <a:pt x="0" y="0"/>
                  </a:moveTo>
                  <a:lnTo>
                    <a:pt x="21640800" y="0"/>
                  </a:lnTo>
                  <a:lnTo>
                    <a:pt x="21640800" y="3789006"/>
                  </a:lnTo>
                  <a:lnTo>
                    <a:pt x="0" y="3789006"/>
                  </a:lnTo>
                  <a:close/>
                </a:path>
              </a:pathLst>
            </a:custGeom>
          </p:spPr>
        </p:sp>
        <p:sp>
          <p:nvSpPr>
            <p:cNvPr id="7" name="TextBox 7"/>
            <p:cNvSpPr txBox="1"/>
            <p:nvPr/>
          </p:nvSpPr>
          <p:spPr>
            <a:xfrm>
              <a:off x="0" y="-161925"/>
              <a:ext cx="21640800" cy="3950931"/>
            </a:xfrm>
            <a:prstGeom prst="rect">
              <a:avLst/>
            </a:prstGeom>
          </p:spPr>
          <p:txBody>
            <a:bodyPr lIns="0" tIns="0" rIns="0" bIns="0" rtlCol="0" anchor="t"/>
            <a:lstStyle/>
            <a:p>
              <a:pPr algn="just">
                <a:lnSpc>
                  <a:spcPts val="4800"/>
                </a:lnSpc>
              </a:pPr>
              <a:r>
                <a:rPr lang="en-US" sz="3200" b="1">
                  <a:solidFill>
                    <a:srgbClr val="2B4865"/>
                  </a:solidFill>
                  <a:latin typeface="Arial MT Pro Bold"/>
                  <a:ea typeface="Arial MT Pro Bold"/>
                  <a:cs typeface="Arial MT Pro Bold"/>
                  <a:sym typeface="Arial MT Pro Bold"/>
                </a:rPr>
                <a:t>Predictive Analytical Models</a:t>
              </a:r>
            </a:p>
            <a:p>
              <a:pPr algn="just">
                <a:lnSpc>
                  <a:spcPts val="4498"/>
                </a:lnSpc>
              </a:pPr>
              <a:r>
                <a:rPr lang="en-US" sz="2999" b="1">
                  <a:solidFill>
                    <a:srgbClr val="8064A2"/>
                  </a:solidFill>
                  <a:latin typeface="Arial MT Pro Bold"/>
                  <a:ea typeface="Arial MT Pro Bold"/>
                  <a:cs typeface="Arial MT Pro Bold"/>
                  <a:sym typeface="Arial MT Pro Bold"/>
                </a:rPr>
                <a:t>Purpose:</a:t>
              </a:r>
              <a:r>
                <a:rPr lang="en-US" sz="2999">
                  <a:solidFill>
                    <a:srgbClr val="2B4865"/>
                  </a:solidFill>
                  <a:latin typeface="Arial MT Pro"/>
                  <a:ea typeface="Arial MT Pro"/>
                  <a:cs typeface="Arial MT Pro"/>
                  <a:sym typeface="Arial MT Pro"/>
                </a:rPr>
                <a:t> </a:t>
              </a:r>
              <a:r>
                <a:rPr lang="en-US" sz="2999">
                  <a:solidFill>
                    <a:srgbClr val="000000"/>
                  </a:solidFill>
                  <a:latin typeface="Arial MT Pro"/>
                  <a:ea typeface="Arial MT Pro"/>
                  <a:cs typeface="Arial MT Pro"/>
                  <a:sym typeface="Arial MT Pro"/>
                </a:rPr>
                <a:t>Predictive analytics’ purpose focuses on forecasting future outcomes based on historical data. It helps answer the question: </a:t>
              </a:r>
              <a:r>
                <a:rPr lang="en-US" sz="2999" i="1">
                  <a:solidFill>
                    <a:srgbClr val="000000"/>
                  </a:solidFill>
                  <a:latin typeface="Arial MT Pro Italics"/>
                  <a:ea typeface="Arial MT Pro Italics"/>
                  <a:cs typeface="Arial MT Pro Italics"/>
                  <a:sym typeface="Arial MT Pro Italics"/>
                </a:rPr>
                <a:t>"What is likely to happen?". </a:t>
              </a:r>
              <a:r>
                <a:rPr lang="en-US" sz="2999">
                  <a:solidFill>
                    <a:srgbClr val="000000"/>
                  </a:solidFill>
                  <a:latin typeface="Arial MT Pro"/>
                  <a:ea typeface="Arial MT Pro"/>
                  <a:cs typeface="Arial MT Pro"/>
                  <a:sym typeface="Arial MT Pro"/>
                </a:rPr>
                <a:t>This practice has become essential in today's world, enabling organizations to anticipate trends, reduce risks, and make informed decisions (GeeksforGeeks, 2018).</a:t>
              </a:r>
            </a:p>
          </p:txBody>
        </p:sp>
      </p:grpSp>
      <p:grpSp>
        <p:nvGrpSpPr>
          <p:cNvPr id="8" name="Group 8"/>
          <p:cNvGrpSpPr/>
          <p:nvPr/>
        </p:nvGrpSpPr>
        <p:grpSpPr>
          <a:xfrm>
            <a:off x="1028700" y="4598329"/>
            <a:ext cx="16230600" cy="4898499"/>
            <a:chOff x="0" y="0"/>
            <a:chExt cx="21640800" cy="6531332"/>
          </a:xfrm>
        </p:grpSpPr>
        <p:sp>
          <p:nvSpPr>
            <p:cNvPr id="9" name="Freeform 9"/>
            <p:cNvSpPr/>
            <p:nvPr/>
          </p:nvSpPr>
          <p:spPr>
            <a:xfrm>
              <a:off x="0" y="0"/>
              <a:ext cx="21640800" cy="6531332"/>
            </a:xfrm>
            <a:custGeom>
              <a:avLst/>
              <a:gdLst/>
              <a:ahLst/>
              <a:cxnLst/>
              <a:rect l="l" t="t" r="r" b="b"/>
              <a:pathLst>
                <a:path w="21640800" h="6531332">
                  <a:moveTo>
                    <a:pt x="0" y="0"/>
                  </a:moveTo>
                  <a:lnTo>
                    <a:pt x="21640800" y="0"/>
                  </a:lnTo>
                  <a:lnTo>
                    <a:pt x="21640800" y="6531332"/>
                  </a:lnTo>
                  <a:lnTo>
                    <a:pt x="0" y="6531332"/>
                  </a:lnTo>
                  <a:close/>
                </a:path>
              </a:pathLst>
            </a:custGeom>
          </p:spPr>
        </p:sp>
        <p:sp>
          <p:nvSpPr>
            <p:cNvPr id="10" name="TextBox 10"/>
            <p:cNvSpPr txBox="1"/>
            <p:nvPr/>
          </p:nvSpPr>
          <p:spPr>
            <a:xfrm>
              <a:off x="0" y="-123825"/>
              <a:ext cx="21640800" cy="6655157"/>
            </a:xfrm>
            <a:prstGeom prst="rect">
              <a:avLst/>
            </a:prstGeom>
          </p:spPr>
          <p:txBody>
            <a:bodyPr lIns="0" tIns="0" rIns="0" bIns="0" rtlCol="0" anchor="t"/>
            <a:lstStyle/>
            <a:p>
              <a:pPr algn="just">
                <a:lnSpc>
                  <a:spcPts val="4282"/>
                </a:lnSpc>
              </a:pPr>
              <a:r>
                <a:rPr lang="en-US" sz="2999" b="1">
                  <a:solidFill>
                    <a:srgbClr val="8064A2"/>
                  </a:solidFill>
                  <a:latin typeface="Arial MT Pro Bold"/>
                  <a:ea typeface="Arial MT Pro Bold"/>
                  <a:cs typeface="Arial MT Pro Bold"/>
                  <a:sym typeface="Arial MT Pro Bold"/>
                </a:rPr>
                <a:t>Methodology:</a:t>
              </a:r>
              <a:r>
                <a:rPr lang="en-US" sz="2999">
                  <a:solidFill>
                    <a:srgbClr val="000000"/>
                  </a:solidFill>
                  <a:latin typeface="Arial MT Pro"/>
                  <a:ea typeface="Arial MT Pro"/>
                  <a:cs typeface="Arial MT Pro"/>
                  <a:sym typeface="Arial MT Pro"/>
                </a:rPr>
                <a:t> These models use statistical techniques, machine learning algorithms, and data mining to uncover patterns. Common techniques include (Halton, 2025):</a:t>
              </a:r>
            </a:p>
            <a:p>
              <a:pPr marL="1294969" lvl="2" indent="-431656" algn="just">
                <a:lnSpc>
                  <a:spcPts val="4282"/>
                </a:lnSpc>
                <a:buFont typeface="Arial"/>
                <a:buChar char="⚬"/>
              </a:pPr>
              <a:r>
                <a:rPr lang="en-US" sz="2999" b="1">
                  <a:solidFill>
                    <a:srgbClr val="000000"/>
                  </a:solidFill>
                  <a:latin typeface="Arial MT Pro Bold"/>
                  <a:ea typeface="Arial MT Pro Bold"/>
                  <a:cs typeface="Arial MT Pro Bold"/>
                  <a:sym typeface="Arial MT Pro Bold"/>
                </a:rPr>
                <a:t>Classification:</a:t>
              </a:r>
              <a:r>
                <a:rPr lang="en-US" sz="2999">
                  <a:solidFill>
                    <a:srgbClr val="000000"/>
                  </a:solidFill>
                  <a:latin typeface="Arial MT Pro"/>
                  <a:ea typeface="Arial MT Pro"/>
                  <a:cs typeface="Arial MT Pro"/>
                  <a:sym typeface="Arial MT Pro"/>
                </a:rPr>
                <a:t> They are designed to classify input data into predefined categories or classes based on training datasets (e.g. random forest, neural network, decision trees, logistic regression, and support vector machines).</a:t>
              </a:r>
            </a:p>
            <a:p>
              <a:pPr marL="1294969" lvl="2" indent="-431656" algn="just">
                <a:lnSpc>
                  <a:spcPts val="4282"/>
                </a:lnSpc>
                <a:buFont typeface="Arial"/>
                <a:buChar char="⚬"/>
              </a:pPr>
              <a:r>
                <a:rPr lang="en-US" sz="2999" b="1">
                  <a:solidFill>
                    <a:srgbClr val="000000"/>
                  </a:solidFill>
                  <a:latin typeface="Arial MT Pro Bold"/>
                  <a:ea typeface="Arial MT Pro Bold"/>
                  <a:cs typeface="Arial MT Pro Bold"/>
                  <a:sym typeface="Arial MT Pro Bold"/>
                </a:rPr>
                <a:t>Clustering:</a:t>
              </a:r>
              <a:r>
                <a:rPr lang="en-US" sz="2999">
                  <a:solidFill>
                    <a:srgbClr val="000000"/>
                  </a:solidFill>
                  <a:latin typeface="Arial MT Pro"/>
                  <a:ea typeface="Arial MT Pro"/>
                  <a:cs typeface="Arial MT Pro"/>
                  <a:sym typeface="Arial MT Pro"/>
                </a:rPr>
                <a:t> Groups data points based on their similarities without requiring predefined labels (e.g. k-means clustering, hierarchical clustering).</a:t>
              </a:r>
            </a:p>
            <a:p>
              <a:pPr marL="1294969" lvl="2" indent="-431656" algn="just">
                <a:lnSpc>
                  <a:spcPts val="4282"/>
                </a:lnSpc>
                <a:buFont typeface="Arial"/>
                <a:buChar char="⚬"/>
              </a:pPr>
              <a:r>
                <a:rPr lang="en-US" sz="2999" b="1">
                  <a:solidFill>
                    <a:srgbClr val="000000"/>
                  </a:solidFill>
                  <a:latin typeface="Arial MT Pro Bold"/>
                  <a:ea typeface="Arial MT Pro Bold"/>
                  <a:cs typeface="Arial MT Pro Bold"/>
                  <a:sym typeface="Arial MT Pro Bold"/>
                </a:rPr>
                <a:t>Time Series Modelling: </a:t>
              </a:r>
              <a:r>
                <a:rPr lang="en-US" sz="2999">
                  <a:solidFill>
                    <a:srgbClr val="000000"/>
                  </a:solidFill>
                  <a:latin typeface="Arial MT Pro"/>
                  <a:ea typeface="Arial MT Pro"/>
                  <a:cs typeface="Arial MT Pro"/>
                  <a:sym typeface="Arial MT Pro"/>
                </a:rPr>
                <a:t>Analysis of sequential data points that are collected over time (e.g. ARIMA, SARIMA, Prophet, and XGBoost).</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815118" y="481330"/>
            <a:ext cx="11599423" cy="580390"/>
          </a:xfrm>
          <a:prstGeom prst="rect">
            <a:avLst/>
          </a:prstGeom>
        </p:spPr>
        <p:txBody>
          <a:bodyPr lIns="0" tIns="0" rIns="0" bIns="0" rtlCol="0" anchor="t">
            <a:spAutoFit/>
          </a:bodyPr>
          <a:lstStyle/>
          <a:p>
            <a:pPr algn="ctr">
              <a:lnSpc>
                <a:spcPts val="4759"/>
              </a:lnSpc>
            </a:pPr>
            <a:r>
              <a:rPr lang="en-US" sz="3399" b="1">
                <a:solidFill>
                  <a:srgbClr val="8064A2"/>
                </a:solidFill>
                <a:latin typeface="Canva Sans Bold"/>
                <a:ea typeface="Canva Sans Bold"/>
                <a:cs typeface="Canva Sans Bold"/>
                <a:sym typeface="Canva Sans Bold"/>
              </a:rPr>
              <a:t>Examples of Predictive Analytical Models</a:t>
            </a:r>
          </a:p>
        </p:txBody>
      </p:sp>
      <p:sp>
        <p:nvSpPr>
          <p:cNvPr id="3" name="TextBox 3"/>
          <p:cNvSpPr txBox="1"/>
          <p:nvPr/>
        </p:nvSpPr>
        <p:spPr>
          <a:xfrm>
            <a:off x="1025602" y="1841309"/>
            <a:ext cx="7415706" cy="1047750"/>
          </a:xfrm>
          <a:prstGeom prst="rect">
            <a:avLst/>
          </a:prstGeom>
        </p:spPr>
        <p:txBody>
          <a:bodyPr lIns="0" tIns="0" rIns="0" bIns="0" rtlCol="0" anchor="t">
            <a:spAutoFit/>
          </a:bodyPr>
          <a:lstStyle/>
          <a:p>
            <a:pPr algn="ctr">
              <a:lnSpc>
                <a:spcPts val="4200"/>
              </a:lnSpc>
            </a:pPr>
            <a:r>
              <a:rPr lang="en-US" sz="3000" b="1">
                <a:solidFill>
                  <a:srgbClr val="000000"/>
                </a:solidFill>
                <a:latin typeface="Canva Sans Bold"/>
                <a:ea typeface="Canva Sans Bold"/>
                <a:cs typeface="Canva Sans Bold"/>
                <a:sym typeface="Canva Sans Bold"/>
              </a:rPr>
              <a:t>Shark Attacks - Predicting Outcomes with Machine Learning</a:t>
            </a:r>
          </a:p>
        </p:txBody>
      </p:sp>
      <p:sp>
        <p:nvSpPr>
          <p:cNvPr id="4" name="TextBox 4"/>
          <p:cNvSpPr txBox="1"/>
          <p:nvPr/>
        </p:nvSpPr>
        <p:spPr>
          <a:xfrm>
            <a:off x="1028700" y="3417570"/>
            <a:ext cx="7868258" cy="5162550"/>
          </a:xfrm>
          <a:prstGeom prst="rect">
            <a:avLst/>
          </a:prstGeom>
        </p:spPr>
        <p:txBody>
          <a:bodyPr lIns="0" tIns="0" rIns="0" bIns="0" rtlCol="0" anchor="t">
            <a:spAutoFit/>
          </a:bodyPr>
          <a:lstStyle/>
          <a:p>
            <a:pPr algn="just">
              <a:lnSpc>
                <a:spcPts val="3749"/>
              </a:lnSpc>
            </a:pPr>
            <a:r>
              <a:rPr lang="en-US" sz="2499">
                <a:solidFill>
                  <a:srgbClr val="000000"/>
                </a:solidFill>
                <a:latin typeface="Arial MT Pro"/>
                <a:ea typeface="Arial MT Pro"/>
                <a:cs typeface="Arial MT Pro"/>
                <a:sym typeface="Arial MT Pro"/>
              </a:rPr>
              <a:t>In my shark attack analysis notebook, I used predictive modelling by training machine learning algorithms such as Logistic Regression, SVM, Decision Tree, and Random Forest to </a:t>
            </a:r>
            <a:r>
              <a:rPr lang="en-US" sz="2499" u="sng">
                <a:solidFill>
                  <a:srgbClr val="000000"/>
                </a:solidFill>
                <a:latin typeface="Arial MT Pro"/>
                <a:ea typeface="Arial MT Pro"/>
                <a:cs typeface="Arial MT Pro"/>
                <a:sym typeface="Arial MT Pro"/>
              </a:rPr>
              <a:t>forecast the type or severity of shark attacks</a:t>
            </a:r>
            <a:r>
              <a:rPr lang="en-US" sz="2499">
                <a:solidFill>
                  <a:srgbClr val="000000"/>
                </a:solidFill>
                <a:latin typeface="Arial MT Pro"/>
                <a:ea typeface="Arial MT Pro"/>
                <a:cs typeface="Arial MT Pro"/>
                <a:sym typeface="Arial MT Pro"/>
              </a:rPr>
              <a:t>. I based these predictions on variables like age, activity, species, and gender. My goal was to </a:t>
            </a:r>
            <a:r>
              <a:rPr lang="en-US" sz="2499" u="sng">
                <a:solidFill>
                  <a:srgbClr val="000000"/>
                </a:solidFill>
                <a:latin typeface="Arial MT Pro"/>
                <a:ea typeface="Arial MT Pro"/>
                <a:cs typeface="Arial MT Pro"/>
                <a:sym typeface="Arial MT Pro"/>
              </a:rPr>
              <a:t>uncover patterns in historical data</a:t>
            </a:r>
            <a:r>
              <a:rPr lang="en-US" sz="2499">
                <a:solidFill>
                  <a:srgbClr val="000000"/>
                </a:solidFill>
                <a:latin typeface="Arial MT Pro"/>
                <a:ea typeface="Arial MT Pro"/>
                <a:cs typeface="Arial MT Pro"/>
                <a:sym typeface="Arial MT Pro"/>
              </a:rPr>
              <a:t> that could help </a:t>
            </a:r>
            <a:r>
              <a:rPr lang="en-US" sz="2499" u="none">
                <a:solidFill>
                  <a:srgbClr val="000000"/>
                </a:solidFill>
                <a:latin typeface="Arial MT Pro"/>
                <a:ea typeface="Arial MT Pro"/>
                <a:cs typeface="Arial MT Pro"/>
                <a:sym typeface="Arial MT Pro"/>
              </a:rPr>
              <a:t>anticipate </a:t>
            </a:r>
            <a:r>
              <a:rPr lang="en-US" sz="2499">
                <a:solidFill>
                  <a:srgbClr val="000000"/>
                </a:solidFill>
                <a:latin typeface="Arial MT Pro"/>
                <a:ea typeface="Arial MT Pro"/>
                <a:cs typeface="Arial MT Pro"/>
                <a:sym typeface="Arial MT Pro"/>
              </a:rPr>
              <a:t>whether a shark atta</a:t>
            </a:r>
            <a:r>
              <a:rPr lang="en-US" sz="2499" u="none">
                <a:solidFill>
                  <a:srgbClr val="000000"/>
                </a:solidFill>
                <a:latin typeface="Arial MT Pro"/>
                <a:ea typeface="Arial MT Pro"/>
                <a:cs typeface="Arial MT Pro"/>
                <a:sym typeface="Arial MT Pro"/>
              </a:rPr>
              <a:t>c</a:t>
            </a:r>
            <a:r>
              <a:rPr lang="en-US" sz="2499">
                <a:solidFill>
                  <a:srgbClr val="000000"/>
                </a:solidFill>
                <a:latin typeface="Arial MT Pro"/>
                <a:ea typeface="Arial MT Pro"/>
                <a:cs typeface="Arial MT Pro"/>
                <a:sym typeface="Arial MT Pro"/>
              </a:rPr>
              <a:t>k wo</a:t>
            </a:r>
            <a:r>
              <a:rPr lang="en-US" sz="2499" u="none">
                <a:solidFill>
                  <a:srgbClr val="000000"/>
                </a:solidFill>
                <a:latin typeface="Arial MT Pro"/>
                <a:ea typeface="Arial MT Pro"/>
                <a:cs typeface="Arial MT Pro"/>
                <a:sym typeface="Arial MT Pro"/>
              </a:rPr>
              <a:t>u</a:t>
            </a:r>
            <a:r>
              <a:rPr lang="en-US" sz="2499">
                <a:solidFill>
                  <a:srgbClr val="000000"/>
                </a:solidFill>
                <a:latin typeface="Arial MT Pro"/>
                <a:ea typeface="Arial MT Pro"/>
                <a:cs typeface="Arial MT Pro"/>
                <a:sym typeface="Arial MT Pro"/>
              </a:rPr>
              <a:t>ld be fa</a:t>
            </a:r>
            <a:r>
              <a:rPr lang="en-US" sz="2499" u="none">
                <a:solidFill>
                  <a:srgbClr val="000000"/>
                </a:solidFill>
                <a:latin typeface="Arial MT Pro"/>
                <a:ea typeface="Arial MT Pro"/>
                <a:cs typeface="Arial MT Pro"/>
                <a:sym typeface="Arial MT Pro"/>
              </a:rPr>
              <a:t>t</a:t>
            </a:r>
            <a:r>
              <a:rPr lang="en-US" sz="2499">
                <a:solidFill>
                  <a:srgbClr val="000000"/>
                </a:solidFill>
                <a:latin typeface="Arial MT Pro"/>
                <a:ea typeface="Arial MT Pro"/>
                <a:cs typeface="Arial MT Pro"/>
                <a:sym typeface="Arial MT Pro"/>
              </a:rPr>
              <a:t>al </a:t>
            </a:r>
            <a:r>
              <a:rPr lang="en-US" sz="2499" u="none">
                <a:solidFill>
                  <a:srgbClr val="000000"/>
                </a:solidFill>
                <a:latin typeface="Arial MT Pro"/>
                <a:ea typeface="Arial MT Pro"/>
                <a:cs typeface="Arial MT Pro"/>
                <a:sym typeface="Arial MT Pro"/>
              </a:rPr>
              <a:t>or </a:t>
            </a:r>
            <a:r>
              <a:rPr lang="en-US" sz="2499">
                <a:solidFill>
                  <a:srgbClr val="000000"/>
                </a:solidFill>
                <a:latin typeface="Arial MT Pro"/>
                <a:ea typeface="Arial MT Pro"/>
                <a:cs typeface="Arial MT Pro"/>
                <a:sym typeface="Arial MT Pro"/>
              </a:rPr>
              <a:t>non-fatal. I e</a:t>
            </a:r>
            <a:r>
              <a:rPr lang="en-US" sz="2499" u="none">
                <a:solidFill>
                  <a:srgbClr val="000000"/>
                </a:solidFill>
                <a:latin typeface="Arial MT Pro"/>
                <a:ea typeface="Arial MT Pro"/>
                <a:cs typeface="Arial MT Pro"/>
                <a:sym typeface="Arial MT Pro"/>
              </a:rPr>
              <a:t>v</a:t>
            </a:r>
            <a:r>
              <a:rPr lang="en-US" sz="2499">
                <a:solidFill>
                  <a:srgbClr val="000000"/>
                </a:solidFill>
                <a:latin typeface="Arial MT Pro"/>
                <a:ea typeface="Arial MT Pro"/>
                <a:cs typeface="Arial MT Pro"/>
                <a:sym typeface="Arial MT Pro"/>
              </a:rPr>
              <a:t>a</a:t>
            </a:r>
            <a:r>
              <a:rPr lang="en-US" sz="2499" u="none">
                <a:solidFill>
                  <a:srgbClr val="000000"/>
                </a:solidFill>
                <a:latin typeface="Arial MT Pro"/>
                <a:ea typeface="Arial MT Pro"/>
                <a:cs typeface="Arial MT Pro"/>
                <a:sym typeface="Arial MT Pro"/>
              </a:rPr>
              <a:t>lu</a:t>
            </a:r>
            <a:r>
              <a:rPr lang="en-US" sz="2499">
                <a:solidFill>
                  <a:srgbClr val="000000"/>
                </a:solidFill>
                <a:latin typeface="Arial MT Pro"/>
                <a:ea typeface="Arial MT Pro"/>
                <a:cs typeface="Arial MT Pro"/>
                <a:sym typeface="Arial MT Pro"/>
              </a:rPr>
              <a:t>ated th</a:t>
            </a:r>
            <a:r>
              <a:rPr lang="en-US" sz="2499" u="none">
                <a:solidFill>
                  <a:srgbClr val="000000"/>
                </a:solidFill>
                <a:latin typeface="Arial MT Pro"/>
                <a:ea typeface="Arial MT Pro"/>
                <a:cs typeface="Arial MT Pro"/>
                <a:sym typeface="Arial MT Pro"/>
              </a:rPr>
              <a:t>e</a:t>
            </a:r>
            <a:r>
              <a:rPr lang="en-US" sz="2499">
                <a:solidFill>
                  <a:srgbClr val="000000"/>
                </a:solidFill>
                <a:latin typeface="Arial MT Pro"/>
                <a:ea typeface="Arial MT Pro"/>
                <a:cs typeface="Arial MT Pro"/>
                <a:sym typeface="Arial MT Pro"/>
              </a:rPr>
              <a:t> accuracy of</a:t>
            </a:r>
            <a:r>
              <a:rPr lang="en-US" sz="2499" u="none">
                <a:solidFill>
                  <a:srgbClr val="000000"/>
                </a:solidFill>
                <a:latin typeface="Arial MT Pro"/>
                <a:ea typeface="Arial MT Pro"/>
                <a:cs typeface="Arial MT Pro"/>
                <a:sym typeface="Arial MT Pro"/>
              </a:rPr>
              <a:t> these mode</a:t>
            </a:r>
            <a:r>
              <a:rPr lang="en-US" sz="2499">
                <a:solidFill>
                  <a:srgbClr val="000000"/>
                </a:solidFill>
                <a:latin typeface="Arial MT Pro"/>
                <a:ea typeface="Arial MT Pro"/>
                <a:cs typeface="Arial MT Pro"/>
                <a:sym typeface="Arial MT Pro"/>
              </a:rPr>
              <a:t>ls using metrics like ROC AUC and PR AUC to ensure their reliability in making predict</a:t>
            </a:r>
            <a:r>
              <a:rPr lang="en-US" sz="2499" u="none">
                <a:solidFill>
                  <a:srgbClr val="000000"/>
                </a:solidFill>
                <a:latin typeface="Arial MT Pro"/>
                <a:ea typeface="Arial MT Pro"/>
                <a:cs typeface="Arial MT Pro"/>
                <a:sym typeface="Arial MT Pro"/>
              </a:rPr>
              <a:t>io</a:t>
            </a:r>
            <a:r>
              <a:rPr lang="en-US" sz="2499">
                <a:solidFill>
                  <a:srgbClr val="000000"/>
                </a:solidFill>
                <a:latin typeface="Arial MT Pro"/>
                <a:ea typeface="Arial MT Pro"/>
                <a:cs typeface="Arial MT Pro"/>
                <a:sym typeface="Arial MT Pro"/>
              </a:rPr>
              <a:t>ns.</a:t>
            </a:r>
          </a:p>
        </p:txBody>
      </p:sp>
      <p:sp>
        <p:nvSpPr>
          <p:cNvPr id="5" name="TextBox 5"/>
          <p:cNvSpPr txBox="1"/>
          <p:nvPr/>
        </p:nvSpPr>
        <p:spPr>
          <a:xfrm>
            <a:off x="9544050" y="2108009"/>
            <a:ext cx="8115300" cy="1047750"/>
          </a:xfrm>
          <a:prstGeom prst="rect">
            <a:avLst/>
          </a:prstGeom>
        </p:spPr>
        <p:txBody>
          <a:bodyPr lIns="0" tIns="0" rIns="0" bIns="0" rtlCol="0" anchor="t">
            <a:spAutoFit/>
          </a:bodyPr>
          <a:lstStyle/>
          <a:p>
            <a:pPr algn="ctr">
              <a:lnSpc>
                <a:spcPts val="4200"/>
              </a:lnSpc>
            </a:pPr>
            <a:r>
              <a:rPr lang="en-US" sz="3000" b="1">
                <a:solidFill>
                  <a:srgbClr val="000000"/>
                </a:solidFill>
                <a:latin typeface="Canva Sans Bold"/>
                <a:ea typeface="Canva Sans Bold"/>
                <a:cs typeface="Canva Sans Bold"/>
                <a:sym typeface="Canva Sans Bold"/>
              </a:rPr>
              <a:t>PriceRunner – Optimizing Product Categorization</a:t>
            </a:r>
          </a:p>
        </p:txBody>
      </p:sp>
      <p:sp>
        <p:nvSpPr>
          <p:cNvPr id="6" name="TextBox 6"/>
          <p:cNvSpPr txBox="1"/>
          <p:nvPr/>
        </p:nvSpPr>
        <p:spPr>
          <a:xfrm>
            <a:off x="10169602" y="3417570"/>
            <a:ext cx="7089698" cy="5162550"/>
          </a:xfrm>
          <a:prstGeom prst="rect">
            <a:avLst/>
          </a:prstGeom>
        </p:spPr>
        <p:txBody>
          <a:bodyPr lIns="0" tIns="0" rIns="0" bIns="0" rtlCol="0" anchor="t">
            <a:spAutoFit/>
          </a:bodyPr>
          <a:lstStyle/>
          <a:p>
            <a:pPr algn="just">
              <a:lnSpc>
                <a:spcPts val="3749"/>
              </a:lnSpc>
            </a:pPr>
            <a:r>
              <a:rPr lang="en-US" sz="2499">
                <a:solidFill>
                  <a:srgbClr val="000000"/>
                </a:solidFill>
                <a:latin typeface="Arial MT Pro"/>
                <a:ea typeface="Arial MT Pro"/>
                <a:cs typeface="Arial MT Pro"/>
                <a:sym typeface="Arial MT Pro"/>
              </a:rPr>
              <a:t>In my PriceRunner notebook, I used predictive modeling to </a:t>
            </a:r>
            <a:r>
              <a:rPr lang="en-US" sz="2499" u="sng">
                <a:solidFill>
                  <a:srgbClr val="000000"/>
                </a:solidFill>
                <a:latin typeface="Arial MT Pro"/>
                <a:ea typeface="Arial MT Pro"/>
                <a:cs typeface="Arial MT Pro"/>
                <a:sym typeface="Arial MT Pro"/>
              </a:rPr>
              <a:t>classify products into their correct categories</a:t>
            </a:r>
            <a:r>
              <a:rPr lang="en-US" sz="2499">
                <a:solidFill>
                  <a:srgbClr val="000000"/>
                </a:solidFill>
                <a:latin typeface="Arial MT Pro"/>
                <a:ea typeface="Arial MT Pro"/>
                <a:cs typeface="Arial MT Pro"/>
                <a:sym typeface="Arial MT Pro"/>
              </a:rPr>
              <a:t> based on features like product titl</a:t>
            </a:r>
            <a:r>
              <a:rPr lang="en-US" sz="2499" u="none">
                <a:solidFill>
                  <a:srgbClr val="000000"/>
                </a:solidFill>
                <a:latin typeface="Arial MT Pro"/>
                <a:ea typeface="Arial MT Pro"/>
                <a:cs typeface="Arial MT Pro"/>
                <a:sym typeface="Arial MT Pro"/>
              </a:rPr>
              <a:t>es</a:t>
            </a:r>
            <a:r>
              <a:rPr lang="en-US" sz="2499">
                <a:solidFill>
                  <a:srgbClr val="000000"/>
                </a:solidFill>
                <a:latin typeface="Arial MT Pro"/>
                <a:ea typeface="Arial MT Pro"/>
                <a:cs typeface="Arial MT Pro"/>
                <a:sym typeface="Arial MT Pro"/>
              </a:rPr>
              <a:t>,</a:t>
            </a:r>
            <a:r>
              <a:rPr lang="en-US" sz="2499" u="none">
                <a:solidFill>
                  <a:srgbClr val="000000"/>
                </a:solidFill>
                <a:latin typeface="Arial MT Pro"/>
                <a:ea typeface="Arial MT Pro"/>
                <a:cs typeface="Arial MT Pro"/>
                <a:sym typeface="Arial MT Pro"/>
              </a:rPr>
              <a:t> merchant ID</a:t>
            </a:r>
            <a:r>
              <a:rPr lang="en-US" sz="2499">
                <a:solidFill>
                  <a:srgbClr val="000000"/>
                </a:solidFill>
                <a:latin typeface="Arial MT Pro"/>
                <a:ea typeface="Arial MT Pro"/>
                <a:cs typeface="Arial MT Pro"/>
                <a:sym typeface="Arial MT Pro"/>
              </a:rPr>
              <a:t>s, a</a:t>
            </a:r>
            <a:r>
              <a:rPr lang="en-US" sz="2499" u="none">
                <a:solidFill>
                  <a:srgbClr val="000000"/>
                </a:solidFill>
                <a:latin typeface="Arial MT Pro"/>
                <a:ea typeface="Arial MT Pro"/>
                <a:cs typeface="Arial MT Pro"/>
                <a:sym typeface="Arial MT Pro"/>
              </a:rPr>
              <a:t>n</a:t>
            </a:r>
            <a:r>
              <a:rPr lang="en-US" sz="2499">
                <a:solidFill>
                  <a:srgbClr val="000000"/>
                </a:solidFill>
                <a:latin typeface="Arial MT Pro"/>
                <a:ea typeface="Arial MT Pro"/>
                <a:cs typeface="Arial MT Pro"/>
                <a:sym typeface="Arial MT Pro"/>
              </a:rPr>
              <a:t>d clusters. By training classification models such as K-Nearest Neighbors and Random Forest, I was able to accurately predict th</a:t>
            </a:r>
            <a:r>
              <a:rPr lang="en-US" sz="2499" u="none">
                <a:solidFill>
                  <a:srgbClr val="000000"/>
                </a:solidFill>
                <a:latin typeface="Arial MT Pro"/>
                <a:ea typeface="Arial MT Pro"/>
                <a:cs typeface="Arial MT Pro"/>
                <a:sym typeface="Arial MT Pro"/>
              </a:rPr>
              <a:t>e category of new product e</a:t>
            </a:r>
            <a:r>
              <a:rPr lang="en-US" sz="2499">
                <a:solidFill>
                  <a:srgbClr val="000000"/>
                </a:solidFill>
                <a:latin typeface="Arial MT Pro"/>
                <a:ea typeface="Arial MT Pro"/>
                <a:cs typeface="Arial MT Pro"/>
                <a:sym typeface="Arial MT Pro"/>
              </a:rPr>
              <a:t>ntries,</a:t>
            </a:r>
            <a:r>
              <a:rPr lang="en-US" sz="2499" u="sng">
                <a:solidFill>
                  <a:srgbClr val="000000"/>
                </a:solidFill>
                <a:latin typeface="Arial MT Pro"/>
                <a:ea typeface="Arial MT Pro"/>
                <a:cs typeface="Arial MT Pro"/>
                <a:sym typeface="Arial MT Pro"/>
              </a:rPr>
              <a:t> automating the classification process and improving product organization for better price comparisons.</a:t>
            </a:r>
          </a:p>
          <a:p>
            <a:pPr algn="just">
              <a:lnSpc>
                <a:spcPts val="3749"/>
              </a:lnSpc>
            </a:pPr>
            <a:endParaRPr lang="en-US" sz="2499" u="sng">
              <a:solidFill>
                <a:srgbClr val="000000"/>
              </a:solidFill>
              <a:latin typeface="Arial MT Pro"/>
              <a:ea typeface="Arial MT Pro"/>
              <a:cs typeface="Arial MT Pro"/>
              <a:sym typeface="Arial MT Pro"/>
            </a:endParaRPr>
          </a:p>
        </p:txBody>
      </p:sp>
      <p:sp>
        <p:nvSpPr>
          <p:cNvPr id="7" name="AutoShape 7"/>
          <p:cNvSpPr/>
          <p:nvPr/>
        </p:nvSpPr>
        <p:spPr>
          <a:xfrm flipV="1">
            <a:off x="9521902" y="1593659"/>
            <a:ext cx="19050" cy="7664641"/>
          </a:xfrm>
          <a:prstGeom prst="line">
            <a:avLst/>
          </a:prstGeom>
          <a:ln w="38100" cap="flat">
            <a:solidFill>
              <a:srgbClr val="000000"/>
            </a:solidFill>
            <a:prstDash val="solid"/>
            <a:headEnd type="none" w="sm" len="sm"/>
            <a:tailEnd type="none" w="sm"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508310"/>
            <a:ext cx="16230600" cy="2300566"/>
            <a:chOff x="0" y="0"/>
            <a:chExt cx="21640800" cy="3067421"/>
          </a:xfrm>
        </p:grpSpPr>
        <p:sp>
          <p:nvSpPr>
            <p:cNvPr id="3" name="Freeform 3"/>
            <p:cNvSpPr/>
            <p:nvPr/>
          </p:nvSpPr>
          <p:spPr>
            <a:xfrm>
              <a:off x="0" y="0"/>
              <a:ext cx="21640800" cy="3067421"/>
            </a:xfrm>
            <a:custGeom>
              <a:avLst/>
              <a:gdLst/>
              <a:ahLst/>
              <a:cxnLst/>
              <a:rect l="l" t="t" r="r" b="b"/>
              <a:pathLst>
                <a:path w="21640800" h="3067421">
                  <a:moveTo>
                    <a:pt x="0" y="0"/>
                  </a:moveTo>
                  <a:lnTo>
                    <a:pt x="21640800" y="0"/>
                  </a:lnTo>
                  <a:lnTo>
                    <a:pt x="21640800" y="3067421"/>
                  </a:lnTo>
                  <a:lnTo>
                    <a:pt x="0" y="3067421"/>
                  </a:lnTo>
                  <a:close/>
                </a:path>
              </a:pathLst>
            </a:custGeom>
          </p:spPr>
        </p:sp>
        <p:sp>
          <p:nvSpPr>
            <p:cNvPr id="4" name="TextBox 4"/>
            <p:cNvSpPr txBox="1"/>
            <p:nvPr/>
          </p:nvSpPr>
          <p:spPr>
            <a:xfrm>
              <a:off x="0" y="-161925"/>
              <a:ext cx="21640800" cy="3229346"/>
            </a:xfrm>
            <a:prstGeom prst="rect">
              <a:avLst/>
            </a:prstGeom>
          </p:spPr>
          <p:txBody>
            <a:bodyPr lIns="0" tIns="0" rIns="0" bIns="0" rtlCol="0" anchor="t"/>
            <a:lstStyle/>
            <a:p>
              <a:pPr algn="just">
                <a:lnSpc>
                  <a:spcPts val="4800"/>
                </a:lnSpc>
              </a:pPr>
              <a:r>
                <a:rPr lang="en-US" sz="3200" b="1">
                  <a:solidFill>
                    <a:srgbClr val="2B4865"/>
                  </a:solidFill>
                  <a:latin typeface="Arial MT Pro Bold"/>
                  <a:ea typeface="Arial MT Pro Bold"/>
                  <a:cs typeface="Arial MT Pro Bold"/>
                  <a:sym typeface="Arial MT Pro Bold"/>
                </a:rPr>
                <a:t>Prescriptive Analytical Models</a:t>
              </a:r>
            </a:p>
            <a:p>
              <a:pPr algn="just">
                <a:lnSpc>
                  <a:spcPts val="4498"/>
                </a:lnSpc>
              </a:pPr>
              <a:r>
                <a:rPr lang="en-US" sz="2999" b="1">
                  <a:solidFill>
                    <a:srgbClr val="8064A2"/>
                  </a:solidFill>
                  <a:latin typeface="Arial MT Pro Bold"/>
                  <a:ea typeface="Arial MT Pro Bold"/>
                  <a:cs typeface="Arial MT Pro Bold"/>
                  <a:sym typeface="Arial MT Pro Bold"/>
                </a:rPr>
                <a:t>Purpose:</a:t>
              </a:r>
              <a:r>
                <a:rPr lang="en-US" sz="2999">
                  <a:solidFill>
                    <a:srgbClr val="2B4865"/>
                  </a:solidFill>
                  <a:latin typeface="Arial MT Pro"/>
                  <a:ea typeface="Arial MT Pro"/>
                  <a:cs typeface="Arial MT Pro"/>
                  <a:sym typeface="Arial MT Pro"/>
                </a:rPr>
                <a:t> </a:t>
              </a:r>
              <a:r>
                <a:rPr lang="en-US" sz="2999">
                  <a:solidFill>
                    <a:srgbClr val="000000"/>
                  </a:solidFill>
                  <a:latin typeface="Arial MT Pro"/>
                  <a:ea typeface="Arial MT Pro"/>
                  <a:cs typeface="Arial MT Pro"/>
                  <a:sym typeface="Arial MT Pro"/>
                </a:rPr>
                <a:t>Prescriptive analytics’ recommends course of action/s that can optimize outcomes based on predicted scenarios. It goes one step further by answering: </a:t>
              </a:r>
              <a:r>
                <a:rPr lang="en-US" sz="2999" i="1">
                  <a:solidFill>
                    <a:srgbClr val="000000"/>
                  </a:solidFill>
                  <a:latin typeface="Arial MT Pro Italics"/>
                  <a:ea typeface="Arial MT Pro Italics"/>
                  <a:cs typeface="Arial MT Pro Italics"/>
                  <a:sym typeface="Arial MT Pro Italics"/>
                </a:rPr>
                <a:t>"What should we do?" </a:t>
              </a:r>
              <a:r>
                <a:rPr lang="en-US" sz="2999">
                  <a:solidFill>
                    <a:srgbClr val="000000"/>
                  </a:solidFill>
                  <a:latin typeface="Arial MT Pro"/>
                  <a:ea typeface="Arial MT Pro"/>
                  <a:cs typeface="Arial MT Pro"/>
                  <a:sym typeface="Arial MT Pro"/>
                </a:rPr>
                <a:t>and "</a:t>
              </a:r>
              <a:r>
                <a:rPr lang="en-US" sz="2999" i="1">
                  <a:solidFill>
                    <a:srgbClr val="000000"/>
                  </a:solidFill>
                  <a:latin typeface="Arial MT Pro Italics"/>
                  <a:ea typeface="Arial MT Pro Italics"/>
                  <a:cs typeface="Arial MT Pro Italics"/>
                  <a:sym typeface="Arial MT Pro Italics"/>
                </a:rPr>
                <a:t>How can we mitigate risks or capitalize on opportunities?" </a:t>
              </a:r>
              <a:r>
                <a:rPr lang="en-US" sz="2999">
                  <a:solidFill>
                    <a:srgbClr val="000000"/>
                  </a:solidFill>
                  <a:latin typeface="Arial MT Pro"/>
                  <a:ea typeface="Arial MT Pro"/>
                  <a:cs typeface="Arial MT Pro"/>
                  <a:sym typeface="Arial MT Pro"/>
                </a:rPr>
                <a:t>(Stryker, 2024).  </a:t>
              </a:r>
            </a:p>
          </p:txBody>
        </p:sp>
      </p:grpSp>
      <p:grpSp>
        <p:nvGrpSpPr>
          <p:cNvPr id="5" name="Group 5"/>
          <p:cNvGrpSpPr/>
          <p:nvPr/>
        </p:nvGrpSpPr>
        <p:grpSpPr>
          <a:xfrm>
            <a:off x="1028700" y="2982339"/>
            <a:ext cx="16230600" cy="5984349"/>
            <a:chOff x="0" y="0"/>
            <a:chExt cx="21640800" cy="7979132"/>
          </a:xfrm>
        </p:grpSpPr>
        <p:sp>
          <p:nvSpPr>
            <p:cNvPr id="6" name="Freeform 6"/>
            <p:cNvSpPr/>
            <p:nvPr/>
          </p:nvSpPr>
          <p:spPr>
            <a:xfrm>
              <a:off x="0" y="0"/>
              <a:ext cx="21640800" cy="7979132"/>
            </a:xfrm>
            <a:custGeom>
              <a:avLst/>
              <a:gdLst/>
              <a:ahLst/>
              <a:cxnLst/>
              <a:rect l="l" t="t" r="r" b="b"/>
              <a:pathLst>
                <a:path w="21640800" h="7979132">
                  <a:moveTo>
                    <a:pt x="0" y="0"/>
                  </a:moveTo>
                  <a:lnTo>
                    <a:pt x="21640800" y="0"/>
                  </a:lnTo>
                  <a:lnTo>
                    <a:pt x="21640800" y="7979132"/>
                  </a:lnTo>
                  <a:lnTo>
                    <a:pt x="0" y="7979132"/>
                  </a:lnTo>
                  <a:close/>
                </a:path>
              </a:pathLst>
            </a:custGeom>
          </p:spPr>
        </p:sp>
        <p:sp>
          <p:nvSpPr>
            <p:cNvPr id="7" name="TextBox 7"/>
            <p:cNvSpPr txBox="1"/>
            <p:nvPr/>
          </p:nvSpPr>
          <p:spPr>
            <a:xfrm>
              <a:off x="0" y="-123825"/>
              <a:ext cx="21640800" cy="8102957"/>
            </a:xfrm>
            <a:prstGeom prst="rect">
              <a:avLst/>
            </a:prstGeom>
          </p:spPr>
          <p:txBody>
            <a:bodyPr lIns="0" tIns="0" rIns="0" bIns="0" rtlCol="0" anchor="t"/>
            <a:lstStyle/>
            <a:p>
              <a:pPr algn="just">
                <a:lnSpc>
                  <a:spcPts val="4282"/>
                </a:lnSpc>
              </a:pPr>
              <a:r>
                <a:rPr lang="en-US" sz="2999" b="1">
                  <a:solidFill>
                    <a:srgbClr val="8064A2"/>
                  </a:solidFill>
                  <a:latin typeface="Arial MT Pro Bold"/>
                  <a:ea typeface="Arial MT Pro Bold"/>
                  <a:cs typeface="Arial MT Pro Bold"/>
                  <a:sym typeface="Arial MT Pro Bold"/>
                </a:rPr>
                <a:t>Methodology:</a:t>
              </a:r>
              <a:r>
                <a:rPr lang="en-US" sz="2999">
                  <a:solidFill>
                    <a:srgbClr val="000000"/>
                  </a:solidFill>
                  <a:latin typeface="Arial MT Pro"/>
                  <a:ea typeface="Arial MT Pro"/>
                  <a:cs typeface="Arial MT Pro"/>
                  <a:sym typeface="Arial MT Pro"/>
                </a:rPr>
                <a:t> These models often use optimization algorithms, simulations, and rule-based systems. Common techniques include (Hassan, 2024):</a:t>
              </a:r>
            </a:p>
            <a:p>
              <a:pPr marL="1294969" lvl="2" indent="-431656" algn="just">
                <a:lnSpc>
                  <a:spcPts val="4282"/>
                </a:lnSpc>
                <a:buFont typeface="Arial"/>
                <a:buChar char="⚬"/>
              </a:pPr>
              <a:r>
                <a:rPr lang="en-US" sz="2999" b="1">
                  <a:solidFill>
                    <a:srgbClr val="000000"/>
                  </a:solidFill>
                  <a:latin typeface="Arial MT Pro Bold"/>
                  <a:ea typeface="Arial MT Pro Bold"/>
                  <a:cs typeface="Arial MT Pro Bold"/>
                  <a:sym typeface="Arial MT Pro Bold"/>
                </a:rPr>
                <a:t>Optimization Models: </a:t>
              </a:r>
              <a:r>
                <a:rPr lang="en-US" sz="2999">
                  <a:solidFill>
                    <a:srgbClr val="000000"/>
                  </a:solidFill>
                  <a:latin typeface="Arial MT Pro"/>
                  <a:ea typeface="Arial MT Pro"/>
                  <a:cs typeface="Arial MT Pro"/>
                  <a:sym typeface="Arial MT Pro"/>
                </a:rPr>
                <a:t>Uses mathematical equations to find the best solution under given constraints (e.g. linear and nonlinear programming, stochastic optimization).</a:t>
              </a:r>
            </a:p>
            <a:p>
              <a:pPr marL="1294969" lvl="2" indent="-431656" algn="just">
                <a:lnSpc>
                  <a:spcPts val="4282"/>
                </a:lnSpc>
                <a:buFont typeface="Arial"/>
                <a:buChar char="⚬"/>
              </a:pPr>
              <a:r>
                <a:rPr lang="en-US" sz="2999" b="1">
                  <a:solidFill>
                    <a:srgbClr val="000000"/>
                  </a:solidFill>
                  <a:latin typeface="Arial MT Pro Bold"/>
                  <a:ea typeface="Arial MT Pro Bold"/>
                  <a:cs typeface="Arial MT Pro Bold"/>
                  <a:sym typeface="Arial MT Pro Bold"/>
                </a:rPr>
                <a:t>Simulation: </a:t>
              </a:r>
              <a:r>
                <a:rPr lang="en-US" sz="2999">
                  <a:solidFill>
                    <a:srgbClr val="000000"/>
                  </a:solidFill>
                  <a:latin typeface="Arial MT Pro"/>
                  <a:ea typeface="Arial MT Pro"/>
                  <a:cs typeface="Arial MT Pro"/>
                  <a:sym typeface="Arial MT Pro"/>
                </a:rPr>
                <a:t>Creates virtual models to test different scenarios and their outcomes.</a:t>
              </a:r>
            </a:p>
            <a:p>
              <a:pPr marL="1294969" lvl="2" indent="-431656" algn="just">
                <a:lnSpc>
                  <a:spcPts val="4282"/>
                </a:lnSpc>
                <a:buFont typeface="Arial"/>
                <a:buChar char="⚬"/>
              </a:pPr>
              <a:r>
                <a:rPr lang="en-US" sz="2999" b="1">
                  <a:solidFill>
                    <a:srgbClr val="000000"/>
                  </a:solidFill>
                  <a:latin typeface="Arial MT Pro Bold"/>
                  <a:ea typeface="Arial MT Pro Bold"/>
                  <a:cs typeface="Arial MT Pro Bold"/>
                  <a:sym typeface="Arial MT Pro Bold"/>
                </a:rPr>
                <a:t>Machine Learning: </a:t>
              </a:r>
              <a:r>
                <a:rPr lang="en-US" sz="2999">
                  <a:solidFill>
                    <a:srgbClr val="000000"/>
                  </a:solidFill>
                  <a:latin typeface="Arial MT Pro"/>
                  <a:ea typeface="Arial MT Pro"/>
                  <a:cs typeface="Arial MT Pro"/>
                  <a:sym typeface="Arial MT Pro"/>
                </a:rPr>
                <a:t>Uses algorithms to analyse data and generate recommendations based on patterns and trends.</a:t>
              </a:r>
            </a:p>
            <a:p>
              <a:pPr marL="1294969" lvl="2" indent="-431656" algn="just">
                <a:lnSpc>
                  <a:spcPts val="4282"/>
                </a:lnSpc>
                <a:buFont typeface="Arial"/>
                <a:buChar char="⚬"/>
              </a:pPr>
              <a:r>
                <a:rPr lang="en-US" sz="2999" b="1">
                  <a:solidFill>
                    <a:srgbClr val="000000"/>
                  </a:solidFill>
                  <a:latin typeface="Arial MT Pro Bold"/>
                  <a:ea typeface="Arial MT Pro Bold"/>
                  <a:cs typeface="Arial MT Pro Bold"/>
                  <a:sym typeface="Arial MT Pro Bold"/>
                </a:rPr>
                <a:t>Decision Analysis: </a:t>
              </a:r>
              <a:r>
                <a:rPr lang="en-US" sz="2999">
                  <a:solidFill>
                    <a:srgbClr val="000000"/>
                  </a:solidFill>
                  <a:latin typeface="Arial MT Pro"/>
                  <a:ea typeface="Arial MT Pro"/>
                  <a:cs typeface="Arial MT Pro"/>
                  <a:sym typeface="Arial MT Pro"/>
                </a:rPr>
                <a:t>Evaluates and compares multiple strategies to select the most effective one (decision trees).</a:t>
              </a:r>
            </a:p>
            <a:p>
              <a:pPr marL="1294969" lvl="2" indent="-431656" algn="just">
                <a:lnSpc>
                  <a:spcPts val="4282"/>
                </a:lnSpc>
                <a:buFont typeface="Arial"/>
                <a:buChar char="⚬"/>
              </a:pPr>
              <a:r>
                <a:rPr lang="en-US" sz="2999" b="1">
                  <a:solidFill>
                    <a:srgbClr val="000000"/>
                  </a:solidFill>
                  <a:latin typeface="Arial MT Pro Bold"/>
                  <a:ea typeface="Arial MT Pro Bold"/>
                  <a:cs typeface="Arial MT Pro Bold"/>
                  <a:sym typeface="Arial MT Pro Bold"/>
                </a:rPr>
                <a:t>Heuristic Algorithms: </a:t>
              </a:r>
              <a:r>
                <a:rPr lang="en-US" sz="2999">
                  <a:solidFill>
                    <a:srgbClr val="000000"/>
                  </a:solidFill>
                  <a:latin typeface="Arial MT Pro"/>
                  <a:ea typeface="Arial MT Pro"/>
                  <a:cs typeface="Arial MT Pro"/>
                  <a:sym typeface="Arial MT Pro"/>
                </a:rPr>
                <a:t>Provides approximate solutions for complex problems that may not have a precise answer.</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89362" y="481330"/>
            <a:ext cx="13309276" cy="580390"/>
          </a:xfrm>
          <a:prstGeom prst="rect">
            <a:avLst/>
          </a:prstGeom>
        </p:spPr>
        <p:txBody>
          <a:bodyPr lIns="0" tIns="0" rIns="0" bIns="0" rtlCol="0" anchor="t">
            <a:spAutoFit/>
          </a:bodyPr>
          <a:lstStyle/>
          <a:p>
            <a:pPr algn="ctr">
              <a:lnSpc>
                <a:spcPts val="4759"/>
              </a:lnSpc>
            </a:pPr>
            <a:r>
              <a:rPr lang="en-US" sz="3399" b="1">
                <a:solidFill>
                  <a:srgbClr val="8064A2"/>
                </a:solidFill>
                <a:latin typeface="Canva Sans Bold"/>
                <a:ea typeface="Canva Sans Bold"/>
                <a:cs typeface="Canva Sans Bold"/>
                <a:sym typeface="Canva Sans Bold"/>
              </a:rPr>
              <a:t>Examples of Prescriptive Analytical Models</a:t>
            </a:r>
          </a:p>
        </p:txBody>
      </p:sp>
      <p:sp>
        <p:nvSpPr>
          <p:cNvPr id="3" name="TextBox 3"/>
          <p:cNvSpPr txBox="1"/>
          <p:nvPr/>
        </p:nvSpPr>
        <p:spPr>
          <a:xfrm>
            <a:off x="1028700" y="1647448"/>
            <a:ext cx="7711685" cy="1047750"/>
          </a:xfrm>
          <a:prstGeom prst="rect">
            <a:avLst/>
          </a:prstGeom>
        </p:spPr>
        <p:txBody>
          <a:bodyPr lIns="0" tIns="0" rIns="0" bIns="0" rtlCol="0" anchor="t">
            <a:spAutoFit/>
          </a:bodyPr>
          <a:lstStyle/>
          <a:p>
            <a:pPr algn="ctr">
              <a:lnSpc>
                <a:spcPts val="4200"/>
              </a:lnSpc>
            </a:pPr>
            <a:r>
              <a:rPr lang="en-US" sz="3000" b="1">
                <a:solidFill>
                  <a:srgbClr val="000000"/>
                </a:solidFill>
                <a:latin typeface="Canva Sans Bold"/>
                <a:ea typeface="Canva Sans Bold"/>
                <a:cs typeface="Canva Sans Bold"/>
                <a:sym typeface="Canva Sans Bold"/>
              </a:rPr>
              <a:t>Shark Attacks – Recommending Actions Through Model Optimization</a:t>
            </a:r>
          </a:p>
        </p:txBody>
      </p:sp>
      <p:sp>
        <p:nvSpPr>
          <p:cNvPr id="4" name="TextBox 4"/>
          <p:cNvSpPr txBox="1"/>
          <p:nvPr/>
        </p:nvSpPr>
        <p:spPr>
          <a:xfrm>
            <a:off x="9989611" y="1647448"/>
            <a:ext cx="7224177" cy="1047750"/>
          </a:xfrm>
          <a:prstGeom prst="rect">
            <a:avLst/>
          </a:prstGeom>
        </p:spPr>
        <p:txBody>
          <a:bodyPr lIns="0" tIns="0" rIns="0" bIns="0" rtlCol="0" anchor="t">
            <a:spAutoFit/>
          </a:bodyPr>
          <a:lstStyle/>
          <a:p>
            <a:pPr algn="ctr">
              <a:lnSpc>
                <a:spcPts val="4200"/>
              </a:lnSpc>
            </a:pPr>
            <a:r>
              <a:rPr lang="en-US" sz="3000" b="1">
                <a:solidFill>
                  <a:srgbClr val="000000"/>
                </a:solidFill>
                <a:latin typeface="Canva Sans Bold"/>
                <a:ea typeface="Canva Sans Bold"/>
                <a:cs typeface="Canva Sans Bold"/>
                <a:sym typeface="Canva Sans Bold"/>
              </a:rPr>
              <a:t>Price Runner - Data-Driven Strategies for Product Optimization</a:t>
            </a:r>
          </a:p>
        </p:txBody>
      </p:sp>
      <p:sp>
        <p:nvSpPr>
          <p:cNvPr id="5" name="TextBox 5"/>
          <p:cNvSpPr txBox="1"/>
          <p:nvPr/>
        </p:nvSpPr>
        <p:spPr>
          <a:xfrm>
            <a:off x="9921952" y="3214251"/>
            <a:ext cx="7359495" cy="4229100"/>
          </a:xfrm>
          <a:prstGeom prst="rect">
            <a:avLst/>
          </a:prstGeom>
        </p:spPr>
        <p:txBody>
          <a:bodyPr lIns="0" tIns="0" rIns="0" bIns="0" rtlCol="0" anchor="t">
            <a:spAutoFit/>
          </a:bodyPr>
          <a:lstStyle/>
          <a:p>
            <a:pPr algn="just">
              <a:lnSpc>
                <a:spcPts val="3749"/>
              </a:lnSpc>
            </a:pPr>
            <a:r>
              <a:rPr lang="en-US" sz="2499">
                <a:solidFill>
                  <a:srgbClr val="000000"/>
                </a:solidFill>
                <a:latin typeface="Arial MT Pro"/>
                <a:ea typeface="Arial MT Pro"/>
                <a:cs typeface="Arial MT Pro"/>
                <a:sym typeface="Arial MT Pro"/>
              </a:rPr>
              <a:t>I applied clustering techniques, specifically K-Means, to identify patterns in product offerings and merchant behavior. This allowed me to </a:t>
            </a:r>
            <a:r>
              <a:rPr lang="en-US" sz="2499" u="sng">
                <a:solidFill>
                  <a:srgbClr val="000000"/>
                </a:solidFill>
                <a:latin typeface="Arial MT Pro"/>
                <a:ea typeface="Arial MT Pro"/>
                <a:cs typeface="Arial MT Pro"/>
                <a:sym typeface="Arial MT Pro"/>
              </a:rPr>
              <a:t>prescribe strategies such as optimizing inventory management and creating targeted marketing campaigns</a:t>
            </a:r>
            <a:r>
              <a:rPr lang="en-US" sz="2499">
                <a:solidFill>
                  <a:srgbClr val="000000"/>
                </a:solidFill>
                <a:latin typeface="Arial MT Pro"/>
                <a:ea typeface="Arial MT Pro"/>
                <a:cs typeface="Arial MT Pro"/>
                <a:sym typeface="Arial MT Pro"/>
              </a:rPr>
              <a:t>. For example, wh</a:t>
            </a:r>
            <a:r>
              <a:rPr lang="en-US" sz="2499" u="none">
                <a:solidFill>
                  <a:srgbClr val="000000"/>
                </a:solidFill>
                <a:latin typeface="Arial MT Pro"/>
                <a:ea typeface="Arial MT Pro"/>
                <a:cs typeface="Arial MT Pro"/>
                <a:sym typeface="Arial MT Pro"/>
              </a:rPr>
              <a:t>e</a:t>
            </a:r>
            <a:r>
              <a:rPr lang="en-US" sz="2499">
                <a:solidFill>
                  <a:srgbClr val="000000"/>
                </a:solidFill>
                <a:latin typeface="Arial MT Pro"/>
                <a:ea typeface="Arial MT Pro"/>
                <a:cs typeface="Arial MT Pro"/>
                <a:sym typeface="Arial MT Pro"/>
              </a:rPr>
              <a:t>n I dis</a:t>
            </a:r>
            <a:r>
              <a:rPr lang="en-US" sz="2499" u="none">
                <a:solidFill>
                  <a:srgbClr val="000000"/>
                </a:solidFill>
                <a:latin typeface="Arial MT Pro"/>
                <a:ea typeface="Arial MT Pro"/>
                <a:cs typeface="Arial MT Pro"/>
                <a:sym typeface="Arial MT Pro"/>
              </a:rPr>
              <a:t>covere</a:t>
            </a:r>
            <a:r>
              <a:rPr lang="en-US" sz="2499">
                <a:solidFill>
                  <a:srgbClr val="000000"/>
                </a:solidFill>
                <a:latin typeface="Arial MT Pro"/>
                <a:ea typeface="Arial MT Pro"/>
                <a:cs typeface="Arial MT Pro"/>
                <a:sym typeface="Arial MT Pro"/>
              </a:rPr>
              <a:t>d</a:t>
            </a:r>
            <a:r>
              <a:rPr lang="en-US" sz="2499" u="none">
                <a:solidFill>
                  <a:srgbClr val="000000"/>
                </a:solidFill>
                <a:latin typeface="Arial MT Pro"/>
                <a:ea typeface="Arial MT Pro"/>
                <a:cs typeface="Arial MT Pro"/>
                <a:sym typeface="Arial MT Pro"/>
              </a:rPr>
              <a:t> Ca</a:t>
            </a:r>
            <a:r>
              <a:rPr lang="en-US" sz="2499">
                <a:solidFill>
                  <a:srgbClr val="000000"/>
                </a:solidFill>
                <a:latin typeface="Arial MT Pro"/>
                <a:ea typeface="Arial MT Pro"/>
                <a:cs typeface="Arial MT Pro"/>
                <a:sym typeface="Arial MT Pro"/>
              </a:rPr>
              <a:t>non cameras frequently clustered together, I </a:t>
            </a:r>
            <a:r>
              <a:rPr lang="en-US" sz="2499" u="sng">
                <a:solidFill>
                  <a:srgbClr val="000000"/>
                </a:solidFill>
                <a:latin typeface="Arial MT Pro"/>
                <a:ea typeface="Arial MT Pro"/>
                <a:cs typeface="Arial MT Pro"/>
                <a:sym typeface="Arial MT Pro"/>
              </a:rPr>
              <a:t>suggested bundling similar products to boost sales and enhance customer engagement</a:t>
            </a:r>
            <a:r>
              <a:rPr lang="en-US" sz="2499">
                <a:solidFill>
                  <a:srgbClr val="000000"/>
                </a:solidFill>
                <a:latin typeface="Arial MT Pro"/>
                <a:ea typeface="Arial MT Pro"/>
                <a:cs typeface="Arial MT Pro"/>
                <a:sym typeface="Arial MT Pro"/>
              </a:rPr>
              <a:t>.</a:t>
            </a:r>
          </a:p>
        </p:txBody>
      </p:sp>
      <p:sp>
        <p:nvSpPr>
          <p:cNvPr id="6" name="AutoShape 6"/>
          <p:cNvSpPr/>
          <p:nvPr/>
        </p:nvSpPr>
        <p:spPr>
          <a:xfrm flipV="1">
            <a:off x="9521902" y="1593659"/>
            <a:ext cx="19050" cy="7664641"/>
          </a:xfrm>
          <a:prstGeom prst="line">
            <a:avLst/>
          </a:prstGeom>
          <a:ln w="38100" cap="flat">
            <a:solidFill>
              <a:srgbClr val="000000"/>
            </a:solidFill>
            <a:prstDash val="solid"/>
            <a:headEnd type="none" w="sm" len="sm"/>
            <a:tailEnd type="none" w="sm" len="sm"/>
          </a:ln>
        </p:spPr>
      </p:sp>
      <p:sp>
        <p:nvSpPr>
          <p:cNvPr id="7" name="TextBox 7"/>
          <p:cNvSpPr txBox="1"/>
          <p:nvPr/>
        </p:nvSpPr>
        <p:spPr>
          <a:xfrm>
            <a:off x="1028700" y="3214251"/>
            <a:ext cx="8115300" cy="5162550"/>
          </a:xfrm>
          <a:prstGeom prst="rect">
            <a:avLst/>
          </a:prstGeom>
        </p:spPr>
        <p:txBody>
          <a:bodyPr lIns="0" tIns="0" rIns="0" bIns="0" rtlCol="0" anchor="t">
            <a:spAutoFit/>
          </a:bodyPr>
          <a:lstStyle/>
          <a:p>
            <a:pPr algn="just">
              <a:lnSpc>
                <a:spcPts val="3749"/>
              </a:lnSpc>
            </a:pPr>
            <a:r>
              <a:rPr lang="en-US" sz="2499">
                <a:solidFill>
                  <a:srgbClr val="000000"/>
                </a:solidFill>
                <a:latin typeface="Arial MT Pro"/>
                <a:ea typeface="Arial MT Pro"/>
                <a:cs typeface="Arial MT Pro"/>
                <a:sym typeface="Arial MT Pro"/>
              </a:rPr>
              <a:t> I applied aspects of prescriptive modeling by comparing the </a:t>
            </a:r>
            <a:r>
              <a:rPr lang="en-US" sz="2499" u="sng">
                <a:solidFill>
                  <a:srgbClr val="000000"/>
                </a:solidFill>
                <a:latin typeface="Arial MT Pro"/>
                <a:ea typeface="Arial MT Pro"/>
                <a:cs typeface="Arial MT Pro"/>
                <a:sym typeface="Arial MT Pro"/>
              </a:rPr>
              <a:t>effectiveness of different resampling techniques </a:t>
            </a:r>
            <a:r>
              <a:rPr lang="en-US" sz="2499">
                <a:solidFill>
                  <a:srgbClr val="000000"/>
                </a:solidFill>
                <a:latin typeface="Arial MT Pro"/>
                <a:ea typeface="Arial MT Pro"/>
                <a:cs typeface="Arial MT Pro"/>
                <a:sym typeface="Arial MT Pro"/>
              </a:rPr>
              <a:t>(like SMOTE and undersampling) and analyzing how each modeling approach per</a:t>
            </a:r>
            <a:r>
              <a:rPr lang="en-US" sz="2499" u="none">
                <a:solidFill>
                  <a:srgbClr val="000000"/>
                </a:solidFill>
                <a:latin typeface="Arial MT Pro"/>
                <a:ea typeface="Arial MT Pro"/>
                <a:cs typeface="Arial MT Pro"/>
                <a:sym typeface="Arial MT Pro"/>
              </a:rPr>
              <a:t>for</a:t>
            </a:r>
            <a:r>
              <a:rPr lang="en-US" sz="2499">
                <a:solidFill>
                  <a:srgbClr val="000000"/>
                </a:solidFill>
                <a:latin typeface="Arial MT Pro"/>
                <a:ea typeface="Arial MT Pro"/>
                <a:cs typeface="Arial MT Pro"/>
                <a:sym typeface="Arial MT Pro"/>
              </a:rPr>
              <a:t>m</a:t>
            </a:r>
            <a:r>
              <a:rPr lang="en-US" sz="2499" u="none">
                <a:solidFill>
                  <a:srgbClr val="000000"/>
                </a:solidFill>
                <a:latin typeface="Arial MT Pro"/>
                <a:ea typeface="Arial MT Pro"/>
                <a:cs typeface="Arial MT Pro"/>
                <a:sym typeface="Arial MT Pro"/>
              </a:rPr>
              <a:t>e</a:t>
            </a:r>
            <a:r>
              <a:rPr lang="en-US" sz="2499">
                <a:solidFill>
                  <a:srgbClr val="000000"/>
                </a:solidFill>
                <a:latin typeface="Arial MT Pro"/>
                <a:ea typeface="Arial MT Pro"/>
                <a:cs typeface="Arial MT Pro"/>
                <a:sym typeface="Arial MT Pro"/>
              </a:rPr>
              <a:t>d.</a:t>
            </a:r>
            <a:r>
              <a:rPr lang="en-US" sz="2499" u="none">
                <a:solidFill>
                  <a:srgbClr val="000000"/>
                </a:solidFill>
                <a:latin typeface="Arial MT Pro"/>
                <a:ea typeface="Arial MT Pro"/>
                <a:cs typeface="Arial MT Pro"/>
                <a:sym typeface="Arial MT Pro"/>
              </a:rPr>
              <a:t> </a:t>
            </a:r>
            <a:r>
              <a:rPr lang="en-US" sz="2499">
                <a:solidFill>
                  <a:srgbClr val="000000"/>
                </a:solidFill>
                <a:latin typeface="Arial MT Pro"/>
                <a:ea typeface="Arial MT Pro"/>
                <a:cs typeface="Arial MT Pro"/>
                <a:sym typeface="Arial MT Pro"/>
              </a:rPr>
              <a:t>T</a:t>
            </a:r>
            <a:r>
              <a:rPr lang="en-US" sz="2499" u="none">
                <a:solidFill>
                  <a:srgbClr val="000000"/>
                </a:solidFill>
                <a:latin typeface="Arial MT Pro"/>
                <a:ea typeface="Arial MT Pro"/>
                <a:cs typeface="Arial MT Pro"/>
                <a:sym typeface="Arial MT Pro"/>
              </a:rPr>
              <a:t>h</a:t>
            </a:r>
            <a:r>
              <a:rPr lang="en-US" sz="2499">
                <a:solidFill>
                  <a:srgbClr val="000000"/>
                </a:solidFill>
                <a:latin typeface="Arial MT Pro"/>
                <a:ea typeface="Arial MT Pro"/>
                <a:cs typeface="Arial MT Pro"/>
                <a:sym typeface="Arial MT Pro"/>
              </a:rPr>
              <a:t>is allow</a:t>
            </a:r>
            <a:r>
              <a:rPr lang="en-US" sz="2499" u="none">
                <a:solidFill>
                  <a:srgbClr val="000000"/>
                </a:solidFill>
                <a:latin typeface="Arial MT Pro"/>
                <a:ea typeface="Arial MT Pro"/>
                <a:cs typeface="Arial MT Pro"/>
                <a:sym typeface="Arial MT Pro"/>
              </a:rPr>
              <a:t>e</a:t>
            </a:r>
            <a:r>
              <a:rPr lang="en-US" sz="2499">
                <a:solidFill>
                  <a:srgbClr val="000000"/>
                </a:solidFill>
                <a:latin typeface="Arial MT Pro"/>
                <a:ea typeface="Arial MT Pro"/>
                <a:cs typeface="Arial MT Pro"/>
                <a:sym typeface="Arial MT Pro"/>
              </a:rPr>
              <a:t>d</a:t>
            </a:r>
            <a:r>
              <a:rPr lang="en-US" sz="2499" u="none">
                <a:solidFill>
                  <a:srgbClr val="000000"/>
                </a:solidFill>
                <a:latin typeface="Arial MT Pro"/>
                <a:ea typeface="Arial MT Pro"/>
                <a:cs typeface="Arial MT Pro"/>
                <a:sym typeface="Arial MT Pro"/>
              </a:rPr>
              <a:t> </a:t>
            </a:r>
            <a:r>
              <a:rPr lang="en-US" sz="2499">
                <a:solidFill>
                  <a:srgbClr val="000000"/>
                </a:solidFill>
                <a:latin typeface="Arial MT Pro"/>
                <a:ea typeface="Arial MT Pro"/>
                <a:cs typeface="Arial MT Pro"/>
                <a:sym typeface="Arial MT Pro"/>
              </a:rPr>
              <a:t>m</a:t>
            </a:r>
            <a:r>
              <a:rPr lang="en-US" sz="2499" u="none">
                <a:solidFill>
                  <a:srgbClr val="000000"/>
                </a:solidFill>
                <a:latin typeface="Arial MT Pro"/>
                <a:ea typeface="Arial MT Pro"/>
                <a:cs typeface="Arial MT Pro"/>
                <a:sym typeface="Arial MT Pro"/>
              </a:rPr>
              <a:t>e </a:t>
            </a:r>
            <a:r>
              <a:rPr lang="en-US" sz="2499">
                <a:solidFill>
                  <a:srgbClr val="000000"/>
                </a:solidFill>
                <a:latin typeface="Arial MT Pro"/>
                <a:ea typeface="Arial MT Pro"/>
                <a:cs typeface="Arial MT Pro"/>
                <a:sym typeface="Arial MT Pro"/>
              </a:rPr>
              <a:t>t</a:t>
            </a:r>
            <a:r>
              <a:rPr lang="en-US" sz="2499" u="none">
                <a:solidFill>
                  <a:srgbClr val="000000"/>
                </a:solidFill>
                <a:latin typeface="Arial MT Pro"/>
                <a:ea typeface="Arial MT Pro"/>
                <a:cs typeface="Arial MT Pro"/>
                <a:sym typeface="Arial MT Pro"/>
              </a:rPr>
              <a:t>o</a:t>
            </a:r>
            <a:r>
              <a:rPr lang="en-US" sz="2499">
                <a:solidFill>
                  <a:srgbClr val="000000"/>
                </a:solidFill>
                <a:latin typeface="Arial MT Pro"/>
                <a:ea typeface="Arial MT Pro"/>
                <a:cs typeface="Arial MT Pro"/>
                <a:sym typeface="Arial MT Pro"/>
              </a:rPr>
              <a:t> dete</a:t>
            </a:r>
            <a:r>
              <a:rPr lang="en-US" sz="2499" u="none">
                <a:solidFill>
                  <a:srgbClr val="000000"/>
                </a:solidFill>
                <a:latin typeface="Arial MT Pro"/>
                <a:ea typeface="Arial MT Pro"/>
                <a:cs typeface="Arial MT Pro"/>
                <a:sym typeface="Arial MT Pro"/>
              </a:rPr>
              <a:t>r</a:t>
            </a:r>
            <a:r>
              <a:rPr lang="en-US" sz="2499">
                <a:solidFill>
                  <a:srgbClr val="000000"/>
                </a:solidFill>
                <a:latin typeface="Arial MT Pro"/>
                <a:ea typeface="Arial MT Pro"/>
                <a:cs typeface="Arial MT Pro"/>
                <a:sym typeface="Arial MT Pro"/>
              </a:rPr>
              <a:t>mine</a:t>
            </a:r>
            <a:r>
              <a:rPr lang="en-US" sz="2499" u="none">
                <a:solidFill>
                  <a:srgbClr val="000000"/>
                </a:solidFill>
                <a:latin typeface="Arial MT Pro"/>
                <a:ea typeface="Arial MT Pro"/>
                <a:cs typeface="Arial MT Pro"/>
                <a:sym typeface="Arial MT Pro"/>
              </a:rPr>
              <a:t> </a:t>
            </a:r>
            <a:r>
              <a:rPr lang="en-US" sz="2499">
                <a:solidFill>
                  <a:srgbClr val="000000"/>
                </a:solidFill>
                <a:latin typeface="Arial MT Pro"/>
                <a:ea typeface="Arial MT Pro"/>
                <a:cs typeface="Arial MT Pro"/>
                <a:sym typeface="Arial MT Pro"/>
              </a:rPr>
              <a:t>th</a:t>
            </a:r>
            <a:r>
              <a:rPr lang="en-US" sz="2499" u="none">
                <a:solidFill>
                  <a:srgbClr val="000000"/>
                </a:solidFill>
                <a:latin typeface="Arial MT Pro"/>
                <a:ea typeface="Arial MT Pro"/>
                <a:cs typeface="Arial MT Pro"/>
                <a:sym typeface="Arial MT Pro"/>
              </a:rPr>
              <a:t>e</a:t>
            </a:r>
            <a:r>
              <a:rPr lang="en-US" sz="2499">
                <a:solidFill>
                  <a:srgbClr val="000000"/>
                </a:solidFill>
                <a:latin typeface="Arial MT Pro"/>
                <a:ea typeface="Arial MT Pro"/>
                <a:cs typeface="Arial MT Pro"/>
                <a:sym typeface="Arial MT Pro"/>
              </a:rPr>
              <a:t> b</a:t>
            </a:r>
            <a:r>
              <a:rPr lang="en-US" sz="2499" u="none">
                <a:solidFill>
                  <a:srgbClr val="000000"/>
                </a:solidFill>
                <a:latin typeface="Arial MT Pro"/>
                <a:ea typeface="Arial MT Pro"/>
                <a:cs typeface="Arial MT Pro"/>
                <a:sym typeface="Arial MT Pro"/>
              </a:rPr>
              <a:t>e</a:t>
            </a:r>
            <a:r>
              <a:rPr lang="en-US" sz="2499">
                <a:solidFill>
                  <a:srgbClr val="000000"/>
                </a:solidFill>
                <a:latin typeface="Arial MT Pro"/>
                <a:ea typeface="Arial MT Pro"/>
                <a:cs typeface="Arial MT Pro"/>
                <a:sym typeface="Arial MT Pro"/>
              </a:rPr>
              <a:t>st comb</a:t>
            </a:r>
            <a:r>
              <a:rPr lang="en-US" sz="2499" u="none">
                <a:solidFill>
                  <a:srgbClr val="000000"/>
                </a:solidFill>
                <a:latin typeface="Arial MT Pro"/>
                <a:ea typeface="Arial MT Pro"/>
                <a:cs typeface="Arial MT Pro"/>
                <a:sym typeface="Arial MT Pro"/>
              </a:rPr>
              <a:t>i</a:t>
            </a:r>
            <a:r>
              <a:rPr lang="en-US" sz="2499">
                <a:solidFill>
                  <a:srgbClr val="000000"/>
                </a:solidFill>
                <a:latin typeface="Arial MT Pro"/>
                <a:ea typeface="Arial MT Pro"/>
                <a:cs typeface="Arial MT Pro"/>
                <a:sym typeface="Arial MT Pro"/>
              </a:rPr>
              <a:t>na</a:t>
            </a:r>
            <a:r>
              <a:rPr lang="en-US" sz="2499" u="none">
                <a:solidFill>
                  <a:srgbClr val="000000"/>
                </a:solidFill>
                <a:latin typeface="Arial MT Pro"/>
                <a:ea typeface="Arial MT Pro"/>
                <a:cs typeface="Arial MT Pro"/>
                <a:sym typeface="Arial MT Pro"/>
              </a:rPr>
              <a:t>t</a:t>
            </a:r>
            <a:r>
              <a:rPr lang="en-US" sz="2499">
                <a:solidFill>
                  <a:srgbClr val="000000"/>
                </a:solidFill>
                <a:latin typeface="Arial MT Pro"/>
                <a:ea typeface="Arial MT Pro"/>
                <a:cs typeface="Arial MT Pro"/>
                <a:sym typeface="Arial MT Pro"/>
              </a:rPr>
              <a:t>ion</a:t>
            </a:r>
            <a:r>
              <a:rPr lang="en-US" sz="2499" u="none">
                <a:solidFill>
                  <a:srgbClr val="000000"/>
                </a:solidFill>
                <a:latin typeface="Arial MT Pro"/>
                <a:ea typeface="Arial MT Pro"/>
                <a:cs typeface="Arial MT Pro"/>
                <a:sym typeface="Arial MT Pro"/>
              </a:rPr>
              <a:t> of </a:t>
            </a:r>
            <a:r>
              <a:rPr lang="en-US" sz="2499">
                <a:solidFill>
                  <a:srgbClr val="000000"/>
                </a:solidFill>
                <a:latin typeface="Arial MT Pro"/>
                <a:ea typeface="Arial MT Pro"/>
                <a:cs typeface="Arial MT Pro"/>
                <a:sym typeface="Arial MT Pro"/>
              </a:rPr>
              <a:t>met</a:t>
            </a:r>
            <a:r>
              <a:rPr lang="en-US" sz="2499" u="none">
                <a:solidFill>
                  <a:srgbClr val="000000"/>
                </a:solidFill>
                <a:latin typeface="Arial MT Pro"/>
                <a:ea typeface="Arial MT Pro"/>
                <a:cs typeface="Arial MT Pro"/>
                <a:sym typeface="Arial MT Pro"/>
              </a:rPr>
              <a:t>h</a:t>
            </a:r>
            <a:r>
              <a:rPr lang="en-US" sz="2499">
                <a:solidFill>
                  <a:srgbClr val="000000"/>
                </a:solidFill>
                <a:latin typeface="Arial MT Pro"/>
                <a:ea typeface="Arial MT Pro"/>
                <a:cs typeface="Arial MT Pro"/>
                <a:sym typeface="Arial MT Pro"/>
              </a:rPr>
              <a:t>ods</a:t>
            </a:r>
            <a:r>
              <a:rPr lang="en-US" sz="2499" u="none">
                <a:solidFill>
                  <a:srgbClr val="000000"/>
                </a:solidFill>
                <a:latin typeface="Arial MT Pro"/>
                <a:ea typeface="Arial MT Pro"/>
                <a:cs typeface="Arial MT Pro"/>
                <a:sym typeface="Arial MT Pro"/>
              </a:rPr>
              <a:t> t</a:t>
            </a:r>
            <a:r>
              <a:rPr lang="en-US" sz="2499">
                <a:solidFill>
                  <a:srgbClr val="000000"/>
                </a:solidFill>
                <a:latin typeface="Arial MT Pro"/>
                <a:ea typeface="Arial MT Pro"/>
                <a:cs typeface="Arial MT Pro"/>
                <a:sym typeface="Arial MT Pro"/>
              </a:rPr>
              <a:t>o </a:t>
            </a:r>
            <a:r>
              <a:rPr lang="en-US" sz="2499" u="none">
                <a:solidFill>
                  <a:srgbClr val="000000"/>
                </a:solidFill>
                <a:latin typeface="Arial MT Pro"/>
                <a:ea typeface="Arial MT Pro"/>
                <a:cs typeface="Arial MT Pro"/>
                <a:sym typeface="Arial MT Pro"/>
              </a:rPr>
              <a:t>ac</a:t>
            </a:r>
            <a:r>
              <a:rPr lang="en-US" sz="2499">
                <a:solidFill>
                  <a:srgbClr val="000000"/>
                </a:solidFill>
                <a:latin typeface="Arial MT Pro"/>
                <a:ea typeface="Arial MT Pro"/>
                <a:cs typeface="Arial MT Pro"/>
                <a:sym typeface="Arial MT Pro"/>
              </a:rPr>
              <a:t>hieve balanced and accurate predictions. By identifying the most effective model setups,</a:t>
            </a:r>
            <a:r>
              <a:rPr lang="en-US" sz="2499" u="sng">
                <a:solidFill>
                  <a:srgbClr val="000000"/>
                </a:solidFill>
                <a:latin typeface="Arial MT Pro"/>
                <a:ea typeface="Arial MT Pro"/>
                <a:cs typeface="Arial MT Pro"/>
                <a:sym typeface="Arial MT Pro"/>
              </a:rPr>
              <a:t> I was able to make informed recommendations on which strategies could be used to guide real-world decisions</a:t>
            </a:r>
            <a:r>
              <a:rPr lang="en-US" sz="2499">
                <a:solidFill>
                  <a:srgbClr val="000000"/>
                </a:solidFill>
                <a:latin typeface="Arial MT Pro"/>
                <a:ea typeface="Arial MT Pro"/>
                <a:cs typeface="Arial MT Pro"/>
                <a:sym typeface="Arial MT Pro"/>
              </a:rPr>
              <a:t>—f</a:t>
            </a:r>
            <a:r>
              <a:rPr lang="en-US" sz="2499" u="none">
                <a:solidFill>
                  <a:srgbClr val="000000"/>
                </a:solidFill>
                <a:latin typeface="Arial MT Pro"/>
                <a:ea typeface="Arial MT Pro"/>
                <a:cs typeface="Arial MT Pro"/>
                <a:sym typeface="Arial MT Pro"/>
              </a:rPr>
              <a:t>or ex</a:t>
            </a:r>
            <a:r>
              <a:rPr lang="en-US" sz="2499">
                <a:solidFill>
                  <a:srgbClr val="000000"/>
                </a:solidFill>
                <a:latin typeface="Arial MT Pro"/>
                <a:ea typeface="Arial MT Pro"/>
                <a:cs typeface="Arial MT Pro"/>
                <a:sym typeface="Arial MT Pro"/>
              </a:rPr>
              <a:t>ample, ad</a:t>
            </a:r>
            <a:r>
              <a:rPr lang="en-US" sz="2499" u="none">
                <a:solidFill>
                  <a:srgbClr val="000000"/>
                </a:solidFill>
                <a:latin typeface="Arial MT Pro"/>
                <a:ea typeface="Arial MT Pro"/>
                <a:cs typeface="Arial MT Pro"/>
                <a:sym typeface="Arial MT Pro"/>
              </a:rPr>
              <a:t>vising </a:t>
            </a:r>
            <a:r>
              <a:rPr lang="en-US" sz="2499">
                <a:solidFill>
                  <a:srgbClr val="000000"/>
                </a:solidFill>
                <a:latin typeface="Arial MT Pro"/>
                <a:ea typeface="Arial MT Pro"/>
                <a:cs typeface="Arial MT Pro"/>
                <a:sym typeface="Arial MT Pro"/>
              </a:rPr>
              <a:t>a</a:t>
            </a:r>
            <a:r>
              <a:rPr lang="en-US" sz="2499" u="none">
                <a:solidFill>
                  <a:srgbClr val="000000"/>
                </a:solidFill>
                <a:latin typeface="Arial MT Pro"/>
                <a:ea typeface="Arial MT Pro"/>
                <a:cs typeface="Arial MT Pro"/>
                <a:sym typeface="Arial MT Pro"/>
              </a:rPr>
              <a:t>uthori</a:t>
            </a:r>
            <a:r>
              <a:rPr lang="en-US" sz="2499">
                <a:solidFill>
                  <a:srgbClr val="000000"/>
                </a:solidFill>
                <a:latin typeface="Arial MT Pro"/>
                <a:ea typeface="Arial MT Pro"/>
                <a:cs typeface="Arial MT Pro"/>
                <a:sym typeface="Arial MT Pro"/>
              </a:rPr>
              <a:t>ties on how to alloca</a:t>
            </a:r>
            <a:r>
              <a:rPr lang="en-US" sz="2499" u="none">
                <a:solidFill>
                  <a:srgbClr val="000000"/>
                </a:solidFill>
                <a:latin typeface="Arial MT Pro"/>
                <a:ea typeface="Arial MT Pro"/>
                <a:cs typeface="Arial MT Pro"/>
                <a:sym typeface="Arial MT Pro"/>
              </a:rPr>
              <a:t>te safety re</a:t>
            </a:r>
            <a:r>
              <a:rPr lang="en-US" sz="2499">
                <a:solidFill>
                  <a:srgbClr val="000000"/>
                </a:solidFill>
                <a:latin typeface="Arial MT Pro"/>
                <a:ea typeface="Arial MT Pro"/>
                <a:cs typeface="Arial MT Pro"/>
                <a:sym typeface="Arial MT Pro"/>
              </a:rPr>
              <a:t>sources based on predicted high-risk fact</a:t>
            </a:r>
            <a:r>
              <a:rPr lang="en-US" sz="2499" u="none">
                <a:solidFill>
                  <a:srgbClr val="000000"/>
                </a:solidFill>
                <a:latin typeface="Arial MT Pro"/>
                <a:ea typeface="Arial MT Pro"/>
                <a:cs typeface="Arial MT Pro"/>
                <a:sym typeface="Arial MT Pro"/>
              </a:rPr>
              <a:t>or</a:t>
            </a:r>
            <a:r>
              <a:rPr lang="en-US" sz="2499">
                <a:solidFill>
                  <a:srgbClr val="000000"/>
                </a:solidFill>
                <a:latin typeface="Arial MT Pro"/>
                <a:ea typeface="Arial MT Pro"/>
                <a:cs typeface="Arial MT Pro"/>
                <a:sym typeface="Arial MT Pro"/>
              </a:rPr>
              <a: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469818"/>
            <a:ext cx="13373100" cy="1117763"/>
            <a:chOff x="0" y="0"/>
            <a:chExt cx="17830800" cy="1490351"/>
          </a:xfrm>
        </p:grpSpPr>
        <p:sp>
          <p:nvSpPr>
            <p:cNvPr id="3" name="Freeform 3"/>
            <p:cNvSpPr/>
            <p:nvPr/>
          </p:nvSpPr>
          <p:spPr>
            <a:xfrm>
              <a:off x="0" y="0"/>
              <a:ext cx="17830800" cy="1490351"/>
            </a:xfrm>
            <a:custGeom>
              <a:avLst/>
              <a:gdLst/>
              <a:ahLst/>
              <a:cxnLst/>
              <a:rect l="l" t="t" r="r" b="b"/>
              <a:pathLst>
                <a:path w="17830800" h="1490351">
                  <a:moveTo>
                    <a:pt x="0" y="0"/>
                  </a:moveTo>
                  <a:lnTo>
                    <a:pt x="17830800" y="0"/>
                  </a:lnTo>
                  <a:lnTo>
                    <a:pt x="17830800" y="1490351"/>
                  </a:lnTo>
                  <a:lnTo>
                    <a:pt x="0" y="1490351"/>
                  </a:lnTo>
                  <a:close/>
                </a:path>
              </a:pathLst>
            </a:custGeom>
          </p:spPr>
        </p:sp>
        <p:sp>
          <p:nvSpPr>
            <p:cNvPr id="4" name="TextBox 4"/>
            <p:cNvSpPr txBox="1"/>
            <p:nvPr/>
          </p:nvSpPr>
          <p:spPr>
            <a:xfrm>
              <a:off x="0" y="-114300"/>
              <a:ext cx="17830800"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Prescriptive and Predictive Analytical Model</a:t>
              </a:r>
            </a:p>
          </p:txBody>
        </p:sp>
      </p:grpSp>
      <p:graphicFrame>
        <p:nvGraphicFramePr>
          <p:cNvPr id="5" name="Table 5"/>
          <p:cNvGraphicFramePr>
            <a:graphicFrameLocks noGrp="1"/>
          </p:cNvGraphicFramePr>
          <p:nvPr/>
        </p:nvGraphicFramePr>
        <p:xfrm>
          <a:off x="1447180" y="2136938"/>
          <a:ext cx="15393639" cy="7307462"/>
        </p:xfrm>
        <a:graphic>
          <a:graphicData uri="http://schemas.openxmlformats.org/drawingml/2006/table">
            <a:tbl>
              <a:tblPr/>
              <a:tblGrid>
                <a:gridCol w="2355637">
                  <a:extLst>
                    <a:ext uri="{9D8B030D-6E8A-4147-A177-3AD203B41FA5}">
                      <a16:colId xmlns:a16="http://schemas.microsoft.com/office/drawing/2014/main" val="20000"/>
                    </a:ext>
                  </a:extLst>
                </a:gridCol>
                <a:gridCol w="6262794">
                  <a:extLst>
                    <a:ext uri="{9D8B030D-6E8A-4147-A177-3AD203B41FA5}">
                      <a16:colId xmlns:a16="http://schemas.microsoft.com/office/drawing/2014/main" val="20001"/>
                    </a:ext>
                  </a:extLst>
                </a:gridCol>
                <a:gridCol w="6775208">
                  <a:extLst>
                    <a:ext uri="{9D8B030D-6E8A-4147-A177-3AD203B41FA5}">
                      <a16:colId xmlns:a16="http://schemas.microsoft.com/office/drawing/2014/main" val="20002"/>
                    </a:ext>
                  </a:extLst>
                </a:gridCol>
              </a:tblGrid>
              <a:tr h="1012349">
                <a:tc>
                  <a:txBody>
                    <a:bodyPr/>
                    <a:lstStyle/>
                    <a:p>
                      <a:pPr algn="ctr">
                        <a:lnSpc>
                          <a:spcPts val="3359"/>
                        </a:lnSpc>
                        <a:defRPr/>
                      </a:pPr>
                      <a:r>
                        <a:rPr lang="en-US" sz="2400" b="1">
                          <a:solidFill>
                            <a:srgbClr val="000000"/>
                          </a:solidFill>
                          <a:latin typeface="Arial MT Pro Bold"/>
                          <a:ea typeface="Arial MT Pro Bold"/>
                          <a:cs typeface="Arial MT Pro Bold"/>
                          <a:sym typeface="Arial MT Pro Bold"/>
                        </a:rPr>
                        <a:t>Aspect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b="1">
                          <a:solidFill>
                            <a:srgbClr val="000000"/>
                          </a:solidFill>
                          <a:latin typeface="Arial MT Pro Bold"/>
                          <a:ea typeface="Arial MT Pro Bold"/>
                          <a:cs typeface="Arial MT Pro Bold"/>
                          <a:sym typeface="Arial MT Pro Bold"/>
                        </a:rPr>
                        <a:t>Predictive Analytics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b="1">
                          <a:solidFill>
                            <a:srgbClr val="000000"/>
                          </a:solidFill>
                          <a:latin typeface="Arial MT Pro Bold"/>
                          <a:ea typeface="Arial MT Pro Bold"/>
                          <a:cs typeface="Arial MT Pro Bold"/>
                          <a:sym typeface="Arial MT Pro Bold"/>
                        </a:rPr>
                        <a:t>Prescriptive Analytics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04336">
                <a:tc>
                  <a:txBody>
                    <a:bodyPr/>
                    <a:lstStyle/>
                    <a:p>
                      <a:pPr algn="ctr">
                        <a:lnSpc>
                          <a:spcPts val="3359"/>
                        </a:lnSpc>
                        <a:defRPr/>
                      </a:pPr>
                      <a:r>
                        <a:rPr lang="en-US" sz="2400" b="1">
                          <a:solidFill>
                            <a:srgbClr val="000000"/>
                          </a:solidFill>
                          <a:latin typeface="Arial MT Pro Bold"/>
                          <a:ea typeface="Arial MT Pro Bold"/>
                          <a:cs typeface="Arial MT Pro Bold"/>
                          <a:sym typeface="Arial MT Pro Bold"/>
                        </a:rPr>
                        <a:t>Definition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Arial MT Pro"/>
                          <a:ea typeface="Arial MT Pro"/>
                          <a:cs typeface="Arial MT Pro"/>
                          <a:sym typeface="Arial MT Pro"/>
                        </a:rPr>
                        <a:t>Forecasts future trends, outcomes, or behaviors based on historical data and pattern recognition.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Arial MT Pro"/>
                          <a:ea typeface="Arial MT Pro"/>
                          <a:cs typeface="Arial MT Pro"/>
                          <a:sym typeface="Arial MT Pro"/>
                        </a:rPr>
                        <a:t>Recommends specific actions or strategies based on data analysis and predictive models.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12349">
                <a:tc>
                  <a:txBody>
                    <a:bodyPr/>
                    <a:lstStyle/>
                    <a:p>
                      <a:pPr algn="ctr">
                        <a:lnSpc>
                          <a:spcPts val="3359"/>
                        </a:lnSpc>
                        <a:defRPr/>
                      </a:pPr>
                      <a:r>
                        <a:rPr lang="en-US" sz="2400" b="1">
                          <a:solidFill>
                            <a:srgbClr val="000000"/>
                          </a:solidFill>
                          <a:latin typeface="Arial MT Pro Bold"/>
                          <a:ea typeface="Arial MT Pro Bold"/>
                          <a:cs typeface="Arial MT Pro Bold"/>
                          <a:sym typeface="Arial MT Pro Bold"/>
                        </a:rPr>
                        <a:t>Purpose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Arial MT Pro"/>
                          <a:ea typeface="Arial MT Pro"/>
                          <a:cs typeface="Arial MT Pro"/>
                          <a:sym typeface="Arial MT Pro"/>
                        </a:rPr>
                        <a:t>To answer "What is likely to happen?"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Arial MT Pro"/>
                          <a:ea typeface="Arial MT Pro"/>
                          <a:cs typeface="Arial MT Pro"/>
                          <a:sym typeface="Arial MT Pro"/>
                        </a:rPr>
                        <a:t>To answer "What should we do about it?"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12349">
                <a:tc>
                  <a:txBody>
                    <a:bodyPr/>
                    <a:lstStyle/>
                    <a:p>
                      <a:pPr algn="ctr">
                        <a:lnSpc>
                          <a:spcPts val="3359"/>
                        </a:lnSpc>
                        <a:defRPr/>
                      </a:pPr>
                      <a:r>
                        <a:rPr lang="en-US" sz="2400" b="1">
                          <a:solidFill>
                            <a:srgbClr val="000000"/>
                          </a:solidFill>
                          <a:latin typeface="Arial MT Pro Bold"/>
                          <a:ea typeface="Arial MT Pro Bold"/>
                          <a:cs typeface="Arial MT Pro Bold"/>
                          <a:sym typeface="Arial MT Pro Bold"/>
                        </a:rPr>
                        <a:t>Focus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Arial MT Pro"/>
                          <a:ea typeface="Arial MT Pro"/>
                          <a:cs typeface="Arial MT Pro"/>
                          <a:sym typeface="Arial MT Pro"/>
                        </a:rPr>
                        <a:t>Identifying patterns and forecasting trends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Arial MT Pro"/>
                          <a:ea typeface="Arial MT Pro"/>
                          <a:cs typeface="Arial MT Pro"/>
                          <a:sym typeface="Arial MT Pro"/>
                        </a:rPr>
                        <a:t>Recommending optimal decisions and actions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283040">
                <a:tc>
                  <a:txBody>
                    <a:bodyPr/>
                    <a:lstStyle/>
                    <a:p>
                      <a:pPr algn="ctr">
                        <a:lnSpc>
                          <a:spcPts val="3359"/>
                        </a:lnSpc>
                        <a:defRPr/>
                      </a:pPr>
                      <a:r>
                        <a:rPr lang="en-US" sz="2400" b="1">
                          <a:solidFill>
                            <a:srgbClr val="000000"/>
                          </a:solidFill>
                          <a:latin typeface="Arial MT Pro Bold"/>
                          <a:ea typeface="Arial MT Pro Bold"/>
                          <a:cs typeface="Arial MT Pro Bold"/>
                          <a:sym typeface="Arial MT Pro Bold"/>
                        </a:rPr>
                        <a:t>Output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359"/>
                        </a:lnSpc>
                        <a:defRPr/>
                      </a:pPr>
                      <a:r>
                        <a:rPr lang="en-US" sz="2400">
                          <a:solidFill>
                            <a:srgbClr val="09090B"/>
                          </a:solidFill>
                          <a:latin typeface="Arial MT Pro"/>
                          <a:ea typeface="Arial MT Pro"/>
                          <a:cs typeface="Arial MT Pro"/>
                          <a:sym typeface="Arial MT Pro"/>
                        </a:rPr>
                        <a:t>Forecasts, probabilities, and risk scores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359"/>
                        </a:lnSpc>
                        <a:defRPr/>
                      </a:pPr>
                      <a:r>
                        <a:rPr lang="en-US" sz="2400">
                          <a:solidFill>
                            <a:srgbClr val="09090B"/>
                          </a:solidFill>
                          <a:latin typeface="Arial MT Pro"/>
                          <a:ea typeface="Arial MT Pro"/>
                          <a:cs typeface="Arial MT Pro"/>
                          <a:sym typeface="Arial MT Pro"/>
                        </a:rPr>
                        <a:t>Action recommendations and optimization strategies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283040">
                <a:tc>
                  <a:txBody>
                    <a:bodyPr/>
                    <a:lstStyle/>
                    <a:p>
                      <a:pPr algn="ctr">
                        <a:lnSpc>
                          <a:spcPts val="3359"/>
                        </a:lnSpc>
                        <a:defRPr/>
                      </a:pPr>
                      <a:r>
                        <a:rPr lang="en-US" sz="2400" b="1">
                          <a:solidFill>
                            <a:srgbClr val="000000"/>
                          </a:solidFill>
                          <a:latin typeface="Arial MT Pro Bold"/>
                          <a:ea typeface="Arial MT Pro Bold"/>
                          <a:cs typeface="Arial MT Pro Bold"/>
                          <a:sym typeface="Arial MT Pro Bold"/>
                        </a:rPr>
                        <a:t>Typical Methods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Arial MT Pro"/>
                          <a:ea typeface="Arial MT Pro"/>
                          <a:cs typeface="Arial MT Pro"/>
                          <a:sym typeface="Arial MT Pro"/>
                        </a:rPr>
                        <a:t>Regression analysis, time series forecasting, machine learning classification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359"/>
                        </a:lnSpc>
                        <a:defRPr/>
                      </a:pPr>
                      <a:r>
                        <a:rPr lang="en-US" sz="2400">
                          <a:solidFill>
                            <a:srgbClr val="000000"/>
                          </a:solidFill>
                          <a:latin typeface="Arial MT Pro"/>
                          <a:ea typeface="Arial MT Pro"/>
                          <a:cs typeface="Arial MT Pro"/>
                          <a:sym typeface="Arial MT Pro"/>
                        </a:rPr>
                        <a:t>Optimization algorithms, simulation modeling, decision analysis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447180" y="2088554"/>
          <a:ext cx="15393639" cy="7369771"/>
        </p:xfrm>
        <a:graphic>
          <a:graphicData uri="http://schemas.openxmlformats.org/drawingml/2006/table">
            <a:tbl>
              <a:tblPr/>
              <a:tblGrid>
                <a:gridCol w="2355637">
                  <a:extLst>
                    <a:ext uri="{9D8B030D-6E8A-4147-A177-3AD203B41FA5}">
                      <a16:colId xmlns:a16="http://schemas.microsoft.com/office/drawing/2014/main" val="20000"/>
                    </a:ext>
                  </a:extLst>
                </a:gridCol>
                <a:gridCol w="6262794">
                  <a:extLst>
                    <a:ext uri="{9D8B030D-6E8A-4147-A177-3AD203B41FA5}">
                      <a16:colId xmlns:a16="http://schemas.microsoft.com/office/drawing/2014/main" val="20001"/>
                    </a:ext>
                  </a:extLst>
                </a:gridCol>
                <a:gridCol w="6775208">
                  <a:extLst>
                    <a:ext uri="{9D8B030D-6E8A-4147-A177-3AD203B41FA5}">
                      <a16:colId xmlns:a16="http://schemas.microsoft.com/office/drawing/2014/main" val="20002"/>
                    </a:ext>
                  </a:extLst>
                </a:gridCol>
              </a:tblGrid>
              <a:tr h="1012304">
                <a:tc>
                  <a:txBody>
                    <a:bodyPr/>
                    <a:lstStyle/>
                    <a:p>
                      <a:pPr algn="l">
                        <a:lnSpc>
                          <a:spcPts val="3359"/>
                        </a:lnSpc>
                        <a:defRPr/>
                      </a:pPr>
                      <a:r>
                        <a:rPr lang="en-US" sz="2399" b="1">
                          <a:solidFill>
                            <a:srgbClr val="000000"/>
                          </a:solidFill>
                          <a:latin typeface="Arial MT Pro Bold"/>
                          <a:ea typeface="Arial MT Pro Bold"/>
                          <a:cs typeface="Arial MT Pro Bold"/>
                          <a:sym typeface="Arial MT Pro Bold"/>
                        </a:rPr>
                        <a:t>Model Type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Arial MT Pro Bold"/>
                          <a:ea typeface="Arial MT Pro Bold"/>
                          <a:cs typeface="Arial MT Pro Bold"/>
                          <a:sym typeface="Arial MT Pro Bold"/>
                        </a:rPr>
                        <a:t>Advantages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Arial MT Pro Bold"/>
                          <a:ea typeface="Arial MT Pro Bold"/>
                          <a:cs typeface="Arial MT Pro Bold"/>
                          <a:sym typeface="Arial MT Pro Bold"/>
                        </a:rPr>
                        <a:t>Disadvantages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68094">
                <a:tc>
                  <a:txBody>
                    <a:bodyPr/>
                    <a:lstStyle/>
                    <a:p>
                      <a:pPr algn="ctr">
                        <a:lnSpc>
                          <a:spcPts val="3359"/>
                        </a:lnSpc>
                        <a:defRPr/>
                      </a:pPr>
                      <a:r>
                        <a:rPr lang="en-US" sz="2399" b="1">
                          <a:solidFill>
                            <a:srgbClr val="000000"/>
                          </a:solidFill>
                          <a:latin typeface="Arial MT Pro Bold"/>
                          <a:ea typeface="Arial MT Pro Bold"/>
                          <a:cs typeface="Arial MT Pro Bold"/>
                          <a:sym typeface="Arial MT Pro Bold"/>
                        </a:rPr>
                        <a:t>Predictive Analytics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518155" lvl="1" indent="-259078" algn="l">
                        <a:lnSpc>
                          <a:spcPts val="3359"/>
                        </a:lnSpc>
                        <a:buFont typeface="Arial"/>
                        <a:buChar char="•"/>
                        <a:defRPr/>
                      </a:pPr>
                      <a:r>
                        <a:rPr lang="en-US" sz="2399">
                          <a:solidFill>
                            <a:srgbClr val="000000"/>
                          </a:solidFill>
                          <a:latin typeface="Arial MT Pro"/>
                          <a:ea typeface="Arial MT Pro"/>
                          <a:cs typeface="Arial MT Pro"/>
                          <a:sym typeface="Arial MT Pro"/>
                        </a:rPr>
                        <a:t>Identifies trends and potential future risks early, enabling proactive responses to challenges.</a:t>
                      </a:r>
                      <a:endParaRPr lang="en-US" sz="1100"/>
                    </a:p>
                    <a:p>
                      <a:pPr marL="518155" lvl="1" indent="-259078" algn="l">
                        <a:lnSpc>
                          <a:spcPts val="3359"/>
                        </a:lnSpc>
                        <a:buFont typeface="Arial"/>
                        <a:buChar char="•"/>
                      </a:pPr>
                      <a:r>
                        <a:rPr lang="en-US" sz="2399">
                          <a:solidFill>
                            <a:srgbClr val="000000"/>
                          </a:solidFill>
                          <a:latin typeface="Arial MT Pro"/>
                          <a:ea typeface="Arial MT Pro"/>
                          <a:cs typeface="Arial MT Pro"/>
                          <a:sym typeface="Arial MT Pro"/>
                        </a:rPr>
                        <a:t>Continuously improves its accuracy and effectiveness as more data is gathered and analyzed.</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518155" lvl="1" indent="-259078" algn="l">
                        <a:lnSpc>
                          <a:spcPts val="3359"/>
                        </a:lnSpc>
                        <a:buFont typeface="Arial"/>
                        <a:buChar char="•"/>
                        <a:defRPr/>
                      </a:pPr>
                      <a:r>
                        <a:rPr lang="en-US" sz="2399">
                          <a:solidFill>
                            <a:srgbClr val="000000"/>
                          </a:solidFill>
                          <a:latin typeface="Arial MT Pro"/>
                          <a:ea typeface="Arial MT Pro"/>
                          <a:cs typeface="Arial MT Pro"/>
                          <a:sym typeface="Arial MT Pro"/>
                        </a:rPr>
                        <a:t>Forecasts may be unreliable if they rely on biased or incomplete data, leading to skewed insights.</a:t>
                      </a:r>
                      <a:endParaRPr lang="en-US" sz="1100"/>
                    </a:p>
                    <a:p>
                      <a:pPr marL="518155" lvl="1" indent="-259078" algn="l">
                        <a:lnSpc>
                          <a:spcPts val="3359"/>
                        </a:lnSpc>
                        <a:buFont typeface="Arial"/>
                        <a:buChar char="•"/>
                      </a:pPr>
                      <a:r>
                        <a:rPr lang="en-US" sz="2399">
                          <a:solidFill>
                            <a:srgbClr val="000000"/>
                          </a:solidFill>
                          <a:latin typeface="Arial MT Pro"/>
                          <a:ea typeface="Arial MT Pro"/>
                          <a:cs typeface="Arial MT Pro"/>
                          <a:sym typeface="Arial MT Pro"/>
                        </a:rPr>
                        <a:t> Additionally, false predictions can result in poor decision-making and misguided strategies.</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389372">
                <a:tc>
                  <a:txBody>
                    <a:bodyPr/>
                    <a:lstStyle/>
                    <a:p>
                      <a:pPr algn="ctr">
                        <a:lnSpc>
                          <a:spcPts val="3359"/>
                        </a:lnSpc>
                        <a:defRPr/>
                      </a:pPr>
                      <a:r>
                        <a:rPr lang="en-US" sz="2399" b="1">
                          <a:solidFill>
                            <a:srgbClr val="000000"/>
                          </a:solidFill>
                          <a:latin typeface="Arial MT Pro Bold"/>
                          <a:ea typeface="Arial MT Pro Bold"/>
                          <a:cs typeface="Arial MT Pro Bold"/>
                          <a:sym typeface="Arial MT Pro Bold"/>
                        </a:rPr>
                        <a:t>Prescriptive Analytics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518155" lvl="1" indent="-259078" algn="l">
                        <a:lnSpc>
                          <a:spcPts val="3359"/>
                        </a:lnSpc>
                        <a:buFont typeface="Arial"/>
                        <a:buChar char="•"/>
                        <a:defRPr/>
                      </a:pPr>
                      <a:r>
                        <a:rPr lang="en-US" sz="2399">
                          <a:solidFill>
                            <a:srgbClr val="000000"/>
                          </a:solidFill>
                          <a:latin typeface="Arial MT Pro"/>
                          <a:ea typeface="Arial MT Pro"/>
                          <a:cs typeface="Arial MT Pro"/>
                          <a:sym typeface="Arial MT Pro"/>
                        </a:rPr>
                        <a:t>Optimizes outcomes by recommending the best actions under given constraints while uncovering untapped revenue opportunities.</a:t>
                      </a:r>
                      <a:endParaRPr lang="en-US" sz="1100"/>
                    </a:p>
                    <a:p>
                      <a:pPr marL="518155" lvl="1" indent="-259078" algn="l">
                        <a:lnSpc>
                          <a:spcPts val="3359"/>
                        </a:lnSpc>
                        <a:buFont typeface="Arial"/>
                        <a:buChar char="•"/>
                      </a:pPr>
                      <a:r>
                        <a:rPr lang="en-US" sz="2399">
                          <a:solidFill>
                            <a:srgbClr val="000000"/>
                          </a:solidFill>
                          <a:latin typeface="Arial MT Pro"/>
                          <a:ea typeface="Arial MT Pro"/>
                          <a:cs typeface="Arial MT Pro"/>
                          <a:sym typeface="Arial MT Pro"/>
                        </a:rPr>
                        <a:t>It also helps organizations focus resources effectively, avoiding waste on non-impactful data or initiatives.</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518155" lvl="1" indent="-259078" algn="l">
                        <a:lnSpc>
                          <a:spcPts val="3359"/>
                        </a:lnSpc>
                        <a:buFont typeface="Arial"/>
                        <a:buChar char="•"/>
                        <a:defRPr/>
                      </a:pPr>
                      <a:r>
                        <a:rPr lang="en-US" sz="2399">
                          <a:solidFill>
                            <a:srgbClr val="000000"/>
                          </a:solidFill>
                          <a:latin typeface="Arial MT Pro"/>
                          <a:ea typeface="Arial MT Pro"/>
                          <a:cs typeface="Arial MT Pro"/>
                          <a:sym typeface="Arial MT Pro"/>
                        </a:rPr>
                        <a:t>Relies heavily on correct assumptions, as inaccuracies can lead to unreliable results or suggestions.</a:t>
                      </a:r>
                      <a:endParaRPr lang="en-US" sz="1100"/>
                    </a:p>
                    <a:p>
                      <a:pPr marL="518155" lvl="1" indent="-259078" algn="l">
                        <a:lnSpc>
                          <a:spcPts val="3359"/>
                        </a:lnSpc>
                        <a:buFont typeface="Arial"/>
                        <a:buChar char="•"/>
                      </a:pPr>
                      <a:r>
                        <a:rPr lang="en-US" sz="2399">
                          <a:solidFill>
                            <a:srgbClr val="000000"/>
                          </a:solidFill>
                          <a:latin typeface="Arial MT Pro"/>
                          <a:ea typeface="Arial MT Pro"/>
                          <a:cs typeface="Arial MT Pro"/>
                          <a:sym typeface="Arial MT Pro"/>
                        </a:rPr>
                        <a:t>Misinterpretation of data or models may yield misleading recommendations, and implementing these systems requires advanced tools and skilled analysts.</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TextBox 3"/>
          <p:cNvSpPr txBox="1"/>
          <p:nvPr/>
        </p:nvSpPr>
        <p:spPr>
          <a:xfrm>
            <a:off x="1815885" y="731202"/>
            <a:ext cx="14656230" cy="537845"/>
          </a:xfrm>
          <a:prstGeom prst="rect">
            <a:avLst/>
          </a:prstGeom>
        </p:spPr>
        <p:txBody>
          <a:bodyPr lIns="0" tIns="0" rIns="0" bIns="0" rtlCol="0" anchor="t">
            <a:spAutoFit/>
          </a:bodyPr>
          <a:lstStyle/>
          <a:p>
            <a:pPr algn="ctr">
              <a:lnSpc>
                <a:spcPts val="4479"/>
              </a:lnSpc>
            </a:pPr>
            <a:r>
              <a:rPr lang="en-US" sz="3199" b="1">
                <a:solidFill>
                  <a:srgbClr val="8064A2"/>
                </a:solidFill>
                <a:latin typeface="Canva Sans Bold"/>
                <a:ea typeface="Canva Sans Bold"/>
                <a:cs typeface="Canva Sans Bold"/>
                <a:sym typeface="Canva Sans Bold"/>
              </a:rPr>
              <a:t>Advantages and Disadvantages of Predictive and Prescriptive Analytics </a:t>
            </a:r>
          </a:p>
        </p:txBody>
      </p:sp>
      <p:sp>
        <p:nvSpPr>
          <p:cNvPr id="4" name="TextBox 4"/>
          <p:cNvSpPr txBox="1"/>
          <p:nvPr/>
        </p:nvSpPr>
        <p:spPr>
          <a:xfrm>
            <a:off x="10828767" y="9653031"/>
            <a:ext cx="714606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(Edwards and Thor Olavsrud, 2019; Chabrier, 2021)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609917"/>
            <a:ext cx="13373100" cy="1091017"/>
            <a:chOff x="0" y="0"/>
            <a:chExt cx="17830800" cy="1454690"/>
          </a:xfrm>
        </p:grpSpPr>
        <p:sp>
          <p:nvSpPr>
            <p:cNvPr id="3" name="Freeform 3"/>
            <p:cNvSpPr/>
            <p:nvPr/>
          </p:nvSpPr>
          <p:spPr>
            <a:xfrm>
              <a:off x="0" y="0"/>
              <a:ext cx="17830800" cy="1454690"/>
            </a:xfrm>
            <a:custGeom>
              <a:avLst/>
              <a:gdLst/>
              <a:ahLst/>
              <a:cxnLst/>
              <a:rect l="l" t="t" r="r" b="b"/>
              <a:pathLst>
                <a:path w="17830800" h="1454690">
                  <a:moveTo>
                    <a:pt x="0" y="0"/>
                  </a:moveTo>
                  <a:lnTo>
                    <a:pt x="17830800" y="0"/>
                  </a:lnTo>
                  <a:lnTo>
                    <a:pt x="17830800" y="1454690"/>
                  </a:lnTo>
                  <a:lnTo>
                    <a:pt x="0" y="1454690"/>
                  </a:lnTo>
                  <a:close/>
                </a:path>
              </a:pathLst>
            </a:custGeom>
          </p:spPr>
        </p:sp>
        <p:sp>
          <p:nvSpPr>
            <p:cNvPr id="4" name="TextBox 4"/>
            <p:cNvSpPr txBox="1"/>
            <p:nvPr/>
          </p:nvSpPr>
          <p:spPr>
            <a:xfrm>
              <a:off x="0" y="-104775"/>
              <a:ext cx="17830800" cy="1559465"/>
            </a:xfrm>
            <a:prstGeom prst="rect">
              <a:avLst/>
            </a:prstGeom>
          </p:spPr>
          <p:txBody>
            <a:bodyPr lIns="0" tIns="0" rIns="0" bIns="0" rtlCol="0" anchor="t"/>
            <a:lstStyle/>
            <a:p>
              <a:pPr algn="l">
                <a:lnSpc>
                  <a:spcPts val="5965"/>
                </a:lnSpc>
              </a:pPr>
              <a:r>
                <a:rPr lang="en-US" sz="4398" b="1">
                  <a:solidFill>
                    <a:srgbClr val="000000"/>
                  </a:solidFill>
                  <a:latin typeface="Poppins Bold"/>
                  <a:ea typeface="Poppins Bold"/>
                  <a:cs typeface="Poppins Bold"/>
                  <a:sym typeface="Poppins Bold"/>
                </a:rPr>
                <a:t>Analytical Methods</a:t>
              </a:r>
            </a:p>
          </p:txBody>
        </p:sp>
      </p:grpSp>
      <p:sp>
        <p:nvSpPr>
          <p:cNvPr id="5" name="TextBox 5"/>
          <p:cNvSpPr txBox="1"/>
          <p:nvPr/>
        </p:nvSpPr>
        <p:spPr>
          <a:xfrm>
            <a:off x="899915" y="2445004"/>
            <a:ext cx="4768815" cy="561975"/>
          </a:xfrm>
          <a:prstGeom prst="rect">
            <a:avLst/>
          </a:prstGeom>
        </p:spPr>
        <p:txBody>
          <a:bodyPr lIns="0" tIns="0" rIns="0" bIns="0" rtlCol="0" anchor="t">
            <a:spAutoFit/>
          </a:bodyPr>
          <a:lstStyle/>
          <a:p>
            <a:pPr algn="ctr">
              <a:lnSpc>
                <a:spcPts val="4199"/>
              </a:lnSpc>
            </a:pPr>
            <a:r>
              <a:rPr lang="en-US" sz="2999" b="1">
                <a:solidFill>
                  <a:srgbClr val="0088B6"/>
                </a:solidFill>
                <a:latin typeface="Arial MT Pro Bold"/>
                <a:ea typeface="Arial MT Pro Bold"/>
                <a:cs typeface="Arial MT Pro Bold"/>
                <a:sym typeface="Arial MT Pro Bold"/>
              </a:rPr>
              <a:t>Regression Analysis</a:t>
            </a:r>
          </a:p>
        </p:txBody>
      </p:sp>
      <p:sp>
        <p:nvSpPr>
          <p:cNvPr id="6" name="TextBox 6"/>
          <p:cNvSpPr txBox="1"/>
          <p:nvPr/>
        </p:nvSpPr>
        <p:spPr>
          <a:xfrm>
            <a:off x="6654594" y="2445004"/>
            <a:ext cx="4768815" cy="561975"/>
          </a:xfrm>
          <a:prstGeom prst="rect">
            <a:avLst/>
          </a:prstGeom>
        </p:spPr>
        <p:txBody>
          <a:bodyPr lIns="0" tIns="0" rIns="0" bIns="0" rtlCol="0" anchor="t">
            <a:spAutoFit/>
          </a:bodyPr>
          <a:lstStyle/>
          <a:p>
            <a:pPr algn="ctr">
              <a:lnSpc>
                <a:spcPts val="4199"/>
              </a:lnSpc>
            </a:pPr>
            <a:r>
              <a:rPr lang="en-US" sz="2999" b="1">
                <a:solidFill>
                  <a:srgbClr val="0088B6"/>
                </a:solidFill>
                <a:latin typeface="Arial MT Pro Bold"/>
                <a:ea typeface="Arial MT Pro Bold"/>
                <a:cs typeface="Arial MT Pro Bold"/>
                <a:sym typeface="Arial MT Pro Bold"/>
              </a:rPr>
              <a:t>Decision Tree</a:t>
            </a:r>
          </a:p>
        </p:txBody>
      </p:sp>
      <p:sp>
        <p:nvSpPr>
          <p:cNvPr id="7" name="TextBox 7"/>
          <p:cNvSpPr txBox="1"/>
          <p:nvPr/>
        </p:nvSpPr>
        <p:spPr>
          <a:xfrm>
            <a:off x="12619270" y="2445004"/>
            <a:ext cx="4768815" cy="561975"/>
          </a:xfrm>
          <a:prstGeom prst="rect">
            <a:avLst/>
          </a:prstGeom>
        </p:spPr>
        <p:txBody>
          <a:bodyPr lIns="0" tIns="0" rIns="0" bIns="0" rtlCol="0" anchor="t">
            <a:spAutoFit/>
          </a:bodyPr>
          <a:lstStyle/>
          <a:p>
            <a:pPr algn="ctr">
              <a:lnSpc>
                <a:spcPts val="4199"/>
              </a:lnSpc>
            </a:pPr>
            <a:r>
              <a:rPr lang="en-US" sz="2999" b="1">
                <a:solidFill>
                  <a:srgbClr val="0088B6"/>
                </a:solidFill>
                <a:latin typeface="Arial MT Pro Bold"/>
                <a:ea typeface="Arial MT Pro Bold"/>
                <a:cs typeface="Arial MT Pro Bold"/>
                <a:sym typeface="Arial MT Pro Bold"/>
              </a:rPr>
              <a:t>Clustering</a:t>
            </a:r>
          </a:p>
        </p:txBody>
      </p:sp>
      <p:sp>
        <p:nvSpPr>
          <p:cNvPr id="8" name="AutoShape 8"/>
          <p:cNvSpPr/>
          <p:nvPr/>
        </p:nvSpPr>
        <p:spPr>
          <a:xfrm flipV="1">
            <a:off x="6159294" y="2783094"/>
            <a:ext cx="0" cy="6475206"/>
          </a:xfrm>
          <a:prstGeom prst="line">
            <a:avLst/>
          </a:prstGeom>
          <a:ln w="38100" cap="flat">
            <a:solidFill>
              <a:srgbClr val="000000"/>
            </a:solidFill>
            <a:prstDash val="solid"/>
            <a:headEnd type="none" w="sm" len="sm"/>
            <a:tailEnd type="none" w="sm" len="sm"/>
          </a:ln>
        </p:spPr>
      </p:sp>
      <p:sp>
        <p:nvSpPr>
          <p:cNvPr id="9" name="AutoShape 9"/>
          <p:cNvSpPr/>
          <p:nvPr/>
        </p:nvSpPr>
        <p:spPr>
          <a:xfrm flipV="1">
            <a:off x="12359727" y="2853562"/>
            <a:ext cx="38048" cy="6475158"/>
          </a:xfrm>
          <a:prstGeom prst="line">
            <a:avLst/>
          </a:prstGeom>
          <a:ln w="38100" cap="flat">
            <a:solidFill>
              <a:srgbClr val="000000"/>
            </a:solidFill>
            <a:prstDash val="solid"/>
            <a:headEnd type="none" w="sm" len="sm"/>
            <a:tailEnd type="none" w="sm" len="sm"/>
          </a:ln>
        </p:spPr>
      </p:sp>
      <p:sp>
        <p:nvSpPr>
          <p:cNvPr id="10" name="TextBox 10"/>
          <p:cNvSpPr txBox="1"/>
          <p:nvPr/>
        </p:nvSpPr>
        <p:spPr>
          <a:xfrm>
            <a:off x="994271" y="3244119"/>
            <a:ext cx="4674459" cy="5608320"/>
          </a:xfrm>
          <a:prstGeom prst="rect">
            <a:avLst/>
          </a:prstGeom>
        </p:spPr>
        <p:txBody>
          <a:bodyPr lIns="0" tIns="0" rIns="0" bIns="0" rtlCol="0" anchor="t">
            <a:spAutoFit/>
          </a:bodyPr>
          <a:lstStyle/>
          <a:p>
            <a:pPr algn="just">
              <a:lnSpc>
                <a:spcPts val="3389"/>
              </a:lnSpc>
              <a:spcBef>
                <a:spcPct val="0"/>
              </a:spcBef>
            </a:pPr>
            <a:r>
              <a:rPr lang="en-US" sz="2499">
                <a:solidFill>
                  <a:srgbClr val="000000"/>
                </a:solidFill>
                <a:latin typeface="Arial MT Pro"/>
                <a:ea typeface="Arial MT Pro"/>
                <a:cs typeface="Arial MT Pro"/>
                <a:sym typeface="Arial MT Pro"/>
              </a:rPr>
              <a:t>Regression analysis predicts a </a:t>
            </a:r>
            <a:r>
              <a:rPr lang="en-US" sz="2499" u="sng">
                <a:solidFill>
                  <a:srgbClr val="000000"/>
                </a:solidFill>
                <a:latin typeface="Arial MT Pro"/>
                <a:ea typeface="Arial MT Pro"/>
                <a:cs typeface="Arial MT Pro"/>
                <a:sym typeface="Arial MT Pro"/>
              </a:rPr>
              <a:t>continuous outcome</a:t>
            </a:r>
            <a:r>
              <a:rPr lang="en-US" sz="2499">
                <a:solidFill>
                  <a:srgbClr val="000000"/>
                </a:solidFill>
                <a:latin typeface="Arial MT Pro"/>
                <a:ea typeface="Arial MT Pro"/>
                <a:cs typeface="Arial MT Pro"/>
                <a:sym typeface="Arial MT Pro"/>
              </a:rPr>
              <a:t> based on one or more </a:t>
            </a:r>
            <a:r>
              <a:rPr lang="en-US" sz="2499" u="sng">
                <a:solidFill>
                  <a:srgbClr val="000000"/>
                </a:solidFill>
                <a:latin typeface="Arial MT Pro"/>
                <a:ea typeface="Arial MT Pro"/>
                <a:cs typeface="Arial MT Pro"/>
                <a:sym typeface="Arial MT Pro"/>
              </a:rPr>
              <a:t>independent variables</a:t>
            </a:r>
            <a:r>
              <a:rPr lang="en-US" sz="2499">
                <a:solidFill>
                  <a:srgbClr val="000000"/>
                </a:solidFill>
                <a:latin typeface="Arial MT Pro"/>
                <a:ea typeface="Arial MT Pro"/>
                <a:cs typeface="Arial MT Pro"/>
                <a:sym typeface="Arial MT Pro"/>
              </a:rPr>
              <a:t>. It identifies trends or relationships in data, usually through a line of best fit or more complex models in other regression types. Common methods include OLS (Ordinary Least Squares), Ridge/Lasso Regression, Bayesian Regression and MLE (Maximum Likelihood Estimation).</a:t>
            </a:r>
          </a:p>
        </p:txBody>
      </p:sp>
      <p:sp>
        <p:nvSpPr>
          <p:cNvPr id="11" name="TextBox 11"/>
          <p:cNvSpPr txBox="1"/>
          <p:nvPr/>
        </p:nvSpPr>
        <p:spPr>
          <a:xfrm>
            <a:off x="6923268" y="3244119"/>
            <a:ext cx="4674459" cy="5179695"/>
          </a:xfrm>
          <a:prstGeom prst="rect">
            <a:avLst/>
          </a:prstGeom>
        </p:spPr>
        <p:txBody>
          <a:bodyPr lIns="0" tIns="0" rIns="0" bIns="0" rtlCol="0" anchor="t">
            <a:spAutoFit/>
          </a:bodyPr>
          <a:lstStyle/>
          <a:p>
            <a:pPr algn="just">
              <a:lnSpc>
                <a:spcPts val="3389"/>
              </a:lnSpc>
              <a:spcBef>
                <a:spcPct val="0"/>
              </a:spcBef>
            </a:pPr>
            <a:r>
              <a:rPr lang="en-US" sz="2499">
                <a:solidFill>
                  <a:srgbClr val="000000"/>
                </a:solidFill>
                <a:latin typeface="Arial MT Pro"/>
                <a:ea typeface="Arial MT Pro"/>
                <a:cs typeface="Arial MT Pro"/>
                <a:sym typeface="Arial MT Pro"/>
              </a:rPr>
              <a:t>A decision tree uses a </a:t>
            </a:r>
            <a:r>
              <a:rPr lang="en-US" sz="2499" u="sng">
                <a:solidFill>
                  <a:srgbClr val="000000"/>
                </a:solidFill>
                <a:latin typeface="Arial MT Pro"/>
                <a:ea typeface="Arial MT Pro"/>
                <a:cs typeface="Arial MT Pro"/>
                <a:sym typeface="Arial MT Pro"/>
              </a:rPr>
              <a:t>tree structure</a:t>
            </a:r>
            <a:r>
              <a:rPr lang="en-US" sz="2499">
                <a:solidFill>
                  <a:srgbClr val="000000"/>
                </a:solidFill>
                <a:latin typeface="Arial MT Pro"/>
                <a:ea typeface="Arial MT Pro"/>
                <a:cs typeface="Arial MT Pro"/>
                <a:sym typeface="Arial MT Pro"/>
              </a:rPr>
              <a:t> to model decisions and outcomes. It splits data into branches based on </a:t>
            </a:r>
            <a:r>
              <a:rPr lang="en-US" sz="2499" u="sng">
                <a:solidFill>
                  <a:srgbClr val="000000"/>
                </a:solidFill>
                <a:latin typeface="Arial MT Pro"/>
                <a:ea typeface="Arial MT Pro"/>
                <a:cs typeface="Arial MT Pro"/>
                <a:sym typeface="Arial MT Pro"/>
              </a:rPr>
              <a:t>feature values</a:t>
            </a:r>
            <a:r>
              <a:rPr lang="en-US" sz="2499">
                <a:solidFill>
                  <a:srgbClr val="000000"/>
                </a:solidFill>
                <a:latin typeface="Arial MT Pro"/>
                <a:ea typeface="Arial MT Pro"/>
                <a:cs typeface="Arial MT Pro"/>
                <a:sym typeface="Arial MT Pro"/>
              </a:rPr>
              <a:t>, making it easy to interpret for both classification and regression problems. Key components include root node, internal node, branches, and leaf nodes. Some metrics for splitting are Gini Impurity, Entropy, and Information Gain. </a:t>
            </a:r>
          </a:p>
        </p:txBody>
      </p:sp>
      <p:sp>
        <p:nvSpPr>
          <p:cNvPr id="12" name="TextBox 12"/>
          <p:cNvSpPr txBox="1"/>
          <p:nvPr/>
        </p:nvSpPr>
        <p:spPr>
          <a:xfrm>
            <a:off x="12666447" y="3244119"/>
            <a:ext cx="4721637" cy="4322445"/>
          </a:xfrm>
          <a:prstGeom prst="rect">
            <a:avLst/>
          </a:prstGeom>
        </p:spPr>
        <p:txBody>
          <a:bodyPr lIns="0" tIns="0" rIns="0" bIns="0" rtlCol="0" anchor="t">
            <a:spAutoFit/>
          </a:bodyPr>
          <a:lstStyle/>
          <a:p>
            <a:pPr algn="just">
              <a:lnSpc>
                <a:spcPts val="3389"/>
              </a:lnSpc>
              <a:spcBef>
                <a:spcPct val="0"/>
              </a:spcBef>
            </a:pPr>
            <a:r>
              <a:rPr lang="en-US" sz="2499">
                <a:solidFill>
                  <a:srgbClr val="000000"/>
                </a:solidFill>
                <a:latin typeface="Arial MT Pro"/>
                <a:ea typeface="Arial MT Pro"/>
                <a:cs typeface="Arial MT Pro"/>
                <a:sym typeface="Arial MT Pro"/>
              </a:rPr>
              <a:t>Clustering groups </a:t>
            </a:r>
            <a:r>
              <a:rPr lang="en-US" sz="2499" u="sng">
                <a:solidFill>
                  <a:srgbClr val="000000"/>
                </a:solidFill>
                <a:latin typeface="Arial MT Pro"/>
                <a:ea typeface="Arial MT Pro"/>
                <a:cs typeface="Arial MT Pro"/>
                <a:sym typeface="Arial MT Pro"/>
              </a:rPr>
              <a:t>unlabelled data</a:t>
            </a:r>
            <a:r>
              <a:rPr lang="en-US" sz="2499">
                <a:solidFill>
                  <a:srgbClr val="000000"/>
                </a:solidFill>
                <a:latin typeface="Arial MT Pro"/>
                <a:ea typeface="Arial MT Pro"/>
                <a:cs typeface="Arial MT Pro"/>
                <a:sym typeface="Arial MT Pro"/>
              </a:rPr>
              <a:t> based on </a:t>
            </a:r>
            <a:r>
              <a:rPr lang="en-US" sz="2499" u="sng">
                <a:solidFill>
                  <a:srgbClr val="000000"/>
                </a:solidFill>
                <a:latin typeface="Arial MT Pro"/>
                <a:ea typeface="Arial MT Pro"/>
                <a:cs typeface="Arial MT Pro"/>
                <a:sym typeface="Arial MT Pro"/>
              </a:rPr>
              <a:t>similarity</a:t>
            </a:r>
            <a:r>
              <a:rPr lang="en-US" sz="2499">
                <a:solidFill>
                  <a:srgbClr val="000000"/>
                </a:solidFill>
                <a:latin typeface="Arial MT Pro"/>
                <a:ea typeface="Arial MT Pro"/>
                <a:cs typeface="Arial MT Pro"/>
                <a:sym typeface="Arial MT Pro"/>
              </a:rPr>
              <a:t>. Unlike classification, clustering is </a:t>
            </a:r>
            <a:r>
              <a:rPr lang="en-US" sz="2499" u="sng">
                <a:solidFill>
                  <a:srgbClr val="000000"/>
                </a:solidFill>
                <a:latin typeface="Arial MT Pro"/>
                <a:ea typeface="Arial MT Pro"/>
                <a:cs typeface="Arial MT Pro"/>
                <a:sym typeface="Arial MT Pro"/>
              </a:rPr>
              <a:t>unsupervised</a:t>
            </a:r>
            <a:r>
              <a:rPr lang="en-US" sz="2499">
                <a:solidFill>
                  <a:srgbClr val="000000"/>
                </a:solidFill>
                <a:latin typeface="Arial MT Pro"/>
                <a:ea typeface="Arial MT Pro"/>
                <a:cs typeface="Arial MT Pro"/>
                <a:sym typeface="Arial MT Pro"/>
              </a:rPr>
              <a:t>, meaning it finds natural groupings without prior labels. It measures distances (e.g., Euclidean) between points. Common algorithms used are K-Means, DBSCAN, and Hierarchical Clustering. </a:t>
            </a:r>
          </a:p>
        </p:txBody>
      </p:sp>
      <p:sp>
        <p:nvSpPr>
          <p:cNvPr id="13" name="TextBox 13"/>
          <p:cNvSpPr txBox="1"/>
          <p:nvPr/>
        </p:nvSpPr>
        <p:spPr>
          <a:xfrm>
            <a:off x="6828912" y="1475752"/>
            <a:ext cx="4768815" cy="580390"/>
          </a:xfrm>
          <a:prstGeom prst="rect">
            <a:avLst/>
          </a:prstGeom>
        </p:spPr>
        <p:txBody>
          <a:bodyPr lIns="0" tIns="0" rIns="0" bIns="0" rtlCol="0" anchor="t">
            <a:spAutoFit/>
          </a:bodyPr>
          <a:lstStyle/>
          <a:p>
            <a:pPr algn="ctr">
              <a:lnSpc>
                <a:spcPts val="4759"/>
              </a:lnSpc>
            </a:pPr>
            <a:r>
              <a:rPr lang="en-US" sz="3399" b="1">
                <a:solidFill>
                  <a:srgbClr val="2B4865"/>
                </a:solidFill>
                <a:latin typeface="Canva Sans Bold"/>
                <a:ea typeface="Canva Sans Bold"/>
                <a:cs typeface="Canva Sans Bold"/>
                <a:sym typeface="Canva Sans Bold"/>
              </a:rPr>
              <a:t>FUNCTION </a:t>
            </a:r>
          </a:p>
        </p:txBody>
      </p:sp>
      <p:sp>
        <p:nvSpPr>
          <p:cNvPr id="14" name="TextBox 14"/>
          <p:cNvSpPr txBox="1"/>
          <p:nvPr/>
        </p:nvSpPr>
        <p:spPr>
          <a:xfrm>
            <a:off x="10828767" y="9653031"/>
            <a:ext cx="714606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(Mehta, 2023; IBM, 2021; GeeksforGeeks, 2018)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99602" y="2059656"/>
            <a:ext cx="4768815" cy="561975"/>
          </a:xfrm>
          <a:prstGeom prst="rect">
            <a:avLst/>
          </a:prstGeom>
        </p:spPr>
        <p:txBody>
          <a:bodyPr lIns="0" tIns="0" rIns="0" bIns="0" rtlCol="0" anchor="t">
            <a:spAutoFit/>
          </a:bodyPr>
          <a:lstStyle/>
          <a:p>
            <a:pPr algn="ctr">
              <a:lnSpc>
                <a:spcPts val="4199"/>
              </a:lnSpc>
            </a:pPr>
            <a:r>
              <a:rPr lang="en-US" sz="2999" b="1">
                <a:solidFill>
                  <a:srgbClr val="0088B6"/>
                </a:solidFill>
                <a:latin typeface="Arial MT Pro Bold"/>
                <a:ea typeface="Arial MT Pro Bold"/>
                <a:cs typeface="Arial MT Pro Bold"/>
                <a:sym typeface="Arial MT Pro Bold"/>
              </a:rPr>
              <a:t>Regression Analysis</a:t>
            </a:r>
          </a:p>
        </p:txBody>
      </p:sp>
      <p:sp>
        <p:nvSpPr>
          <p:cNvPr id="3" name="TextBox 3"/>
          <p:cNvSpPr txBox="1"/>
          <p:nvPr/>
        </p:nvSpPr>
        <p:spPr>
          <a:xfrm>
            <a:off x="6554281" y="2059656"/>
            <a:ext cx="4768815" cy="561975"/>
          </a:xfrm>
          <a:prstGeom prst="rect">
            <a:avLst/>
          </a:prstGeom>
        </p:spPr>
        <p:txBody>
          <a:bodyPr lIns="0" tIns="0" rIns="0" bIns="0" rtlCol="0" anchor="t">
            <a:spAutoFit/>
          </a:bodyPr>
          <a:lstStyle/>
          <a:p>
            <a:pPr algn="ctr">
              <a:lnSpc>
                <a:spcPts val="4199"/>
              </a:lnSpc>
            </a:pPr>
            <a:r>
              <a:rPr lang="en-US" sz="2999" b="1">
                <a:solidFill>
                  <a:srgbClr val="0088B6"/>
                </a:solidFill>
                <a:latin typeface="Arial MT Pro Bold"/>
                <a:ea typeface="Arial MT Pro Bold"/>
                <a:cs typeface="Arial MT Pro Bold"/>
                <a:sym typeface="Arial MT Pro Bold"/>
              </a:rPr>
              <a:t>Decision Tree</a:t>
            </a:r>
          </a:p>
        </p:txBody>
      </p:sp>
      <p:sp>
        <p:nvSpPr>
          <p:cNvPr id="4" name="TextBox 4"/>
          <p:cNvSpPr txBox="1"/>
          <p:nvPr/>
        </p:nvSpPr>
        <p:spPr>
          <a:xfrm>
            <a:off x="12518956" y="2059656"/>
            <a:ext cx="4768815" cy="561975"/>
          </a:xfrm>
          <a:prstGeom prst="rect">
            <a:avLst/>
          </a:prstGeom>
        </p:spPr>
        <p:txBody>
          <a:bodyPr lIns="0" tIns="0" rIns="0" bIns="0" rtlCol="0" anchor="t">
            <a:spAutoFit/>
          </a:bodyPr>
          <a:lstStyle/>
          <a:p>
            <a:pPr algn="ctr">
              <a:lnSpc>
                <a:spcPts val="4199"/>
              </a:lnSpc>
            </a:pPr>
            <a:r>
              <a:rPr lang="en-US" sz="2999" b="1">
                <a:solidFill>
                  <a:srgbClr val="0088B6"/>
                </a:solidFill>
                <a:latin typeface="Arial MT Pro Bold"/>
                <a:ea typeface="Arial MT Pro Bold"/>
                <a:cs typeface="Arial MT Pro Bold"/>
                <a:sym typeface="Arial MT Pro Bold"/>
              </a:rPr>
              <a:t>Clustering</a:t>
            </a:r>
          </a:p>
        </p:txBody>
      </p:sp>
      <p:sp>
        <p:nvSpPr>
          <p:cNvPr id="5" name="AutoShape 5"/>
          <p:cNvSpPr/>
          <p:nvPr/>
        </p:nvSpPr>
        <p:spPr>
          <a:xfrm flipV="1">
            <a:off x="6058981" y="2397746"/>
            <a:ext cx="0" cy="6475206"/>
          </a:xfrm>
          <a:prstGeom prst="line">
            <a:avLst/>
          </a:prstGeom>
          <a:ln w="38100" cap="flat">
            <a:solidFill>
              <a:srgbClr val="000000"/>
            </a:solidFill>
            <a:prstDash val="solid"/>
            <a:headEnd type="none" w="sm" len="sm"/>
            <a:tailEnd type="none" w="sm" len="sm"/>
          </a:ln>
        </p:spPr>
      </p:sp>
      <p:sp>
        <p:nvSpPr>
          <p:cNvPr id="6" name="AutoShape 6"/>
          <p:cNvSpPr/>
          <p:nvPr/>
        </p:nvSpPr>
        <p:spPr>
          <a:xfrm flipV="1">
            <a:off x="12261387" y="2397793"/>
            <a:ext cx="38048" cy="6475158"/>
          </a:xfrm>
          <a:prstGeom prst="line">
            <a:avLst/>
          </a:prstGeom>
          <a:ln w="38100" cap="flat">
            <a:solidFill>
              <a:srgbClr val="000000"/>
            </a:solidFill>
            <a:prstDash val="solid"/>
            <a:headEnd type="none" w="sm" len="sm"/>
            <a:tailEnd type="none" w="sm" len="sm"/>
          </a:ln>
        </p:spPr>
      </p:sp>
      <p:sp>
        <p:nvSpPr>
          <p:cNvPr id="7" name="TextBox 7"/>
          <p:cNvSpPr txBox="1"/>
          <p:nvPr/>
        </p:nvSpPr>
        <p:spPr>
          <a:xfrm>
            <a:off x="6565142" y="2815742"/>
            <a:ext cx="5095728" cy="5415839"/>
          </a:xfrm>
          <a:prstGeom prst="rect">
            <a:avLst/>
          </a:prstGeom>
        </p:spPr>
        <p:txBody>
          <a:bodyPr lIns="0" tIns="0" rIns="0" bIns="0" rtlCol="0" anchor="t">
            <a:spAutoFit/>
          </a:bodyPr>
          <a:lstStyle/>
          <a:p>
            <a:pPr algn="ctr">
              <a:lnSpc>
                <a:spcPts val="3525"/>
              </a:lnSpc>
              <a:spcBef>
                <a:spcPct val="0"/>
              </a:spcBef>
            </a:pPr>
            <a:r>
              <a:rPr lang="en-US" sz="2599" b="1">
                <a:solidFill>
                  <a:srgbClr val="8064A2"/>
                </a:solidFill>
                <a:latin typeface="Arial MT Pro Bold"/>
                <a:ea typeface="Arial MT Pro Bold"/>
                <a:cs typeface="Arial MT Pro Bold"/>
                <a:sym typeface="Arial MT Pro Bold"/>
              </a:rPr>
              <a:t>Loan Appr</a:t>
            </a:r>
            <a:r>
              <a:rPr lang="en-US" sz="2599" b="1" u="none">
                <a:solidFill>
                  <a:srgbClr val="8064A2"/>
                </a:solidFill>
                <a:latin typeface="Arial MT Pro Bold"/>
                <a:ea typeface="Arial MT Pro Bold"/>
                <a:cs typeface="Arial MT Pro Bold"/>
                <a:sym typeface="Arial MT Pro Bold"/>
              </a:rPr>
              <a:t>o</a:t>
            </a:r>
            <a:r>
              <a:rPr lang="en-US" sz="2599" b="1">
                <a:solidFill>
                  <a:srgbClr val="8064A2"/>
                </a:solidFill>
                <a:latin typeface="Arial MT Pro Bold"/>
                <a:ea typeface="Arial MT Pro Bold"/>
                <a:cs typeface="Arial MT Pro Bold"/>
                <a:sym typeface="Arial MT Pro Bold"/>
              </a:rPr>
              <a:t>val</a:t>
            </a:r>
          </a:p>
          <a:p>
            <a:pPr marL="561339" lvl="1" indent="-280669" algn="just">
              <a:lnSpc>
                <a:spcPts val="3525"/>
              </a:lnSpc>
              <a:spcBef>
                <a:spcPct val="0"/>
              </a:spcBef>
              <a:buFont typeface="Arial"/>
              <a:buChar char="•"/>
            </a:pPr>
            <a:r>
              <a:rPr lang="en-US" sz="2599" b="1">
                <a:solidFill>
                  <a:srgbClr val="000000"/>
                </a:solidFill>
                <a:latin typeface="Arial MT Pro Bold"/>
                <a:ea typeface="Arial MT Pro Bold"/>
                <a:cs typeface="Arial MT Pro Bold"/>
                <a:sym typeface="Arial MT Pro Bold"/>
              </a:rPr>
              <a:t>G</a:t>
            </a:r>
            <a:r>
              <a:rPr lang="en-US" sz="2599" b="1" u="none">
                <a:solidFill>
                  <a:srgbClr val="000000"/>
                </a:solidFill>
                <a:latin typeface="Arial MT Pro Bold"/>
                <a:ea typeface="Arial MT Pro Bold"/>
                <a:cs typeface="Arial MT Pro Bold"/>
                <a:sym typeface="Arial MT Pro Bold"/>
              </a:rPr>
              <a:t>o</a:t>
            </a:r>
            <a:r>
              <a:rPr lang="en-US" sz="2599" b="1">
                <a:solidFill>
                  <a:srgbClr val="000000"/>
                </a:solidFill>
                <a:latin typeface="Arial MT Pro Bold"/>
                <a:ea typeface="Arial MT Pro Bold"/>
                <a:cs typeface="Arial MT Pro Bold"/>
                <a:sym typeface="Arial MT Pro Bold"/>
              </a:rPr>
              <a:t>al</a:t>
            </a:r>
            <a:r>
              <a:rPr lang="en-US" sz="2599">
                <a:solidFill>
                  <a:srgbClr val="000000"/>
                </a:solidFill>
                <a:latin typeface="Arial MT Pro"/>
                <a:ea typeface="Arial MT Pro"/>
                <a:cs typeface="Arial MT Pro"/>
                <a:sym typeface="Arial MT Pro"/>
              </a:rPr>
              <a:t>:</a:t>
            </a:r>
            <a:r>
              <a:rPr lang="en-US" sz="2599" u="none">
                <a:solidFill>
                  <a:srgbClr val="000000"/>
                </a:solidFill>
                <a:latin typeface="Arial MT Pro"/>
                <a:ea typeface="Arial MT Pro"/>
                <a:cs typeface="Arial MT Pro"/>
                <a:sym typeface="Arial MT Pro"/>
              </a:rPr>
              <a:t> </a:t>
            </a:r>
            <a:r>
              <a:rPr lang="en-US" sz="2599">
                <a:solidFill>
                  <a:srgbClr val="000000"/>
                </a:solidFill>
                <a:latin typeface="Arial MT Pro"/>
                <a:ea typeface="Arial MT Pro"/>
                <a:cs typeface="Arial MT Pro"/>
                <a:sym typeface="Arial MT Pro"/>
              </a:rPr>
              <a:t>A</a:t>
            </a:r>
            <a:r>
              <a:rPr lang="en-US" sz="2599" u="none">
                <a:solidFill>
                  <a:srgbClr val="000000"/>
                </a:solidFill>
                <a:latin typeface="Arial MT Pro"/>
                <a:ea typeface="Arial MT Pro"/>
                <a:cs typeface="Arial MT Pro"/>
                <a:sym typeface="Arial MT Pro"/>
              </a:rPr>
              <a:t>utom</a:t>
            </a:r>
            <a:r>
              <a:rPr lang="en-US" sz="2599">
                <a:solidFill>
                  <a:srgbClr val="000000"/>
                </a:solidFill>
                <a:latin typeface="Arial MT Pro"/>
                <a:ea typeface="Arial MT Pro"/>
                <a:cs typeface="Arial MT Pro"/>
                <a:sym typeface="Arial MT Pro"/>
              </a:rPr>
              <a:t>at</a:t>
            </a:r>
            <a:r>
              <a:rPr lang="en-US" sz="2599" u="none">
                <a:solidFill>
                  <a:srgbClr val="000000"/>
                </a:solidFill>
                <a:latin typeface="Arial MT Pro"/>
                <a:ea typeface="Arial MT Pro"/>
                <a:cs typeface="Arial MT Pro"/>
                <a:sym typeface="Arial MT Pro"/>
              </a:rPr>
              <a:t>e</a:t>
            </a:r>
            <a:r>
              <a:rPr lang="en-US" sz="2599">
                <a:solidFill>
                  <a:srgbClr val="000000"/>
                </a:solidFill>
                <a:latin typeface="Arial MT Pro"/>
                <a:ea typeface="Arial MT Pro"/>
                <a:cs typeface="Arial MT Pro"/>
                <a:sym typeface="Arial MT Pro"/>
              </a:rPr>
              <a:t> the loan decision process.</a:t>
            </a:r>
          </a:p>
          <a:p>
            <a:pPr marL="561339" lvl="1" indent="-280669" algn="just">
              <a:lnSpc>
                <a:spcPts val="3525"/>
              </a:lnSpc>
              <a:spcBef>
                <a:spcPct val="0"/>
              </a:spcBef>
              <a:buFont typeface="Arial"/>
              <a:buChar char="•"/>
            </a:pPr>
            <a:r>
              <a:rPr lang="en-US" sz="2599" b="1">
                <a:solidFill>
                  <a:srgbClr val="000000"/>
                </a:solidFill>
                <a:latin typeface="Arial MT Pro Bold"/>
                <a:ea typeface="Arial MT Pro Bold"/>
                <a:cs typeface="Arial MT Pro Bold"/>
                <a:sym typeface="Arial MT Pro Bold"/>
              </a:rPr>
              <a:t>Method</a:t>
            </a:r>
            <a:r>
              <a:rPr lang="en-US" sz="2599">
                <a:solidFill>
                  <a:srgbClr val="000000"/>
                </a:solidFill>
                <a:latin typeface="Arial MT Pro"/>
                <a:ea typeface="Arial MT Pro"/>
                <a:cs typeface="Arial MT Pro"/>
                <a:sym typeface="Arial MT Pro"/>
              </a:rPr>
              <a:t>: Dec</a:t>
            </a:r>
            <a:r>
              <a:rPr lang="en-US" sz="2599" u="none">
                <a:solidFill>
                  <a:srgbClr val="000000"/>
                </a:solidFill>
                <a:latin typeface="Arial MT Pro"/>
                <a:ea typeface="Arial MT Pro"/>
                <a:cs typeface="Arial MT Pro"/>
                <a:sym typeface="Arial MT Pro"/>
              </a:rPr>
              <a:t>i</a:t>
            </a:r>
            <a:r>
              <a:rPr lang="en-US" sz="2599">
                <a:solidFill>
                  <a:srgbClr val="000000"/>
                </a:solidFill>
                <a:latin typeface="Arial MT Pro"/>
                <a:ea typeface="Arial MT Pro"/>
                <a:cs typeface="Arial MT Pro"/>
                <a:sym typeface="Arial MT Pro"/>
              </a:rPr>
              <a:t>sio</a:t>
            </a:r>
            <a:r>
              <a:rPr lang="en-US" sz="2599" u="none">
                <a:solidFill>
                  <a:srgbClr val="000000"/>
                </a:solidFill>
                <a:latin typeface="Arial MT Pro"/>
                <a:ea typeface="Arial MT Pro"/>
                <a:cs typeface="Arial MT Pro"/>
                <a:sym typeface="Arial MT Pro"/>
              </a:rPr>
              <a:t>n</a:t>
            </a:r>
            <a:r>
              <a:rPr lang="en-US" sz="2599">
                <a:solidFill>
                  <a:srgbClr val="000000"/>
                </a:solidFill>
                <a:latin typeface="Arial MT Pro"/>
                <a:ea typeface="Arial MT Pro"/>
                <a:cs typeface="Arial MT Pro"/>
                <a:sym typeface="Arial MT Pro"/>
              </a:rPr>
              <a:t> tr</a:t>
            </a:r>
            <a:r>
              <a:rPr lang="en-US" sz="2599" u="none">
                <a:solidFill>
                  <a:srgbClr val="000000"/>
                </a:solidFill>
                <a:latin typeface="Arial MT Pro"/>
                <a:ea typeface="Arial MT Pro"/>
                <a:cs typeface="Arial MT Pro"/>
                <a:sym typeface="Arial MT Pro"/>
              </a:rPr>
              <a:t>ee analyses</a:t>
            </a:r>
            <a:r>
              <a:rPr lang="en-US" sz="2599">
                <a:solidFill>
                  <a:srgbClr val="000000"/>
                </a:solidFill>
                <a:latin typeface="Arial MT Pro"/>
                <a:ea typeface="Arial MT Pro"/>
                <a:cs typeface="Arial MT Pro"/>
                <a:sym typeface="Arial MT Pro"/>
              </a:rPr>
              <a:t> inputs like credit score, employment status, and income.</a:t>
            </a:r>
          </a:p>
          <a:p>
            <a:pPr marL="561339" lvl="1" indent="-280669" algn="just">
              <a:lnSpc>
                <a:spcPts val="3525"/>
              </a:lnSpc>
              <a:spcBef>
                <a:spcPct val="0"/>
              </a:spcBef>
              <a:buFont typeface="Arial"/>
              <a:buChar char="•"/>
            </a:pPr>
            <a:r>
              <a:rPr lang="en-US" sz="2599" b="1">
                <a:solidFill>
                  <a:srgbClr val="000000"/>
                </a:solidFill>
                <a:latin typeface="Arial MT Pro Bold"/>
                <a:ea typeface="Arial MT Pro Bold"/>
                <a:cs typeface="Arial MT Pro Bold"/>
                <a:sym typeface="Arial MT Pro Bold"/>
              </a:rPr>
              <a:t>Outcome</a:t>
            </a:r>
            <a:r>
              <a:rPr lang="en-US" sz="2599">
                <a:solidFill>
                  <a:srgbClr val="000000"/>
                </a:solidFill>
                <a:latin typeface="Arial MT Pro"/>
                <a:ea typeface="Arial MT Pro"/>
                <a:cs typeface="Arial MT Pro"/>
                <a:sym typeface="Arial MT Pro"/>
              </a:rPr>
              <a:t>: Applicants with strong credit scores and stable jobs are approved faster, while others require deeper checks.</a:t>
            </a:r>
          </a:p>
          <a:p>
            <a:pPr algn="just">
              <a:lnSpc>
                <a:spcPts val="3525"/>
              </a:lnSpc>
              <a:spcBef>
                <a:spcPct val="0"/>
              </a:spcBef>
            </a:pPr>
            <a:endParaRPr lang="en-US" sz="2599">
              <a:solidFill>
                <a:srgbClr val="000000"/>
              </a:solidFill>
              <a:latin typeface="Arial MT Pro"/>
              <a:ea typeface="Arial MT Pro"/>
              <a:cs typeface="Arial MT Pro"/>
              <a:sym typeface="Arial MT Pro"/>
            </a:endParaRPr>
          </a:p>
        </p:txBody>
      </p:sp>
      <p:sp>
        <p:nvSpPr>
          <p:cNvPr id="8" name="TextBox 8"/>
          <p:cNvSpPr txBox="1"/>
          <p:nvPr/>
        </p:nvSpPr>
        <p:spPr>
          <a:xfrm>
            <a:off x="12518956" y="2815742"/>
            <a:ext cx="4922264" cy="6311189"/>
          </a:xfrm>
          <a:prstGeom prst="rect">
            <a:avLst/>
          </a:prstGeom>
        </p:spPr>
        <p:txBody>
          <a:bodyPr lIns="0" tIns="0" rIns="0" bIns="0" rtlCol="0" anchor="t">
            <a:spAutoFit/>
          </a:bodyPr>
          <a:lstStyle/>
          <a:p>
            <a:pPr algn="ctr">
              <a:lnSpc>
                <a:spcPts val="3525"/>
              </a:lnSpc>
              <a:spcBef>
                <a:spcPct val="0"/>
              </a:spcBef>
            </a:pPr>
            <a:r>
              <a:rPr lang="en-US" sz="2599" b="1">
                <a:solidFill>
                  <a:srgbClr val="8064A2"/>
                </a:solidFill>
                <a:latin typeface="Arial MT Pro Bold"/>
                <a:ea typeface="Arial MT Pro Bold"/>
                <a:cs typeface="Arial MT Pro Bold"/>
                <a:sym typeface="Arial MT Pro Bold"/>
              </a:rPr>
              <a:t>Retail Marketing</a:t>
            </a:r>
          </a:p>
          <a:p>
            <a:pPr marL="561339" lvl="1" indent="-280669" algn="just">
              <a:lnSpc>
                <a:spcPts val="3525"/>
              </a:lnSpc>
              <a:spcBef>
                <a:spcPct val="0"/>
              </a:spcBef>
              <a:buFont typeface="Arial"/>
              <a:buChar char="•"/>
            </a:pPr>
            <a:r>
              <a:rPr lang="en-US" sz="2599" b="1">
                <a:solidFill>
                  <a:srgbClr val="000000"/>
                </a:solidFill>
                <a:latin typeface="Arial MT Pro Bold"/>
                <a:ea typeface="Arial MT Pro Bold"/>
                <a:cs typeface="Arial MT Pro Bold"/>
                <a:sym typeface="Arial MT Pro Bold"/>
              </a:rPr>
              <a:t>Goal</a:t>
            </a:r>
            <a:r>
              <a:rPr lang="en-US" sz="2599">
                <a:solidFill>
                  <a:srgbClr val="000000"/>
                </a:solidFill>
                <a:latin typeface="Arial MT Pro"/>
                <a:ea typeface="Arial MT Pro"/>
                <a:cs typeface="Arial MT Pro"/>
                <a:sym typeface="Arial MT Pro"/>
              </a:rPr>
              <a:t>: S</a:t>
            </a:r>
            <a:r>
              <a:rPr lang="en-US" sz="2599" u="none">
                <a:solidFill>
                  <a:srgbClr val="000000"/>
                </a:solidFill>
                <a:latin typeface="Arial MT Pro"/>
                <a:ea typeface="Arial MT Pro"/>
                <a:cs typeface="Arial MT Pro"/>
                <a:sym typeface="Arial MT Pro"/>
              </a:rPr>
              <a:t>e</a:t>
            </a:r>
            <a:r>
              <a:rPr lang="en-US" sz="2599">
                <a:solidFill>
                  <a:srgbClr val="000000"/>
                </a:solidFill>
                <a:latin typeface="Arial MT Pro"/>
                <a:ea typeface="Arial MT Pro"/>
                <a:cs typeface="Arial MT Pro"/>
                <a:sym typeface="Arial MT Pro"/>
              </a:rPr>
              <a:t>gm</a:t>
            </a:r>
            <a:r>
              <a:rPr lang="en-US" sz="2599" u="none">
                <a:solidFill>
                  <a:srgbClr val="000000"/>
                </a:solidFill>
                <a:latin typeface="Arial MT Pro"/>
                <a:ea typeface="Arial MT Pro"/>
                <a:cs typeface="Arial MT Pro"/>
                <a:sym typeface="Arial MT Pro"/>
              </a:rPr>
              <a:t>e</a:t>
            </a:r>
            <a:r>
              <a:rPr lang="en-US" sz="2599">
                <a:solidFill>
                  <a:srgbClr val="000000"/>
                </a:solidFill>
                <a:latin typeface="Arial MT Pro"/>
                <a:ea typeface="Arial MT Pro"/>
                <a:cs typeface="Arial MT Pro"/>
                <a:sym typeface="Arial MT Pro"/>
              </a:rPr>
              <a:t>nt</a:t>
            </a:r>
            <a:r>
              <a:rPr lang="en-US" sz="2599" u="none">
                <a:solidFill>
                  <a:srgbClr val="000000"/>
                </a:solidFill>
                <a:latin typeface="Arial MT Pro"/>
                <a:ea typeface="Arial MT Pro"/>
                <a:cs typeface="Arial MT Pro"/>
                <a:sym typeface="Arial MT Pro"/>
              </a:rPr>
              <a:t> </a:t>
            </a:r>
            <a:r>
              <a:rPr lang="en-US" sz="2599">
                <a:solidFill>
                  <a:srgbClr val="000000"/>
                </a:solidFill>
                <a:latin typeface="Arial MT Pro"/>
                <a:ea typeface="Arial MT Pro"/>
                <a:cs typeface="Arial MT Pro"/>
                <a:sym typeface="Arial MT Pro"/>
              </a:rPr>
              <a:t>cus</a:t>
            </a:r>
            <a:r>
              <a:rPr lang="en-US" sz="2599" u="none">
                <a:solidFill>
                  <a:srgbClr val="000000"/>
                </a:solidFill>
                <a:latin typeface="Arial MT Pro"/>
                <a:ea typeface="Arial MT Pro"/>
                <a:cs typeface="Arial MT Pro"/>
                <a:sym typeface="Arial MT Pro"/>
              </a:rPr>
              <a:t>t</a:t>
            </a:r>
            <a:r>
              <a:rPr lang="en-US" sz="2599">
                <a:solidFill>
                  <a:srgbClr val="000000"/>
                </a:solidFill>
                <a:latin typeface="Arial MT Pro"/>
                <a:ea typeface="Arial MT Pro"/>
                <a:cs typeface="Arial MT Pro"/>
                <a:sym typeface="Arial MT Pro"/>
              </a:rPr>
              <a:t>omers based on behaviour and preferences.</a:t>
            </a:r>
          </a:p>
          <a:p>
            <a:pPr marL="561339" lvl="1" indent="-280669" algn="just">
              <a:lnSpc>
                <a:spcPts val="3525"/>
              </a:lnSpc>
              <a:spcBef>
                <a:spcPct val="0"/>
              </a:spcBef>
              <a:buFont typeface="Arial"/>
              <a:buChar char="•"/>
            </a:pPr>
            <a:r>
              <a:rPr lang="en-US" sz="2599" b="1">
                <a:solidFill>
                  <a:srgbClr val="000000"/>
                </a:solidFill>
                <a:latin typeface="Arial MT Pro Bold"/>
                <a:ea typeface="Arial MT Pro Bold"/>
                <a:cs typeface="Arial MT Pro Bold"/>
                <a:sym typeface="Arial MT Pro Bold"/>
              </a:rPr>
              <a:t>Method</a:t>
            </a:r>
            <a:r>
              <a:rPr lang="en-US" sz="2599">
                <a:solidFill>
                  <a:srgbClr val="000000"/>
                </a:solidFill>
                <a:latin typeface="Arial MT Pro"/>
                <a:ea typeface="Arial MT Pro"/>
                <a:cs typeface="Arial MT Pro"/>
                <a:sym typeface="Arial MT Pro"/>
              </a:rPr>
              <a:t>: Use clustering (e.g., K-Means) o</a:t>
            </a:r>
            <a:r>
              <a:rPr lang="en-US" sz="2599" u="none">
                <a:solidFill>
                  <a:srgbClr val="000000"/>
                </a:solidFill>
                <a:latin typeface="Arial MT Pro"/>
                <a:ea typeface="Arial MT Pro"/>
                <a:cs typeface="Arial MT Pro"/>
                <a:sym typeface="Arial MT Pro"/>
              </a:rPr>
              <a:t>n</a:t>
            </a:r>
            <a:r>
              <a:rPr lang="en-US" sz="2599">
                <a:solidFill>
                  <a:srgbClr val="000000"/>
                </a:solidFill>
                <a:latin typeface="Arial MT Pro"/>
                <a:ea typeface="Arial MT Pro"/>
                <a:cs typeface="Arial MT Pro"/>
                <a:sym typeface="Arial MT Pro"/>
              </a:rPr>
              <a:t> data l</a:t>
            </a:r>
            <a:r>
              <a:rPr lang="en-US" sz="2599" u="none">
                <a:solidFill>
                  <a:srgbClr val="000000"/>
                </a:solidFill>
                <a:latin typeface="Arial MT Pro"/>
                <a:ea typeface="Arial MT Pro"/>
                <a:cs typeface="Arial MT Pro"/>
                <a:sym typeface="Arial MT Pro"/>
              </a:rPr>
              <a:t>i</a:t>
            </a:r>
            <a:r>
              <a:rPr lang="en-US" sz="2599">
                <a:solidFill>
                  <a:srgbClr val="000000"/>
                </a:solidFill>
                <a:latin typeface="Arial MT Pro"/>
                <a:ea typeface="Arial MT Pro"/>
                <a:cs typeface="Arial MT Pro"/>
                <a:sym typeface="Arial MT Pro"/>
              </a:rPr>
              <a:t>k</a:t>
            </a:r>
            <a:r>
              <a:rPr lang="en-US" sz="2599" u="none">
                <a:solidFill>
                  <a:srgbClr val="000000"/>
                </a:solidFill>
                <a:latin typeface="Arial MT Pro"/>
                <a:ea typeface="Arial MT Pro"/>
                <a:cs typeface="Arial MT Pro"/>
                <a:sym typeface="Arial MT Pro"/>
              </a:rPr>
              <a:t>e</a:t>
            </a:r>
            <a:r>
              <a:rPr lang="en-US" sz="2599">
                <a:solidFill>
                  <a:srgbClr val="000000"/>
                </a:solidFill>
                <a:latin typeface="Arial MT Pro"/>
                <a:ea typeface="Arial MT Pro"/>
                <a:cs typeface="Arial MT Pro"/>
                <a:sym typeface="Arial MT Pro"/>
              </a:rPr>
              <a:t> spending habits, age, location.</a:t>
            </a:r>
          </a:p>
          <a:p>
            <a:pPr marL="561339" lvl="1" indent="-280669" algn="just">
              <a:lnSpc>
                <a:spcPts val="3525"/>
              </a:lnSpc>
              <a:spcBef>
                <a:spcPct val="0"/>
              </a:spcBef>
              <a:buFont typeface="Arial"/>
              <a:buChar char="•"/>
            </a:pPr>
            <a:r>
              <a:rPr lang="en-US" sz="2599" b="1">
                <a:solidFill>
                  <a:srgbClr val="000000"/>
                </a:solidFill>
                <a:latin typeface="Arial MT Pro Bold"/>
                <a:ea typeface="Arial MT Pro Bold"/>
                <a:cs typeface="Arial MT Pro Bold"/>
                <a:sym typeface="Arial MT Pro Bold"/>
              </a:rPr>
              <a:t>Outcome</a:t>
            </a:r>
            <a:r>
              <a:rPr lang="en-US" sz="2599">
                <a:solidFill>
                  <a:srgbClr val="000000"/>
                </a:solidFill>
                <a:latin typeface="Arial MT Pro"/>
                <a:ea typeface="Arial MT Pro"/>
                <a:cs typeface="Arial MT Pro"/>
                <a:sym typeface="Arial MT Pro"/>
              </a:rPr>
              <a:t>: Identify groups such as: (1) High spenders on premium goods, (2) Budget-conscious deal seekers and (3) Occasional buyers.</a:t>
            </a:r>
          </a:p>
        </p:txBody>
      </p:sp>
      <p:sp>
        <p:nvSpPr>
          <p:cNvPr id="9" name="TextBox 9"/>
          <p:cNvSpPr txBox="1"/>
          <p:nvPr/>
        </p:nvSpPr>
        <p:spPr>
          <a:xfrm>
            <a:off x="6728598" y="705167"/>
            <a:ext cx="4768815" cy="580390"/>
          </a:xfrm>
          <a:prstGeom prst="rect">
            <a:avLst/>
          </a:prstGeom>
        </p:spPr>
        <p:txBody>
          <a:bodyPr lIns="0" tIns="0" rIns="0" bIns="0" rtlCol="0" anchor="t">
            <a:spAutoFit/>
          </a:bodyPr>
          <a:lstStyle/>
          <a:p>
            <a:pPr algn="ctr">
              <a:lnSpc>
                <a:spcPts val="4759"/>
              </a:lnSpc>
            </a:pPr>
            <a:r>
              <a:rPr lang="en-US" sz="3399" b="1">
                <a:solidFill>
                  <a:srgbClr val="2B4865"/>
                </a:solidFill>
                <a:latin typeface="Canva Sans Bold"/>
                <a:ea typeface="Canva Sans Bold"/>
                <a:cs typeface="Canva Sans Bold"/>
                <a:sym typeface="Canva Sans Bold"/>
              </a:rPr>
              <a:t>SCENARIO/USE CASE</a:t>
            </a:r>
          </a:p>
        </p:txBody>
      </p:sp>
      <p:sp>
        <p:nvSpPr>
          <p:cNvPr id="10" name="TextBox 10"/>
          <p:cNvSpPr txBox="1"/>
          <p:nvPr/>
        </p:nvSpPr>
        <p:spPr>
          <a:xfrm>
            <a:off x="893958" y="2849246"/>
            <a:ext cx="4674459" cy="5415839"/>
          </a:xfrm>
          <a:prstGeom prst="rect">
            <a:avLst/>
          </a:prstGeom>
        </p:spPr>
        <p:txBody>
          <a:bodyPr lIns="0" tIns="0" rIns="0" bIns="0" rtlCol="0" anchor="t">
            <a:spAutoFit/>
          </a:bodyPr>
          <a:lstStyle/>
          <a:p>
            <a:pPr algn="ctr">
              <a:lnSpc>
                <a:spcPts val="3525"/>
              </a:lnSpc>
              <a:spcBef>
                <a:spcPct val="0"/>
              </a:spcBef>
            </a:pPr>
            <a:r>
              <a:rPr lang="en-US" sz="2599" b="1">
                <a:solidFill>
                  <a:srgbClr val="8064A2"/>
                </a:solidFill>
                <a:latin typeface="Arial MT Pro Bold"/>
                <a:ea typeface="Arial MT Pro Bold"/>
                <a:cs typeface="Arial MT Pro Bold"/>
                <a:sym typeface="Arial MT Pro Bold"/>
              </a:rPr>
              <a:t>Healthcare</a:t>
            </a:r>
          </a:p>
          <a:p>
            <a:pPr marL="561339" lvl="1" indent="-280669" algn="just">
              <a:lnSpc>
                <a:spcPts val="3525"/>
              </a:lnSpc>
              <a:spcBef>
                <a:spcPct val="0"/>
              </a:spcBef>
              <a:buFont typeface="Arial"/>
              <a:buChar char="•"/>
            </a:pPr>
            <a:r>
              <a:rPr lang="en-US" sz="2599" b="1">
                <a:solidFill>
                  <a:srgbClr val="000000"/>
                </a:solidFill>
                <a:latin typeface="Arial MT Pro Bold"/>
                <a:ea typeface="Arial MT Pro Bold"/>
                <a:cs typeface="Arial MT Pro Bold"/>
                <a:sym typeface="Arial MT Pro Bold"/>
              </a:rPr>
              <a:t>G</a:t>
            </a:r>
            <a:r>
              <a:rPr lang="en-US" sz="2599" b="1" u="none">
                <a:solidFill>
                  <a:srgbClr val="000000"/>
                </a:solidFill>
                <a:latin typeface="Arial MT Pro Bold"/>
                <a:ea typeface="Arial MT Pro Bold"/>
                <a:cs typeface="Arial MT Pro Bold"/>
                <a:sym typeface="Arial MT Pro Bold"/>
              </a:rPr>
              <a:t>o</a:t>
            </a:r>
            <a:r>
              <a:rPr lang="en-US" sz="2599" b="1">
                <a:solidFill>
                  <a:srgbClr val="000000"/>
                </a:solidFill>
                <a:latin typeface="Arial MT Pro Bold"/>
                <a:ea typeface="Arial MT Pro Bold"/>
                <a:cs typeface="Arial MT Pro Bold"/>
                <a:sym typeface="Arial MT Pro Bold"/>
              </a:rPr>
              <a:t>al</a:t>
            </a:r>
            <a:r>
              <a:rPr lang="en-US" sz="2599">
                <a:solidFill>
                  <a:srgbClr val="000000"/>
                </a:solidFill>
                <a:latin typeface="Arial MT Pro"/>
                <a:ea typeface="Arial MT Pro"/>
                <a:cs typeface="Arial MT Pro"/>
                <a:sym typeface="Arial MT Pro"/>
              </a:rPr>
              <a:t>:</a:t>
            </a:r>
            <a:r>
              <a:rPr lang="en-US" sz="2599" u="none">
                <a:solidFill>
                  <a:srgbClr val="000000"/>
                </a:solidFill>
                <a:latin typeface="Arial MT Pro"/>
                <a:ea typeface="Arial MT Pro"/>
                <a:cs typeface="Arial MT Pro"/>
                <a:sym typeface="Arial MT Pro"/>
              </a:rPr>
              <a:t> Iden</a:t>
            </a:r>
            <a:r>
              <a:rPr lang="en-US" sz="2599">
                <a:solidFill>
                  <a:srgbClr val="000000"/>
                </a:solidFill>
                <a:latin typeface="Arial MT Pro"/>
                <a:ea typeface="Arial MT Pro"/>
                <a:cs typeface="Arial MT Pro"/>
                <a:sym typeface="Arial MT Pro"/>
              </a:rPr>
              <a:t>tify key factors influencing patient recovery time.</a:t>
            </a:r>
          </a:p>
          <a:p>
            <a:pPr marL="561339" lvl="1" indent="-280669" algn="just">
              <a:lnSpc>
                <a:spcPts val="3525"/>
              </a:lnSpc>
              <a:spcBef>
                <a:spcPct val="0"/>
              </a:spcBef>
              <a:buFont typeface="Arial"/>
              <a:buChar char="•"/>
            </a:pPr>
            <a:r>
              <a:rPr lang="en-US" sz="2599" b="1">
                <a:solidFill>
                  <a:srgbClr val="000000"/>
                </a:solidFill>
                <a:latin typeface="Arial MT Pro Bold"/>
                <a:ea typeface="Arial MT Pro Bold"/>
                <a:cs typeface="Arial MT Pro Bold"/>
                <a:sym typeface="Arial MT Pro Bold"/>
              </a:rPr>
              <a:t>Method</a:t>
            </a:r>
            <a:r>
              <a:rPr lang="en-US" sz="2599">
                <a:solidFill>
                  <a:srgbClr val="000000"/>
                </a:solidFill>
                <a:latin typeface="Arial MT Pro"/>
                <a:ea typeface="Arial MT Pro"/>
                <a:cs typeface="Arial MT Pro"/>
                <a:sym typeface="Arial MT Pro"/>
              </a:rPr>
              <a:t>: Use mult</a:t>
            </a:r>
            <a:r>
              <a:rPr lang="en-US" sz="2599" u="none">
                <a:solidFill>
                  <a:srgbClr val="000000"/>
                </a:solidFill>
                <a:latin typeface="Arial MT Pro"/>
                <a:ea typeface="Arial MT Pro"/>
                <a:cs typeface="Arial MT Pro"/>
                <a:sym typeface="Arial MT Pro"/>
              </a:rPr>
              <a:t>iple regres</a:t>
            </a:r>
            <a:r>
              <a:rPr lang="en-US" sz="2599">
                <a:solidFill>
                  <a:srgbClr val="000000"/>
                </a:solidFill>
                <a:latin typeface="Arial MT Pro"/>
                <a:ea typeface="Arial MT Pro"/>
                <a:cs typeface="Arial MT Pro"/>
                <a:sym typeface="Arial MT Pro"/>
              </a:rPr>
              <a:t>sio</a:t>
            </a:r>
            <a:r>
              <a:rPr lang="en-US" sz="2599" u="none">
                <a:solidFill>
                  <a:srgbClr val="000000"/>
                </a:solidFill>
                <a:latin typeface="Arial MT Pro"/>
                <a:ea typeface="Arial MT Pro"/>
                <a:cs typeface="Arial MT Pro"/>
                <a:sym typeface="Arial MT Pro"/>
              </a:rPr>
              <a:t>n</a:t>
            </a:r>
            <a:r>
              <a:rPr lang="en-US" sz="2599">
                <a:solidFill>
                  <a:srgbClr val="000000"/>
                </a:solidFill>
                <a:latin typeface="Arial MT Pro"/>
                <a:ea typeface="Arial MT Pro"/>
                <a:cs typeface="Arial MT Pro"/>
                <a:sym typeface="Arial MT Pro"/>
              </a:rPr>
              <a:t> with</a:t>
            </a:r>
            <a:r>
              <a:rPr lang="en-US" sz="2599" u="none">
                <a:solidFill>
                  <a:srgbClr val="000000"/>
                </a:solidFill>
                <a:latin typeface="Arial MT Pro"/>
                <a:ea typeface="Arial MT Pro"/>
                <a:cs typeface="Arial MT Pro"/>
                <a:sym typeface="Arial MT Pro"/>
              </a:rPr>
              <a:t> variables</a:t>
            </a:r>
            <a:r>
              <a:rPr lang="en-US" sz="2599">
                <a:solidFill>
                  <a:srgbClr val="000000"/>
                </a:solidFill>
                <a:latin typeface="Arial MT Pro"/>
                <a:ea typeface="Arial MT Pro"/>
                <a:cs typeface="Arial MT Pro"/>
                <a:sym typeface="Arial MT Pro"/>
              </a:rPr>
              <a:t> like age, treatment type, and diet.</a:t>
            </a:r>
          </a:p>
          <a:p>
            <a:pPr marL="561339" lvl="1" indent="-280669" algn="just">
              <a:lnSpc>
                <a:spcPts val="3525"/>
              </a:lnSpc>
              <a:spcBef>
                <a:spcPct val="0"/>
              </a:spcBef>
              <a:buFont typeface="Arial"/>
              <a:buChar char="•"/>
            </a:pPr>
            <a:r>
              <a:rPr lang="en-US" sz="2599" b="1">
                <a:solidFill>
                  <a:srgbClr val="000000"/>
                </a:solidFill>
                <a:latin typeface="Arial MT Pro Bold"/>
                <a:ea typeface="Arial MT Pro Bold"/>
                <a:cs typeface="Arial MT Pro Bold"/>
                <a:sym typeface="Arial MT Pro Bold"/>
              </a:rPr>
              <a:t>Outcome</a:t>
            </a:r>
            <a:r>
              <a:rPr lang="en-US" sz="2599">
                <a:solidFill>
                  <a:srgbClr val="000000"/>
                </a:solidFill>
                <a:latin typeface="Arial MT Pro"/>
                <a:ea typeface="Arial MT Pro"/>
                <a:cs typeface="Arial MT Pro"/>
                <a:sym typeface="Arial MT Pro"/>
              </a:rPr>
              <a:t>: Younger patients with a specific treatment plan recover faster.</a:t>
            </a:r>
          </a:p>
          <a:p>
            <a:pPr algn="just">
              <a:lnSpc>
                <a:spcPts val="3525"/>
              </a:lnSpc>
              <a:spcBef>
                <a:spcPct val="0"/>
              </a:spcBef>
            </a:pPr>
            <a:endParaRPr lang="en-US" sz="2599">
              <a:solidFill>
                <a:srgbClr val="000000"/>
              </a:solidFill>
              <a:latin typeface="Arial MT Pro"/>
              <a:ea typeface="Arial MT Pro"/>
              <a:cs typeface="Arial MT Pro"/>
              <a:sym typeface="Arial MT Pro"/>
            </a:endParaRPr>
          </a:p>
        </p:txBody>
      </p:sp>
      <p:sp>
        <p:nvSpPr>
          <p:cNvPr id="11" name="TextBox 11"/>
          <p:cNvSpPr txBox="1"/>
          <p:nvPr/>
        </p:nvSpPr>
        <p:spPr>
          <a:xfrm>
            <a:off x="11497414" y="9654385"/>
            <a:ext cx="6417979"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(Hassan, 2024; Fenjiro, 2018; Quilty, 2022)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370929"/>
            <a:ext cx="11266184" cy="6480173"/>
          </a:xfrm>
          <a:prstGeom prst="rect">
            <a:avLst/>
          </a:prstGeom>
        </p:spPr>
        <p:txBody>
          <a:bodyPr lIns="0" tIns="0" rIns="0" bIns="0" rtlCol="0" anchor="t">
            <a:spAutoFit/>
          </a:bodyPr>
          <a:lstStyle/>
          <a:p>
            <a:pPr algn="just">
              <a:lnSpc>
                <a:spcPts val="3223"/>
              </a:lnSpc>
              <a:spcBef>
                <a:spcPct val="0"/>
              </a:spcBef>
            </a:pPr>
            <a:r>
              <a:rPr lang="en-US" sz="2377" b="1">
                <a:solidFill>
                  <a:srgbClr val="000000"/>
                </a:solidFill>
                <a:latin typeface="Arial MT Pro Bold"/>
                <a:ea typeface="Arial MT Pro Bold"/>
                <a:cs typeface="Arial MT Pro Bold"/>
                <a:sym typeface="Arial MT Pro Bold"/>
              </a:rPr>
              <a:t>Application:</a:t>
            </a:r>
            <a:r>
              <a:rPr lang="en-US" sz="2377">
                <a:solidFill>
                  <a:srgbClr val="000000"/>
                </a:solidFill>
                <a:latin typeface="Arial MT Pro"/>
                <a:ea typeface="Arial MT Pro"/>
                <a:cs typeface="Arial MT Pro"/>
                <a:sym typeface="Arial MT Pro"/>
              </a:rPr>
              <a:t> The models can inform real-world scenarios such as emergency preparedness plans, transportation safety protocols, and disaster response strategies by identifying which groups are at higher risk and need prioritization.</a:t>
            </a:r>
          </a:p>
          <a:p>
            <a:pPr algn="just">
              <a:lnSpc>
                <a:spcPts val="3223"/>
              </a:lnSpc>
              <a:spcBef>
                <a:spcPct val="0"/>
              </a:spcBef>
            </a:pPr>
            <a:r>
              <a:rPr lang="en-US" sz="2377" b="1">
                <a:solidFill>
                  <a:srgbClr val="000000"/>
                </a:solidFill>
                <a:latin typeface="Arial MT Pro Bold"/>
                <a:ea typeface="Arial MT Pro Bold"/>
                <a:cs typeface="Arial MT Pro Bold"/>
                <a:sym typeface="Arial MT Pro Bold"/>
              </a:rPr>
              <a:t>Insights Gained</a:t>
            </a:r>
            <a:r>
              <a:rPr lang="en-US" sz="2377">
                <a:solidFill>
                  <a:srgbClr val="000000"/>
                </a:solidFill>
                <a:latin typeface="Arial MT Pro"/>
                <a:ea typeface="Arial MT Pro"/>
                <a:cs typeface="Arial MT Pro"/>
                <a:sym typeface="Arial MT Pro"/>
              </a:rPr>
              <a:t>:</a:t>
            </a:r>
          </a:p>
          <a:p>
            <a:pPr marL="513311" lvl="1" indent="-256656" algn="just">
              <a:lnSpc>
                <a:spcPts val="3223"/>
              </a:lnSpc>
              <a:spcBef>
                <a:spcPct val="0"/>
              </a:spcBef>
              <a:buFont typeface="Arial"/>
              <a:buChar char="•"/>
            </a:pPr>
            <a:r>
              <a:rPr lang="en-US" sz="2377">
                <a:solidFill>
                  <a:srgbClr val="000000"/>
                </a:solidFill>
                <a:latin typeface="Arial MT Pro"/>
                <a:ea typeface="Arial MT Pro"/>
                <a:cs typeface="Arial MT Pro"/>
                <a:sym typeface="Arial MT Pro"/>
              </a:rPr>
              <a:t>Analysis</a:t>
            </a:r>
            <a:r>
              <a:rPr lang="en-US" sz="2377" u="none">
                <a:solidFill>
                  <a:srgbClr val="000000"/>
                </a:solidFill>
                <a:latin typeface="Arial MT Pro"/>
                <a:ea typeface="Arial MT Pro"/>
                <a:cs typeface="Arial MT Pro"/>
                <a:sym typeface="Arial MT Pro"/>
              </a:rPr>
              <a:t> reveal</a:t>
            </a:r>
            <a:r>
              <a:rPr lang="en-US" sz="2377">
                <a:solidFill>
                  <a:srgbClr val="000000"/>
                </a:solidFill>
                <a:latin typeface="Arial MT Pro"/>
                <a:ea typeface="Arial MT Pro"/>
                <a:cs typeface="Arial MT Pro"/>
                <a:sym typeface="Arial MT Pro"/>
              </a:rPr>
              <a:t>ed that females, children, and fi</a:t>
            </a:r>
            <a:r>
              <a:rPr lang="en-US" sz="2377" u="none">
                <a:solidFill>
                  <a:srgbClr val="000000"/>
                </a:solidFill>
                <a:latin typeface="Arial MT Pro"/>
                <a:ea typeface="Arial MT Pro"/>
                <a:cs typeface="Arial MT Pro"/>
                <a:sym typeface="Arial MT Pro"/>
              </a:rPr>
              <a:t>rs</a:t>
            </a:r>
            <a:r>
              <a:rPr lang="en-US" sz="2377">
                <a:solidFill>
                  <a:srgbClr val="000000"/>
                </a:solidFill>
                <a:latin typeface="Arial MT Pro"/>
                <a:ea typeface="Arial MT Pro"/>
                <a:cs typeface="Arial MT Pro"/>
                <a:sym typeface="Arial MT Pro"/>
              </a:rPr>
              <a:t>t-class</a:t>
            </a:r>
            <a:r>
              <a:rPr lang="en-US" sz="2377" u="none">
                <a:solidFill>
                  <a:srgbClr val="000000"/>
                </a:solidFill>
                <a:latin typeface="Arial MT Pro"/>
                <a:ea typeface="Arial MT Pro"/>
                <a:cs typeface="Arial MT Pro"/>
                <a:sym typeface="Arial MT Pro"/>
              </a:rPr>
              <a:t> pass</a:t>
            </a:r>
            <a:r>
              <a:rPr lang="en-US" sz="2377">
                <a:solidFill>
                  <a:srgbClr val="000000"/>
                </a:solidFill>
                <a:latin typeface="Arial MT Pro"/>
                <a:ea typeface="Arial MT Pro"/>
                <a:cs typeface="Arial MT Pro"/>
                <a:sym typeface="Arial MT Pro"/>
              </a:rPr>
              <a:t>engers had significantly higher survival rates, indicating how social structure and demographics influenced survival outcomes.</a:t>
            </a:r>
          </a:p>
          <a:p>
            <a:pPr algn="just">
              <a:lnSpc>
                <a:spcPts val="3223"/>
              </a:lnSpc>
              <a:spcBef>
                <a:spcPct val="0"/>
              </a:spcBef>
            </a:pPr>
            <a:r>
              <a:rPr lang="en-US" sz="2377" b="1">
                <a:solidFill>
                  <a:srgbClr val="000000"/>
                </a:solidFill>
                <a:latin typeface="Arial MT Pro Bold"/>
                <a:ea typeface="Arial MT Pro Bold"/>
                <a:cs typeface="Arial MT Pro Bold"/>
                <a:sym typeface="Arial MT Pro Bold"/>
              </a:rPr>
              <a:t>Benefits: </a:t>
            </a:r>
          </a:p>
          <a:p>
            <a:pPr marL="513311" lvl="1" indent="-256656" algn="just">
              <a:lnSpc>
                <a:spcPts val="3223"/>
              </a:lnSpc>
              <a:spcBef>
                <a:spcPct val="0"/>
              </a:spcBef>
              <a:buFont typeface="Arial"/>
              <a:buChar char="•"/>
            </a:pPr>
            <a:r>
              <a:rPr lang="en-US" sz="2377">
                <a:solidFill>
                  <a:srgbClr val="000000"/>
                </a:solidFill>
                <a:latin typeface="Arial MT Pro"/>
                <a:ea typeface="Arial MT Pro"/>
                <a:cs typeface="Arial MT Pro"/>
                <a:sym typeface="Arial MT Pro"/>
              </a:rPr>
              <a:t>Using multiple classification algorithms (Logistic Regression, KNN, Naive Bayes, Decision Tree) allowed for comparison of predictive performance and identification of influential features. This highlights how structured data and machine learning can aid in decision-making and risk assessment.</a:t>
            </a:r>
          </a:p>
          <a:p>
            <a:pPr marL="513311" lvl="1" indent="-256656" algn="just">
              <a:lnSpc>
                <a:spcPts val="3223"/>
              </a:lnSpc>
              <a:buFont typeface="Arial"/>
              <a:buChar char="•"/>
            </a:pPr>
            <a:r>
              <a:rPr lang="en-US" sz="2377">
                <a:solidFill>
                  <a:srgbClr val="000000"/>
                </a:solidFill>
                <a:latin typeface="Arial MT Pro"/>
                <a:ea typeface="Arial MT Pro"/>
                <a:cs typeface="Arial MT Pro"/>
                <a:sym typeface="Arial MT Pro"/>
              </a:rPr>
              <a:t>Models can simulate various "what-if" scenarios, helping planners anticipate the impact of changes (e.g., increasing lifeboat capacity or altering boarding strategies).</a:t>
            </a:r>
          </a:p>
          <a:p>
            <a:pPr algn="just">
              <a:lnSpc>
                <a:spcPts val="3223"/>
              </a:lnSpc>
            </a:pPr>
            <a:endParaRPr lang="en-US" sz="2377">
              <a:solidFill>
                <a:srgbClr val="000000"/>
              </a:solidFill>
              <a:latin typeface="Arial MT Pro"/>
              <a:ea typeface="Arial MT Pro"/>
              <a:cs typeface="Arial MT Pro"/>
              <a:sym typeface="Arial MT Pro"/>
            </a:endParaRPr>
          </a:p>
        </p:txBody>
      </p:sp>
      <p:sp>
        <p:nvSpPr>
          <p:cNvPr id="3" name="Freeform 3"/>
          <p:cNvSpPr/>
          <p:nvPr/>
        </p:nvSpPr>
        <p:spPr>
          <a:xfrm>
            <a:off x="12792745" y="2351775"/>
            <a:ext cx="4749643" cy="3265380"/>
          </a:xfrm>
          <a:custGeom>
            <a:avLst/>
            <a:gdLst/>
            <a:ahLst/>
            <a:cxnLst/>
            <a:rect l="l" t="t" r="r" b="b"/>
            <a:pathLst>
              <a:path w="4749643" h="3265380">
                <a:moveTo>
                  <a:pt x="0" y="0"/>
                </a:moveTo>
                <a:lnTo>
                  <a:pt x="4749643" y="0"/>
                </a:lnTo>
                <a:lnTo>
                  <a:pt x="4749643" y="3265380"/>
                </a:lnTo>
                <a:lnTo>
                  <a:pt x="0" y="3265380"/>
                </a:lnTo>
                <a:lnTo>
                  <a:pt x="0" y="0"/>
                </a:lnTo>
                <a:close/>
              </a:path>
            </a:pathLst>
          </a:custGeom>
          <a:blipFill>
            <a:blip r:embed="rId3"/>
            <a:stretch>
              <a:fillRect/>
            </a:stretch>
          </a:blipFill>
        </p:spPr>
      </p:sp>
      <p:sp>
        <p:nvSpPr>
          <p:cNvPr id="4" name="Freeform 4"/>
          <p:cNvSpPr/>
          <p:nvPr/>
        </p:nvSpPr>
        <p:spPr>
          <a:xfrm>
            <a:off x="12792745" y="5855176"/>
            <a:ext cx="4749643" cy="3342405"/>
          </a:xfrm>
          <a:custGeom>
            <a:avLst/>
            <a:gdLst/>
            <a:ahLst/>
            <a:cxnLst/>
            <a:rect l="l" t="t" r="r" b="b"/>
            <a:pathLst>
              <a:path w="4749643" h="3342405">
                <a:moveTo>
                  <a:pt x="0" y="0"/>
                </a:moveTo>
                <a:lnTo>
                  <a:pt x="4749643" y="0"/>
                </a:lnTo>
                <a:lnTo>
                  <a:pt x="4749643" y="3342405"/>
                </a:lnTo>
                <a:lnTo>
                  <a:pt x="0" y="3342405"/>
                </a:lnTo>
                <a:lnTo>
                  <a:pt x="0" y="0"/>
                </a:lnTo>
                <a:close/>
              </a:path>
            </a:pathLst>
          </a:custGeom>
          <a:blipFill>
            <a:blip r:embed="rId4"/>
            <a:stretch>
              <a:fillRect t="-3732" b="-3732"/>
            </a:stretch>
          </a:blipFill>
        </p:spPr>
      </p:sp>
      <p:sp>
        <p:nvSpPr>
          <p:cNvPr id="5" name="TextBox 5"/>
          <p:cNvSpPr txBox="1"/>
          <p:nvPr/>
        </p:nvSpPr>
        <p:spPr>
          <a:xfrm>
            <a:off x="1115432" y="1509234"/>
            <a:ext cx="16230600" cy="604520"/>
          </a:xfrm>
          <a:prstGeom prst="rect">
            <a:avLst/>
          </a:prstGeom>
        </p:spPr>
        <p:txBody>
          <a:bodyPr lIns="0" tIns="0" rIns="0" bIns="0" rtlCol="0" anchor="t">
            <a:spAutoFit/>
          </a:bodyPr>
          <a:lstStyle/>
          <a:p>
            <a:pPr algn="l">
              <a:lnSpc>
                <a:spcPts val="4480"/>
              </a:lnSpc>
            </a:pPr>
            <a:r>
              <a:rPr lang="en-US" sz="3200" b="1">
                <a:solidFill>
                  <a:srgbClr val="0088B6"/>
                </a:solidFill>
                <a:latin typeface="Arial MT Pro Bold"/>
                <a:ea typeface="Arial MT Pro Bold"/>
                <a:cs typeface="Arial MT Pro Bold"/>
                <a:sym typeface="Arial MT Pro Bold"/>
              </a:rPr>
              <a:t>Evaluating Predictive Analytics Using the Titanic Case Study</a:t>
            </a:r>
          </a:p>
        </p:txBody>
      </p:sp>
      <p:sp>
        <p:nvSpPr>
          <p:cNvPr id="6" name="TextBox 6"/>
          <p:cNvSpPr txBox="1"/>
          <p:nvPr/>
        </p:nvSpPr>
        <p:spPr>
          <a:xfrm>
            <a:off x="3587690" y="705167"/>
            <a:ext cx="11112620" cy="580390"/>
          </a:xfrm>
          <a:prstGeom prst="rect">
            <a:avLst/>
          </a:prstGeom>
        </p:spPr>
        <p:txBody>
          <a:bodyPr lIns="0" tIns="0" rIns="0" bIns="0" rtlCol="0" anchor="t">
            <a:spAutoFit/>
          </a:bodyPr>
          <a:lstStyle/>
          <a:p>
            <a:pPr algn="ctr">
              <a:lnSpc>
                <a:spcPts val="4759"/>
              </a:lnSpc>
            </a:pPr>
            <a:r>
              <a:rPr lang="en-US" sz="3399" b="1">
                <a:solidFill>
                  <a:srgbClr val="2B4865"/>
                </a:solidFill>
                <a:latin typeface="Canva Sans Bold"/>
                <a:ea typeface="Canva Sans Bold"/>
                <a:cs typeface="Canva Sans Bold"/>
                <a:sym typeface="Canva Sans Bold"/>
              </a:rPr>
              <a:t>EVALUATION OF MODELS BASED ON CASE STUDY</a:t>
            </a:r>
          </a:p>
        </p:txBody>
      </p:sp>
      <p:sp>
        <p:nvSpPr>
          <p:cNvPr id="7" name="TextBox 7"/>
          <p:cNvSpPr txBox="1"/>
          <p:nvPr/>
        </p:nvSpPr>
        <p:spPr>
          <a:xfrm>
            <a:off x="16203397" y="9721260"/>
            <a:ext cx="1663568" cy="318770"/>
          </a:xfrm>
          <a:prstGeom prst="rect">
            <a:avLst/>
          </a:prstGeom>
        </p:spPr>
        <p:txBody>
          <a:bodyPr lIns="0" tIns="0" rIns="0" bIns="0" rtlCol="0" anchor="t">
            <a:spAutoFit/>
          </a:bodyPr>
          <a:lstStyle/>
          <a:p>
            <a:pPr algn="ctr">
              <a:lnSpc>
                <a:spcPts val="2380"/>
              </a:lnSpc>
              <a:spcBef>
                <a:spcPct val="0"/>
              </a:spcBef>
            </a:pPr>
            <a:r>
              <a:rPr lang="en-US" sz="1700" i="1">
                <a:solidFill>
                  <a:srgbClr val="000000"/>
                </a:solidFill>
                <a:latin typeface="Arial MT Pro Italics"/>
                <a:ea typeface="Arial MT Pro Italics"/>
                <a:cs typeface="Arial MT Pro Italics"/>
                <a:sym typeface="Arial MT Pro Italics"/>
              </a:rPr>
              <a:t> (Analytiks, 2020)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15432" y="2122861"/>
            <a:ext cx="10375403" cy="7665074"/>
          </a:xfrm>
          <a:prstGeom prst="rect">
            <a:avLst/>
          </a:prstGeom>
        </p:spPr>
        <p:txBody>
          <a:bodyPr lIns="0" tIns="0" rIns="0" bIns="0" rtlCol="0" anchor="t">
            <a:spAutoFit/>
          </a:bodyPr>
          <a:lstStyle/>
          <a:p>
            <a:pPr algn="just">
              <a:lnSpc>
                <a:spcPts val="2547"/>
              </a:lnSpc>
              <a:spcBef>
                <a:spcPct val="0"/>
              </a:spcBef>
            </a:pPr>
            <a:r>
              <a:rPr lang="en-US" sz="1878" b="1">
                <a:solidFill>
                  <a:srgbClr val="000000"/>
                </a:solidFill>
                <a:latin typeface="Arial MT Pro Bold"/>
                <a:ea typeface="Arial MT Pro Bold"/>
                <a:cs typeface="Arial MT Pro Bold"/>
                <a:sym typeface="Arial MT Pro Bold"/>
              </a:rPr>
              <a:t>Application:</a:t>
            </a:r>
            <a:r>
              <a:rPr lang="en-US" sz="1878">
                <a:solidFill>
                  <a:srgbClr val="000000"/>
                </a:solidFill>
                <a:latin typeface="Arial MT Pro"/>
                <a:ea typeface="Arial MT Pro"/>
                <a:cs typeface="Arial MT Pro"/>
                <a:sym typeface="Arial MT Pro"/>
              </a:rPr>
              <a:t> The linear regression model applied to the Boston housing dataset provides actionable insights into how the number of rooms (RM) affects housing prices. This kind of analysis can be extended to:</a:t>
            </a:r>
          </a:p>
          <a:p>
            <a:pPr marL="405642" lvl="1" indent="-202821" algn="just">
              <a:lnSpc>
                <a:spcPts val="2547"/>
              </a:lnSpc>
              <a:spcBef>
                <a:spcPct val="0"/>
              </a:spcBef>
              <a:buFont typeface="Arial"/>
              <a:buChar char="•"/>
            </a:pPr>
            <a:r>
              <a:rPr lang="en-US" sz="1878">
                <a:solidFill>
                  <a:srgbClr val="000000"/>
                </a:solidFill>
                <a:latin typeface="Arial MT Pro"/>
                <a:ea typeface="Arial MT Pro"/>
                <a:cs typeface="Arial MT Pro"/>
                <a:sym typeface="Arial MT Pro"/>
              </a:rPr>
              <a:t>Real estate valuation and property appraisal tools</a:t>
            </a:r>
          </a:p>
          <a:p>
            <a:pPr marL="405642" lvl="1" indent="-202821" algn="just">
              <a:lnSpc>
                <a:spcPts val="2547"/>
              </a:lnSpc>
              <a:spcBef>
                <a:spcPct val="0"/>
              </a:spcBef>
              <a:buFont typeface="Arial"/>
              <a:buChar char="•"/>
            </a:pPr>
            <a:r>
              <a:rPr lang="en-US" sz="1878">
                <a:solidFill>
                  <a:srgbClr val="000000"/>
                </a:solidFill>
                <a:latin typeface="Arial MT Pro"/>
                <a:ea typeface="Arial MT Pro"/>
                <a:cs typeface="Arial MT Pro"/>
                <a:sym typeface="Arial MT Pro"/>
              </a:rPr>
              <a:t>Urban planning for identifying high-value residential zones</a:t>
            </a:r>
          </a:p>
          <a:p>
            <a:pPr marL="405642" lvl="1" indent="-202821" algn="just">
              <a:lnSpc>
                <a:spcPts val="2547"/>
              </a:lnSpc>
              <a:spcBef>
                <a:spcPct val="0"/>
              </a:spcBef>
              <a:buFont typeface="Arial"/>
              <a:buChar char="•"/>
            </a:pPr>
            <a:r>
              <a:rPr lang="en-US" sz="1878">
                <a:solidFill>
                  <a:srgbClr val="000000"/>
                </a:solidFill>
                <a:latin typeface="Arial MT Pro"/>
                <a:ea typeface="Arial MT Pro"/>
                <a:cs typeface="Arial MT Pro"/>
                <a:sym typeface="Arial MT Pro"/>
              </a:rPr>
              <a:t>Policy-making regarding housing affordability and zoning regulations</a:t>
            </a:r>
          </a:p>
          <a:p>
            <a:pPr algn="just">
              <a:lnSpc>
                <a:spcPts val="2547"/>
              </a:lnSpc>
              <a:spcBef>
                <a:spcPct val="0"/>
              </a:spcBef>
            </a:pPr>
            <a:endParaRPr lang="en-US" sz="1878">
              <a:solidFill>
                <a:srgbClr val="000000"/>
              </a:solidFill>
              <a:latin typeface="Arial MT Pro"/>
              <a:ea typeface="Arial MT Pro"/>
              <a:cs typeface="Arial MT Pro"/>
              <a:sym typeface="Arial MT Pro"/>
            </a:endParaRPr>
          </a:p>
          <a:p>
            <a:pPr algn="just">
              <a:lnSpc>
                <a:spcPts val="2547"/>
              </a:lnSpc>
              <a:spcBef>
                <a:spcPct val="0"/>
              </a:spcBef>
            </a:pPr>
            <a:r>
              <a:rPr lang="en-US" sz="1878" b="1">
                <a:solidFill>
                  <a:srgbClr val="000000"/>
                </a:solidFill>
                <a:latin typeface="Arial MT Pro Bold"/>
                <a:ea typeface="Arial MT Pro Bold"/>
                <a:cs typeface="Arial MT Pro Bold"/>
                <a:sym typeface="Arial MT Pro Bold"/>
              </a:rPr>
              <a:t>Insights Gained</a:t>
            </a:r>
            <a:r>
              <a:rPr lang="en-US" sz="1878">
                <a:solidFill>
                  <a:srgbClr val="000000"/>
                </a:solidFill>
                <a:latin typeface="Arial MT Pro"/>
                <a:ea typeface="Arial MT Pro"/>
                <a:cs typeface="Arial MT Pro"/>
                <a:sym typeface="Arial MT Pro"/>
              </a:rPr>
              <a:t>:</a:t>
            </a:r>
          </a:p>
          <a:p>
            <a:pPr marL="405642" lvl="1" indent="-202821" algn="just">
              <a:lnSpc>
                <a:spcPts val="2547"/>
              </a:lnSpc>
              <a:spcBef>
                <a:spcPct val="0"/>
              </a:spcBef>
              <a:buFont typeface="Arial"/>
              <a:buChar char="•"/>
            </a:pPr>
            <a:r>
              <a:rPr lang="en-US" sz="1878">
                <a:solidFill>
                  <a:srgbClr val="000000"/>
                </a:solidFill>
                <a:latin typeface="Arial MT Pro"/>
                <a:ea typeface="Arial MT Pro"/>
                <a:cs typeface="Arial MT Pro"/>
                <a:sym typeface="Arial MT Pro"/>
              </a:rPr>
              <a:t>A positive linear relationship</a:t>
            </a:r>
            <a:r>
              <a:rPr lang="en-US" sz="1878" u="none">
                <a:solidFill>
                  <a:srgbClr val="000000"/>
                </a:solidFill>
                <a:latin typeface="Arial MT Pro"/>
                <a:ea typeface="Arial MT Pro"/>
                <a:cs typeface="Arial MT Pro"/>
                <a:sym typeface="Arial MT Pro"/>
              </a:rPr>
              <a:t> between number of rooms and m</a:t>
            </a:r>
            <a:r>
              <a:rPr lang="en-US" sz="1878">
                <a:solidFill>
                  <a:srgbClr val="000000"/>
                </a:solidFill>
                <a:latin typeface="Arial MT Pro"/>
                <a:ea typeface="Arial MT Pro"/>
                <a:cs typeface="Arial MT Pro"/>
                <a:sym typeface="Arial MT Pro"/>
              </a:rPr>
              <a:t>edian home value: as RM increases, so does MEDV.</a:t>
            </a:r>
          </a:p>
          <a:p>
            <a:pPr marL="405642" lvl="1" indent="-202821" algn="just">
              <a:lnSpc>
                <a:spcPts val="2547"/>
              </a:lnSpc>
              <a:spcBef>
                <a:spcPct val="0"/>
              </a:spcBef>
              <a:buFont typeface="Arial"/>
              <a:buChar char="•"/>
            </a:pPr>
            <a:r>
              <a:rPr lang="en-US" sz="1878">
                <a:solidFill>
                  <a:srgbClr val="000000"/>
                </a:solidFill>
                <a:latin typeface="Arial MT Pro"/>
                <a:ea typeface="Arial MT Pro"/>
                <a:cs typeface="Arial MT Pro"/>
                <a:sym typeface="Arial MT Pro"/>
              </a:rPr>
              <a:t>Feature importance is evident th</a:t>
            </a:r>
            <a:r>
              <a:rPr lang="en-US" sz="1878" u="none">
                <a:solidFill>
                  <a:srgbClr val="000000"/>
                </a:solidFill>
                <a:latin typeface="Arial MT Pro"/>
                <a:ea typeface="Arial MT Pro"/>
                <a:cs typeface="Arial MT Pro"/>
                <a:sym typeface="Arial MT Pro"/>
              </a:rPr>
              <a:t>rough s</a:t>
            </a:r>
            <a:r>
              <a:rPr lang="en-US" sz="1878">
                <a:solidFill>
                  <a:srgbClr val="000000"/>
                </a:solidFill>
                <a:latin typeface="Arial MT Pro"/>
                <a:ea typeface="Arial MT Pro"/>
                <a:cs typeface="Arial MT Pro"/>
                <a:sym typeface="Arial MT Pro"/>
              </a:rPr>
              <a:t>trong correlation</a:t>
            </a:r>
            <a:r>
              <a:rPr lang="en-US" sz="1878" u="none">
                <a:solidFill>
                  <a:srgbClr val="000000"/>
                </a:solidFill>
                <a:latin typeface="Arial MT Pro"/>
                <a:ea typeface="Arial MT Pro"/>
                <a:cs typeface="Arial MT Pro"/>
                <a:sym typeface="Arial MT Pro"/>
              </a:rPr>
              <a:t> scores, </a:t>
            </a:r>
            <a:r>
              <a:rPr lang="en-US" sz="1878">
                <a:solidFill>
                  <a:srgbClr val="000000"/>
                </a:solidFill>
                <a:latin typeface="Arial MT Pro"/>
                <a:ea typeface="Arial MT Pro"/>
                <a:cs typeface="Arial MT Pro"/>
                <a:sym typeface="Arial MT Pro"/>
              </a:rPr>
              <a:t>especially RM, which directly influence the price.</a:t>
            </a:r>
          </a:p>
          <a:p>
            <a:pPr marL="405642" lvl="1" indent="-202821" algn="just">
              <a:lnSpc>
                <a:spcPts val="2547"/>
              </a:lnSpc>
              <a:spcBef>
                <a:spcPct val="0"/>
              </a:spcBef>
              <a:buFont typeface="Arial"/>
              <a:buChar char="•"/>
            </a:pPr>
            <a:r>
              <a:rPr lang="en-US" sz="1878">
                <a:solidFill>
                  <a:srgbClr val="000000"/>
                </a:solidFill>
                <a:latin typeface="Arial MT Pro"/>
                <a:ea typeface="Arial MT Pro"/>
                <a:cs typeface="Arial MT Pro"/>
                <a:sym typeface="Arial MT Pro"/>
              </a:rPr>
              <a:t>Scatter plots and correlation matrices provide visual confirmation of relationships, aiding intuitive understanding of data patterns.</a:t>
            </a:r>
          </a:p>
          <a:p>
            <a:pPr algn="just">
              <a:lnSpc>
                <a:spcPts val="2547"/>
              </a:lnSpc>
              <a:spcBef>
                <a:spcPct val="0"/>
              </a:spcBef>
            </a:pPr>
            <a:r>
              <a:rPr lang="en-US" sz="1878" b="1">
                <a:solidFill>
                  <a:srgbClr val="000000"/>
                </a:solidFill>
                <a:latin typeface="Arial MT Pro Bold"/>
                <a:ea typeface="Arial MT Pro Bold"/>
                <a:cs typeface="Arial MT Pro Bold"/>
                <a:sym typeface="Arial MT Pro Bold"/>
              </a:rPr>
              <a:t>Benefits: </a:t>
            </a:r>
          </a:p>
          <a:p>
            <a:pPr marL="405642" lvl="1" indent="-202821" algn="just">
              <a:lnSpc>
                <a:spcPts val="2547"/>
              </a:lnSpc>
              <a:spcBef>
                <a:spcPct val="0"/>
              </a:spcBef>
              <a:buFont typeface="Arial"/>
              <a:buChar char="•"/>
            </a:pPr>
            <a:r>
              <a:rPr lang="en-US" sz="1878">
                <a:solidFill>
                  <a:srgbClr val="000000"/>
                </a:solidFill>
                <a:latin typeface="Arial MT Pro"/>
                <a:ea typeface="Arial MT Pro"/>
                <a:cs typeface="Arial MT Pro"/>
                <a:sym typeface="Arial MT Pro"/>
              </a:rPr>
              <a:t>Linear regression yields a clear equation (y = β0 + β1x) that is easy to interpret and explain to stakeholders.</a:t>
            </a:r>
          </a:p>
          <a:p>
            <a:pPr marL="405642" lvl="1" indent="-202821" algn="just">
              <a:lnSpc>
                <a:spcPts val="2547"/>
              </a:lnSpc>
              <a:spcBef>
                <a:spcPct val="0"/>
              </a:spcBef>
              <a:buFont typeface="Arial"/>
              <a:buChar char="•"/>
            </a:pPr>
            <a:r>
              <a:rPr lang="en-US" sz="1878">
                <a:solidFill>
                  <a:srgbClr val="000000"/>
                </a:solidFill>
                <a:latin typeface="Arial MT Pro"/>
                <a:ea typeface="Arial MT Pro"/>
                <a:cs typeface="Arial MT Pro"/>
                <a:sym typeface="Arial MT Pro"/>
              </a:rPr>
              <a:t>It serves as a starting point for more complex models while still offering reasonable predictive capability.</a:t>
            </a:r>
          </a:p>
          <a:p>
            <a:pPr marL="405642" lvl="1" indent="-202821" algn="just">
              <a:lnSpc>
                <a:spcPts val="2547"/>
              </a:lnSpc>
              <a:spcBef>
                <a:spcPct val="0"/>
              </a:spcBef>
              <a:buFont typeface="Arial"/>
              <a:buChar char="•"/>
            </a:pPr>
            <a:r>
              <a:rPr lang="en-US" sz="1878">
                <a:solidFill>
                  <a:srgbClr val="000000"/>
                </a:solidFill>
                <a:latin typeface="Arial MT Pro"/>
                <a:ea typeface="Arial MT Pro"/>
                <a:cs typeface="Arial MT Pro"/>
                <a:sym typeface="Arial MT Pro"/>
              </a:rPr>
              <a:t>Correlation heatmaps and scatter plots enhance understanding of inter-variable relationships.</a:t>
            </a:r>
          </a:p>
          <a:p>
            <a:pPr marL="405642" lvl="1" indent="-202821" algn="just">
              <a:lnSpc>
                <a:spcPts val="2547"/>
              </a:lnSpc>
              <a:spcBef>
                <a:spcPct val="0"/>
              </a:spcBef>
              <a:buFont typeface="Arial"/>
              <a:buChar char="•"/>
            </a:pPr>
            <a:r>
              <a:rPr lang="en-US" sz="1878">
                <a:solidFill>
                  <a:srgbClr val="000000"/>
                </a:solidFill>
                <a:latin typeface="Arial MT Pro"/>
                <a:ea typeface="Arial MT Pro"/>
                <a:cs typeface="Arial MT Pro"/>
                <a:sym typeface="Arial MT Pro"/>
              </a:rPr>
              <a:t>Performance metrics like R², MAE, and MSE offer measurable insights into model accuracy and error, supporting continuous improvement.</a:t>
            </a:r>
          </a:p>
          <a:p>
            <a:pPr marL="405642" lvl="1" indent="-202821" algn="just">
              <a:lnSpc>
                <a:spcPts val="2547"/>
              </a:lnSpc>
              <a:buFont typeface="Arial"/>
              <a:buChar char="•"/>
            </a:pPr>
            <a:r>
              <a:rPr lang="en-US" sz="1878">
                <a:solidFill>
                  <a:srgbClr val="000000"/>
                </a:solidFill>
                <a:latin typeface="Arial MT Pro"/>
                <a:ea typeface="Arial MT Pro"/>
                <a:cs typeface="Arial MT Pro"/>
                <a:sym typeface="Arial MT Pro"/>
              </a:rPr>
              <a:t>Linear models are fast to train and ideal for high interpretability with low computational cost.</a:t>
            </a:r>
          </a:p>
          <a:p>
            <a:pPr algn="just">
              <a:lnSpc>
                <a:spcPts val="2547"/>
              </a:lnSpc>
            </a:pPr>
            <a:endParaRPr lang="en-US" sz="1878">
              <a:solidFill>
                <a:srgbClr val="000000"/>
              </a:solidFill>
              <a:latin typeface="Arial MT Pro"/>
              <a:ea typeface="Arial MT Pro"/>
              <a:cs typeface="Arial MT Pro"/>
              <a:sym typeface="Arial MT Pro"/>
            </a:endParaRPr>
          </a:p>
        </p:txBody>
      </p:sp>
      <p:sp>
        <p:nvSpPr>
          <p:cNvPr id="3" name="Freeform 3"/>
          <p:cNvSpPr/>
          <p:nvPr/>
        </p:nvSpPr>
        <p:spPr>
          <a:xfrm>
            <a:off x="11777485" y="2456654"/>
            <a:ext cx="6089480" cy="1979081"/>
          </a:xfrm>
          <a:custGeom>
            <a:avLst/>
            <a:gdLst/>
            <a:ahLst/>
            <a:cxnLst/>
            <a:rect l="l" t="t" r="r" b="b"/>
            <a:pathLst>
              <a:path w="6089480" h="1979081">
                <a:moveTo>
                  <a:pt x="0" y="0"/>
                </a:moveTo>
                <a:lnTo>
                  <a:pt x="6089480" y="0"/>
                </a:lnTo>
                <a:lnTo>
                  <a:pt x="6089480" y="1979081"/>
                </a:lnTo>
                <a:lnTo>
                  <a:pt x="0" y="1979081"/>
                </a:lnTo>
                <a:lnTo>
                  <a:pt x="0" y="0"/>
                </a:lnTo>
                <a:close/>
              </a:path>
            </a:pathLst>
          </a:custGeom>
          <a:blipFill>
            <a:blip r:embed="rId3"/>
            <a:stretch>
              <a:fillRect/>
            </a:stretch>
          </a:blipFill>
        </p:spPr>
      </p:sp>
      <p:sp>
        <p:nvSpPr>
          <p:cNvPr id="4" name="Freeform 4"/>
          <p:cNvSpPr/>
          <p:nvPr/>
        </p:nvSpPr>
        <p:spPr>
          <a:xfrm>
            <a:off x="12217891" y="4778635"/>
            <a:ext cx="5208668" cy="4232043"/>
          </a:xfrm>
          <a:custGeom>
            <a:avLst/>
            <a:gdLst/>
            <a:ahLst/>
            <a:cxnLst/>
            <a:rect l="l" t="t" r="r" b="b"/>
            <a:pathLst>
              <a:path w="5208668" h="4232043">
                <a:moveTo>
                  <a:pt x="0" y="0"/>
                </a:moveTo>
                <a:lnTo>
                  <a:pt x="5208668" y="0"/>
                </a:lnTo>
                <a:lnTo>
                  <a:pt x="5208668" y="4232042"/>
                </a:lnTo>
                <a:lnTo>
                  <a:pt x="0" y="4232042"/>
                </a:lnTo>
                <a:lnTo>
                  <a:pt x="0" y="0"/>
                </a:lnTo>
                <a:close/>
              </a:path>
            </a:pathLst>
          </a:custGeom>
          <a:blipFill>
            <a:blip r:embed="rId4"/>
            <a:stretch>
              <a:fillRect/>
            </a:stretch>
          </a:blipFill>
        </p:spPr>
      </p:sp>
      <p:sp>
        <p:nvSpPr>
          <p:cNvPr id="5" name="TextBox 5"/>
          <p:cNvSpPr txBox="1"/>
          <p:nvPr/>
        </p:nvSpPr>
        <p:spPr>
          <a:xfrm>
            <a:off x="1115432" y="1509234"/>
            <a:ext cx="16230600" cy="604520"/>
          </a:xfrm>
          <a:prstGeom prst="rect">
            <a:avLst/>
          </a:prstGeom>
        </p:spPr>
        <p:txBody>
          <a:bodyPr lIns="0" tIns="0" rIns="0" bIns="0" rtlCol="0" anchor="t">
            <a:spAutoFit/>
          </a:bodyPr>
          <a:lstStyle/>
          <a:p>
            <a:pPr algn="l">
              <a:lnSpc>
                <a:spcPts val="4480"/>
              </a:lnSpc>
            </a:pPr>
            <a:r>
              <a:rPr lang="en-US" sz="3200" b="1">
                <a:solidFill>
                  <a:srgbClr val="0088B6"/>
                </a:solidFill>
                <a:latin typeface="Arial MT Pro Bold"/>
                <a:ea typeface="Arial MT Pro Bold"/>
                <a:cs typeface="Arial MT Pro Bold"/>
                <a:sym typeface="Arial MT Pro Bold"/>
              </a:rPr>
              <a:t>Evaluating Predictive Analytics Using the Boston Housing Dataset</a:t>
            </a:r>
          </a:p>
        </p:txBody>
      </p:sp>
      <p:sp>
        <p:nvSpPr>
          <p:cNvPr id="6" name="TextBox 6"/>
          <p:cNvSpPr txBox="1"/>
          <p:nvPr/>
        </p:nvSpPr>
        <p:spPr>
          <a:xfrm>
            <a:off x="3587690" y="705167"/>
            <a:ext cx="11112620" cy="580390"/>
          </a:xfrm>
          <a:prstGeom prst="rect">
            <a:avLst/>
          </a:prstGeom>
        </p:spPr>
        <p:txBody>
          <a:bodyPr lIns="0" tIns="0" rIns="0" bIns="0" rtlCol="0" anchor="t">
            <a:spAutoFit/>
          </a:bodyPr>
          <a:lstStyle/>
          <a:p>
            <a:pPr algn="ctr">
              <a:lnSpc>
                <a:spcPts val="4759"/>
              </a:lnSpc>
            </a:pPr>
            <a:r>
              <a:rPr lang="en-US" sz="3399" b="1">
                <a:solidFill>
                  <a:srgbClr val="2B4865"/>
                </a:solidFill>
                <a:latin typeface="Canva Sans Bold"/>
                <a:ea typeface="Canva Sans Bold"/>
                <a:cs typeface="Canva Sans Bold"/>
                <a:sym typeface="Canva Sans Bold"/>
              </a:rPr>
              <a:t>EVALUATION OF MODELS BASED ON CASE STUDY</a:t>
            </a:r>
          </a:p>
        </p:txBody>
      </p:sp>
      <p:sp>
        <p:nvSpPr>
          <p:cNvPr id="7" name="TextBox 7"/>
          <p:cNvSpPr txBox="1"/>
          <p:nvPr/>
        </p:nvSpPr>
        <p:spPr>
          <a:xfrm>
            <a:off x="16203397" y="9721260"/>
            <a:ext cx="1663568" cy="318770"/>
          </a:xfrm>
          <a:prstGeom prst="rect">
            <a:avLst/>
          </a:prstGeom>
        </p:spPr>
        <p:txBody>
          <a:bodyPr lIns="0" tIns="0" rIns="0" bIns="0" rtlCol="0" anchor="t">
            <a:spAutoFit/>
          </a:bodyPr>
          <a:lstStyle/>
          <a:p>
            <a:pPr algn="ctr">
              <a:lnSpc>
                <a:spcPts val="2380"/>
              </a:lnSpc>
              <a:spcBef>
                <a:spcPct val="0"/>
              </a:spcBef>
            </a:pPr>
            <a:r>
              <a:rPr lang="en-US" sz="1700" i="1">
                <a:solidFill>
                  <a:srgbClr val="000000"/>
                </a:solidFill>
                <a:latin typeface="Arial MT Pro Italics"/>
                <a:ea typeface="Arial MT Pro Italics"/>
                <a:cs typeface="Arial MT Pro Italics"/>
                <a:sym typeface="Arial MT Pro Italics"/>
              </a:rPr>
              <a:t> (Analytiks, 2020)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8115300" cy="1117763"/>
            <a:chOff x="0" y="0"/>
            <a:chExt cx="10820400" cy="1490351"/>
          </a:xfrm>
        </p:grpSpPr>
        <p:sp>
          <p:nvSpPr>
            <p:cNvPr id="3" name="Freeform 3"/>
            <p:cNvSpPr/>
            <p:nvPr/>
          </p:nvSpPr>
          <p:spPr>
            <a:xfrm>
              <a:off x="0" y="0"/>
              <a:ext cx="10820400" cy="1490351"/>
            </a:xfrm>
            <a:custGeom>
              <a:avLst/>
              <a:gdLst/>
              <a:ahLst/>
              <a:cxnLst/>
              <a:rect l="l" t="t" r="r" b="b"/>
              <a:pathLst>
                <a:path w="10820400" h="1490351">
                  <a:moveTo>
                    <a:pt x="0" y="0"/>
                  </a:moveTo>
                  <a:lnTo>
                    <a:pt x="10820400" y="0"/>
                  </a:lnTo>
                  <a:lnTo>
                    <a:pt x="10820400" y="1490351"/>
                  </a:lnTo>
                  <a:lnTo>
                    <a:pt x="0" y="1490351"/>
                  </a:lnTo>
                  <a:close/>
                </a:path>
              </a:pathLst>
            </a:custGeom>
          </p:spPr>
        </p:sp>
        <p:sp>
          <p:nvSpPr>
            <p:cNvPr id="4" name="TextBox 4"/>
            <p:cNvSpPr txBox="1"/>
            <p:nvPr/>
          </p:nvSpPr>
          <p:spPr>
            <a:xfrm>
              <a:off x="0" y="-114300"/>
              <a:ext cx="10820400" cy="1604651"/>
            </a:xfrm>
            <a:prstGeom prst="rect">
              <a:avLst/>
            </a:prstGeom>
          </p:spPr>
          <p:txBody>
            <a:bodyPr lIns="0" tIns="0" rIns="0" bIns="0" rtlCol="0" anchor="t"/>
            <a:lstStyle/>
            <a:p>
              <a:pPr algn="just">
                <a:lnSpc>
                  <a:spcPts val="6100"/>
                </a:lnSpc>
              </a:pPr>
              <a:r>
                <a:rPr lang="en-US" sz="4499" b="1">
                  <a:solidFill>
                    <a:srgbClr val="000000"/>
                  </a:solidFill>
                  <a:latin typeface="Poppins Bold"/>
                  <a:ea typeface="Poppins Bold"/>
                  <a:cs typeface="Poppins Bold"/>
                  <a:sym typeface="Poppins Bold"/>
                </a:rPr>
                <a:t>What is Big Data?</a:t>
              </a:r>
            </a:p>
          </p:txBody>
        </p:sp>
      </p:grpSp>
      <p:grpSp>
        <p:nvGrpSpPr>
          <p:cNvPr id="5" name="Group 5"/>
          <p:cNvGrpSpPr/>
          <p:nvPr/>
        </p:nvGrpSpPr>
        <p:grpSpPr>
          <a:xfrm>
            <a:off x="6852115" y="878726"/>
            <a:ext cx="10898768" cy="2535475"/>
            <a:chOff x="0" y="0"/>
            <a:chExt cx="14531691" cy="3380633"/>
          </a:xfrm>
        </p:grpSpPr>
        <p:sp>
          <p:nvSpPr>
            <p:cNvPr id="6" name="Freeform 6"/>
            <p:cNvSpPr/>
            <p:nvPr/>
          </p:nvSpPr>
          <p:spPr>
            <a:xfrm>
              <a:off x="0" y="0"/>
              <a:ext cx="14531691" cy="3380633"/>
            </a:xfrm>
            <a:custGeom>
              <a:avLst/>
              <a:gdLst/>
              <a:ahLst/>
              <a:cxnLst/>
              <a:rect l="l" t="t" r="r" b="b"/>
              <a:pathLst>
                <a:path w="14531691" h="3380633">
                  <a:moveTo>
                    <a:pt x="0" y="0"/>
                  </a:moveTo>
                  <a:lnTo>
                    <a:pt x="14531691" y="0"/>
                  </a:lnTo>
                  <a:lnTo>
                    <a:pt x="14531691" y="3380633"/>
                  </a:lnTo>
                  <a:lnTo>
                    <a:pt x="0" y="3380633"/>
                  </a:lnTo>
                  <a:close/>
                </a:path>
              </a:pathLst>
            </a:custGeom>
          </p:spPr>
        </p:sp>
        <p:sp>
          <p:nvSpPr>
            <p:cNvPr id="7" name="TextBox 7"/>
            <p:cNvSpPr txBox="1"/>
            <p:nvPr/>
          </p:nvSpPr>
          <p:spPr>
            <a:xfrm>
              <a:off x="0" y="-114300"/>
              <a:ext cx="14531691" cy="3494933"/>
            </a:xfrm>
            <a:prstGeom prst="rect">
              <a:avLst/>
            </a:prstGeom>
          </p:spPr>
          <p:txBody>
            <a:bodyPr lIns="0" tIns="0" rIns="0" bIns="0" rtlCol="0" anchor="t"/>
            <a:lstStyle/>
            <a:p>
              <a:pPr algn="just">
                <a:lnSpc>
                  <a:spcPts val="3854"/>
                </a:lnSpc>
              </a:pPr>
              <a:r>
                <a:rPr lang="en-US" sz="2699">
                  <a:solidFill>
                    <a:srgbClr val="000000"/>
                  </a:solidFill>
                  <a:latin typeface="Arial MT Pro"/>
                  <a:ea typeface="Arial MT Pro"/>
                  <a:cs typeface="Arial MT Pro"/>
                  <a:sym typeface="Arial MT Pro"/>
                </a:rPr>
                <a:t>Big data refers to the </a:t>
              </a:r>
              <a:r>
                <a:rPr lang="en-US" sz="2699" i="1">
                  <a:solidFill>
                    <a:srgbClr val="000000"/>
                  </a:solidFill>
                  <a:latin typeface="Arial MT Pro Italics"/>
                  <a:ea typeface="Arial MT Pro Italics"/>
                  <a:cs typeface="Arial MT Pro Italics"/>
                  <a:sym typeface="Arial MT Pro Italics"/>
                </a:rPr>
                <a:t>immense volumes</a:t>
              </a:r>
              <a:r>
                <a:rPr lang="en-US" sz="2699">
                  <a:solidFill>
                    <a:srgbClr val="000000"/>
                  </a:solidFill>
                  <a:latin typeface="Arial MT Pro"/>
                  <a:ea typeface="Arial MT Pro"/>
                  <a:cs typeface="Arial MT Pro"/>
                  <a:sym typeface="Arial MT Pro"/>
                </a:rPr>
                <a:t> of structured and unstructured data generated every second, which can be analysed for insights to enhance decision-making in organizations. It is defined by five key characteristics known as the 5 V’s: Volume, Velocity, Variety, Veracity, and Value.</a:t>
              </a:r>
            </a:p>
          </p:txBody>
        </p:sp>
      </p:grpSp>
      <p:grpSp>
        <p:nvGrpSpPr>
          <p:cNvPr id="8" name="Group 8"/>
          <p:cNvGrpSpPr/>
          <p:nvPr/>
        </p:nvGrpSpPr>
        <p:grpSpPr>
          <a:xfrm>
            <a:off x="6852115" y="4781319"/>
            <a:ext cx="4997918" cy="4304712"/>
            <a:chOff x="0" y="0"/>
            <a:chExt cx="6663890" cy="5739616"/>
          </a:xfrm>
        </p:grpSpPr>
        <p:sp>
          <p:nvSpPr>
            <p:cNvPr id="9" name="Freeform 9"/>
            <p:cNvSpPr/>
            <p:nvPr/>
          </p:nvSpPr>
          <p:spPr>
            <a:xfrm>
              <a:off x="0" y="0"/>
              <a:ext cx="6663890" cy="5739616"/>
            </a:xfrm>
            <a:custGeom>
              <a:avLst/>
              <a:gdLst/>
              <a:ahLst/>
              <a:cxnLst/>
              <a:rect l="l" t="t" r="r" b="b"/>
              <a:pathLst>
                <a:path w="6663890" h="5739616">
                  <a:moveTo>
                    <a:pt x="0" y="0"/>
                  </a:moveTo>
                  <a:lnTo>
                    <a:pt x="6663890" y="0"/>
                  </a:lnTo>
                  <a:lnTo>
                    <a:pt x="6663890" y="5739616"/>
                  </a:lnTo>
                  <a:lnTo>
                    <a:pt x="0" y="5739616"/>
                  </a:lnTo>
                  <a:close/>
                </a:path>
              </a:pathLst>
            </a:custGeom>
          </p:spPr>
        </p:sp>
        <p:sp>
          <p:nvSpPr>
            <p:cNvPr id="10" name="TextBox 10"/>
            <p:cNvSpPr txBox="1"/>
            <p:nvPr/>
          </p:nvSpPr>
          <p:spPr>
            <a:xfrm>
              <a:off x="0" y="-95250"/>
              <a:ext cx="6663890" cy="5834866"/>
            </a:xfrm>
            <a:prstGeom prst="rect">
              <a:avLst/>
            </a:prstGeom>
          </p:spPr>
          <p:txBody>
            <a:bodyPr lIns="0" tIns="0" rIns="0" bIns="0" rtlCol="0" anchor="t"/>
            <a:lstStyle/>
            <a:p>
              <a:pPr marL="474769" lvl="1" indent="-237384" algn="l">
                <a:lnSpc>
                  <a:spcPts val="3140"/>
                </a:lnSpc>
                <a:buFont typeface="Arial"/>
                <a:buChar char="•"/>
              </a:pPr>
              <a:r>
                <a:rPr lang="en-US" sz="2199">
                  <a:solidFill>
                    <a:srgbClr val="000000"/>
                  </a:solidFill>
                  <a:latin typeface="Arial MT Pro"/>
                  <a:ea typeface="Arial MT Pro"/>
                  <a:cs typeface="Arial MT Pro"/>
                  <a:sym typeface="Arial MT Pro"/>
                </a:rPr>
                <a:t>Analytics optimize supply chains, production, staffing, and resource allocation, reducing waste and costs.</a:t>
              </a:r>
            </a:p>
            <a:p>
              <a:pPr marL="474769" lvl="1" indent="-237384" algn="l">
                <a:lnSpc>
                  <a:spcPts val="3140"/>
                </a:lnSpc>
                <a:buFont typeface="Arial"/>
                <a:buChar char="•"/>
              </a:pPr>
              <a:r>
                <a:rPr lang="en-US" sz="2199">
                  <a:solidFill>
                    <a:srgbClr val="000000"/>
                  </a:solidFill>
                  <a:latin typeface="Arial MT Pro"/>
                  <a:ea typeface="Arial MT Pro"/>
                  <a:cs typeface="Arial MT Pro"/>
                  <a:sym typeface="Arial MT Pro"/>
                </a:rPr>
                <a:t>Identify trends, forecast demands, and make evidence-based plans rather than relying solely on intuition.</a:t>
              </a:r>
            </a:p>
            <a:p>
              <a:pPr marL="474769" lvl="1" indent="-237384" algn="l">
                <a:lnSpc>
                  <a:spcPts val="3140"/>
                </a:lnSpc>
                <a:buFont typeface="Arial"/>
                <a:buChar char="•"/>
              </a:pPr>
              <a:r>
                <a:rPr lang="en-US" sz="2199">
                  <a:solidFill>
                    <a:srgbClr val="000000"/>
                  </a:solidFill>
                  <a:latin typeface="Arial MT Pro"/>
                  <a:ea typeface="Arial MT Pro"/>
                  <a:cs typeface="Arial MT Pro"/>
                  <a:sym typeface="Arial MT Pro"/>
                </a:rPr>
                <a:t>To explore new markets, test product ideas, and enhance research capabilities.</a:t>
              </a:r>
            </a:p>
          </p:txBody>
        </p:sp>
      </p:grpSp>
      <p:grpSp>
        <p:nvGrpSpPr>
          <p:cNvPr id="11" name="Group 11"/>
          <p:cNvGrpSpPr/>
          <p:nvPr/>
        </p:nvGrpSpPr>
        <p:grpSpPr>
          <a:xfrm>
            <a:off x="6889054" y="3519470"/>
            <a:ext cx="9921958" cy="535630"/>
            <a:chOff x="0" y="0"/>
            <a:chExt cx="13229277" cy="714173"/>
          </a:xfrm>
        </p:grpSpPr>
        <p:sp>
          <p:nvSpPr>
            <p:cNvPr id="12" name="Freeform 12"/>
            <p:cNvSpPr/>
            <p:nvPr/>
          </p:nvSpPr>
          <p:spPr>
            <a:xfrm>
              <a:off x="0" y="0"/>
              <a:ext cx="13229278" cy="714173"/>
            </a:xfrm>
            <a:custGeom>
              <a:avLst/>
              <a:gdLst/>
              <a:ahLst/>
              <a:cxnLst/>
              <a:rect l="l" t="t" r="r" b="b"/>
              <a:pathLst>
                <a:path w="13229278" h="714173">
                  <a:moveTo>
                    <a:pt x="0" y="0"/>
                  </a:moveTo>
                  <a:lnTo>
                    <a:pt x="13229278" y="0"/>
                  </a:lnTo>
                  <a:lnTo>
                    <a:pt x="13229278" y="714173"/>
                  </a:lnTo>
                  <a:lnTo>
                    <a:pt x="0" y="714173"/>
                  </a:lnTo>
                  <a:close/>
                </a:path>
              </a:pathLst>
            </a:custGeom>
          </p:spPr>
        </p:sp>
        <p:sp>
          <p:nvSpPr>
            <p:cNvPr id="13" name="TextBox 13"/>
            <p:cNvSpPr txBox="1"/>
            <p:nvPr/>
          </p:nvSpPr>
          <p:spPr>
            <a:xfrm>
              <a:off x="0" y="-123825"/>
              <a:ext cx="13229277" cy="837998"/>
            </a:xfrm>
            <a:prstGeom prst="rect">
              <a:avLst/>
            </a:prstGeom>
          </p:spPr>
          <p:txBody>
            <a:bodyPr lIns="0" tIns="0" rIns="0" bIns="0" rtlCol="0" anchor="t"/>
            <a:lstStyle/>
            <a:p>
              <a:pPr algn="just">
                <a:lnSpc>
                  <a:spcPts val="4139"/>
                </a:lnSpc>
              </a:pPr>
              <a:r>
                <a:rPr lang="en-US" sz="2899" b="1">
                  <a:solidFill>
                    <a:srgbClr val="2B4865"/>
                  </a:solidFill>
                  <a:latin typeface="Arial MT Pro Bold"/>
                  <a:ea typeface="Arial MT Pro Bold"/>
                  <a:cs typeface="Arial MT Pro Bold"/>
                  <a:sym typeface="Arial MT Pro Bold"/>
                </a:rPr>
                <a:t>Value of Big Data on Decision-Making</a:t>
              </a:r>
            </a:p>
          </p:txBody>
        </p:sp>
      </p:grpSp>
      <p:grpSp>
        <p:nvGrpSpPr>
          <p:cNvPr id="14" name="Group 14"/>
          <p:cNvGrpSpPr/>
          <p:nvPr/>
        </p:nvGrpSpPr>
        <p:grpSpPr>
          <a:xfrm>
            <a:off x="1137038" y="2146463"/>
            <a:ext cx="3652312" cy="1059505"/>
            <a:chOff x="0" y="0"/>
            <a:chExt cx="5172500" cy="1500499"/>
          </a:xfrm>
        </p:grpSpPr>
        <p:sp>
          <p:nvSpPr>
            <p:cNvPr id="15" name="Freeform 15"/>
            <p:cNvSpPr/>
            <p:nvPr/>
          </p:nvSpPr>
          <p:spPr>
            <a:xfrm>
              <a:off x="0" y="0"/>
              <a:ext cx="5172500" cy="1500499"/>
            </a:xfrm>
            <a:custGeom>
              <a:avLst/>
              <a:gdLst/>
              <a:ahLst/>
              <a:cxnLst/>
              <a:rect l="l" t="t" r="r" b="b"/>
              <a:pathLst>
                <a:path w="5172500" h="1500499">
                  <a:moveTo>
                    <a:pt x="0" y="0"/>
                  </a:moveTo>
                  <a:lnTo>
                    <a:pt x="5172500" y="0"/>
                  </a:lnTo>
                  <a:lnTo>
                    <a:pt x="5172500" y="1500499"/>
                  </a:lnTo>
                  <a:lnTo>
                    <a:pt x="0" y="1500499"/>
                  </a:lnTo>
                  <a:close/>
                </a:path>
              </a:pathLst>
            </a:custGeom>
          </p:spPr>
        </p:sp>
        <p:sp>
          <p:nvSpPr>
            <p:cNvPr id="16" name="TextBox 16"/>
            <p:cNvSpPr txBox="1"/>
            <p:nvPr/>
          </p:nvSpPr>
          <p:spPr>
            <a:xfrm>
              <a:off x="0" y="-123825"/>
              <a:ext cx="5172500" cy="1624324"/>
            </a:xfrm>
            <a:prstGeom prst="rect">
              <a:avLst/>
            </a:prstGeom>
          </p:spPr>
          <p:txBody>
            <a:bodyPr lIns="0" tIns="0" rIns="0" bIns="0" rtlCol="0" anchor="t"/>
            <a:lstStyle/>
            <a:p>
              <a:pPr algn="l">
                <a:lnSpc>
                  <a:spcPts val="4139"/>
                </a:lnSpc>
              </a:pPr>
              <a:r>
                <a:rPr lang="en-US" sz="2898" b="1">
                  <a:solidFill>
                    <a:srgbClr val="2B4865"/>
                  </a:solidFill>
                  <a:latin typeface="Arial MT Pro Bold"/>
                  <a:ea typeface="Arial MT Pro Bold"/>
                  <a:cs typeface="Arial MT Pro Bold"/>
                  <a:sym typeface="Arial MT Pro Bold"/>
                </a:rPr>
                <a:t>Companies Actively Using Big Data</a:t>
              </a:r>
            </a:p>
          </p:txBody>
        </p:sp>
      </p:grpSp>
      <p:grpSp>
        <p:nvGrpSpPr>
          <p:cNvPr id="17" name="Group 17"/>
          <p:cNvGrpSpPr/>
          <p:nvPr/>
        </p:nvGrpSpPr>
        <p:grpSpPr>
          <a:xfrm>
            <a:off x="1028700" y="3418044"/>
            <a:ext cx="4354650" cy="5840256"/>
            <a:chOff x="0" y="0"/>
            <a:chExt cx="5806200" cy="7787009"/>
          </a:xfrm>
        </p:grpSpPr>
        <p:sp>
          <p:nvSpPr>
            <p:cNvPr id="18" name="Freeform 18"/>
            <p:cNvSpPr/>
            <p:nvPr/>
          </p:nvSpPr>
          <p:spPr>
            <a:xfrm>
              <a:off x="0" y="0"/>
              <a:ext cx="5806200" cy="7787008"/>
            </a:xfrm>
            <a:custGeom>
              <a:avLst/>
              <a:gdLst/>
              <a:ahLst/>
              <a:cxnLst/>
              <a:rect l="l" t="t" r="r" b="b"/>
              <a:pathLst>
                <a:path w="5806200" h="7787008">
                  <a:moveTo>
                    <a:pt x="0" y="0"/>
                  </a:moveTo>
                  <a:lnTo>
                    <a:pt x="5806200" y="0"/>
                  </a:lnTo>
                  <a:lnTo>
                    <a:pt x="5806200" y="7787008"/>
                  </a:lnTo>
                  <a:lnTo>
                    <a:pt x="0" y="7787008"/>
                  </a:lnTo>
                  <a:close/>
                </a:path>
              </a:pathLst>
            </a:custGeom>
          </p:spPr>
        </p:sp>
        <p:sp>
          <p:nvSpPr>
            <p:cNvPr id="19" name="TextBox 19"/>
            <p:cNvSpPr txBox="1"/>
            <p:nvPr/>
          </p:nvSpPr>
          <p:spPr>
            <a:xfrm>
              <a:off x="0" y="-114300"/>
              <a:ext cx="5806200" cy="7901309"/>
            </a:xfrm>
            <a:prstGeom prst="rect">
              <a:avLst/>
            </a:prstGeom>
          </p:spPr>
          <p:txBody>
            <a:bodyPr lIns="0" tIns="0" rIns="0" bIns="0" rtlCol="0" anchor="t"/>
            <a:lstStyle/>
            <a:p>
              <a:pPr marL="582716" lvl="1" indent="-291358" algn="l">
                <a:lnSpc>
                  <a:spcPts val="3854"/>
                </a:lnSpc>
                <a:buFont typeface="Arial"/>
                <a:buChar char="•"/>
              </a:pPr>
              <a:r>
                <a:rPr lang="en-US" sz="2699" b="1">
                  <a:solidFill>
                    <a:srgbClr val="000000"/>
                  </a:solidFill>
                  <a:latin typeface="Arial MT Pro Bold"/>
                  <a:ea typeface="Arial MT Pro Bold"/>
                  <a:cs typeface="Arial MT Pro Bold"/>
                  <a:sym typeface="Arial MT Pro Bold"/>
                </a:rPr>
                <a:t>Netflix</a:t>
              </a:r>
              <a:r>
                <a:rPr lang="en-US" sz="2699">
                  <a:solidFill>
                    <a:srgbClr val="000000"/>
                  </a:solidFill>
                  <a:latin typeface="Arial MT Pro"/>
                  <a:ea typeface="Arial MT Pro"/>
                  <a:cs typeface="Arial MT Pro"/>
                  <a:sym typeface="Arial MT Pro"/>
                </a:rPr>
                <a:t>: Suggests shows/movies based on watch history.</a:t>
              </a:r>
            </a:p>
            <a:p>
              <a:pPr marL="582716" lvl="1" indent="-291358" algn="l">
                <a:lnSpc>
                  <a:spcPts val="3854"/>
                </a:lnSpc>
                <a:buFont typeface="Arial"/>
                <a:buChar char="•"/>
              </a:pPr>
              <a:r>
                <a:rPr lang="en-US" sz="2699" b="1">
                  <a:solidFill>
                    <a:srgbClr val="000000"/>
                  </a:solidFill>
                  <a:latin typeface="Arial MT Pro Bold"/>
                  <a:ea typeface="Arial MT Pro Bold"/>
                  <a:cs typeface="Arial MT Pro Bold"/>
                  <a:sym typeface="Arial MT Pro Bold"/>
                </a:rPr>
                <a:t>Uber</a:t>
              </a:r>
              <a:r>
                <a:rPr lang="en-US" sz="2699">
                  <a:solidFill>
                    <a:srgbClr val="000000"/>
                  </a:solidFill>
                  <a:latin typeface="Arial MT Pro"/>
                  <a:ea typeface="Arial MT Pro"/>
                  <a:cs typeface="Arial MT Pro"/>
                  <a:sym typeface="Arial MT Pro"/>
                </a:rPr>
                <a:t>: Uses real-time traffic and user data to optimize routes and pricing.</a:t>
              </a:r>
            </a:p>
            <a:p>
              <a:pPr marL="582716" lvl="1" indent="-291358" algn="l">
                <a:lnSpc>
                  <a:spcPts val="3854"/>
                </a:lnSpc>
                <a:buFont typeface="Arial"/>
                <a:buChar char="•"/>
              </a:pPr>
              <a:r>
                <a:rPr lang="en-US" sz="2699" b="1">
                  <a:solidFill>
                    <a:srgbClr val="000000"/>
                  </a:solidFill>
                  <a:latin typeface="Arial MT Pro Bold"/>
                  <a:ea typeface="Arial MT Pro Bold"/>
                  <a:cs typeface="Arial MT Pro Bold"/>
                  <a:sym typeface="Arial MT Pro Bold"/>
                </a:rPr>
                <a:t>Google</a:t>
              </a:r>
              <a:r>
                <a:rPr lang="en-US" sz="2699">
                  <a:solidFill>
                    <a:srgbClr val="000000"/>
                  </a:solidFill>
                  <a:latin typeface="Arial MT Pro"/>
                  <a:ea typeface="Arial MT Pro"/>
                  <a:cs typeface="Arial MT Pro"/>
                  <a:sym typeface="Arial MT Pro"/>
                </a:rPr>
                <a:t>: Analyzes search history, location, and behavior to deliver personalized results and ads.</a:t>
              </a:r>
            </a:p>
          </p:txBody>
        </p:sp>
      </p:grpSp>
      <p:sp>
        <p:nvSpPr>
          <p:cNvPr id="20" name="TextBox 20"/>
          <p:cNvSpPr txBox="1"/>
          <p:nvPr/>
        </p:nvSpPr>
        <p:spPr>
          <a:xfrm>
            <a:off x="11125316" y="9634320"/>
            <a:ext cx="6966125" cy="318770"/>
          </a:xfrm>
          <a:prstGeom prst="rect">
            <a:avLst/>
          </a:prstGeom>
        </p:spPr>
        <p:txBody>
          <a:bodyPr lIns="0" tIns="0" rIns="0" bIns="0" rtlCol="0" anchor="t">
            <a:spAutoFit/>
          </a:bodyPr>
          <a:lstStyle/>
          <a:p>
            <a:pPr algn="ctr">
              <a:lnSpc>
                <a:spcPts val="2380"/>
              </a:lnSpc>
              <a:spcBef>
                <a:spcPct val="0"/>
              </a:spcBef>
            </a:pPr>
            <a:r>
              <a:rPr lang="en-US" sz="1700" i="1">
                <a:solidFill>
                  <a:srgbClr val="000000"/>
                </a:solidFill>
                <a:latin typeface="Arial MT Pro Italics"/>
                <a:ea typeface="Arial MT Pro Italics"/>
                <a:cs typeface="Arial MT Pro Italics"/>
                <a:sym typeface="Arial MT Pro Italics"/>
              </a:rPr>
              <a:t>(Kumari, 2021; Badman and Kosinski, 2024; The Data Scientist, 2025)</a:t>
            </a:r>
          </a:p>
        </p:txBody>
      </p:sp>
      <p:grpSp>
        <p:nvGrpSpPr>
          <p:cNvPr id="21" name="Group 21"/>
          <p:cNvGrpSpPr/>
          <p:nvPr/>
        </p:nvGrpSpPr>
        <p:grpSpPr>
          <a:xfrm>
            <a:off x="7041720" y="4159875"/>
            <a:ext cx="2975691" cy="621444"/>
            <a:chOff x="0" y="0"/>
            <a:chExt cx="3967588" cy="828592"/>
          </a:xfrm>
        </p:grpSpPr>
        <p:sp>
          <p:nvSpPr>
            <p:cNvPr id="22" name="Freeform 22"/>
            <p:cNvSpPr/>
            <p:nvPr/>
          </p:nvSpPr>
          <p:spPr>
            <a:xfrm>
              <a:off x="0" y="0"/>
              <a:ext cx="3967588" cy="828592"/>
            </a:xfrm>
            <a:custGeom>
              <a:avLst/>
              <a:gdLst/>
              <a:ahLst/>
              <a:cxnLst/>
              <a:rect l="l" t="t" r="r" b="b"/>
              <a:pathLst>
                <a:path w="3967588" h="828592">
                  <a:moveTo>
                    <a:pt x="0" y="0"/>
                  </a:moveTo>
                  <a:lnTo>
                    <a:pt x="3967588" y="0"/>
                  </a:lnTo>
                  <a:lnTo>
                    <a:pt x="3967588" y="828592"/>
                  </a:lnTo>
                  <a:lnTo>
                    <a:pt x="0" y="828592"/>
                  </a:lnTo>
                  <a:close/>
                </a:path>
              </a:pathLst>
            </a:custGeom>
          </p:spPr>
        </p:sp>
        <p:sp>
          <p:nvSpPr>
            <p:cNvPr id="23" name="TextBox 23"/>
            <p:cNvSpPr txBox="1"/>
            <p:nvPr/>
          </p:nvSpPr>
          <p:spPr>
            <a:xfrm>
              <a:off x="0" y="-114300"/>
              <a:ext cx="3967588" cy="942892"/>
            </a:xfrm>
            <a:prstGeom prst="rect">
              <a:avLst/>
            </a:prstGeom>
          </p:spPr>
          <p:txBody>
            <a:bodyPr lIns="0" tIns="0" rIns="0" bIns="0" rtlCol="0" anchor="t"/>
            <a:lstStyle/>
            <a:p>
              <a:pPr algn="l">
                <a:lnSpc>
                  <a:spcPts val="3997"/>
                </a:lnSpc>
              </a:pPr>
              <a:r>
                <a:rPr lang="en-US" sz="2799" b="1">
                  <a:solidFill>
                    <a:srgbClr val="8064A2"/>
                  </a:solidFill>
                  <a:latin typeface="Arial MT Pro Bold"/>
                  <a:ea typeface="Arial MT Pro Bold"/>
                  <a:cs typeface="Arial MT Pro Bold"/>
                  <a:sym typeface="Arial MT Pro Bold"/>
                </a:rPr>
                <a:t>Organisations</a:t>
              </a:r>
            </a:p>
          </p:txBody>
        </p:sp>
      </p:grpSp>
      <p:grpSp>
        <p:nvGrpSpPr>
          <p:cNvPr id="24" name="Group 24"/>
          <p:cNvGrpSpPr/>
          <p:nvPr/>
        </p:nvGrpSpPr>
        <p:grpSpPr>
          <a:xfrm>
            <a:off x="13182707" y="4159875"/>
            <a:ext cx="2975691" cy="621444"/>
            <a:chOff x="0" y="0"/>
            <a:chExt cx="3967588" cy="828592"/>
          </a:xfrm>
        </p:grpSpPr>
        <p:sp>
          <p:nvSpPr>
            <p:cNvPr id="25" name="Freeform 25"/>
            <p:cNvSpPr/>
            <p:nvPr/>
          </p:nvSpPr>
          <p:spPr>
            <a:xfrm>
              <a:off x="0" y="0"/>
              <a:ext cx="3967588" cy="828592"/>
            </a:xfrm>
            <a:custGeom>
              <a:avLst/>
              <a:gdLst/>
              <a:ahLst/>
              <a:cxnLst/>
              <a:rect l="l" t="t" r="r" b="b"/>
              <a:pathLst>
                <a:path w="3967588" h="828592">
                  <a:moveTo>
                    <a:pt x="0" y="0"/>
                  </a:moveTo>
                  <a:lnTo>
                    <a:pt x="3967588" y="0"/>
                  </a:lnTo>
                  <a:lnTo>
                    <a:pt x="3967588" y="828592"/>
                  </a:lnTo>
                  <a:lnTo>
                    <a:pt x="0" y="828592"/>
                  </a:lnTo>
                  <a:close/>
                </a:path>
              </a:pathLst>
            </a:custGeom>
          </p:spPr>
        </p:sp>
        <p:sp>
          <p:nvSpPr>
            <p:cNvPr id="26" name="TextBox 26"/>
            <p:cNvSpPr txBox="1"/>
            <p:nvPr/>
          </p:nvSpPr>
          <p:spPr>
            <a:xfrm>
              <a:off x="0" y="-114300"/>
              <a:ext cx="3967588" cy="942892"/>
            </a:xfrm>
            <a:prstGeom prst="rect">
              <a:avLst/>
            </a:prstGeom>
          </p:spPr>
          <p:txBody>
            <a:bodyPr lIns="0" tIns="0" rIns="0" bIns="0" rtlCol="0" anchor="t"/>
            <a:lstStyle/>
            <a:p>
              <a:pPr algn="l">
                <a:lnSpc>
                  <a:spcPts val="3997"/>
                </a:lnSpc>
              </a:pPr>
              <a:r>
                <a:rPr lang="en-US" sz="2799" b="1">
                  <a:solidFill>
                    <a:srgbClr val="8064A2"/>
                  </a:solidFill>
                  <a:latin typeface="Arial MT Pro Bold"/>
                  <a:ea typeface="Arial MT Pro Bold"/>
                  <a:cs typeface="Arial MT Pro Bold"/>
                  <a:sym typeface="Arial MT Pro Bold"/>
                </a:rPr>
                <a:t>End Users</a:t>
              </a:r>
            </a:p>
          </p:txBody>
        </p:sp>
      </p:grpSp>
      <p:grpSp>
        <p:nvGrpSpPr>
          <p:cNvPr id="27" name="Group 27"/>
          <p:cNvGrpSpPr/>
          <p:nvPr/>
        </p:nvGrpSpPr>
        <p:grpSpPr>
          <a:xfrm>
            <a:off x="12709679" y="4781319"/>
            <a:ext cx="4398302" cy="4304716"/>
            <a:chOff x="0" y="0"/>
            <a:chExt cx="5864403" cy="5739621"/>
          </a:xfrm>
        </p:grpSpPr>
        <p:sp>
          <p:nvSpPr>
            <p:cNvPr id="28" name="Freeform 28"/>
            <p:cNvSpPr/>
            <p:nvPr/>
          </p:nvSpPr>
          <p:spPr>
            <a:xfrm>
              <a:off x="0" y="0"/>
              <a:ext cx="5864403" cy="5739621"/>
            </a:xfrm>
            <a:custGeom>
              <a:avLst/>
              <a:gdLst/>
              <a:ahLst/>
              <a:cxnLst/>
              <a:rect l="l" t="t" r="r" b="b"/>
              <a:pathLst>
                <a:path w="5864403" h="5739621">
                  <a:moveTo>
                    <a:pt x="0" y="0"/>
                  </a:moveTo>
                  <a:lnTo>
                    <a:pt x="5864403" y="0"/>
                  </a:lnTo>
                  <a:lnTo>
                    <a:pt x="5864403" y="5739621"/>
                  </a:lnTo>
                  <a:lnTo>
                    <a:pt x="0" y="5739621"/>
                  </a:lnTo>
                  <a:close/>
                </a:path>
              </a:pathLst>
            </a:custGeom>
          </p:spPr>
        </p:sp>
        <p:sp>
          <p:nvSpPr>
            <p:cNvPr id="29" name="TextBox 29"/>
            <p:cNvSpPr txBox="1"/>
            <p:nvPr/>
          </p:nvSpPr>
          <p:spPr>
            <a:xfrm>
              <a:off x="0" y="-95250"/>
              <a:ext cx="5864403" cy="5834871"/>
            </a:xfrm>
            <a:prstGeom prst="rect">
              <a:avLst/>
            </a:prstGeom>
          </p:spPr>
          <p:txBody>
            <a:bodyPr lIns="0" tIns="0" rIns="0" bIns="0" rtlCol="0" anchor="t"/>
            <a:lstStyle/>
            <a:p>
              <a:pPr marL="474981" lvl="1" indent="-237491" algn="l">
                <a:lnSpc>
                  <a:spcPts val="3141"/>
                </a:lnSpc>
                <a:buFont typeface="Arial"/>
                <a:buChar char="•"/>
              </a:pPr>
              <a:r>
                <a:rPr lang="en-US" sz="2200">
                  <a:solidFill>
                    <a:srgbClr val="000000"/>
                  </a:solidFill>
                  <a:latin typeface="Arial MT Pro"/>
                  <a:ea typeface="Arial MT Pro"/>
                  <a:cs typeface="Arial MT Pro"/>
                  <a:sym typeface="Arial MT Pro"/>
                </a:rPr>
                <a:t>Helps users monitor spending, invest wisely, and avoid fraud through alerts and trends.</a:t>
              </a:r>
            </a:p>
            <a:p>
              <a:pPr marL="474981" lvl="1" indent="-237491" algn="l">
                <a:lnSpc>
                  <a:spcPts val="3141"/>
                </a:lnSpc>
                <a:buFont typeface="Arial"/>
                <a:buChar char="•"/>
              </a:pPr>
              <a:r>
                <a:rPr lang="en-US" sz="2200">
                  <a:solidFill>
                    <a:srgbClr val="000000"/>
                  </a:solidFill>
                  <a:latin typeface="Arial MT Pro"/>
                  <a:ea typeface="Arial MT Pro"/>
                  <a:cs typeface="Arial MT Pro"/>
                  <a:sym typeface="Arial MT Pro"/>
                </a:rPr>
                <a:t>Streaming platforms and online retailers use big data to suggest content or products tailored to user preferences.</a:t>
              </a:r>
            </a:p>
            <a:p>
              <a:pPr marL="474981" lvl="1" indent="-237491" algn="l">
                <a:lnSpc>
                  <a:spcPts val="3141"/>
                </a:lnSpc>
                <a:buFont typeface="Arial"/>
                <a:buChar char="•"/>
              </a:pPr>
              <a:r>
                <a:rPr lang="en-US" sz="2200">
                  <a:solidFill>
                    <a:srgbClr val="000000"/>
                  </a:solidFill>
                  <a:latin typeface="Arial MT Pro"/>
                  <a:ea typeface="Arial MT Pro"/>
                  <a:cs typeface="Arial MT Pro"/>
                  <a:sym typeface="Arial MT Pro"/>
                </a:rPr>
                <a:t>Health and fitness apps leverage personal data to guide users in improving lifestyle, diet, and exercise routines.</a:t>
              </a:r>
            </a:p>
          </p:txBody>
        </p:sp>
      </p:grpSp>
      <p:sp>
        <p:nvSpPr>
          <p:cNvPr id="30" name="AutoShape 30"/>
          <p:cNvSpPr/>
          <p:nvPr/>
        </p:nvSpPr>
        <p:spPr>
          <a:xfrm flipV="1">
            <a:off x="12301499" y="4781319"/>
            <a:ext cx="0" cy="4476981"/>
          </a:xfrm>
          <a:prstGeom prst="line">
            <a:avLst/>
          </a:prstGeom>
          <a:ln w="38100" cap="flat">
            <a:solidFill>
              <a:srgbClr val="000000"/>
            </a:solidFill>
            <a:prstDash val="solid"/>
            <a:headEnd type="none" w="sm" len="sm"/>
            <a:tailEnd type="none" w="sm" len="sm"/>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114044" y="1028700"/>
            <a:ext cx="8059912" cy="1230064"/>
            <a:chOff x="0" y="0"/>
            <a:chExt cx="10746549" cy="1640085"/>
          </a:xfrm>
        </p:grpSpPr>
        <p:sp>
          <p:nvSpPr>
            <p:cNvPr id="3" name="Freeform 3"/>
            <p:cNvSpPr/>
            <p:nvPr/>
          </p:nvSpPr>
          <p:spPr>
            <a:xfrm>
              <a:off x="0" y="0"/>
              <a:ext cx="10746549" cy="1640085"/>
            </a:xfrm>
            <a:custGeom>
              <a:avLst/>
              <a:gdLst/>
              <a:ahLst/>
              <a:cxnLst/>
              <a:rect l="l" t="t" r="r" b="b"/>
              <a:pathLst>
                <a:path w="10746549" h="1640085">
                  <a:moveTo>
                    <a:pt x="0" y="0"/>
                  </a:moveTo>
                  <a:lnTo>
                    <a:pt x="10746549" y="0"/>
                  </a:lnTo>
                  <a:lnTo>
                    <a:pt x="10746549" y="1640085"/>
                  </a:lnTo>
                  <a:lnTo>
                    <a:pt x="0" y="1640085"/>
                  </a:lnTo>
                  <a:close/>
                </a:path>
              </a:pathLst>
            </a:custGeom>
          </p:spPr>
        </p:sp>
        <p:sp>
          <p:nvSpPr>
            <p:cNvPr id="4" name="TextBox 4"/>
            <p:cNvSpPr txBox="1"/>
            <p:nvPr/>
          </p:nvSpPr>
          <p:spPr>
            <a:xfrm>
              <a:off x="0" y="-123825"/>
              <a:ext cx="10746549" cy="1763910"/>
            </a:xfrm>
            <a:prstGeom prst="rect">
              <a:avLst/>
            </a:prstGeom>
          </p:spPr>
          <p:txBody>
            <a:bodyPr lIns="0" tIns="0" rIns="0" bIns="0" rtlCol="0" anchor="t"/>
            <a:lstStyle/>
            <a:p>
              <a:pPr algn="ctr">
                <a:lnSpc>
                  <a:spcPts val="6208"/>
                </a:lnSpc>
              </a:pPr>
              <a:r>
                <a:rPr lang="en-US" sz="4500" b="1">
                  <a:solidFill>
                    <a:srgbClr val="000000"/>
                  </a:solidFill>
                  <a:latin typeface="Poppins Bold"/>
                  <a:ea typeface="Poppins Bold"/>
                  <a:cs typeface="Poppins Bold"/>
                  <a:sym typeface="Poppins Bold"/>
                </a:rPr>
                <a:t>Characteristics of Big Data</a:t>
              </a:r>
            </a:p>
          </p:txBody>
        </p:sp>
      </p:grpSp>
      <p:grpSp>
        <p:nvGrpSpPr>
          <p:cNvPr id="5" name="Group 5"/>
          <p:cNvGrpSpPr/>
          <p:nvPr/>
        </p:nvGrpSpPr>
        <p:grpSpPr>
          <a:xfrm>
            <a:off x="1077434" y="5837498"/>
            <a:ext cx="4914671" cy="457200"/>
            <a:chOff x="0" y="0"/>
            <a:chExt cx="6552895" cy="609600"/>
          </a:xfrm>
        </p:grpSpPr>
        <p:sp>
          <p:nvSpPr>
            <p:cNvPr id="6" name="Freeform 6"/>
            <p:cNvSpPr/>
            <p:nvPr/>
          </p:nvSpPr>
          <p:spPr>
            <a:xfrm>
              <a:off x="0" y="0"/>
              <a:ext cx="6552895" cy="609600"/>
            </a:xfrm>
            <a:custGeom>
              <a:avLst/>
              <a:gdLst/>
              <a:ahLst/>
              <a:cxnLst/>
              <a:rect l="l" t="t" r="r" b="b"/>
              <a:pathLst>
                <a:path w="6552895" h="609600">
                  <a:moveTo>
                    <a:pt x="0" y="0"/>
                  </a:moveTo>
                  <a:lnTo>
                    <a:pt x="6552895" y="0"/>
                  </a:lnTo>
                  <a:lnTo>
                    <a:pt x="6552895" y="609600"/>
                  </a:lnTo>
                  <a:lnTo>
                    <a:pt x="0" y="609600"/>
                  </a:lnTo>
                  <a:close/>
                </a:path>
              </a:pathLst>
            </a:custGeom>
          </p:spPr>
        </p:sp>
        <p:sp>
          <p:nvSpPr>
            <p:cNvPr id="7" name="TextBox 7"/>
            <p:cNvSpPr txBox="1"/>
            <p:nvPr/>
          </p:nvSpPr>
          <p:spPr>
            <a:xfrm>
              <a:off x="0" y="-76200"/>
              <a:ext cx="6552895" cy="685800"/>
            </a:xfrm>
            <a:prstGeom prst="rect">
              <a:avLst/>
            </a:prstGeom>
          </p:spPr>
          <p:txBody>
            <a:bodyPr lIns="0" tIns="0" rIns="0" bIns="0" rtlCol="0" anchor="t"/>
            <a:lstStyle/>
            <a:p>
              <a:pPr algn="ctr">
                <a:lnSpc>
                  <a:spcPts val="4138"/>
                </a:lnSpc>
              </a:pPr>
              <a:r>
                <a:rPr lang="en-US" sz="2999" b="1">
                  <a:solidFill>
                    <a:srgbClr val="FFFFFF"/>
                  </a:solidFill>
                  <a:latin typeface="Poppins Bold"/>
                  <a:ea typeface="Poppins Bold"/>
                  <a:cs typeface="Poppins Bold"/>
                  <a:sym typeface="Poppins Bold"/>
                </a:rPr>
                <a:t>Data-driven Decisions</a:t>
              </a:r>
            </a:p>
          </p:txBody>
        </p:sp>
      </p:grpSp>
      <p:grpSp>
        <p:nvGrpSpPr>
          <p:cNvPr id="8" name="Group 8"/>
          <p:cNvGrpSpPr/>
          <p:nvPr/>
        </p:nvGrpSpPr>
        <p:grpSpPr>
          <a:xfrm>
            <a:off x="1028700" y="2537791"/>
            <a:ext cx="16230600" cy="6822143"/>
            <a:chOff x="0" y="0"/>
            <a:chExt cx="19010816" cy="7990740"/>
          </a:xfrm>
        </p:grpSpPr>
        <p:sp>
          <p:nvSpPr>
            <p:cNvPr id="9" name="Freeform 9"/>
            <p:cNvSpPr/>
            <p:nvPr/>
          </p:nvSpPr>
          <p:spPr>
            <a:xfrm>
              <a:off x="0" y="0"/>
              <a:ext cx="19010816" cy="7990740"/>
            </a:xfrm>
            <a:custGeom>
              <a:avLst/>
              <a:gdLst/>
              <a:ahLst/>
              <a:cxnLst/>
              <a:rect l="l" t="t" r="r" b="b"/>
              <a:pathLst>
                <a:path w="19010816" h="7990740">
                  <a:moveTo>
                    <a:pt x="0" y="0"/>
                  </a:moveTo>
                  <a:lnTo>
                    <a:pt x="19010816" y="0"/>
                  </a:lnTo>
                  <a:lnTo>
                    <a:pt x="19010816" y="7990740"/>
                  </a:lnTo>
                  <a:lnTo>
                    <a:pt x="0" y="7990740"/>
                  </a:lnTo>
                  <a:close/>
                </a:path>
              </a:pathLst>
            </a:custGeom>
          </p:spPr>
        </p:sp>
        <p:sp>
          <p:nvSpPr>
            <p:cNvPr id="10" name="TextBox 10"/>
            <p:cNvSpPr txBox="1"/>
            <p:nvPr/>
          </p:nvSpPr>
          <p:spPr>
            <a:xfrm>
              <a:off x="0" y="-123825"/>
              <a:ext cx="19010816" cy="8114565"/>
            </a:xfrm>
            <a:prstGeom prst="rect">
              <a:avLst/>
            </a:prstGeom>
          </p:spPr>
          <p:txBody>
            <a:bodyPr lIns="0" tIns="0" rIns="0" bIns="0" rtlCol="0" anchor="t"/>
            <a:lstStyle/>
            <a:p>
              <a:pPr marL="625895" lvl="1" indent="-312948" algn="just">
                <a:lnSpc>
                  <a:spcPts val="4139"/>
                </a:lnSpc>
                <a:buFont typeface="Arial"/>
                <a:buChar char="•"/>
              </a:pPr>
              <a:r>
                <a:rPr lang="en-US" sz="2899" b="1">
                  <a:solidFill>
                    <a:srgbClr val="000000"/>
                  </a:solidFill>
                  <a:latin typeface="Arial MT Pro Bold"/>
                  <a:ea typeface="Arial MT Pro Bold"/>
                  <a:cs typeface="Arial MT Pro Bold"/>
                  <a:sym typeface="Arial MT Pro Bold"/>
                </a:rPr>
                <a:t>Volume </a:t>
              </a:r>
              <a:r>
                <a:rPr lang="en-US" sz="2899">
                  <a:solidFill>
                    <a:srgbClr val="000000"/>
                  </a:solidFill>
                  <a:latin typeface="Arial MT Pro"/>
                  <a:ea typeface="Arial MT Pro"/>
                  <a:cs typeface="Arial MT Pro"/>
                  <a:sym typeface="Arial MT Pro"/>
                </a:rPr>
                <a:t>– Refers to the enormous amount of data generated from diverse sources every second. Examples include social media uploads, mobile data, e-commerce transactions, IoT sensor data, and biomedical records. </a:t>
              </a:r>
            </a:p>
            <a:p>
              <a:pPr marL="625895" lvl="1" indent="-312948" algn="just">
                <a:lnSpc>
                  <a:spcPts val="4139"/>
                </a:lnSpc>
                <a:buFont typeface="Arial"/>
                <a:buChar char="•"/>
              </a:pPr>
              <a:r>
                <a:rPr lang="en-US" sz="2899" b="1">
                  <a:solidFill>
                    <a:srgbClr val="000000"/>
                  </a:solidFill>
                  <a:latin typeface="Arial MT Pro Bold"/>
                  <a:ea typeface="Arial MT Pro Bold"/>
                  <a:cs typeface="Arial MT Pro Bold"/>
                  <a:sym typeface="Arial MT Pro Bold"/>
                </a:rPr>
                <a:t>Velocity </a:t>
              </a:r>
              <a:r>
                <a:rPr lang="en-US" sz="2899">
                  <a:solidFill>
                    <a:srgbClr val="000000"/>
                  </a:solidFill>
                  <a:latin typeface="Arial MT Pro"/>
                  <a:ea typeface="Arial MT Pro"/>
                  <a:cs typeface="Arial MT Pro"/>
                  <a:sym typeface="Arial MT Pro"/>
                </a:rPr>
                <a:t>–  Describes the speed at which new data is created, collected, and processed. However, it demands real-time data processing, fast decision-making, continuous model updates, and anomaly detection.</a:t>
              </a:r>
            </a:p>
            <a:p>
              <a:pPr marL="625895" lvl="1" indent="-312948" algn="just">
                <a:lnSpc>
                  <a:spcPts val="4139"/>
                </a:lnSpc>
                <a:buFont typeface="Arial"/>
                <a:buChar char="•"/>
              </a:pPr>
              <a:r>
                <a:rPr lang="en-US" sz="2899" b="1">
                  <a:solidFill>
                    <a:srgbClr val="000000"/>
                  </a:solidFill>
                  <a:latin typeface="Arial MT Pro Bold"/>
                  <a:ea typeface="Arial MT Pro Bold"/>
                  <a:cs typeface="Arial MT Pro Bold"/>
                  <a:sym typeface="Arial MT Pro Bold"/>
                </a:rPr>
                <a:t>Variety </a:t>
              </a:r>
              <a:r>
                <a:rPr lang="en-US" sz="2899">
                  <a:solidFill>
                    <a:srgbClr val="000000"/>
                  </a:solidFill>
                  <a:latin typeface="Arial MT Pro"/>
                  <a:ea typeface="Arial MT Pro"/>
                  <a:cs typeface="Arial MT Pro"/>
                  <a:sym typeface="Arial MT Pro"/>
                </a:rPr>
                <a:t>– Represents the wide range of data types and formats such as structured, semi-structured, and unstructured. Examples include text, images, videos, audio, and metadata.</a:t>
              </a:r>
            </a:p>
            <a:p>
              <a:pPr marL="625895" lvl="1" indent="-312948" algn="just">
                <a:lnSpc>
                  <a:spcPts val="4139"/>
                </a:lnSpc>
                <a:buFont typeface="Arial"/>
                <a:buChar char="•"/>
              </a:pPr>
              <a:r>
                <a:rPr lang="en-US" sz="2899" b="1">
                  <a:solidFill>
                    <a:srgbClr val="000000"/>
                  </a:solidFill>
                  <a:latin typeface="Arial MT Pro Bold"/>
                  <a:ea typeface="Arial MT Pro Bold"/>
                  <a:cs typeface="Arial MT Pro Bold"/>
                  <a:sym typeface="Arial MT Pro Bold"/>
                </a:rPr>
                <a:t>Veracity </a:t>
              </a:r>
              <a:r>
                <a:rPr lang="en-US" sz="2899">
                  <a:solidFill>
                    <a:srgbClr val="000000"/>
                  </a:solidFill>
                  <a:latin typeface="Arial MT Pro"/>
                  <a:ea typeface="Arial MT Pro"/>
                  <a:cs typeface="Arial MT Pro"/>
                  <a:sym typeface="Arial MT Pro"/>
                </a:rPr>
                <a:t>– Indicates the accuracy, quality, and trustworthiness of data. Examples of issues include incomplete records, data inconsistencies, errors, and ambiguities.</a:t>
              </a:r>
            </a:p>
            <a:p>
              <a:pPr marL="625895" lvl="1" indent="-312948" algn="just">
                <a:lnSpc>
                  <a:spcPts val="4139"/>
                </a:lnSpc>
                <a:buFont typeface="Arial"/>
                <a:buChar char="•"/>
              </a:pPr>
              <a:r>
                <a:rPr lang="en-US" sz="2899" b="1">
                  <a:solidFill>
                    <a:srgbClr val="000000"/>
                  </a:solidFill>
                  <a:latin typeface="Arial MT Pro Bold"/>
                  <a:ea typeface="Arial MT Pro Bold"/>
                  <a:cs typeface="Arial MT Pro Bold"/>
                  <a:sym typeface="Arial MT Pro Bold"/>
                </a:rPr>
                <a:t>Value </a:t>
              </a:r>
              <a:r>
                <a:rPr lang="en-US" sz="2899">
                  <a:solidFill>
                    <a:srgbClr val="000000"/>
                  </a:solidFill>
                  <a:latin typeface="Arial MT Pro"/>
                  <a:ea typeface="Arial MT Pro"/>
                  <a:cs typeface="Arial MT Pro"/>
                  <a:sym typeface="Arial MT Pro"/>
                </a:rPr>
                <a:t>– Refers to the actionable insights and business benefits gained from big data analytics. This could be the impact of big data to the organisation, such as increased revenue and operational efficiency. </a:t>
              </a:r>
            </a:p>
          </p:txBody>
        </p:sp>
      </p:grpSp>
      <p:sp>
        <p:nvSpPr>
          <p:cNvPr id="11" name="TextBox 11"/>
          <p:cNvSpPr txBox="1"/>
          <p:nvPr/>
        </p:nvSpPr>
        <p:spPr>
          <a:xfrm>
            <a:off x="11125316" y="9634320"/>
            <a:ext cx="696612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(DatabaseTown, 2024)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452438"/>
            <a:ext cx="11468100" cy="1152525"/>
            <a:chOff x="0" y="0"/>
            <a:chExt cx="15290800" cy="1536700"/>
          </a:xfrm>
        </p:grpSpPr>
        <p:sp>
          <p:nvSpPr>
            <p:cNvPr id="3" name="Freeform 3"/>
            <p:cNvSpPr/>
            <p:nvPr/>
          </p:nvSpPr>
          <p:spPr>
            <a:xfrm>
              <a:off x="0" y="0"/>
              <a:ext cx="15290800" cy="1536700"/>
            </a:xfrm>
            <a:custGeom>
              <a:avLst/>
              <a:gdLst/>
              <a:ahLst/>
              <a:cxnLst/>
              <a:rect l="l" t="t" r="r" b="b"/>
              <a:pathLst>
                <a:path w="15290800" h="1536700">
                  <a:moveTo>
                    <a:pt x="0" y="0"/>
                  </a:moveTo>
                  <a:lnTo>
                    <a:pt x="15290800" y="0"/>
                  </a:lnTo>
                  <a:lnTo>
                    <a:pt x="15290800" y="1536700"/>
                  </a:lnTo>
                  <a:lnTo>
                    <a:pt x="0" y="1536700"/>
                  </a:lnTo>
                  <a:close/>
                </a:path>
              </a:pathLst>
            </a:custGeom>
          </p:spPr>
        </p:sp>
        <p:sp>
          <p:nvSpPr>
            <p:cNvPr id="4" name="TextBox 4"/>
            <p:cNvSpPr txBox="1"/>
            <p:nvPr/>
          </p:nvSpPr>
          <p:spPr>
            <a:xfrm>
              <a:off x="0" y="-114300"/>
              <a:ext cx="15290800" cy="1651000"/>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Data-Driven Decision Making (DDDM)</a:t>
              </a:r>
            </a:p>
          </p:txBody>
        </p:sp>
      </p:grpSp>
      <p:grpSp>
        <p:nvGrpSpPr>
          <p:cNvPr id="5" name="Group 5"/>
          <p:cNvGrpSpPr/>
          <p:nvPr/>
        </p:nvGrpSpPr>
        <p:grpSpPr>
          <a:xfrm>
            <a:off x="1028700" y="1604962"/>
            <a:ext cx="16230600" cy="3460936"/>
            <a:chOff x="0" y="0"/>
            <a:chExt cx="21640800" cy="4614582"/>
          </a:xfrm>
        </p:grpSpPr>
        <p:sp>
          <p:nvSpPr>
            <p:cNvPr id="6" name="Freeform 6"/>
            <p:cNvSpPr/>
            <p:nvPr/>
          </p:nvSpPr>
          <p:spPr>
            <a:xfrm>
              <a:off x="0" y="0"/>
              <a:ext cx="21640800" cy="4614582"/>
            </a:xfrm>
            <a:custGeom>
              <a:avLst/>
              <a:gdLst/>
              <a:ahLst/>
              <a:cxnLst/>
              <a:rect l="l" t="t" r="r" b="b"/>
              <a:pathLst>
                <a:path w="21640800" h="4614582">
                  <a:moveTo>
                    <a:pt x="0" y="0"/>
                  </a:moveTo>
                  <a:lnTo>
                    <a:pt x="21640800" y="0"/>
                  </a:lnTo>
                  <a:lnTo>
                    <a:pt x="21640800" y="4614582"/>
                  </a:lnTo>
                  <a:lnTo>
                    <a:pt x="0" y="4614582"/>
                  </a:lnTo>
                  <a:close/>
                </a:path>
              </a:pathLst>
            </a:custGeom>
          </p:spPr>
        </p:sp>
        <p:sp>
          <p:nvSpPr>
            <p:cNvPr id="7" name="TextBox 7"/>
            <p:cNvSpPr txBox="1"/>
            <p:nvPr/>
          </p:nvSpPr>
          <p:spPr>
            <a:xfrm>
              <a:off x="0" y="-114300"/>
              <a:ext cx="21640800" cy="4728882"/>
            </a:xfrm>
            <a:prstGeom prst="rect">
              <a:avLst/>
            </a:prstGeom>
          </p:spPr>
          <p:txBody>
            <a:bodyPr lIns="0" tIns="0" rIns="0" bIns="0" rtlCol="0" anchor="t"/>
            <a:lstStyle/>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Data-driven decision-making (DDDM) is the practice of using data analysis to guide business decisions</a:t>
              </a:r>
              <a:r>
                <a:rPr lang="en-US" sz="2799" i="1">
                  <a:solidFill>
                    <a:srgbClr val="000000"/>
                  </a:solidFill>
                  <a:latin typeface="Arial MT Pro Italics"/>
                  <a:ea typeface="Arial MT Pro Italics"/>
                  <a:cs typeface="Arial MT Pro Italics"/>
                  <a:sym typeface="Arial MT Pro Italics"/>
                </a:rPr>
                <a:t> rather than relying on intuition or gut feeling</a:t>
              </a:r>
              <a:r>
                <a:rPr lang="en-US" sz="2799">
                  <a:solidFill>
                    <a:srgbClr val="000000"/>
                  </a:solidFill>
                  <a:latin typeface="Arial MT Pro"/>
                  <a:ea typeface="Arial MT Pro"/>
                  <a:cs typeface="Arial MT Pro"/>
                  <a:sym typeface="Arial MT Pro"/>
                </a:rPr>
                <a:t>.</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It involves </a:t>
              </a:r>
              <a:r>
                <a:rPr lang="en-US" sz="2799" u="sng">
                  <a:solidFill>
                    <a:srgbClr val="000000"/>
                  </a:solidFill>
                  <a:latin typeface="Arial MT Pro"/>
                  <a:ea typeface="Arial MT Pro"/>
                  <a:cs typeface="Arial MT Pro"/>
                  <a:sym typeface="Arial MT Pro"/>
                </a:rPr>
                <a:t>collecting and analyzing data from various sources</a:t>
              </a:r>
              <a:r>
                <a:rPr lang="en-US" sz="2799">
                  <a:solidFill>
                    <a:srgbClr val="000000"/>
                  </a:solidFill>
                  <a:latin typeface="Arial MT Pro"/>
                  <a:ea typeface="Arial MT Pro"/>
                  <a:cs typeface="Arial MT Pro"/>
                  <a:sym typeface="Arial MT Pro"/>
                </a:rPr>
                <a:t> such as customer feedback, market trends, financial data, and operational metrics.</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The approach helps organizations make informed, objective decisions aligned with their business goals</a:t>
              </a:r>
            </a:p>
          </p:txBody>
        </p:sp>
      </p:grpSp>
      <p:sp>
        <p:nvSpPr>
          <p:cNvPr id="8" name="TextBox 8"/>
          <p:cNvSpPr txBox="1"/>
          <p:nvPr/>
        </p:nvSpPr>
        <p:spPr>
          <a:xfrm>
            <a:off x="11125316" y="9634320"/>
            <a:ext cx="696612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(Mucci, 2024)</a:t>
            </a:r>
          </a:p>
        </p:txBody>
      </p:sp>
      <p:grpSp>
        <p:nvGrpSpPr>
          <p:cNvPr id="9" name="Group 9"/>
          <p:cNvGrpSpPr/>
          <p:nvPr/>
        </p:nvGrpSpPr>
        <p:grpSpPr>
          <a:xfrm>
            <a:off x="1361675" y="4702787"/>
            <a:ext cx="7321283" cy="4622292"/>
            <a:chOff x="0" y="0"/>
            <a:chExt cx="9761711" cy="6163056"/>
          </a:xfrm>
        </p:grpSpPr>
        <p:sp>
          <p:nvSpPr>
            <p:cNvPr id="10" name="Freeform 10"/>
            <p:cNvSpPr/>
            <p:nvPr/>
          </p:nvSpPr>
          <p:spPr>
            <a:xfrm>
              <a:off x="0" y="0"/>
              <a:ext cx="9761711" cy="6163056"/>
            </a:xfrm>
            <a:custGeom>
              <a:avLst/>
              <a:gdLst/>
              <a:ahLst/>
              <a:cxnLst/>
              <a:rect l="l" t="t" r="r" b="b"/>
              <a:pathLst>
                <a:path w="9761711" h="6163056">
                  <a:moveTo>
                    <a:pt x="0" y="0"/>
                  </a:moveTo>
                  <a:lnTo>
                    <a:pt x="9761711" y="0"/>
                  </a:lnTo>
                  <a:lnTo>
                    <a:pt x="9761711" y="6163056"/>
                  </a:lnTo>
                  <a:lnTo>
                    <a:pt x="0" y="6163056"/>
                  </a:lnTo>
                  <a:close/>
                </a:path>
              </a:pathLst>
            </a:custGeom>
          </p:spPr>
        </p:sp>
        <p:sp>
          <p:nvSpPr>
            <p:cNvPr id="11" name="TextBox 11"/>
            <p:cNvSpPr txBox="1"/>
            <p:nvPr/>
          </p:nvSpPr>
          <p:spPr>
            <a:xfrm>
              <a:off x="0" y="-133350"/>
              <a:ext cx="9761711" cy="6296406"/>
            </a:xfrm>
            <a:prstGeom prst="rect">
              <a:avLst/>
            </a:prstGeom>
          </p:spPr>
          <p:txBody>
            <a:bodyPr lIns="0" tIns="0" rIns="0" bIns="0" rtlCol="0" anchor="t"/>
            <a:lstStyle/>
            <a:p>
              <a:pPr algn="just">
                <a:lnSpc>
                  <a:spcPts val="4569"/>
                </a:lnSpc>
              </a:pPr>
              <a:r>
                <a:rPr lang="en-US" sz="3199" b="1">
                  <a:solidFill>
                    <a:srgbClr val="2B4865"/>
                  </a:solidFill>
                  <a:latin typeface="Arial MT Pro Bold"/>
                  <a:ea typeface="Arial MT Pro Bold"/>
                  <a:cs typeface="Arial MT Pro Bold"/>
                  <a:sym typeface="Arial MT Pro Bold"/>
                </a:rPr>
                <a:t>Benefits of DDDM:</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Improves decision accuracy and reduces uncertainty.</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Enhances customer engagement and satisfaction through personalized experiences.</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Optimizes performance and business strategies.</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Increases operational efficiency.</a:t>
              </a:r>
            </a:p>
          </p:txBody>
        </p:sp>
      </p:grpSp>
      <p:grpSp>
        <p:nvGrpSpPr>
          <p:cNvPr id="12" name="Group 12"/>
          <p:cNvGrpSpPr/>
          <p:nvPr/>
        </p:nvGrpSpPr>
        <p:grpSpPr>
          <a:xfrm>
            <a:off x="9144000" y="4702787"/>
            <a:ext cx="8115300" cy="3740865"/>
            <a:chOff x="0" y="0"/>
            <a:chExt cx="10820400" cy="4987820"/>
          </a:xfrm>
        </p:grpSpPr>
        <p:sp>
          <p:nvSpPr>
            <p:cNvPr id="13" name="Freeform 13"/>
            <p:cNvSpPr/>
            <p:nvPr/>
          </p:nvSpPr>
          <p:spPr>
            <a:xfrm>
              <a:off x="0" y="0"/>
              <a:ext cx="10820400" cy="4987820"/>
            </a:xfrm>
            <a:custGeom>
              <a:avLst/>
              <a:gdLst/>
              <a:ahLst/>
              <a:cxnLst/>
              <a:rect l="l" t="t" r="r" b="b"/>
              <a:pathLst>
                <a:path w="10820400" h="4987820">
                  <a:moveTo>
                    <a:pt x="0" y="0"/>
                  </a:moveTo>
                  <a:lnTo>
                    <a:pt x="10820400" y="0"/>
                  </a:lnTo>
                  <a:lnTo>
                    <a:pt x="10820400" y="4987820"/>
                  </a:lnTo>
                  <a:lnTo>
                    <a:pt x="0" y="4987820"/>
                  </a:lnTo>
                  <a:close/>
                </a:path>
              </a:pathLst>
            </a:custGeom>
          </p:spPr>
        </p:sp>
        <p:sp>
          <p:nvSpPr>
            <p:cNvPr id="14" name="TextBox 14"/>
            <p:cNvSpPr txBox="1"/>
            <p:nvPr/>
          </p:nvSpPr>
          <p:spPr>
            <a:xfrm>
              <a:off x="0" y="-133350"/>
              <a:ext cx="10820400" cy="5121170"/>
            </a:xfrm>
            <a:prstGeom prst="rect">
              <a:avLst/>
            </a:prstGeom>
          </p:spPr>
          <p:txBody>
            <a:bodyPr lIns="0" tIns="0" rIns="0" bIns="0" rtlCol="0" anchor="t"/>
            <a:lstStyle/>
            <a:p>
              <a:pPr algn="just">
                <a:lnSpc>
                  <a:spcPts val="4569"/>
                </a:lnSpc>
              </a:pPr>
              <a:r>
                <a:rPr lang="en-US" sz="3199" b="1">
                  <a:solidFill>
                    <a:srgbClr val="2B4865"/>
                  </a:solidFill>
                  <a:latin typeface="Arial MT Pro Bold"/>
                  <a:ea typeface="Arial MT Pro Bold"/>
                  <a:cs typeface="Arial MT Pro Bold"/>
                  <a:sym typeface="Arial MT Pro Bold"/>
                </a:rPr>
                <a:t>Examples:</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E-commerce companies use customer data to personalize marketing and optimize pricing.</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Streaming services use viewing history to recommend content, reducing churn.</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Retailers analyze sales patterns to manage inventory and predict demand.</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856456"/>
            <a:ext cx="16230600" cy="6574087"/>
            <a:chOff x="0" y="0"/>
            <a:chExt cx="21640800" cy="8765450"/>
          </a:xfrm>
        </p:grpSpPr>
        <p:sp>
          <p:nvSpPr>
            <p:cNvPr id="3" name="Freeform 3"/>
            <p:cNvSpPr/>
            <p:nvPr/>
          </p:nvSpPr>
          <p:spPr>
            <a:xfrm>
              <a:off x="0" y="0"/>
              <a:ext cx="21640800" cy="8765449"/>
            </a:xfrm>
            <a:custGeom>
              <a:avLst/>
              <a:gdLst/>
              <a:ahLst/>
              <a:cxnLst/>
              <a:rect l="l" t="t" r="r" b="b"/>
              <a:pathLst>
                <a:path w="21640800" h="8765449">
                  <a:moveTo>
                    <a:pt x="0" y="0"/>
                  </a:moveTo>
                  <a:lnTo>
                    <a:pt x="21640800" y="0"/>
                  </a:lnTo>
                  <a:lnTo>
                    <a:pt x="21640800" y="8765449"/>
                  </a:lnTo>
                  <a:lnTo>
                    <a:pt x="0" y="8765449"/>
                  </a:lnTo>
                  <a:close/>
                </a:path>
              </a:pathLst>
            </a:custGeom>
          </p:spPr>
        </p:sp>
        <p:sp>
          <p:nvSpPr>
            <p:cNvPr id="4" name="TextBox 4"/>
            <p:cNvSpPr txBox="1"/>
            <p:nvPr/>
          </p:nvSpPr>
          <p:spPr>
            <a:xfrm>
              <a:off x="0" y="-114300"/>
              <a:ext cx="21640800" cy="8879750"/>
            </a:xfrm>
            <a:prstGeom prst="rect">
              <a:avLst/>
            </a:prstGeom>
          </p:spPr>
          <p:txBody>
            <a:bodyPr lIns="0" tIns="0" rIns="0" bIns="0" rtlCol="0" anchor="t"/>
            <a:lstStyle/>
            <a:p>
              <a:pPr marL="604304" lvl="1" indent="-302152" algn="just">
                <a:lnSpc>
                  <a:spcPts val="3997"/>
                </a:lnSpc>
                <a:buAutoNum type="arabicPeriod"/>
              </a:pPr>
              <a:r>
                <a:rPr lang="en-US" sz="2799" b="1">
                  <a:solidFill>
                    <a:srgbClr val="000000"/>
                  </a:solidFill>
                  <a:latin typeface="Arial MT Pro Bold"/>
                  <a:ea typeface="Arial MT Pro Bold"/>
                  <a:cs typeface="Arial MT Pro Bold"/>
                  <a:sym typeface="Arial MT Pro Bold"/>
                </a:rPr>
                <a:t>Define Objectives</a:t>
              </a:r>
              <a:r>
                <a:rPr lang="en-US" sz="2799">
                  <a:solidFill>
                    <a:srgbClr val="000000"/>
                  </a:solidFill>
                  <a:latin typeface="Arial MT Pro"/>
                  <a:ea typeface="Arial MT Pro"/>
                  <a:cs typeface="Arial MT Pro"/>
                  <a:sym typeface="Arial MT Pro"/>
                </a:rPr>
                <a:t>: Establish clear business goals and the specific problems or decisions that require a data-driven approach.</a:t>
              </a:r>
            </a:p>
            <a:p>
              <a:pPr marL="604306" lvl="1" indent="-302153" algn="just">
                <a:lnSpc>
                  <a:spcPts val="3996"/>
                </a:lnSpc>
                <a:buAutoNum type="arabicPeriod"/>
              </a:pPr>
              <a:r>
                <a:rPr lang="en-US" sz="2799" b="1">
                  <a:solidFill>
                    <a:srgbClr val="000000"/>
                  </a:solidFill>
                  <a:latin typeface="Arial MT Pro Bold"/>
                  <a:ea typeface="Arial MT Pro Bold"/>
                  <a:cs typeface="Arial MT Pro Bold"/>
                  <a:sym typeface="Arial MT Pro Bold"/>
                </a:rPr>
                <a:t>Identify and Collect Data</a:t>
              </a:r>
              <a:r>
                <a:rPr lang="en-US" sz="2799">
                  <a:solidFill>
                    <a:srgbClr val="000000"/>
                  </a:solidFill>
                  <a:latin typeface="Arial MT Pro"/>
                  <a:ea typeface="Arial MT Pro"/>
                  <a:cs typeface="Arial MT Pro"/>
                  <a:sym typeface="Arial MT Pro"/>
                </a:rPr>
                <a:t>: Gather relevant data from internal and external sources. This may involve surveys, existing records, market trends, or customer feedback. </a:t>
              </a:r>
            </a:p>
            <a:p>
              <a:pPr marL="604306" lvl="1" indent="-302153" algn="just">
                <a:lnSpc>
                  <a:spcPts val="3996"/>
                </a:lnSpc>
                <a:buAutoNum type="arabicPeriod"/>
              </a:pPr>
              <a:r>
                <a:rPr lang="en-US" sz="2799" b="1">
                  <a:solidFill>
                    <a:srgbClr val="000000"/>
                  </a:solidFill>
                  <a:latin typeface="Arial MT Pro Bold"/>
                  <a:ea typeface="Arial MT Pro Bold"/>
                  <a:cs typeface="Arial MT Pro Bold"/>
                  <a:sym typeface="Arial MT Pro Bold"/>
                </a:rPr>
                <a:t>Organize and Explore Data</a:t>
              </a:r>
              <a:r>
                <a:rPr lang="en-US" sz="2799">
                  <a:solidFill>
                    <a:srgbClr val="000000"/>
                  </a:solidFill>
                  <a:latin typeface="Arial MT Pro"/>
                  <a:ea typeface="Arial MT Pro"/>
                  <a:cs typeface="Arial MT Pro"/>
                  <a:sym typeface="Arial MT Pro"/>
                </a:rPr>
                <a:t>: Structure and prepare data for analysis. Ensuring the data is clean and accessible is crucial for accurate insights. </a:t>
              </a:r>
            </a:p>
            <a:p>
              <a:pPr marL="604306" lvl="1" indent="-302153" algn="just">
                <a:lnSpc>
                  <a:spcPts val="3996"/>
                </a:lnSpc>
                <a:buAutoNum type="arabicPeriod"/>
              </a:pPr>
              <a:r>
                <a:rPr lang="en-US" sz="2799" b="1">
                  <a:solidFill>
                    <a:srgbClr val="000000"/>
                  </a:solidFill>
                  <a:latin typeface="Arial MT Pro Bold"/>
                  <a:ea typeface="Arial MT Pro Bold"/>
                  <a:cs typeface="Arial MT Pro Bold"/>
                  <a:sym typeface="Arial MT Pro Bold"/>
                </a:rPr>
                <a:t>Data Analysis</a:t>
              </a:r>
              <a:r>
                <a:rPr lang="en-US" sz="2799">
                  <a:solidFill>
                    <a:srgbClr val="000000"/>
                  </a:solidFill>
                  <a:latin typeface="Arial MT Pro"/>
                  <a:ea typeface="Arial MT Pro"/>
                  <a:cs typeface="Arial MT Pro"/>
                  <a:sym typeface="Arial MT Pro"/>
                </a:rPr>
                <a:t>: Utilize statistical methods and analysis tools to uncover patterns, trends, and correlations within the data.</a:t>
              </a:r>
            </a:p>
            <a:p>
              <a:pPr marL="604306" lvl="1" indent="-302153" algn="just">
                <a:lnSpc>
                  <a:spcPts val="3996"/>
                </a:lnSpc>
                <a:buAutoNum type="arabicPeriod"/>
              </a:pPr>
              <a:r>
                <a:rPr lang="en-US" sz="2799" b="1">
                  <a:solidFill>
                    <a:srgbClr val="000000"/>
                  </a:solidFill>
                  <a:latin typeface="Arial MT Pro Bold"/>
                  <a:ea typeface="Arial MT Pro Bold"/>
                  <a:cs typeface="Arial MT Pro Bold"/>
                  <a:sym typeface="Arial MT Pro Bold"/>
                </a:rPr>
                <a:t>Draw Conclusions</a:t>
              </a:r>
              <a:r>
                <a:rPr lang="en-US" sz="2799">
                  <a:solidFill>
                    <a:srgbClr val="000000"/>
                  </a:solidFill>
                  <a:latin typeface="Arial MT Pro"/>
                  <a:ea typeface="Arial MT Pro"/>
                  <a:cs typeface="Arial MT Pro"/>
                  <a:sym typeface="Arial MT Pro"/>
                </a:rPr>
                <a:t>: Interpret the results of the analysis and translate them into actionable insights. This step often includes visualizing data to communicate findings clearly.</a:t>
              </a:r>
            </a:p>
            <a:p>
              <a:pPr marL="604306" lvl="1" indent="-302153" algn="just">
                <a:lnSpc>
                  <a:spcPts val="3996"/>
                </a:lnSpc>
                <a:buAutoNum type="arabicPeriod"/>
              </a:pPr>
              <a:r>
                <a:rPr lang="en-US" sz="2799" b="1">
                  <a:solidFill>
                    <a:srgbClr val="000000"/>
                  </a:solidFill>
                  <a:latin typeface="Arial MT Pro Bold"/>
                  <a:ea typeface="Arial MT Pro Bold"/>
                  <a:cs typeface="Arial MT Pro Bold"/>
                  <a:sym typeface="Arial MT Pro Bold"/>
                </a:rPr>
                <a:t>Implement and Evaluate</a:t>
              </a:r>
              <a:r>
                <a:rPr lang="en-US" sz="2799">
                  <a:solidFill>
                    <a:srgbClr val="000000"/>
                  </a:solidFill>
                  <a:latin typeface="Arial MT Pro"/>
                  <a:ea typeface="Arial MT Pro"/>
                  <a:cs typeface="Arial MT Pro"/>
                  <a:sym typeface="Arial MT Pro"/>
                </a:rPr>
                <a:t>: Make data-driven decisions based on the insights gained and monitor the outcomes to assess effectiveness. Adjust strategies continuously based on new data and feedback.</a:t>
              </a:r>
            </a:p>
          </p:txBody>
        </p:sp>
      </p:grpSp>
      <p:grpSp>
        <p:nvGrpSpPr>
          <p:cNvPr id="5" name="Group 5"/>
          <p:cNvGrpSpPr/>
          <p:nvPr/>
        </p:nvGrpSpPr>
        <p:grpSpPr>
          <a:xfrm>
            <a:off x="1028700" y="469818"/>
            <a:ext cx="14897100" cy="1117763"/>
            <a:chOff x="0" y="0"/>
            <a:chExt cx="19862800" cy="1490351"/>
          </a:xfrm>
        </p:grpSpPr>
        <p:sp>
          <p:nvSpPr>
            <p:cNvPr id="6" name="Freeform 6"/>
            <p:cNvSpPr/>
            <p:nvPr/>
          </p:nvSpPr>
          <p:spPr>
            <a:xfrm>
              <a:off x="0" y="0"/>
              <a:ext cx="19862800" cy="1490351"/>
            </a:xfrm>
            <a:custGeom>
              <a:avLst/>
              <a:gdLst/>
              <a:ahLst/>
              <a:cxnLst/>
              <a:rect l="l" t="t" r="r" b="b"/>
              <a:pathLst>
                <a:path w="19862800" h="1490351">
                  <a:moveTo>
                    <a:pt x="0" y="0"/>
                  </a:moveTo>
                  <a:lnTo>
                    <a:pt x="19862800" y="0"/>
                  </a:lnTo>
                  <a:lnTo>
                    <a:pt x="19862800" y="1490351"/>
                  </a:lnTo>
                  <a:lnTo>
                    <a:pt x="0" y="1490351"/>
                  </a:lnTo>
                  <a:close/>
                </a:path>
              </a:pathLst>
            </a:custGeom>
          </p:spPr>
        </p:sp>
        <p:sp>
          <p:nvSpPr>
            <p:cNvPr id="7" name="TextBox 7"/>
            <p:cNvSpPr txBox="1"/>
            <p:nvPr/>
          </p:nvSpPr>
          <p:spPr>
            <a:xfrm>
              <a:off x="0" y="-114300"/>
              <a:ext cx="19862800"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Process in Data-Driven Decision Making</a:t>
              </a:r>
            </a:p>
          </p:txBody>
        </p:sp>
      </p:grpSp>
      <p:sp>
        <p:nvSpPr>
          <p:cNvPr id="8" name="TextBox 8"/>
          <p:cNvSpPr txBox="1"/>
          <p:nvPr/>
        </p:nvSpPr>
        <p:spPr>
          <a:xfrm>
            <a:off x="11125316" y="9634320"/>
            <a:ext cx="696612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(Ticong, 2024; Buijsse, Willemsen, and Snijders, 2023)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125316" y="9634320"/>
            <a:ext cx="696612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(Ohaba, 2023)</a:t>
            </a:r>
          </a:p>
        </p:txBody>
      </p:sp>
      <p:grpSp>
        <p:nvGrpSpPr>
          <p:cNvPr id="3" name="Group 3"/>
          <p:cNvGrpSpPr/>
          <p:nvPr/>
        </p:nvGrpSpPr>
        <p:grpSpPr>
          <a:xfrm>
            <a:off x="1028700" y="2314148"/>
            <a:ext cx="7781925" cy="6641592"/>
            <a:chOff x="0" y="0"/>
            <a:chExt cx="10375900" cy="8855456"/>
          </a:xfrm>
        </p:grpSpPr>
        <p:sp>
          <p:nvSpPr>
            <p:cNvPr id="4" name="Freeform 4"/>
            <p:cNvSpPr/>
            <p:nvPr/>
          </p:nvSpPr>
          <p:spPr>
            <a:xfrm>
              <a:off x="0" y="0"/>
              <a:ext cx="10375900" cy="8855456"/>
            </a:xfrm>
            <a:custGeom>
              <a:avLst/>
              <a:gdLst/>
              <a:ahLst/>
              <a:cxnLst/>
              <a:rect l="l" t="t" r="r" b="b"/>
              <a:pathLst>
                <a:path w="10375900" h="8855456">
                  <a:moveTo>
                    <a:pt x="0" y="0"/>
                  </a:moveTo>
                  <a:lnTo>
                    <a:pt x="10375900" y="0"/>
                  </a:lnTo>
                  <a:lnTo>
                    <a:pt x="10375900" y="8855456"/>
                  </a:lnTo>
                  <a:lnTo>
                    <a:pt x="0" y="8855456"/>
                  </a:lnTo>
                  <a:close/>
                </a:path>
              </a:pathLst>
            </a:custGeom>
          </p:spPr>
        </p:sp>
        <p:sp>
          <p:nvSpPr>
            <p:cNvPr id="5" name="TextBox 5"/>
            <p:cNvSpPr txBox="1"/>
            <p:nvPr/>
          </p:nvSpPr>
          <p:spPr>
            <a:xfrm>
              <a:off x="0" y="-133350"/>
              <a:ext cx="10375900" cy="8988806"/>
            </a:xfrm>
            <a:prstGeom prst="rect">
              <a:avLst/>
            </a:prstGeom>
          </p:spPr>
          <p:txBody>
            <a:bodyPr lIns="0" tIns="0" rIns="0" bIns="0" rtlCol="0" anchor="t"/>
            <a:lstStyle/>
            <a:p>
              <a:pPr algn="ctr">
                <a:lnSpc>
                  <a:spcPts val="4569"/>
                </a:lnSpc>
              </a:pPr>
              <a:r>
                <a:rPr lang="en-US" sz="3199" b="1">
                  <a:solidFill>
                    <a:srgbClr val="0088B6"/>
                  </a:solidFill>
                  <a:latin typeface="Arial MT Pro Bold"/>
                  <a:ea typeface="Arial MT Pro Bold"/>
                  <a:cs typeface="Arial MT Pro Bold"/>
                  <a:sym typeface="Arial MT Pro Bold"/>
                </a:rPr>
                <a:t>Impact on Users</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Users benefit from more </a:t>
              </a:r>
              <a:r>
                <a:rPr lang="en-US" sz="2799" u="sng">
                  <a:solidFill>
                    <a:srgbClr val="000000"/>
                  </a:solidFill>
                  <a:latin typeface="Arial MT Pro"/>
                  <a:ea typeface="Arial MT Pro"/>
                  <a:cs typeface="Arial MT Pro"/>
                  <a:sym typeface="Arial MT Pro"/>
                </a:rPr>
                <a:t>personalized experiences</a:t>
              </a:r>
              <a:r>
                <a:rPr lang="en-US" sz="2799">
                  <a:solidFill>
                    <a:srgbClr val="000000"/>
                  </a:solidFill>
                  <a:latin typeface="Arial MT Pro"/>
                  <a:ea typeface="Arial MT Pro"/>
                  <a:cs typeface="Arial MT Pro"/>
                  <a:sym typeface="Arial MT Pro"/>
                </a:rPr>
                <a:t>, whether through product recommendations, targeted advertisements, or tailored services.</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Users can make decisions more quickly and with greater confidence, as data analysis provides </a:t>
              </a:r>
              <a:r>
                <a:rPr lang="en-US" sz="2799" u="sng">
                  <a:solidFill>
                    <a:srgbClr val="000000"/>
                  </a:solidFill>
                  <a:latin typeface="Arial MT Pro"/>
                  <a:ea typeface="Arial MT Pro"/>
                  <a:cs typeface="Arial MT Pro"/>
                  <a:sym typeface="Arial MT Pro"/>
                </a:rPr>
                <a:t>immediate insights</a:t>
              </a:r>
              <a:r>
                <a:rPr lang="en-US" sz="2799">
                  <a:solidFill>
                    <a:srgbClr val="000000"/>
                  </a:solidFill>
                  <a:latin typeface="Arial MT Pro"/>
                  <a:ea typeface="Arial MT Pro"/>
                  <a:cs typeface="Arial MT Pro"/>
                  <a:sym typeface="Arial MT Pro"/>
                </a:rPr>
                <a:t> into trends and patterns.</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While data-driven decisions are more accurate, users may become </a:t>
              </a:r>
              <a:r>
                <a:rPr lang="en-US" sz="2799" u="sng">
                  <a:solidFill>
                    <a:srgbClr val="000000"/>
                  </a:solidFill>
                  <a:latin typeface="Arial MT Pro"/>
                  <a:ea typeface="Arial MT Pro"/>
                  <a:cs typeface="Arial MT Pro"/>
                  <a:sym typeface="Arial MT Pro"/>
                </a:rPr>
                <a:t>overly reliant</a:t>
              </a:r>
              <a:r>
                <a:rPr lang="en-US" sz="2799">
                  <a:solidFill>
                    <a:srgbClr val="000000"/>
                  </a:solidFill>
                  <a:latin typeface="Arial MT Pro"/>
                  <a:ea typeface="Arial MT Pro"/>
                  <a:cs typeface="Arial MT Pro"/>
                  <a:sym typeface="Arial MT Pro"/>
                </a:rPr>
                <a:t> on data, potentially sidelining creativity and intuition.</a:t>
              </a:r>
            </a:p>
          </p:txBody>
        </p:sp>
      </p:grpSp>
      <p:grpSp>
        <p:nvGrpSpPr>
          <p:cNvPr id="6" name="Group 6"/>
          <p:cNvGrpSpPr/>
          <p:nvPr/>
        </p:nvGrpSpPr>
        <p:grpSpPr>
          <a:xfrm>
            <a:off x="9516095" y="2397342"/>
            <a:ext cx="7743205" cy="6641592"/>
            <a:chOff x="0" y="0"/>
            <a:chExt cx="10324273" cy="8855456"/>
          </a:xfrm>
        </p:grpSpPr>
        <p:sp>
          <p:nvSpPr>
            <p:cNvPr id="7" name="Freeform 7"/>
            <p:cNvSpPr/>
            <p:nvPr/>
          </p:nvSpPr>
          <p:spPr>
            <a:xfrm>
              <a:off x="0" y="0"/>
              <a:ext cx="10324274" cy="8855456"/>
            </a:xfrm>
            <a:custGeom>
              <a:avLst/>
              <a:gdLst/>
              <a:ahLst/>
              <a:cxnLst/>
              <a:rect l="l" t="t" r="r" b="b"/>
              <a:pathLst>
                <a:path w="10324274" h="8855456">
                  <a:moveTo>
                    <a:pt x="0" y="0"/>
                  </a:moveTo>
                  <a:lnTo>
                    <a:pt x="10324274" y="0"/>
                  </a:lnTo>
                  <a:lnTo>
                    <a:pt x="10324274" y="8855456"/>
                  </a:lnTo>
                  <a:lnTo>
                    <a:pt x="0" y="8855456"/>
                  </a:lnTo>
                  <a:close/>
                </a:path>
              </a:pathLst>
            </a:custGeom>
          </p:spPr>
        </p:sp>
        <p:sp>
          <p:nvSpPr>
            <p:cNvPr id="8" name="TextBox 8"/>
            <p:cNvSpPr txBox="1"/>
            <p:nvPr/>
          </p:nvSpPr>
          <p:spPr>
            <a:xfrm>
              <a:off x="0" y="-133350"/>
              <a:ext cx="10324273" cy="8988806"/>
            </a:xfrm>
            <a:prstGeom prst="rect">
              <a:avLst/>
            </a:prstGeom>
          </p:spPr>
          <p:txBody>
            <a:bodyPr lIns="0" tIns="0" rIns="0" bIns="0" rtlCol="0" anchor="t"/>
            <a:lstStyle/>
            <a:p>
              <a:pPr algn="ctr">
                <a:lnSpc>
                  <a:spcPts val="4569"/>
                </a:lnSpc>
              </a:pPr>
              <a:r>
                <a:rPr lang="en-US" sz="3199" b="1">
                  <a:solidFill>
                    <a:srgbClr val="0088B6"/>
                  </a:solidFill>
                  <a:latin typeface="Arial MT Pro Bold"/>
                  <a:ea typeface="Arial MT Pro Bold"/>
                  <a:cs typeface="Arial MT Pro Bold"/>
                  <a:sym typeface="Arial MT Pro Bold"/>
                </a:rPr>
                <a:t>Impact on Organisations</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Complex data sets allow organisations to monitor their operations in real-time, </a:t>
              </a:r>
              <a:r>
                <a:rPr lang="en-US" sz="2799" u="sng">
                  <a:solidFill>
                    <a:srgbClr val="000000"/>
                  </a:solidFill>
                  <a:latin typeface="Arial MT Pro"/>
                  <a:ea typeface="Arial MT Pro"/>
                  <a:cs typeface="Arial MT Pro"/>
                  <a:sym typeface="Arial MT Pro"/>
                </a:rPr>
                <a:t>identifying bottlenecks</a:t>
              </a:r>
              <a:r>
                <a:rPr lang="en-US" sz="2799">
                  <a:solidFill>
                    <a:srgbClr val="000000"/>
                  </a:solidFill>
                  <a:latin typeface="Arial MT Pro"/>
                  <a:ea typeface="Arial MT Pro"/>
                  <a:cs typeface="Arial MT Pro"/>
                  <a:sym typeface="Arial MT Pro"/>
                </a:rPr>
                <a:t> in production, customer service, or supply chains. </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Organisations can use big data to uncover insights that help in </a:t>
              </a:r>
              <a:r>
                <a:rPr lang="en-US" sz="2799" u="sng">
                  <a:solidFill>
                    <a:srgbClr val="000000"/>
                  </a:solidFill>
                  <a:latin typeface="Arial MT Pro"/>
                  <a:ea typeface="Arial MT Pro"/>
                  <a:cs typeface="Arial MT Pro"/>
                  <a:sym typeface="Arial MT Pro"/>
                </a:rPr>
                <a:t>long-term strategic planning</a:t>
              </a:r>
              <a:r>
                <a:rPr lang="en-US" sz="2799">
                  <a:solidFill>
                    <a:srgbClr val="000000"/>
                  </a:solidFill>
                  <a:latin typeface="Arial MT Pro"/>
                  <a:ea typeface="Arial MT Pro"/>
                  <a:cs typeface="Arial MT Pro"/>
                  <a:sym typeface="Arial MT Pro"/>
                </a:rPr>
                <a:t>. </a:t>
              </a:r>
            </a:p>
            <a:p>
              <a:pPr marL="604519" lvl="1" indent="-302260" algn="just">
                <a:lnSpc>
                  <a:spcPts val="3998"/>
                </a:lnSpc>
                <a:buFont typeface="Arial"/>
                <a:buChar char="•"/>
              </a:pPr>
              <a:r>
                <a:rPr lang="en-US" sz="2799">
                  <a:solidFill>
                    <a:srgbClr val="000000"/>
                  </a:solidFill>
                  <a:latin typeface="Arial MT Pro"/>
                  <a:ea typeface="Arial MT Pro"/>
                  <a:cs typeface="Arial MT Pro"/>
                  <a:sym typeface="Arial MT Pro"/>
                </a:rPr>
                <a:t>Big data provides </a:t>
              </a:r>
              <a:r>
                <a:rPr lang="en-US" sz="2799" u="sng">
                  <a:solidFill>
                    <a:srgbClr val="000000"/>
                  </a:solidFill>
                  <a:latin typeface="Arial MT Pro"/>
                  <a:ea typeface="Arial MT Pro"/>
                  <a:cs typeface="Arial MT Pro"/>
                  <a:sym typeface="Arial MT Pro"/>
                </a:rPr>
                <a:t>deep insights</a:t>
              </a:r>
              <a:r>
                <a:rPr lang="en-US" sz="2799">
                  <a:solidFill>
                    <a:srgbClr val="000000"/>
                  </a:solidFill>
                  <a:latin typeface="Arial MT Pro"/>
                  <a:ea typeface="Arial MT Pro"/>
                  <a:cs typeface="Arial MT Pro"/>
                  <a:sym typeface="Arial MT Pro"/>
                </a:rPr>
                <a:t> into customer behaviour, preferences, and purchasing patterns.</a:t>
              </a:r>
            </a:p>
          </p:txBody>
        </p:sp>
      </p:grpSp>
      <p:sp>
        <p:nvSpPr>
          <p:cNvPr id="9" name="AutoShape 9"/>
          <p:cNvSpPr/>
          <p:nvPr/>
        </p:nvSpPr>
        <p:spPr>
          <a:xfrm flipV="1">
            <a:off x="9163050" y="2397342"/>
            <a:ext cx="0" cy="6475206"/>
          </a:xfrm>
          <a:prstGeom prst="line">
            <a:avLst/>
          </a:prstGeom>
          <a:ln w="38100" cap="flat">
            <a:solidFill>
              <a:srgbClr val="000000"/>
            </a:solidFill>
            <a:prstDash val="solid"/>
            <a:headEnd type="none" w="sm" len="sm"/>
            <a:tailEnd type="none" w="sm" len="sm"/>
          </a:ln>
        </p:spPr>
      </p:sp>
      <p:grpSp>
        <p:nvGrpSpPr>
          <p:cNvPr id="10" name="Group 10"/>
          <p:cNvGrpSpPr/>
          <p:nvPr/>
        </p:nvGrpSpPr>
        <p:grpSpPr>
          <a:xfrm>
            <a:off x="5001213" y="1028700"/>
            <a:ext cx="8285574" cy="623387"/>
            <a:chOff x="0" y="0"/>
            <a:chExt cx="11047432" cy="831182"/>
          </a:xfrm>
        </p:grpSpPr>
        <p:sp>
          <p:nvSpPr>
            <p:cNvPr id="11" name="Freeform 11"/>
            <p:cNvSpPr/>
            <p:nvPr/>
          </p:nvSpPr>
          <p:spPr>
            <a:xfrm>
              <a:off x="0" y="0"/>
              <a:ext cx="11047432" cy="831182"/>
            </a:xfrm>
            <a:custGeom>
              <a:avLst/>
              <a:gdLst/>
              <a:ahLst/>
              <a:cxnLst/>
              <a:rect l="l" t="t" r="r" b="b"/>
              <a:pathLst>
                <a:path w="11047432" h="831182">
                  <a:moveTo>
                    <a:pt x="0" y="0"/>
                  </a:moveTo>
                  <a:lnTo>
                    <a:pt x="11047432" y="0"/>
                  </a:lnTo>
                  <a:lnTo>
                    <a:pt x="11047432" y="831182"/>
                  </a:lnTo>
                  <a:lnTo>
                    <a:pt x="0" y="831182"/>
                  </a:lnTo>
                  <a:close/>
                </a:path>
              </a:pathLst>
            </a:custGeom>
          </p:spPr>
        </p:sp>
        <p:sp>
          <p:nvSpPr>
            <p:cNvPr id="12" name="TextBox 12"/>
            <p:cNvSpPr txBox="1"/>
            <p:nvPr/>
          </p:nvSpPr>
          <p:spPr>
            <a:xfrm>
              <a:off x="0" y="-142875"/>
              <a:ext cx="11047432" cy="974057"/>
            </a:xfrm>
            <a:prstGeom prst="rect">
              <a:avLst/>
            </a:prstGeom>
          </p:spPr>
          <p:txBody>
            <a:bodyPr lIns="0" tIns="0" rIns="0" bIns="0" rtlCol="0" anchor="t"/>
            <a:lstStyle/>
            <a:p>
              <a:pPr algn="ctr">
                <a:lnSpc>
                  <a:spcPts val="4855"/>
                </a:lnSpc>
              </a:pPr>
              <a:r>
                <a:rPr lang="en-US" sz="3399" b="1">
                  <a:solidFill>
                    <a:srgbClr val="2B4865"/>
                  </a:solidFill>
                  <a:latin typeface="Arial MT Pro Bold"/>
                  <a:ea typeface="Arial MT Pro Bold"/>
                  <a:cs typeface="Arial MT Pro Bold"/>
                  <a:sym typeface="Arial MT Pro Bold"/>
                </a:rPr>
                <a:t>Impact of Using Complex Data Sets</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20041" y="1966552"/>
            <a:ext cx="6223959" cy="8055038"/>
          </a:xfrm>
          <a:custGeom>
            <a:avLst/>
            <a:gdLst/>
            <a:ahLst/>
            <a:cxnLst/>
            <a:rect l="l" t="t" r="r" b="b"/>
            <a:pathLst>
              <a:path w="6223959" h="8055038">
                <a:moveTo>
                  <a:pt x="0" y="0"/>
                </a:moveTo>
                <a:lnTo>
                  <a:pt x="6223959" y="0"/>
                </a:lnTo>
                <a:lnTo>
                  <a:pt x="6223959" y="8055038"/>
                </a:lnTo>
                <a:lnTo>
                  <a:pt x="0" y="805503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Freeform 3"/>
          <p:cNvSpPr/>
          <p:nvPr/>
        </p:nvSpPr>
        <p:spPr>
          <a:xfrm>
            <a:off x="9066803" y="1965262"/>
            <a:ext cx="6224956" cy="8056328"/>
          </a:xfrm>
          <a:custGeom>
            <a:avLst/>
            <a:gdLst/>
            <a:ahLst/>
            <a:cxnLst/>
            <a:rect l="l" t="t" r="r" b="b"/>
            <a:pathLst>
              <a:path w="6224956" h="8056328">
                <a:moveTo>
                  <a:pt x="0" y="0"/>
                </a:moveTo>
                <a:lnTo>
                  <a:pt x="6224956" y="0"/>
                </a:lnTo>
                <a:lnTo>
                  <a:pt x="6224956" y="8056328"/>
                </a:lnTo>
                <a:lnTo>
                  <a:pt x="0" y="8056328"/>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28699" y="1019175"/>
            <a:ext cx="16573501" cy="1117763"/>
            <a:chOff x="0" y="0"/>
            <a:chExt cx="22098001" cy="1490351"/>
          </a:xfrm>
        </p:grpSpPr>
        <p:sp>
          <p:nvSpPr>
            <p:cNvPr id="5" name="Freeform 5"/>
            <p:cNvSpPr/>
            <p:nvPr/>
          </p:nvSpPr>
          <p:spPr>
            <a:xfrm>
              <a:off x="0" y="0"/>
              <a:ext cx="22098002" cy="1490351"/>
            </a:xfrm>
            <a:custGeom>
              <a:avLst/>
              <a:gdLst/>
              <a:ahLst/>
              <a:cxnLst/>
              <a:rect l="l" t="t" r="r" b="b"/>
              <a:pathLst>
                <a:path w="22098002" h="1490351">
                  <a:moveTo>
                    <a:pt x="0" y="0"/>
                  </a:moveTo>
                  <a:lnTo>
                    <a:pt x="22098002" y="0"/>
                  </a:lnTo>
                  <a:lnTo>
                    <a:pt x="22098002" y="1490351"/>
                  </a:lnTo>
                  <a:lnTo>
                    <a:pt x="0" y="1490351"/>
                  </a:lnTo>
                  <a:close/>
                </a:path>
              </a:pathLst>
            </a:custGeom>
          </p:spPr>
        </p:sp>
        <p:sp>
          <p:nvSpPr>
            <p:cNvPr id="6" name="TextBox 6"/>
            <p:cNvSpPr txBox="1"/>
            <p:nvPr/>
          </p:nvSpPr>
          <p:spPr>
            <a:xfrm>
              <a:off x="0" y="-114300"/>
              <a:ext cx="22098001"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Evaluation of  complex datasets in decision-making</a:t>
              </a:r>
            </a:p>
          </p:txBody>
        </p:sp>
      </p:grpSp>
      <p:grpSp>
        <p:nvGrpSpPr>
          <p:cNvPr id="7" name="Group 7"/>
          <p:cNvGrpSpPr/>
          <p:nvPr/>
        </p:nvGrpSpPr>
        <p:grpSpPr>
          <a:xfrm>
            <a:off x="3097068" y="2618110"/>
            <a:ext cx="4527088" cy="887963"/>
            <a:chOff x="0" y="0"/>
            <a:chExt cx="6036117" cy="1183951"/>
          </a:xfrm>
        </p:grpSpPr>
        <p:sp>
          <p:nvSpPr>
            <p:cNvPr id="8" name="Freeform 8"/>
            <p:cNvSpPr/>
            <p:nvPr/>
          </p:nvSpPr>
          <p:spPr>
            <a:xfrm>
              <a:off x="0" y="0"/>
              <a:ext cx="6036117" cy="1183951"/>
            </a:xfrm>
            <a:custGeom>
              <a:avLst/>
              <a:gdLst/>
              <a:ahLst/>
              <a:cxnLst/>
              <a:rect l="l" t="t" r="r" b="b"/>
              <a:pathLst>
                <a:path w="6036117" h="1183951">
                  <a:moveTo>
                    <a:pt x="0" y="0"/>
                  </a:moveTo>
                  <a:lnTo>
                    <a:pt x="6036117" y="0"/>
                  </a:lnTo>
                  <a:lnTo>
                    <a:pt x="6036117" y="1183951"/>
                  </a:lnTo>
                  <a:lnTo>
                    <a:pt x="0" y="1183951"/>
                  </a:lnTo>
                  <a:close/>
                </a:path>
              </a:pathLst>
            </a:custGeom>
          </p:spPr>
        </p:sp>
        <p:sp>
          <p:nvSpPr>
            <p:cNvPr id="9" name="TextBox 9"/>
            <p:cNvSpPr txBox="1"/>
            <p:nvPr/>
          </p:nvSpPr>
          <p:spPr>
            <a:xfrm>
              <a:off x="0" y="104775"/>
              <a:ext cx="6036117" cy="1079176"/>
            </a:xfrm>
            <a:prstGeom prst="rect">
              <a:avLst/>
            </a:prstGeom>
          </p:spPr>
          <p:txBody>
            <a:bodyPr lIns="0" tIns="0" rIns="0" bIns="0" rtlCol="0" anchor="t"/>
            <a:lstStyle/>
            <a:p>
              <a:pPr algn="l">
                <a:lnSpc>
                  <a:spcPts val="2846"/>
                </a:lnSpc>
              </a:pPr>
              <a:r>
                <a:rPr lang="en-US" sz="3600" b="1">
                  <a:solidFill>
                    <a:srgbClr val="FFFFFF"/>
                  </a:solidFill>
                  <a:latin typeface="Poppins Bold"/>
                  <a:ea typeface="Poppins Bold"/>
                  <a:cs typeface="Poppins Bold"/>
                  <a:sym typeface="Poppins Bold"/>
                </a:rPr>
                <a:t>Benefits</a:t>
              </a:r>
            </a:p>
          </p:txBody>
        </p:sp>
      </p:grpSp>
      <p:grpSp>
        <p:nvGrpSpPr>
          <p:cNvPr id="10" name="Group 10"/>
          <p:cNvGrpSpPr/>
          <p:nvPr/>
        </p:nvGrpSpPr>
        <p:grpSpPr>
          <a:xfrm>
            <a:off x="9374513" y="2597595"/>
            <a:ext cx="4527088" cy="908478"/>
            <a:chOff x="0" y="0"/>
            <a:chExt cx="6036117" cy="1211305"/>
          </a:xfrm>
        </p:grpSpPr>
        <p:sp>
          <p:nvSpPr>
            <p:cNvPr id="11" name="Freeform 11"/>
            <p:cNvSpPr/>
            <p:nvPr/>
          </p:nvSpPr>
          <p:spPr>
            <a:xfrm>
              <a:off x="0" y="0"/>
              <a:ext cx="6036117" cy="1211305"/>
            </a:xfrm>
            <a:custGeom>
              <a:avLst/>
              <a:gdLst/>
              <a:ahLst/>
              <a:cxnLst/>
              <a:rect l="l" t="t" r="r" b="b"/>
              <a:pathLst>
                <a:path w="6036117" h="1211305">
                  <a:moveTo>
                    <a:pt x="0" y="0"/>
                  </a:moveTo>
                  <a:lnTo>
                    <a:pt x="6036117" y="0"/>
                  </a:lnTo>
                  <a:lnTo>
                    <a:pt x="6036117" y="1211305"/>
                  </a:lnTo>
                  <a:lnTo>
                    <a:pt x="0" y="1211305"/>
                  </a:lnTo>
                  <a:close/>
                </a:path>
              </a:pathLst>
            </a:custGeom>
          </p:spPr>
        </p:sp>
        <p:sp>
          <p:nvSpPr>
            <p:cNvPr id="12" name="TextBox 12"/>
            <p:cNvSpPr txBox="1"/>
            <p:nvPr/>
          </p:nvSpPr>
          <p:spPr>
            <a:xfrm>
              <a:off x="0" y="104775"/>
              <a:ext cx="6036117" cy="1106530"/>
            </a:xfrm>
            <a:prstGeom prst="rect">
              <a:avLst/>
            </a:prstGeom>
          </p:spPr>
          <p:txBody>
            <a:bodyPr lIns="0" tIns="0" rIns="0" bIns="0" rtlCol="0" anchor="t"/>
            <a:lstStyle/>
            <a:p>
              <a:pPr algn="l">
                <a:lnSpc>
                  <a:spcPts val="2846"/>
                </a:lnSpc>
              </a:pPr>
              <a:r>
                <a:rPr lang="en-US" sz="3600" b="1">
                  <a:solidFill>
                    <a:srgbClr val="FFFFFF"/>
                  </a:solidFill>
                  <a:latin typeface="Poppins Bold"/>
                  <a:ea typeface="Poppins Bold"/>
                  <a:cs typeface="Poppins Bold"/>
                  <a:sym typeface="Poppins Bold"/>
                </a:rPr>
                <a:t>Constraints</a:t>
              </a:r>
            </a:p>
          </p:txBody>
        </p:sp>
      </p:grpSp>
      <p:sp>
        <p:nvSpPr>
          <p:cNvPr id="13" name="TextBox 13"/>
          <p:cNvSpPr txBox="1"/>
          <p:nvPr/>
        </p:nvSpPr>
        <p:spPr>
          <a:xfrm>
            <a:off x="3097068" y="3448923"/>
            <a:ext cx="5575949" cy="4924181"/>
          </a:xfrm>
          <a:prstGeom prst="rect">
            <a:avLst/>
          </a:prstGeom>
        </p:spPr>
        <p:txBody>
          <a:bodyPr lIns="0" tIns="0" rIns="0" bIns="0" rtlCol="0" anchor="t">
            <a:spAutoFit/>
          </a:bodyPr>
          <a:lstStyle/>
          <a:p>
            <a:pPr marL="521586" lvl="1" indent="-260793" algn="l">
              <a:lnSpc>
                <a:spcPts val="3275"/>
              </a:lnSpc>
              <a:buFont typeface="Arial"/>
              <a:buChar char="•"/>
            </a:pPr>
            <a:r>
              <a:rPr lang="en-US" sz="2415">
                <a:solidFill>
                  <a:srgbClr val="FFFFFF"/>
                </a:solidFill>
                <a:latin typeface="Poppins"/>
                <a:ea typeface="Poppins"/>
                <a:cs typeface="Poppins"/>
                <a:sym typeface="Poppins"/>
              </a:rPr>
              <a:t>Complex datasets improve decision accuracy.</a:t>
            </a:r>
          </a:p>
          <a:p>
            <a:pPr marL="521586" lvl="1" indent="-260793" algn="l">
              <a:lnSpc>
                <a:spcPts val="3275"/>
              </a:lnSpc>
              <a:buFont typeface="Arial"/>
              <a:buChar char="•"/>
            </a:pPr>
            <a:r>
              <a:rPr lang="en-US" sz="2415">
                <a:solidFill>
                  <a:srgbClr val="FFFFFF"/>
                </a:solidFill>
                <a:latin typeface="Poppins"/>
                <a:ea typeface="Poppins"/>
                <a:cs typeface="Poppins"/>
                <a:sym typeface="Poppins"/>
              </a:rPr>
              <a:t>They reveal hidden patterns not visible in simple data.</a:t>
            </a:r>
          </a:p>
          <a:p>
            <a:pPr marL="521586" lvl="1" indent="-260793" algn="l">
              <a:lnSpc>
                <a:spcPts val="3275"/>
              </a:lnSpc>
              <a:buFont typeface="Arial"/>
              <a:buChar char="•"/>
            </a:pPr>
            <a:r>
              <a:rPr lang="en-US" sz="2415">
                <a:solidFill>
                  <a:srgbClr val="FFFFFF"/>
                </a:solidFill>
                <a:latin typeface="Poppins"/>
                <a:ea typeface="Poppins"/>
                <a:cs typeface="Poppins"/>
                <a:sym typeface="Poppins"/>
              </a:rPr>
              <a:t>Data-driven decisions reduce human cognitive biases.</a:t>
            </a:r>
          </a:p>
          <a:p>
            <a:pPr marL="521586" lvl="1" indent="-260793" algn="l">
              <a:lnSpc>
                <a:spcPts val="3275"/>
              </a:lnSpc>
              <a:buFont typeface="Arial"/>
              <a:buChar char="•"/>
            </a:pPr>
            <a:r>
              <a:rPr lang="en-US" sz="2415">
                <a:solidFill>
                  <a:srgbClr val="FFFFFF"/>
                </a:solidFill>
                <a:latin typeface="Poppins"/>
                <a:ea typeface="Poppins"/>
                <a:cs typeface="Poppins"/>
                <a:sym typeface="Poppins"/>
              </a:rPr>
              <a:t>Multiple variables enable better risk assessment.</a:t>
            </a:r>
          </a:p>
          <a:p>
            <a:pPr marL="521586" lvl="1" indent="-260793" algn="l">
              <a:lnSpc>
                <a:spcPts val="3275"/>
              </a:lnSpc>
              <a:buFont typeface="Arial"/>
              <a:buChar char="•"/>
            </a:pPr>
            <a:r>
              <a:rPr lang="en-US" sz="2415">
                <a:solidFill>
                  <a:srgbClr val="FFFFFF"/>
                </a:solidFill>
                <a:latin typeface="Poppins"/>
                <a:ea typeface="Poppins"/>
                <a:cs typeface="Poppins"/>
                <a:sym typeface="Poppins"/>
              </a:rPr>
              <a:t>Advanced data analysis creates competitive advantages.</a:t>
            </a:r>
          </a:p>
          <a:p>
            <a:pPr marL="521586" lvl="1" indent="-260793" algn="l">
              <a:lnSpc>
                <a:spcPts val="3275"/>
              </a:lnSpc>
              <a:buFont typeface="Arial"/>
              <a:buChar char="•"/>
            </a:pPr>
            <a:r>
              <a:rPr lang="en-US" sz="2415">
                <a:solidFill>
                  <a:srgbClr val="FFFFFF"/>
                </a:solidFill>
                <a:latin typeface="Poppins"/>
                <a:ea typeface="Poppins"/>
                <a:cs typeface="Poppins"/>
                <a:sym typeface="Poppins"/>
              </a:rPr>
              <a:t>Complex data supports detailed customer personalization.</a:t>
            </a:r>
          </a:p>
        </p:txBody>
      </p:sp>
      <p:sp>
        <p:nvSpPr>
          <p:cNvPr id="14" name="TextBox 14"/>
          <p:cNvSpPr txBox="1"/>
          <p:nvPr/>
        </p:nvSpPr>
        <p:spPr>
          <a:xfrm>
            <a:off x="9315450" y="3448923"/>
            <a:ext cx="5575949" cy="5333762"/>
          </a:xfrm>
          <a:prstGeom prst="rect">
            <a:avLst/>
          </a:prstGeom>
        </p:spPr>
        <p:txBody>
          <a:bodyPr lIns="0" tIns="0" rIns="0" bIns="0" rtlCol="0" anchor="t">
            <a:spAutoFit/>
          </a:bodyPr>
          <a:lstStyle/>
          <a:p>
            <a:pPr marL="521586" lvl="1" indent="-260793" algn="l">
              <a:lnSpc>
                <a:spcPts val="3275"/>
              </a:lnSpc>
              <a:buFont typeface="Arial"/>
              <a:buChar char="•"/>
            </a:pPr>
            <a:r>
              <a:rPr lang="en-US" sz="2415">
                <a:solidFill>
                  <a:srgbClr val="FFFFFF"/>
                </a:solidFill>
                <a:latin typeface="Poppins"/>
                <a:ea typeface="Poppins"/>
                <a:cs typeface="Poppins"/>
                <a:sym typeface="Poppins"/>
              </a:rPr>
              <a:t>Data quality problems multiply with complexity.</a:t>
            </a:r>
          </a:p>
          <a:p>
            <a:pPr marL="521586" lvl="1" indent="-260793" algn="l">
              <a:lnSpc>
                <a:spcPts val="3275"/>
              </a:lnSpc>
              <a:buFont typeface="Arial"/>
              <a:buChar char="•"/>
            </a:pPr>
            <a:r>
              <a:rPr lang="en-US" sz="2415">
                <a:solidFill>
                  <a:srgbClr val="FFFFFF"/>
                </a:solidFill>
                <a:latin typeface="Poppins"/>
                <a:ea typeface="Poppins"/>
                <a:cs typeface="Poppins"/>
                <a:sym typeface="Poppins"/>
              </a:rPr>
              <a:t>Complex datasets require expensive computing infrastructure.</a:t>
            </a:r>
          </a:p>
          <a:p>
            <a:pPr marL="521586" lvl="1" indent="-260793" algn="l">
              <a:lnSpc>
                <a:spcPts val="3275"/>
              </a:lnSpc>
              <a:buFont typeface="Arial"/>
              <a:buChar char="•"/>
            </a:pPr>
            <a:r>
              <a:rPr lang="en-US" sz="2415">
                <a:solidFill>
                  <a:srgbClr val="FFFFFF"/>
                </a:solidFill>
                <a:latin typeface="Poppins"/>
                <a:ea typeface="Poppins"/>
                <a:cs typeface="Poppins"/>
                <a:sym typeface="Poppins"/>
              </a:rPr>
              <a:t>Organizations often lack specialized analytical expertise.</a:t>
            </a:r>
          </a:p>
          <a:p>
            <a:pPr marL="521586" lvl="1" indent="-260793" algn="l">
              <a:lnSpc>
                <a:spcPts val="3275"/>
              </a:lnSpc>
              <a:buFont typeface="Arial"/>
              <a:buChar char="•"/>
            </a:pPr>
            <a:r>
              <a:rPr lang="en-US" sz="2415">
                <a:solidFill>
                  <a:srgbClr val="FFFFFF"/>
                </a:solidFill>
                <a:latin typeface="Poppins"/>
                <a:ea typeface="Poppins"/>
                <a:cs typeface="Poppins"/>
                <a:sym typeface="Poppins"/>
              </a:rPr>
              <a:t>Complex models become difficult to interpret and explain.</a:t>
            </a:r>
          </a:p>
          <a:p>
            <a:pPr marL="521586" lvl="1" indent="-260793" algn="l">
              <a:lnSpc>
                <a:spcPts val="3275"/>
              </a:lnSpc>
              <a:buFont typeface="Arial"/>
              <a:buChar char="•"/>
            </a:pPr>
            <a:r>
              <a:rPr lang="en-US" sz="2415">
                <a:solidFill>
                  <a:srgbClr val="FFFFFF"/>
                </a:solidFill>
                <a:latin typeface="Poppins"/>
                <a:ea typeface="Poppins"/>
                <a:cs typeface="Poppins"/>
                <a:sym typeface="Poppins"/>
              </a:rPr>
              <a:t>Integrating diverse data sources creates technical challenges.</a:t>
            </a:r>
          </a:p>
          <a:p>
            <a:pPr marL="521586" lvl="1" indent="-260793" algn="l">
              <a:lnSpc>
                <a:spcPts val="3275"/>
              </a:lnSpc>
              <a:buFont typeface="Arial"/>
              <a:buChar char="•"/>
            </a:pPr>
            <a:r>
              <a:rPr lang="en-US" sz="2415">
                <a:solidFill>
                  <a:srgbClr val="FFFFFF"/>
                </a:solidFill>
                <a:latin typeface="Poppins"/>
                <a:ea typeface="Poppins"/>
                <a:cs typeface="Poppins"/>
                <a:sym typeface="Poppins"/>
              </a:rPr>
              <a:t>Too many variables can cause analysis paralysis.</a:t>
            </a:r>
          </a:p>
        </p:txBody>
      </p:sp>
      <p:sp>
        <p:nvSpPr>
          <p:cNvPr id="15" name="TextBox 15"/>
          <p:cNvSpPr txBox="1"/>
          <p:nvPr/>
        </p:nvSpPr>
        <p:spPr>
          <a:xfrm>
            <a:off x="3649904" y="9172575"/>
            <a:ext cx="5023113" cy="419755"/>
          </a:xfrm>
          <a:prstGeom prst="rect">
            <a:avLst/>
          </a:prstGeom>
        </p:spPr>
        <p:txBody>
          <a:bodyPr lIns="0" tIns="0" rIns="0" bIns="0" rtlCol="0" anchor="t">
            <a:spAutoFit/>
          </a:bodyPr>
          <a:lstStyle/>
          <a:p>
            <a:pPr algn="r">
              <a:lnSpc>
                <a:spcPts val="3113"/>
              </a:lnSpc>
              <a:spcBef>
                <a:spcPct val="0"/>
              </a:spcBef>
            </a:pPr>
            <a:r>
              <a:rPr lang="en-US" sz="2224" i="1">
                <a:solidFill>
                  <a:srgbClr val="FFFFFF"/>
                </a:solidFill>
                <a:latin typeface="Arial MT Pro Italics"/>
                <a:ea typeface="Arial MT Pro Italics"/>
                <a:cs typeface="Arial MT Pro Italics"/>
                <a:sym typeface="Arial MT Pro Italics"/>
              </a:rPr>
              <a:t>(Ganesh, 2023; Cristofaro, 2024) </a:t>
            </a:r>
          </a:p>
        </p:txBody>
      </p:sp>
      <p:sp>
        <p:nvSpPr>
          <p:cNvPr id="16" name="TextBox 16"/>
          <p:cNvSpPr txBox="1"/>
          <p:nvPr/>
        </p:nvSpPr>
        <p:spPr>
          <a:xfrm>
            <a:off x="9868285" y="9172575"/>
            <a:ext cx="5023113" cy="419755"/>
          </a:xfrm>
          <a:prstGeom prst="rect">
            <a:avLst/>
          </a:prstGeom>
        </p:spPr>
        <p:txBody>
          <a:bodyPr lIns="0" tIns="0" rIns="0" bIns="0" rtlCol="0" anchor="t">
            <a:spAutoFit/>
          </a:bodyPr>
          <a:lstStyle/>
          <a:p>
            <a:pPr algn="r">
              <a:lnSpc>
                <a:spcPts val="3113"/>
              </a:lnSpc>
              <a:spcBef>
                <a:spcPct val="0"/>
              </a:spcBef>
            </a:pPr>
            <a:r>
              <a:rPr lang="en-US" sz="2224" i="1">
                <a:solidFill>
                  <a:srgbClr val="FFFFFF"/>
                </a:solidFill>
                <a:latin typeface="Arial MT Pro Italics"/>
                <a:ea typeface="Arial MT Pro Italics"/>
                <a:cs typeface="Arial MT Pro Italics"/>
                <a:sym typeface="Arial MT Pro Italics"/>
              </a:rPr>
              <a:t>(Intone, 2025; GeeksforGeeks, 2024)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19175"/>
            <a:ext cx="7081258" cy="1117763"/>
            <a:chOff x="0" y="0"/>
            <a:chExt cx="9441677" cy="1490351"/>
          </a:xfrm>
        </p:grpSpPr>
        <p:sp>
          <p:nvSpPr>
            <p:cNvPr id="3" name="Freeform 3"/>
            <p:cNvSpPr/>
            <p:nvPr/>
          </p:nvSpPr>
          <p:spPr>
            <a:xfrm>
              <a:off x="0" y="0"/>
              <a:ext cx="9441677" cy="1490351"/>
            </a:xfrm>
            <a:custGeom>
              <a:avLst/>
              <a:gdLst/>
              <a:ahLst/>
              <a:cxnLst/>
              <a:rect l="l" t="t" r="r" b="b"/>
              <a:pathLst>
                <a:path w="9441677" h="1490351">
                  <a:moveTo>
                    <a:pt x="0" y="0"/>
                  </a:moveTo>
                  <a:lnTo>
                    <a:pt x="9441677" y="0"/>
                  </a:lnTo>
                  <a:lnTo>
                    <a:pt x="9441677" y="1490351"/>
                  </a:lnTo>
                  <a:lnTo>
                    <a:pt x="0" y="1490351"/>
                  </a:lnTo>
                  <a:close/>
                </a:path>
              </a:pathLst>
            </a:custGeom>
          </p:spPr>
        </p:sp>
        <p:sp>
          <p:nvSpPr>
            <p:cNvPr id="4" name="TextBox 4"/>
            <p:cNvSpPr txBox="1"/>
            <p:nvPr/>
          </p:nvSpPr>
          <p:spPr>
            <a:xfrm>
              <a:off x="0" y="-114300"/>
              <a:ext cx="9441677"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Statistical Tools</a:t>
              </a:r>
            </a:p>
          </p:txBody>
        </p:sp>
      </p:grpSp>
      <p:grpSp>
        <p:nvGrpSpPr>
          <p:cNvPr id="5" name="Group 5"/>
          <p:cNvGrpSpPr/>
          <p:nvPr/>
        </p:nvGrpSpPr>
        <p:grpSpPr>
          <a:xfrm>
            <a:off x="1028700" y="2136938"/>
            <a:ext cx="16230600" cy="6079744"/>
            <a:chOff x="0" y="0"/>
            <a:chExt cx="21640800" cy="8106325"/>
          </a:xfrm>
        </p:grpSpPr>
        <p:sp>
          <p:nvSpPr>
            <p:cNvPr id="6" name="Freeform 6"/>
            <p:cNvSpPr/>
            <p:nvPr/>
          </p:nvSpPr>
          <p:spPr>
            <a:xfrm>
              <a:off x="0" y="0"/>
              <a:ext cx="21640800" cy="8106325"/>
            </a:xfrm>
            <a:custGeom>
              <a:avLst/>
              <a:gdLst/>
              <a:ahLst/>
              <a:cxnLst/>
              <a:rect l="l" t="t" r="r" b="b"/>
              <a:pathLst>
                <a:path w="21640800" h="8106325">
                  <a:moveTo>
                    <a:pt x="0" y="0"/>
                  </a:moveTo>
                  <a:lnTo>
                    <a:pt x="21640800" y="0"/>
                  </a:lnTo>
                  <a:lnTo>
                    <a:pt x="21640800" y="8106325"/>
                  </a:lnTo>
                  <a:lnTo>
                    <a:pt x="0" y="8106325"/>
                  </a:lnTo>
                  <a:close/>
                </a:path>
              </a:pathLst>
            </a:custGeom>
          </p:spPr>
        </p:sp>
        <p:sp>
          <p:nvSpPr>
            <p:cNvPr id="7" name="TextBox 7"/>
            <p:cNvSpPr txBox="1"/>
            <p:nvPr/>
          </p:nvSpPr>
          <p:spPr>
            <a:xfrm>
              <a:off x="0" y="-161925"/>
              <a:ext cx="21640800" cy="8268250"/>
            </a:xfrm>
            <a:prstGeom prst="rect">
              <a:avLst/>
            </a:prstGeom>
          </p:spPr>
          <p:txBody>
            <a:bodyPr lIns="0" tIns="0" rIns="0" bIns="0" rtlCol="0" anchor="t"/>
            <a:lstStyle/>
            <a:p>
              <a:pPr marL="690881" lvl="1" indent="-345440" algn="just">
                <a:lnSpc>
                  <a:spcPts val="4800"/>
                </a:lnSpc>
                <a:buFont typeface="Arial"/>
                <a:buChar char="•"/>
              </a:pPr>
              <a:r>
                <a:rPr lang="en-US" sz="3200" b="1">
                  <a:solidFill>
                    <a:srgbClr val="000000"/>
                  </a:solidFill>
                  <a:latin typeface="Arial MT Pro Bold"/>
                  <a:ea typeface="Arial MT Pro Bold"/>
                  <a:cs typeface="Arial MT Pro Bold"/>
                  <a:sym typeface="Arial MT Pro Bold"/>
                </a:rPr>
                <a:t>R </a:t>
              </a:r>
              <a:r>
                <a:rPr lang="en-US" sz="3200">
                  <a:solidFill>
                    <a:srgbClr val="000000"/>
                  </a:solidFill>
                  <a:latin typeface="Arial MT Pro"/>
                  <a:ea typeface="Arial MT Pro"/>
                  <a:cs typeface="Arial MT Pro"/>
                  <a:sym typeface="Arial MT Pro"/>
                </a:rPr>
                <a:t>is well-suited for big data due to its extensive statistical packages and ability to integrate with distributed computing tools like Hadoop and Spark.</a:t>
              </a:r>
            </a:p>
            <a:p>
              <a:pPr marL="690881" lvl="1" indent="-345440" algn="just">
                <a:lnSpc>
                  <a:spcPts val="4800"/>
                </a:lnSpc>
                <a:buFont typeface="Arial"/>
                <a:buChar char="•"/>
              </a:pPr>
              <a:r>
                <a:rPr lang="en-US" sz="3200" b="1">
                  <a:solidFill>
                    <a:srgbClr val="000000"/>
                  </a:solidFill>
                  <a:latin typeface="Arial MT Pro Bold"/>
                  <a:ea typeface="Arial MT Pro Bold"/>
                  <a:cs typeface="Arial MT Pro Bold"/>
                  <a:sym typeface="Arial MT Pro Bold"/>
                </a:rPr>
                <a:t>Python</a:t>
              </a:r>
              <a:r>
                <a:rPr lang="en-US" sz="3200">
                  <a:solidFill>
                    <a:srgbClr val="000000"/>
                  </a:solidFill>
                  <a:latin typeface="Arial MT Pro"/>
                  <a:ea typeface="Arial MT Pro"/>
                  <a:cs typeface="Arial MT Pro"/>
                  <a:sym typeface="Arial MT Pro"/>
                </a:rPr>
                <a:t> supports big data through scalable libraries like Pandas and Dask and seamless integration with machine learning and big data frameworks.</a:t>
              </a:r>
            </a:p>
            <a:p>
              <a:pPr marL="690881" lvl="1" indent="-345440" algn="just">
                <a:lnSpc>
                  <a:spcPts val="4800"/>
                </a:lnSpc>
                <a:buFont typeface="Arial"/>
                <a:buChar char="•"/>
              </a:pPr>
              <a:r>
                <a:rPr lang="en-US" sz="3200" b="1">
                  <a:solidFill>
                    <a:srgbClr val="000000"/>
                  </a:solidFill>
                  <a:latin typeface="Arial MT Pro Bold"/>
                  <a:ea typeface="Arial MT Pro Bold"/>
                  <a:cs typeface="Arial MT Pro Bold"/>
                  <a:sym typeface="Arial MT Pro Bold"/>
                </a:rPr>
                <a:t>Apache Spark</a:t>
              </a:r>
              <a:r>
                <a:rPr lang="en-US" sz="3200">
                  <a:solidFill>
                    <a:srgbClr val="000000"/>
                  </a:solidFill>
                  <a:latin typeface="Arial MT Pro"/>
                  <a:ea typeface="Arial MT Pro"/>
                  <a:cs typeface="Arial MT Pro"/>
                  <a:sym typeface="Arial MT Pro"/>
                </a:rPr>
                <a:t> efficiently handles big data by enabling fast, in-memory, distributed processing across large clusters.</a:t>
              </a:r>
            </a:p>
            <a:p>
              <a:pPr marL="690881" lvl="1" indent="-345440" algn="just">
                <a:lnSpc>
                  <a:spcPts val="4800"/>
                </a:lnSpc>
                <a:buFont typeface="Arial"/>
                <a:buChar char="•"/>
              </a:pPr>
              <a:r>
                <a:rPr lang="en-US" sz="3200" b="1">
                  <a:solidFill>
                    <a:srgbClr val="000000"/>
                  </a:solidFill>
                  <a:latin typeface="Arial MT Pro Bold"/>
                  <a:ea typeface="Arial MT Pro Bold"/>
                  <a:cs typeface="Arial MT Pro Bold"/>
                  <a:sym typeface="Arial MT Pro Bold"/>
                </a:rPr>
                <a:t>SAS </a:t>
              </a:r>
              <a:r>
                <a:rPr lang="en-US" sz="3200">
                  <a:solidFill>
                    <a:srgbClr val="000000"/>
                  </a:solidFill>
                  <a:latin typeface="Arial MT Pro"/>
                  <a:ea typeface="Arial MT Pro"/>
                  <a:cs typeface="Arial MT Pro"/>
                  <a:sym typeface="Arial MT Pro"/>
                </a:rPr>
                <a:t>is ideal for big data analysis with its powerful, scalable analytics and enterprise-level data management capabilities.</a:t>
              </a:r>
            </a:p>
            <a:p>
              <a:pPr marL="690881" lvl="1" indent="-345440" algn="just">
                <a:lnSpc>
                  <a:spcPts val="4800"/>
                </a:lnSpc>
                <a:buFont typeface="Arial"/>
                <a:buChar char="•"/>
              </a:pPr>
              <a:r>
                <a:rPr lang="en-US" sz="3200" b="1">
                  <a:solidFill>
                    <a:srgbClr val="000000"/>
                  </a:solidFill>
                  <a:latin typeface="Arial MT Pro Bold"/>
                  <a:ea typeface="Arial MT Pro Bold"/>
                  <a:cs typeface="Arial MT Pro Bold"/>
                  <a:sym typeface="Arial MT Pro Bold"/>
                </a:rPr>
                <a:t>SSPSS </a:t>
              </a:r>
              <a:r>
                <a:rPr lang="en-US" sz="3200">
                  <a:solidFill>
                    <a:srgbClr val="000000"/>
                  </a:solidFill>
                  <a:latin typeface="Arial MT Pro"/>
                  <a:ea typeface="Arial MT Pro"/>
                  <a:cs typeface="Arial MT Pro"/>
                  <a:sym typeface="Arial MT Pro"/>
                </a:rPr>
                <a:t>manages and analyzes large datasets easily through a user-friendly interface and integration with big data platforms.</a:t>
              </a:r>
            </a:p>
          </p:txBody>
        </p:sp>
      </p:grpSp>
      <p:sp>
        <p:nvSpPr>
          <p:cNvPr id="8" name="TextBox 8"/>
          <p:cNvSpPr txBox="1"/>
          <p:nvPr/>
        </p:nvSpPr>
        <p:spPr>
          <a:xfrm>
            <a:off x="11125316" y="9634320"/>
            <a:ext cx="696612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(Hillier, 2025)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760093"/>
            <a:ext cx="16230600" cy="6766814"/>
            <a:chOff x="0" y="0"/>
            <a:chExt cx="21640800" cy="9022419"/>
          </a:xfrm>
        </p:grpSpPr>
        <p:sp>
          <p:nvSpPr>
            <p:cNvPr id="3" name="Freeform 3"/>
            <p:cNvSpPr/>
            <p:nvPr/>
          </p:nvSpPr>
          <p:spPr>
            <a:xfrm>
              <a:off x="0" y="0"/>
              <a:ext cx="21640800" cy="9022418"/>
            </a:xfrm>
            <a:custGeom>
              <a:avLst/>
              <a:gdLst/>
              <a:ahLst/>
              <a:cxnLst/>
              <a:rect l="l" t="t" r="r" b="b"/>
              <a:pathLst>
                <a:path w="21640800" h="9022418">
                  <a:moveTo>
                    <a:pt x="0" y="0"/>
                  </a:moveTo>
                  <a:lnTo>
                    <a:pt x="21640800" y="0"/>
                  </a:lnTo>
                  <a:lnTo>
                    <a:pt x="21640800" y="9022418"/>
                  </a:lnTo>
                  <a:lnTo>
                    <a:pt x="0" y="9022418"/>
                  </a:lnTo>
                  <a:close/>
                </a:path>
              </a:pathLst>
            </a:custGeom>
          </p:spPr>
        </p:sp>
        <p:sp>
          <p:nvSpPr>
            <p:cNvPr id="4" name="TextBox 4"/>
            <p:cNvSpPr txBox="1"/>
            <p:nvPr/>
          </p:nvSpPr>
          <p:spPr>
            <a:xfrm>
              <a:off x="0" y="-161925"/>
              <a:ext cx="21640800" cy="9184344"/>
            </a:xfrm>
            <a:prstGeom prst="rect">
              <a:avLst/>
            </a:prstGeom>
          </p:spPr>
          <p:txBody>
            <a:bodyPr lIns="0" tIns="0" rIns="0" bIns="0" rtlCol="0" anchor="t"/>
            <a:lstStyle/>
            <a:p>
              <a:pPr algn="just">
                <a:lnSpc>
                  <a:spcPts val="4800"/>
                </a:lnSpc>
              </a:pPr>
              <a:r>
                <a:rPr lang="en-US" sz="3200" b="1">
                  <a:solidFill>
                    <a:srgbClr val="2B4865"/>
                  </a:solidFill>
                  <a:latin typeface="Arial MT Pro Bold"/>
                  <a:ea typeface="Arial MT Pro Bold"/>
                  <a:cs typeface="Arial MT Pro Bold"/>
                  <a:sym typeface="Arial MT Pro Bold"/>
                </a:rPr>
                <a:t>Statistical Techniques Used for Big Data Manipulation</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Regression analysis</a:t>
              </a:r>
              <a:r>
                <a:rPr lang="en-US" sz="2700">
                  <a:solidFill>
                    <a:srgbClr val="000000"/>
                  </a:solidFill>
                  <a:latin typeface="Arial MT Pro"/>
                  <a:ea typeface="Arial MT Pro"/>
                  <a:cs typeface="Arial MT Pro"/>
                  <a:sym typeface="Arial MT Pro"/>
                </a:rPr>
                <a:t> models relationships between variables, making it essential for predicting outcomes from complex, high-volume datasets.</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Monte Carlo simulation</a:t>
              </a:r>
              <a:r>
                <a:rPr lang="en-US" sz="2700">
                  <a:solidFill>
                    <a:srgbClr val="000000"/>
                  </a:solidFill>
                  <a:latin typeface="Arial MT Pro"/>
                  <a:ea typeface="Arial MT Pro"/>
                  <a:cs typeface="Arial MT Pro"/>
                  <a:sym typeface="Arial MT Pro"/>
                </a:rPr>
                <a:t> efficiently handles uncertainty and variability in large datasets through repeated random sampling.</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Sampling techniques</a:t>
              </a:r>
              <a:r>
                <a:rPr lang="en-US" sz="2700">
                  <a:solidFill>
                    <a:srgbClr val="000000"/>
                  </a:solidFill>
                  <a:latin typeface="Arial MT Pro"/>
                  <a:ea typeface="Arial MT Pro"/>
                  <a:cs typeface="Arial MT Pro"/>
                  <a:sym typeface="Arial MT Pro"/>
                </a:rPr>
                <a:t> like subsampling and leveraging reduce computational load while preserving analytical accuracy in big data.</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Principal Component Analysis (PCA) </a:t>
              </a:r>
              <a:r>
                <a:rPr lang="en-US" sz="2700">
                  <a:solidFill>
                    <a:srgbClr val="000000"/>
                  </a:solidFill>
                  <a:latin typeface="Arial MT Pro"/>
                  <a:ea typeface="Arial MT Pro"/>
                  <a:cs typeface="Arial MT Pro"/>
                  <a:sym typeface="Arial MT Pro"/>
                </a:rPr>
                <a:t>reduces dimensionality in large datasets, making analysis faster and more interpretable without major loss of information.</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Time series analysis</a:t>
              </a:r>
              <a:r>
                <a:rPr lang="en-US" sz="2700">
                  <a:solidFill>
                    <a:srgbClr val="000000"/>
                  </a:solidFill>
                  <a:latin typeface="Arial MT Pro"/>
                  <a:ea typeface="Arial MT Pro"/>
                  <a:cs typeface="Arial MT Pro"/>
                  <a:sym typeface="Arial MT Pro"/>
                </a:rPr>
                <a:t> uncovers patterns and forecasts trends in massive time-based datasets commonly found in big data environments.</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Machine learning algorithms</a:t>
              </a:r>
              <a:r>
                <a:rPr lang="en-US" sz="2700">
                  <a:solidFill>
                    <a:srgbClr val="000000"/>
                  </a:solidFill>
                  <a:latin typeface="Arial MT Pro"/>
                  <a:ea typeface="Arial MT Pro"/>
                  <a:cs typeface="Arial MT Pro"/>
                  <a:sym typeface="Arial MT Pro"/>
                </a:rPr>
                <a:t> extract insights and make accurate predictions from vast, complex datasets without manual rule-setting.</a:t>
              </a:r>
            </a:p>
          </p:txBody>
        </p:sp>
      </p:grpSp>
      <p:sp>
        <p:nvSpPr>
          <p:cNvPr id="5" name="TextBox 5"/>
          <p:cNvSpPr txBox="1"/>
          <p:nvPr/>
        </p:nvSpPr>
        <p:spPr>
          <a:xfrm>
            <a:off x="11125316" y="9634320"/>
            <a:ext cx="696612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(Indeed, 2020)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19175"/>
            <a:ext cx="7081258" cy="1117763"/>
            <a:chOff x="0" y="0"/>
            <a:chExt cx="9441677" cy="1490351"/>
          </a:xfrm>
        </p:grpSpPr>
        <p:sp>
          <p:nvSpPr>
            <p:cNvPr id="3" name="Freeform 3"/>
            <p:cNvSpPr/>
            <p:nvPr/>
          </p:nvSpPr>
          <p:spPr>
            <a:xfrm>
              <a:off x="0" y="0"/>
              <a:ext cx="9441677" cy="1490351"/>
            </a:xfrm>
            <a:custGeom>
              <a:avLst/>
              <a:gdLst/>
              <a:ahLst/>
              <a:cxnLst/>
              <a:rect l="l" t="t" r="r" b="b"/>
              <a:pathLst>
                <a:path w="9441677" h="1490351">
                  <a:moveTo>
                    <a:pt x="0" y="0"/>
                  </a:moveTo>
                  <a:lnTo>
                    <a:pt x="9441677" y="0"/>
                  </a:lnTo>
                  <a:lnTo>
                    <a:pt x="9441677" y="1490351"/>
                  </a:lnTo>
                  <a:lnTo>
                    <a:pt x="0" y="1490351"/>
                  </a:lnTo>
                  <a:close/>
                </a:path>
              </a:pathLst>
            </a:custGeom>
          </p:spPr>
        </p:sp>
        <p:sp>
          <p:nvSpPr>
            <p:cNvPr id="4" name="TextBox 4"/>
            <p:cNvSpPr txBox="1"/>
            <p:nvPr/>
          </p:nvSpPr>
          <p:spPr>
            <a:xfrm>
              <a:off x="0" y="-114300"/>
              <a:ext cx="9441677"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Graphical Tools</a:t>
              </a:r>
            </a:p>
          </p:txBody>
        </p:sp>
      </p:grpSp>
      <p:grpSp>
        <p:nvGrpSpPr>
          <p:cNvPr id="5" name="Group 5"/>
          <p:cNvGrpSpPr/>
          <p:nvPr/>
        </p:nvGrpSpPr>
        <p:grpSpPr>
          <a:xfrm>
            <a:off x="1028700" y="2136938"/>
            <a:ext cx="16230600" cy="6252464"/>
            <a:chOff x="0" y="0"/>
            <a:chExt cx="21640800" cy="8336619"/>
          </a:xfrm>
        </p:grpSpPr>
        <p:sp>
          <p:nvSpPr>
            <p:cNvPr id="6" name="Freeform 6"/>
            <p:cNvSpPr/>
            <p:nvPr/>
          </p:nvSpPr>
          <p:spPr>
            <a:xfrm>
              <a:off x="0" y="0"/>
              <a:ext cx="21640800" cy="8336618"/>
            </a:xfrm>
            <a:custGeom>
              <a:avLst/>
              <a:gdLst/>
              <a:ahLst/>
              <a:cxnLst/>
              <a:rect l="l" t="t" r="r" b="b"/>
              <a:pathLst>
                <a:path w="21640800" h="8336618">
                  <a:moveTo>
                    <a:pt x="0" y="0"/>
                  </a:moveTo>
                  <a:lnTo>
                    <a:pt x="21640800" y="0"/>
                  </a:lnTo>
                  <a:lnTo>
                    <a:pt x="21640800" y="8336618"/>
                  </a:lnTo>
                  <a:lnTo>
                    <a:pt x="0" y="8336618"/>
                  </a:lnTo>
                  <a:close/>
                </a:path>
              </a:pathLst>
            </a:custGeom>
          </p:spPr>
        </p:sp>
        <p:sp>
          <p:nvSpPr>
            <p:cNvPr id="7" name="TextBox 7"/>
            <p:cNvSpPr txBox="1"/>
            <p:nvPr/>
          </p:nvSpPr>
          <p:spPr>
            <a:xfrm>
              <a:off x="0" y="-161925"/>
              <a:ext cx="21640800" cy="8498544"/>
            </a:xfrm>
            <a:prstGeom prst="rect">
              <a:avLst/>
            </a:prstGeom>
          </p:spPr>
          <p:txBody>
            <a:bodyPr lIns="0" tIns="0" rIns="0" bIns="0" rtlCol="0" anchor="t"/>
            <a:lstStyle/>
            <a:p>
              <a:pPr algn="just">
                <a:lnSpc>
                  <a:spcPts val="4800"/>
                </a:lnSpc>
              </a:pPr>
              <a:r>
                <a:rPr lang="en-US" sz="3200" b="1">
                  <a:solidFill>
                    <a:srgbClr val="2B4865"/>
                  </a:solidFill>
                  <a:latin typeface="Arial MT Pro Bold"/>
                  <a:ea typeface="Arial MT Pro Bold"/>
                  <a:cs typeface="Arial MT Pro Bold"/>
                  <a:sym typeface="Arial MT Pro Bold"/>
                </a:rPr>
                <a:t>Graphical Tools Used for Big Data Visualisation</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Tableau </a:t>
              </a:r>
              <a:r>
                <a:rPr lang="en-US" sz="2700">
                  <a:solidFill>
                    <a:srgbClr val="000000"/>
                  </a:solidFill>
                  <a:latin typeface="Arial MT Pro"/>
                  <a:ea typeface="Arial MT Pro"/>
                  <a:cs typeface="Arial MT Pro"/>
                  <a:sym typeface="Arial MT Pro"/>
                </a:rPr>
                <a:t>handles big data effectively by connecting to diverse data sources and enabling users to create interactive, scalable visualizations with ease.</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Power BI </a:t>
              </a:r>
              <a:r>
                <a:rPr lang="en-US" sz="2700">
                  <a:solidFill>
                    <a:srgbClr val="000000"/>
                  </a:solidFill>
                  <a:latin typeface="Arial MT Pro"/>
                  <a:ea typeface="Arial MT Pro"/>
                  <a:cs typeface="Arial MT Pro"/>
                  <a:sym typeface="Arial MT Pro"/>
                </a:rPr>
                <a:t>is ideal for big data as it provides dynamic dashboards, strong data integration, and seamless compatibility with cloud-based and Microsoft ecosystems.</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Looker </a:t>
              </a:r>
              <a:r>
                <a:rPr lang="en-US" sz="2700">
                  <a:solidFill>
                    <a:srgbClr val="000000"/>
                  </a:solidFill>
                  <a:latin typeface="Arial MT Pro"/>
                  <a:ea typeface="Arial MT Pro"/>
                  <a:cs typeface="Arial MT Pro"/>
                  <a:sym typeface="Arial MT Pro"/>
                </a:rPr>
                <a:t>supports big data through real-time analytics, secure data exploration, and compatibility with multiple SQL-based big data platforms.</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Qlik Sense</a:t>
              </a:r>
              <a:r>
                <a:rPr lang="en-US" sz="2700">
                  <a:solidFill>
                    <a:srgbClr val="000000"/>
                  </a:solidFill>
                  <a:latin typeface="Arial MT Pro"/>
                  <a:ea typeface="Arial MT Pro"/>
                  <a:cs typeface="Arial MT Pro"/>
                  <a:sym typeface="Arial MT Pro"/>
                </a:rPr>
                <a:t> excels in big data analysis with its associative engine and scalable cloud architecture for rapid, intuitive insights.</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Google Data Studio</a:t>
              </a:r>
              <a:r>
                <a:rPr lang="en-US" sz="2700">
                  <a:solidFill>
                    <a:srgbClr val="000000"/>
                  </a:solidFill>
                  <a:latin typeface="Arial MT Pro"/>
                  <a:ea typeface="Arial MT Pro"/>
                  <a:cs typeface="Arial MT Pro"/>
                  <a:sym typeface="Arial MT Pro"/>
                </a:rPr>
                <a:t> is suitable for big data by offering real-time, collaborative reporting with seamless integration across Google platforms, making it accessible for users handling large-scale web and marketing data.</a:t>
              </a:r>
            </a:p>
          </p:txBody>
        </p:sp>
      </p:grpSp>
      <p:sp>
        <p:nvSpPr>
          <p:cNvPr id="8" name="TextBox 8"/>
          <p:cNvSpPr txBox="1"/>
          <p:nvPr/>
        </p:nvSpPr>
        <p:spPr>
          <a:xfrm>
            <a:off x="11125316" y="9634320"/>
            <a:ext cx="696612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(GeeksforGeeks, 2020)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16230600" cy="6766814"/>
            <a:chOff x="0" y="0"/>
            <a:chExt cx="21640800" cy="9022419"/>
          </a:xfrm>
        </p:grpSpPr>
        <p:sp>
          <p:nvSpPr>
            <p:cNvPr id="3" name="Freeform 3"/>
            <p:cNvSpPr/>
            <p:nvPr/>
          </p:nvSpPr>
          <p:spPr>
            <a:xfrm>
              <a:off x="0" y="0"/>
              <a:ext cx="21640800" cy="9022418"/>
            </a:xfrm>
            <a:custGeom>
              <a:avLst/>
              <a:gdLst/>
              <a:ahLst/>
              <a:cxnLst/>
              <a:rect l="l" t="t" r="r" b="b"/>
              <a:pathLst>
                <a:path w="21640800" h="9022418">
                  <a:moveTo>
                    <a:pt x="0" y="0"/>
                  </a:moveTo>
                  <a:lnTo>
                    <a:pt x="21640800" y="0"/>
                  </a:lnTo>
                  <a:lnTo>
                    <a:pt x="21640800" y="9022418"/>
                  </a:lnTo>
                  <a:lnTo>
                    <a:pt x="0" y="9022418"/>
                  </a:lnTo>
                  <a:close/>
                </a:path>
              </a:pathLst>
            </a:custGeom>
          </p:spPr>
        </p:sp>
        <p:sp>
          <p:nvSpPr>
            <p:cNvPr id="4" name="TextBox 4"/>
            <p:cNvSpPr txBox="1"/>
            <p:nvPr/>
          </p:nvSpPr>
          <p:spPr>
            <a:xfrm>
              <a:off x="0" y="-161925"/>
              <a:ext cx="21640800" cy="9184344"/>
            </a:xfrm>
            <a:prstGeom prst="rect">
              <a:avLst/>
            </a:prstGeom>
          </p:spPr>
          <p:txBody>
            <a:bodyPr lIns="0" tIns="0" rIns="0" bIns="0" rtlCol="0" anchor="t"/>
            <a:lstStyle/>
            <a:p>
              <a:pPr algn="just">
                <a:lnSpc>
                  <a:spcPts val="4800"/>
                </a:lnSpc>
              </a:pPr>
              <a:r>
                <a:rPr lang="en-US" sz="3200" b="1">
                  <a:solidFill>
                    <a:srgbClr val="2B4865"/>
                  </a:solidFill>
                  <a:latin typeface="Arial MT Pro Bold"/>
                  <a:ea typeface="Arial MT Pro Bold"/>
                  <a:cs typeface="Arial MT Pro Bold"/>
                  <a:sym typeface="Arial MT Pro Bold"/>
                </a:rPr>
                <a:t>Graphical Techniques Used for Big Data Visualisation</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Line charts</a:t>
              </a:r>
              <a:r>
                <a:rPr lang="en-US" sz="2700">
                  <a:solidFill>
                    <a:srgbClr val="000000"/>
                  </a:solidFill>
                  <a:latin typeface="Arial MT Pro"/>
                  <a:ea typeface="Arial MT Pro"/>
                  <a:cs typeface="Arial MT Pro"/>
                  <a:sym typeface="Arial MT Pro"/>
                </a:rPr>
                <a:t> are widely used in big data for visualizing trends over time, helping identify patterns and changes in metrics across long periods.</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Bar charts</a:t>
              </a:r>
              <a:r>
                <a:rPr lang="en-US" sz="2700">
                  <a:solidFill>
                    <a:srgbClr val="000000"/>
                  </a:solidFill>
                  <a:latin typeface="Arial MT Pro"/>
                  <a:ea typeface="Arial MT Pro"/>
                  <a:cs typeface="Arial MT Pro"/>
                  <a:sym typeface="Arial MT Pro"/>
                </a:rPr>
                <a:t> effectively compare categorical data, making it easy to spot differences and rank variables in large datasets.</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Scatter plots</a:t>
              </a:r>
              <a:r>
                <a:rPr lang="en-US" sz="2700">
                  <a:solidFill>
                    <a:srgbClr val="000000"/>
                  </a:solidFill>
                  <a:latin typeface="Arial MT Pro"/>
                  <a:ea typeface="Arial MT Pro"/>
                  <a:cs typeface="Arial MT Pro"/>
                  <a:sym typeface="Arial MT Pro"/>
                </a:rPr>
                <a:t> reveal relationships and correlations between two continuous variables, essential for identifying patterns in big data analysis.</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Heat maps</a:t>
              </a:r>
              <a:r>
                <a:rPr lang="en-US" sz="2700">
                  <a:solidFill>
                    <a:srgbClr val="000000"/>
                  </a:solidFill>
                  <a:latin typeface="Arial MT Pro"/>
                  <a:ea typeface="Arial MT Pro"/>
                  <a:cs typeface="Arial MT Pro"/>
                  <a:sym typeface="Arial MT Pro"/>
                </a:rPr>
                <a:t> display data intensity through color, making them ideal for identifying clusters, outliers, or regional variations in large datasets.</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Box plots</a:t>
              </a:r>
              <a:r>
                <a:rPr lang="en-US" sz="2700">
                  <a:solidFill>
                    <a:srgbClr val="000000"/>
                  </a:solidFill>
                  <a:latin typeface="Arial MT Pro"/>
                  <a:ea typeface="Arial MT Pro"/>
                  <a:cs typeface="Arial MT Pro"/>
                  <a:sym typeface="Arial MT Pro"/>
                </a:rPr>
                <a:t> summarize distribution, variability, and outliers, offering a compact view of data spread in high-volume datasets.</a:t>
              </a:r>
            </a:p>
            <a:p>
              <a:pPr marL="582933" lvl="1" indent="-291467" algn="just">
                <a:lnSpc>
                  <a:spcPts val="4050"/>
                </a:lnSpc>
                <a:buFont typeface="Arial"/>
                <a:buChar char="•"/>
              </a:pPr>
              <a:r>
                <a:rPr lang="en-US" sz="2700" b="1">
                  <a:solidFill>
                    <a:srgbClr val="000000"/>
                  </a:solidFill>
                  <a:latin typeface="Arial MT Pro Bold"/>
                  <a:ea typeface="Arial MT Pro Bold"/>
                  <a:cs typeface="Arial MT Pro Bold"/>
                  <a:sym typeface="Arial MT Pro Bold"/>
                </a:rPr>
                <a:t>Treemaps</a:t>
              </a:r>
              <a:r>
                <a:rPr lang="en-US" sz="2700">
                  <a:solidFill>
                    <a:srgbClr val="000000"/>
                  </a:solidFill>
                  <a:latin typeface="Arial MT Pro"/>
                  <a:ea typeface="Arial MT Pro"/>
                  <a:cs typeface="Arial MT Pro"/>
                  <a:sym typeface="Arial MT Pro"/>
                </a:rPr>
                <a:t> help visualize hierarchical data and part-to-whole relationships, especially useful for exploring proportions in complex big data structures.</a:t>
              </a:r>
            </a:p>
          </p:txBody>
        </p:sp>
      </p:grpSp>
      <p:sp>
        <p:nvSpPr>
          <p:cNvPr id="5" name="TextBox 5"/>
          <p:cNvSpPr txBox="1"/>
          <p:nvPr/>
        </p:nvSpPr>
        <p:spPr>
          <a:xfrm>
            <a:off x="11125316" y="9634320"/>
            <a:ext cx="696612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(Writer, 2020)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343150" y="469818"/>
            <a:ext cx="13601700" cy="1117763"/>
            <a:chOff x="0" y="0"/>
            <a:chExt cx="18135600" cy="1490351"/>
          </a:xfrm>
        </p:grpSpPr>
        <p:sp>
          <p:nvSpPr>
            <p:cNvPr id="3" name="Freeform 3"/>
            <p:cNvSpPr/>
            <p:nvPr/>
          </p:nvSpPr>
          <p:spPr>
            <a:xfrm>
              <a:off x="0" y="0"/>
              <a:ext cx="18135600" cy="1490351"/>
            </a:xfrm>
            <a:custGeom>
              <a:avLst/>
              <a:gdLst/>
              <a:ahLst/>
              <a:cxnLst/>
              <a:rect l="l" t="t" r="r" b="b"/>
              <a:pathLst>
                <a:path w="18135600" h="1490351">
                  <a:moveTo>
                    <a:pt x="0" y="0"/>
                  </a:moveTo>
                  <a:lnTo>
                    <a:pt x="18135600" y="0"/>
                  </a:lnTo>
                  <a:lnTo>
                    <a:pt x="18135600" y="1490351"/>
                  </a:lnTo>
                  <a:lnTo>
                    <a:pt x="0" y="1490351"/>
                  </a:lnTo>
                  <a:close/>
                </a:path>
              </a:pathLst>
            </a:custGeom>
          </p:spPr>
        </p:sp>
        <p:sp>
          <p:nvSpPr>
            <p:cNvPr id="4" name="TextBox 4"/>
            <p:cNvSpPr txBox="1"/>
            <p:nvPr/>
          </p:nvSpPr>
          <p:spPr>
            <a:xfrm>
              <a:off x="0" y="-114300"/>
              <a:ext cx="18135600" cy="1604651"/>
            </a:xfrm>
            <a:prstGeom prst="rect">
              <a:avLst/>
            </a:prstGeom>
          </p:spPr>
          <p:txBody>
            <a:bodyPr lIns="0" tIns="0" rIns="0" bIns="0" rtlCol="0" anchor="t"/>
            <a:lstStyle/>
            <a:p>
              <a:pPr algn="ctr">
                <a:lnSpc>
                  <a:spcPts val="6100"/>
                </a:lnSpc>
              </a:pPr>
              <a:r>
                <a:rPr lang="en-US" sz="4499" b="1">
                  <a:solidFill>
                    <a:srgbClr val="000000"/>
                  </a:solidFill>
                  <a:latin typeface="Poppins Bold"/>
                  <a:ea typeface="Poppins Bold"/>
                  <a:cs typeface="Poppins Bold"/>
                  <a:sym typeface="Poppins Bold"/>
                </a:rPr>
                <a:t>Analysis and Visualisation Tools </a:t>
              </a:r>
            </a:p>
          </p:txBody>
        </p:sp>
      </p:grpSp>
      <p:grpSp>
        <p:nvGrpSpPr>
          <p:cNvPr id="5" name="Group 5"/>
          <p:cNvGrpSpPr/>
          <p:nvPr/>
        </p:nvGrpSpPr>
        <p:grpSpPr>
          <a:xfrm>
            <a:off x="1028700" y="1587582"/>
            <a:ext cx="7690137" cy="8730234"/>
            <a:chOff x="0" y="0"/>
            <a:chExt cx="10253517" cy="11640312"/>
          </a:xfrm>
        </p:grpSpPr>
        <p:sp>
          <p:nvSpPr>
            <p:cNvPr id="6" name="Freeform 6"/>
            <p:cNvSpPr/>
            <p:nvPr/>
          </p:nvSpPr>
          <p:spPr>
            <a:xfrm>
              <a:off x="0" y="0"/>
              <a:ext cx="10253517" cy="11640312"/>
            </a:xfrm>
            <a:custGeom>
              <a:avLst/>
              <a:gdLst/>
              <a:ahLst/>
              <a:cxnLst/>
              <a:rect l="l" t="t" r="r" b="b"/>
              <a:pathLst>
                <a:path w="10253517" h="11640312">
                  <a:moveTo>
                    <a:pt x="0" y="0"/>
                  </a:moveTo>
                  <a:lnTo>
                    <a:pt x="10253517" y="0"/>
                  </a:lnTo>
                  <a:lnTo>
                    <a:pt x="10253517" y="11640312"/>
                  </a:lnTo>
                  <a:lnTo>
                    <a:pt x="0" y="11640312"/>
                  </a:lnTo>
                  <a:close/>
                </a:path>
              </a:pathLst>
            </a:custGeom>
          </p:spPr>
        </p:sp>
        <p:sp>
          <p:nvSpPr>
            <p:cNvPr id="7" name="TextBox 7"/>
            <p:cNvSpPr txBox="1"/>
            <p:nvPr/>
          </p:nvSpPr>
          <p:spPr>
            <a:xfrm>
              <a:off x="0" y="-142875"/>
              <a:ext cx="10253517" cy="11783187"/>
            </a:xfrm>
            <a:prstGeom prst="rect">
              <a:avLst/>
            </a:prstGeom>
          </p:spPr>
          <p:txBody>
            <a:bodyPr lIns="0" tIns="0" rIns="0" bIns="0" rtlCol="0" anchor="t"/>
            <a:lstStyle/>
            <a:p>
              <a:pPr algn="ctr">
                <a:lnSpc>
                  <a:spcPts val="4350"/>
                </a:lnSpc>
              </a:pPr>
              <a:r>
                <a:rPr lang="en-US" sz="2900" b="1">
                  <a:solidFill>
                    <a:srgbClr val="2B4865"/>
                  </a:solidFill>
                  <a:latin typeface="Arial MT Pro Bold"/>
                  <a:ea typeface="Arial MT Pro Bold"/>
                  <a:cs typeface="Arial MT Pro Bold"/>
                  <a:sym typeface="Arial MT Pro Bold"/>
                </a:rPr>
                <a:t>Python</a:t>
              </a:r>
            </a:p>
            <a:p>
              <a:pPr algn="just">
                <a:lnSpc>
                  <a:spcPts val="3300"/>
                </a:lnSpc>
              </a:pPr>
              <a:r>
                <a:rPr lang="en-US" sz="2200" b="1">
                  <a:solidFill>
                    <a:srgbClr val="8064A2"/>
                  </a:solidFill>
                  <a:latin typeface="Arial MT Pro Bold"/>
                  <a:ea typeface="Arial MT Pro Bold"/>
                  <a:cs typeface="Arial MT Pro Bold"/>
                  <a:sym typeface="Arial MT Pro Bold"/>
                </a:rPr>
                <a:t>Suitability:</a:t>
              </a:r>
              <a:r>
                <a:rPr lang="en-US" sz="2200">
                  <a:solidFill>
                    <a:srgbClr val="000000"/>
                  </a:solidFill>
                  <a:latin typeface="Arial MT Pro"/>
                  <a:ea typeface="Arial MT Pro"/>
                  <a:cs typeface="Arial MT Pro"/>
                  <a:sym typeface="Arial MT Pro"/>
                </a:rPr>
                <a:t> Python is perfect for more complex analysis and handling both structured and unstructured data. Libraries like Pandas for data manipulation, Matplotlib/ Seaborn for visualizations, and Folium for mapping make it highly customizable for deep dives into the Shark Attacks Dataset.</a:t>
              </a:r>
            </a:p>
            <a:p>
              <a:pPr algn="just">
                <a:lnSpc>
                  <a:spcPts val="3300"/>
                </a:lnSpc>
              </a:pPr>
              <a:r>
                <a:rPr lang="en-US" sz="2200" b="1">
                  <a:solidFill>
                    <a:srgbClr val="8064A2"/>
                  </a:solidFill>
                  <a:latin typeface="Arial MT Pro Bold"/>
                  <a:ea typeface="Arial MT Pro Bold"/>
                  <a:cs typeface="Arial MT Pro Bold"/>
                  <a:sym typeface="Arial MT Pro Bold"/>
                </a:rPr>
                <a:t>Pros:</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Extremely flexible for custom analyses and visualizations.</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Can handle large datasets efficiently and perform advanced statistical analysis.</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Open-source, which makes it free to use.</a:t>
              </a:r>
            </a:p>
            <a:p>
              <a:pPr algn="just">
                <a:lnSpc>
                  <a:spcPts val="3300"/>
                </a:lnSpc>
              </a:pPr>
              <a:r>
                <a:rPr lang="en-US" sz="2200" b="1">
                  <a:solidFill>
                    <a:srgbClr val="8064A2"/>
                  </a:solidFill>
                  <a:latin typeface="Arial MT Pro Bold"/>
                  <a:ea typeface="Arial MT Pro Bold"/>
                  <a:cs typeface="Arial MT Pro Bold"/>
                  <a:sym typeface="Arial MT Pro Bold"/>
                </a:rPr>
                <a:t>Cons: </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Requires programming knowledge, making it less user-friendly for non-technical users.</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Takes more time to create visualizations compared to drag-and-drop tools like Tableau or Power BI.</a:t>
              </a:r>
            </a:p>
          </p:txBody>
        </p:sp>
      </p:grpSp>
      <p:sp>
        <p:nvSpPr>
          <p:cNvPr id="8" name="AutoShape 8"/>
          <p:cNvSpPr/>
          <p:nvPr/>
        </p:nvSpPr>
        <p:spPr>
          <a:xfrm flipV="1">
            <a:off x="9144000" y="1905897"/>
            <a:ext cx="0" cy="7352403"/>
          </a:xfrm>
          <a:prstGeom prst="line">
            <a:avLst/>
          </a:prstGeom>
          <a:ln w="38100" cap="flat">
            <a:solidFill>
              <a:srgbClr val="000000"/>
            </a:solidFill>
            <a:prstDash val="solid"/>
            <a:headEnd type="none" w="sm" len="sm"/>
            <a:tailEnd type="none" w="sm" len="sm"/>
          </a:ln>
        </p:spPr>
      </p:sp>
      <p:grpSp>
        <p:nvGrpSpPr>
          <p:cNvPr id="9" name="Group 9"/>
          <p:cNvGrpSpPr/>
          <p:nvPr/>
        </p:nvGrpSpPr>
        <p:grpSpPr>
          <a:xfrm>
            <a:off x="9553575" y="1556766"/>
            <a:ext cx="7705725" cy="8730234"/>
            <a:chOff x="0" y="0"/>
            <a:chExt cx="10274300" cy="11640312"/>
          </a:xfrm>
        </p:grpSpPr>
        <p:sp>
          <p:nvSpPr>
            <p:cNvPr id="10" name="Freeform 10"/>
            <p:cNvSpPr/>
            <p:nvPr/>
          </p:nvSpPr>
          <p:spPr>
            <a:xfrm>
              <a:off x="0" y="0"/>
              <a:ext cx="10274300" cy="11640312"/>
            </a:xfrm>
            <a:custGeom>
              <a:avLst/>
              <a:gdLst/>
              <a:ahLst/>
              <a:cxnLst/>
              <a:rect l="l" t="t" r="r" b="b"/>
              <a:pathLst>
                <a:path w="10274300" h="11640312">
                  <a:moveTo>
                    <a:pt x="0" y="0"/>
                  </a:moveTo>
                  <a:lnTo>
                    <a:pt x="10274300" y="0"/>
                  </a:lnTo>
                  <a:lnTo>
                    <a:pt x="10274300" y="11640312"/>
                  </a:lnTo>
                  <a:lnTo>
                    <a:pt x="0" y="11640312"/>
                  </a:lnTo>
                  <a:close/>
                </a:path>
              </a:pathLst>
            </a:custGeom>
          </p:spPr>
        </p:sp>
        <p:sp>
          <p:nvSpPr>
            <p:cNvPr id="11" name="TextBox 11"/>
            <p:cNvSpPr txBox="1"/>
            <p:nvPr/>
          </p:nvSpPr>
          <p:spPr>
            <a:xfrm>
              <a:off x="0" y="-142875"/>
              <a:ext cx="10274300" cy="11783187"/>
            </a:xfrm>
            <a:prstGeom prst="rect">
              <a:avLst/>
            </a:prstGeom>
          </p:spPr>
          <p:txBody>
            <a:bodyPr lIns="0" tIns="0" rIns="0" bIns="0" rtlCol="0" anchor="t"/>
            <a:lstStyle/>
            <a:p>
              <a:pPr algn="ctr">
                <a:lnSpc>
                  <a:spcPts val="4350"/>
                </a:lnSpc>
              </a:pPr>
              <a:r>
                <a:rPr lang="en-US" sz="2900" b="1">
                  <a:solidFill>
                    <a:srgbClr val="2B4865"/>
                  </a:solidFill>
                  <a:latin typeface="Arial MT Pro Bold"/>
                  <a:ea typeface="Arial MT Pro Bold"/>
                  <a:cs typeface="Arial MT Pro Bold"/>
                  <a:sym typeface="Arial MT Pro Bold"/>
                </a:rPr>
                <a:t>Microsoft Excel</a:t>
              </a:r>
            </a:p>
            <a:p>
              <a:pPr algn="just">
                <a:lnSpc>
                  <a:spcPts val="3300"/>
                </a:lnSpc>
              </a:pPr>
              <a:r>
                <a:rPr lang="en-US" sz="2200" b="1">
                  <a:solidFill>
                    <a:srgbClr val="8064A2"/>
                  </a:solidFill>
                  <a:latin typeface="Arial MT Pro Bold"/>
                  <a:ea typeface="Arial MT Pro Bold"/>
                  <a:cs typeface="Arial MT Pro Bold"/>
                  <a:sym typeface="Arial MT Pro Bold"/>
                </a:rPr>
                <a:t>Suitability: </a:t>
              </a:r>
              <a:r>
                <a:rPr lang="en-US" sz="2200">
                  <a:solidFill>
                    <a:srgbClr val="000000"/>
                  </a:solidFill>
                  <a:latin typeface="Arial MT Pro"/>
                  <a:ea typeface="Arial MT Pro"/>
                  <a:cs typeface="Arial MT Pro"/>
                  <a:sym typeface="Arial MT Pro"/>
                </a:rPr>
                <a:t>Excel is widely accessible and can be useful for basic analysis of the Shark Attacks Dataset, especially when it comes to filtering, sorting, and creating basic charts. However, for larger datasets, its capabilities are limited compared to more specialized tools.</a:t>
              </a:r>
            </a:p>
            <a:p>
              <a:pPr algn="just">
                <a:lnSpc>
                  <a:spcPts val="3300"/>
                </a:lnSpc>
              </a:pPr>
              <a:r>
                <a:rPr lang="en-US" sz="2200" b="1">
                  <a:solidFill>
                    <a:srgbClr val="8064A2"/>
                  </a:solidFill>
                  <a:latin typeface="Arial MT Pro Bold"/>
                  <a:ea typeface="Arial MT Pro Bold"/>
                  <a:cs typeface="Arial MT Pro Bold"/>
                  <a:sym typeface="Arial MT Pro Bold"/>
                </a:rPr>
                <a:t>Pros:</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Easy to use and widely available.</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Good for small datasets and basic analysis like pivot tables, bar charts, and line graphs.</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Familiar to most users, requiring minimal learning curve.</a:t>
              </a:r>
            </a:p>
            <a:p>
              <a:pPr algn="just">
                <a:lnSpc>
                  <a:spcPts val="3300"/>
                </a:lnSpc>
              </a:pPr>
              <a:r>
                <a:rPr lang="en-US" sz="2200" b="1">
                  <a:solidFill>
                    <a:srgbClr val="8064A2"/>
                  </a:solidFill>
                  <a:latin typeface="Arial MT Pro Bold"/>
                  <a:ea typeface="Arial MT Pro Bold"/>
                  <a:cs typeface="Arial MT Pro Bold"/>
                  <a:sym typeface="Arial MT Pro Bold"/>
                </a:rPr>
                <a:t>Cons: </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Not suitable for handling large datasets efficiently.</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Limited visualization options for complex or interactive data exploration.</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Not ideal for advanced statistical analysis or geographic mapping.</a:t>
              </a:r>
            </a:p>
          </p:txBody>
        </p:sp>
      </p:grpSp>
      <p:sp>
        <p:nvSpPr>
          <p:cNvPr id="12" name="TextBox 12"/>
          <p:cNvSpPr txBox="1"/>
          <p:nvPr/>
        </p:nvSpPr>
        <p:spPr>
          <a:xfrm>
            <a:off x="3695725" y="9568039"/>
            <a:ext cx="5023113" cy="419755"/>
          </a:xfrm>
          <a:prstGeom prst="rect">
            <a:avLst/>
          </a:prstGeom>
        </p:spPr>
        <p:txBody>
          <a:bodyPr lIns="0" tIns="0" rIns="0" bIns="0" rtlCol="0" anchor="t">
            <a:spAutoFit/>
          </a:bodyPr>
          <a:lstStyle/>
          <a:p>
            <a:pPr algn="r">
              <a:lnSpc>
                <a:spcPts val="3113"/>
              </a:lnSpc>
              <a:spcBef>
                <a:spcPct val="0"/>
              </a:spcBef>
            </a:pPr>
            <a:r>
              <a:rPr lang="en-US" sz="2224" i="1">
                <a:solidFill>
                  <a:srgbClr val="000000"/>
                </a:solidFill>
                <a:latin typeface="Arial MT Pro Italics"/>
                <a:ea typeface="Arial MT Pro Italics"/>
                <a:cs typeface="Arial MT Pro Italics"/>
                <a:sym typeface="Arial MT Pro Italics"/>
              </a:rPr>
              <a:t>(Pavlovych, 2025; Mattoo, 2023) </a:t>
            </a:r>
          </a:p>
        </p:txBody>
      </p:sp>
      <p:sp>
        <p:nvSpPr>
          <p:cNvPr id="13" name="TextBox 13"/>
          <p:cNvSpPr txBox="1"/>
          <p:nvPr/>
        </p:nvSpPr>
        <p:spPr>
          <a:xfrm>
            <a:off x="12236187" y="9568039"/>
            <a:ext cx="5023113" cy="419755"/>
          </a:xfrm>
          <a:prstGeom prst="rect">
            <a:avLst/>
          </a:prstGeom>
        </p:spPr>
        <p:txBody>
          <a:bodyPr lIns="0" tIns="0" rIns="0" bIns="0" rtlCol="0" anchor="t">
            <a:spAutoFit/>
          </a:bodyPr>
          <a:lstStyle/>
          <a:p>
            <a:pPr algn="r">
              <a:lnSpc>
                <a:spcPts val="3113"/>
              </a:lnSpc>
              <a:spcBef>
                <a:spcPct val="0"/>
              </a:spcBef>
            </a:pPr>
            <a:r>
              <a:rPr lang="en-US" sz="2224" i="1">
                <a:solidFill>
                  <a:srgbClr val="000000"/>
                </a:solidFill>
                <a:latin typeface="Arial MT Pro Italics"/>
                <a:ea typeface="Arial MT Pro Italics"/>
                <a:cs typeface="Arial MT Pro Italics"/>
                <a:sym typeface="Arial MT Pro Italics"/>
              </a:rPr>
              <a:t>(Barraza, 2024; esProc, 2025)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343150" y="469818"/>
            <a:ext cx="13601700" cy="1117763"/>
            <a:chOff x="0" y="0"/>
            <a:chExt cx="18135600" cy="1490351"/>
          </a:xfrm>
        </p:grpSpPr>
        <p:sp>
          <p:nvSpPr>
            <p:cNvPr id="3" name="Freeform 3"/>
            <p:cNvSpPr/>
            <p:nvPr/>
          </p:nvSpPr>
          <p:spPr>
            <a:xfrm>
              <a:off x="0" y="0"/>
              <a:ext cx="18135600" cy="1490351"/>
            </a:xfrm>
            <a:custGeom>
              <a:avLst/>
              <a:gdLst/>
              <a:ahLst/>
              <a:cxnLst/>
              <a:rect l="l" t="t" r="r" b="b"/>
              <a:pathLst>
                <a:path w="18135600" h="1490351">
                  <a:moveTo>
                    <a:pt x="0" y="0"/>
                  </a:moveTo>
                  <a:lnTo>
                    <a:pt x="18135600" y="0"/>
                  </a:lnTo>
                  <a:lnTo>
                    <a:pt x="18135600" y="1490351"/>
                  </a:lnTo>
                  <a:lnTo>
                    <a:pt x="0" y="1490351"/>
                  </a:lnTo>
                  <a:close/>
                </a:path>
              </a:pathLst>
            </a:custGeom>
          </p:spPr>
        </p:sp>
        <p:sp>
          <p:nvSpPr>
            <p:cNvPr id="4" name="TextBox 4"/>
            <p:cNvSpPr txBox="1"/>
            <p:nvPr/>
          </p:nvSpPr>
          <p:spPr>
            <a:xfrm>
              <a:off x="0" y="-114300"/>
              <a:ext cx="18135600" cy="1604651"/>
            </a:xfrm>
            <a:prstGeom prst="rect">
              <a:avLst/>
            </a:prstGeom>
          </p:spPr>
          <p:txBody>
            <a:bodyPr lIns="0" tIns="0" rIns="0" bIns="0" rtlCol="0" anchor="t"/>
            <a:lstStyle/>
            <a:p>
              <a:pPr algn="ctr">
                <a:lnSpc>
                  <a:spcPts val="6100"/>
                </a:lnSpc>
              </a:pPr>
              <a:r>
                <a:rPr lang="en-US" sz="4499" b="1">
                  <a:solidFill>
                    <a:srgbClr val="000000"/>
                  </a:solidFill>
                  <a:latin typeface="Poppins Bold"/>
                  <a:ea typeface="Poppins Bold"/>
                  <a:cs typeface="Poppins Bold"/>
                  <a:sym typeface="Poppins Bold"/>
                </a:rPr>
                <a:t>Analysis and Visualisation Tools </a:t>
              </a:r>
            </a:p>
          </p:txBody>
        </p:sp>
      </p:grpSp>
      <p:grpSp>
        <p:nvGrpSpPr>
          <p:cNvPr id="5" name="Group 5"/>
          <p:cNvGrpSpPr/>
          <p:nvPr/>
        </p:nvGrpSpPr>
        <p:grpSpPr>
          <a:xfrm>
            <a:off x="1028700" y="1587582"/>
            <a:ext cx="7701310" cy="8730234"/>
            <a:chOff x="0" y="0"/>
            <a:chExt cx="10268414" cy="11640312"/>
          </a:xfrm>
        </p:grpSpPr>
        <p:sp>
          <p:nvSpPr>
            <p:cNvPr id="6" name="Freeform 6"/>
            <p:cNvSpPr/>
            <p:nvPr/>
          </p:nvSpPr>
          <p:spPr>
            <a:xfrm>
              <a:off x="0" y="0"/>
              <a:ext cx="10268414" cy="11640312"/>
            </a:xfrm>
            <a:custGeom>
              <a:avLst/>
              <a:gdLst/>
              <a:ahLst/>
              <a:cxnLst/>
              <a:rect l="l" t="t" r="r" b="b"/>
              <a:pathLst>
                <a:path w="10268414" h="11640312">
                  <a:moveTo>
                    <a:pt x="0" y="0"/>
                  </a:moveTo>
                  <a:lnTo>
                    <a:pt x="10268414" y="0"/>
                  </a:lnTo>
                  <a:lnTo>
                    <a:pt x="10268414" y="11640312"/>
                  </a:lnTo>
                  <a:lnTo>
                    <a:pt x="0" y="11640312"/>
                  </a:lnTo>
                  <a:close/>
                </a:path>
              </a:pathLst>
            </a:custGeom>
          </p:spPr>
        </p:sp>
        <p:sp>
          <p:nvSpPr>
            <p:cNvPr id="7" name="TextBox 7"/>
            <p:cNvSpPr txBox="1"/>
            <p:nvPr/>
          </p:nvSpPr>
          <p:spPr>
            <a:xfrm>
              <a:off x="0" y="-142875"/>
              <a:ext cx="10268414" cy="11783187"/>
            </a:xfrm>
            <a:prstGeom prst="rect">
              <a:avLst/>
            </a:prstGeom>
          </p:spPr>
          <p:txBody>
            <a:bodyPr lIns="0" tIns="0" rIns="0" bIns="0" rtlCol="0" anchor="t"/>
            <a:lstStyle/>
            <a:p>
              <a:pPr algn="ctr">
                <a:lnSpc>
                  <a:spcPts val="4350"/>
                </a:lnSpc>
              </a:pPr>
              <a:r>
                <a:rPr lang="en-US" sz="2900" b="1">
                  <a:solidFill>
                    <a:srgbClr val="2B4865"/>
                  </a:solidFill>
                  <a:latin typeface="Arial MT Pro Bold"/>
                  <a:ea typeface="Arial MT Pro Bold"/>
                  <a:cs typeface="Arial MT Pro Bold"/>
                  <a:sym typeface="Arial MT Pro Bold"/>
                </a:rPr>
                <a:t>Tableau</a:t>
              </a:r>
            </a:p>
            <a:p>
              <a:pPr algn="just">
                <a:lnSpc>
                  <a:spcPts val="3300"/>
                </a:lnSpc>
              </a:pPr>
              <a:r>
                <a:rPr lang="en-US" sz="2200" b="1">
                  <a:solidFill>
                    <a:srgbClr val="8064A2"/>
                  </a:solidFill>
                  <a:latin typeface="Arial MT Pro Bold"/>
                  <a:ea typeface="Arial MT Pro Bold"/>
                  <a:cs typeface="Arial MT Pro Bold"/>
                  <a:sym typeface="Arial MT Pro Bold"/>
                </a:rPr>
                <a:t>Suitability: </a:t>
              </a:r>
              <a:r>
                <a:rPr lang="en-US" sz="2200">
                  <a:solidFill>
                    <a:srgbClr val="000000"/>
                  </a:solidFill>
                  <a:latin typeface="Arial MT Pro"/>
                  <a:ea typeface="Arial MT Pro"/>
                  <a:cs typeface="Arial MT Pro"/>
                  <a:sym typeface="Arial MT Pro"/>
                </a:rPr>
                <a:t>Tableau is excellent for visualizing large datasets with geographical and temporal data. It can create interactive dashboards, heat maps, and time-series visualizations, which are ideal for understanding patterns in shark attack incidents across locations, species, and time.</a:t>
              </a:r>
              <a:r>
                <a:rPr lang="en-US" sz="2200" b="1">
                  <a:solidFill>
                    <a:srgbClr val="8064A2"/>
                  </a:solidFill>
                  <a:latin typeface="Arial MT Pro Bold"/>
                  <a:ea typeface="Arial MT Pro Bold"/>
                  <a:cs typeface="Arial MT Pro Bold"/>
                  <a:sym typeface="Arial MT Pro Bold"/>
                </a:rPr>
                <a:t> </a:t>
              </a:r>
            </a:p>
            <a:p>
              <a:pPr algn="just">
                <a:lnSpc>
                  <a:spcPts val="3300"/>
                </a:lnSpc>
              </a:pPr>
              <a:r>
                <a:rPr lang="en-US" sz="2200" b="1">
                  <a:solidFill>
                    <a:srgbClr val="8064A2"/>
                  </a:solidFill>
                  <a:latin typeface="Arial MT Pro Bold"/>
                  <a:ea typeface="Arial MT Pro Bold"/>
                  <a:cs typeface="Arial MT Pro Bold"/>
                  <a:sym typeface="Arial MT Pro Bold"/>
                </a:rPr>
                <a:t>Pros:</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Advanced geographical mapping for visualizing shark attack locations.</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Intuitive drag-and-drop interface for creating complex visualizations.</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Strong temporal visualizations to analyse trends over time.</a:t>
              </a:r>
            </a:p>
            <a:p>
              <a:pPr algn="just">
                <a:lnSpc>
                  <a:spcPts val="3300"/>
                </a:lnSpc>
              </a:pPr>
              <a:r>
                <a:rPr lang="en-US" sz="2200" b="1">
                  <a:solidFill>
                    <a:srgbClr val="8064A2"/>
                  </a:solidFill>
                  <a:latin typeface="Arial MT Pro Bold"/>
                  <a:ea typeface="Arial MT Pro Bold"/>
                  <a:cs typeface="Arial MT Pro Bold"/>
                  <a:sym typeface="Arial MT Pro Bold"/>
                </a:rPr>
                <a:t>Cons: </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Can be expensive for smaller organizations or individual users.</a:t>
              </a:r>
            </a:p>
            <a:p>
              <a:pPr marL="474986" lvl="1" indent="-237493" algn="just">
                <a:lnSpc>
                  <a:spcPts val="3300"/>
                </a:lnSpc>
                <a:buFont typeface="Arial"/>
                <a:buChar char="•"/>
              </a:pPr>
              <a:r>
                <a:rPr lang="en-US" sz="2200">
                  <a:solidFill>
                    <a:srgbClr val="000000"/>
                  </a:solidFill>
                  <a:latin typeface="Arial MT Pro"/>
                  <a:ea typeface="Arial MT Pro"/>
                  <a:cs typeface="Arial MT Pro"/>
                  <a:sym typeface="Arial MT Pro"/>
                </a:rPr>
                <a:t>Might have a learning curve for beginners, especially when dealing with complex datasets.</a:t>
              </a:r>
            </a:p>
          </p:txBody>
        </p:sp>
      </p:grpSp>
      <p:sp>
        <p:nvSpPr>
          <p:cNvPr id="8" name="AutoShape 8"/>
          <p:cNvSpPr/>
          <p:nvPr/>
        </p:nvSpPr>
        <p:spPr>
          <a:xfrm flipV="1">
            <a:off x="9144000" y="1905897"/>
            <a:ext cx="0" cy="7352403"/>
          </a:xfrm>
          <a:prstGeom prst="line">
            <a:avLst/>
          </a:prstGeom>
          <a:ln w="38100" cap="flat">
            <a:solidFill>
              <a:srgbClr val="000000"/>
            </a:solidFill>
            <a:prstDash val="solid"/>
            <a:headEnd type="none" w="sm" len="sm"/>
            <a:tailEnd type="none" w="sm" len="sm"/>
          </a:ln>
        </p:spPr>
      </p:sp>
      <p:grpSp>
        <p:nvGrpSpPr>
          <p:cNvPr id="9" name="Group 9"/>
          <p:cNvGrpSpPr/>
          <p:nvPr/>
        </p:nvGrpSpPr>
        <p:grpSpPr>
          <a:xfrm>
            <a:off x="9553575" y="1556766"/>
            <a:ext cx="7705725" cy="8730234"/>
            <a:chOff x="0" y="0"/>
            <a:chExt cx="10274300" cy="11640312"/>
          </a:xfrm>
        </p:grpSpPr>
        <p:sp>
          <p:nvSpPr>
            <p:cNvPr id="10" name="Freeform 10"/>
            <p:cNvSpPr/>
            <p:nvPr/>
          </p:nvSpPr>
          <p:spPr>
            <a:xfrm>
              <a:off x="0" y="0"/>
              <a:ext cx="10274300" cy="11640312"/>
            </a:xfrm>
            <a:custGeom>
              <a:avLst/>
              <a:gdLst/>
              <a:ahLst/>
              <a:cxnLst/>
              <a:rect l="l" t="t" r="r" b="b"/>
              <a:pathLst>
                <a:path w="10274300" h="11640312">
                  <a:moveTo>
                    <a:pt x="0" y="0"/>
                  </a:moveTo>
                  <a:lnTo>
                    <a:pt x="10274300" y="0"/>
                  </a:lnTo>
                  <a:lnTo>
                    <a:pt x="10274300" y="11640312"/>
                  </a:lnTo>
                  <a:lnTo>
                    <a:pt x="0" y="11640312"/>
                  </a:lnTo>
                  <a:close/>
                </a:path>
              </a:pathLst>
            </a:custGeom>
          </p:spPr>
        </p:sp>
        <p:sp>
          <p:nvSpPr>
            <p:cNvPr id="11" name="TextBox 11"/>
            <p:cNvSpPr txBox="1"/>
            <p:nvPr/>
          </p:nvSpPr>
          <p:spPr>
            <a:xfrm>
              <a:off x="0" y="-142875"/>
              <a:ext cx="10274300" cy="11783187"/>
            </a:xfrm>
            <a:prstGeom prst="rect">
              <a:avLst/>
            </a:prstGeom>
          </p:spPr>
          <p:txBody>
            <a:bodyPr lIns="0" tIns="0" rIns="0" bIns="0" rtlCol="0" anchor="t"/>
            <a:lstStyle/>
            <a:p>
              <a:pPr algn="ctr">
                <a:lnSpc>
                  <a:spcPts val="4200"/>
                </a:lnSpc>
              </a:pPr>
              <a:r>
                <a:rPr lang="en-US" sz="2800" b="1">
                  <a:solidFill>
                    <a:srgbClr val="2B4865"/>
                  </a:solidFill>
                  <a:latin typeface="Arial MT Pro Bold"/>
                  <a:ea typeface="Arial MT Pro Bold"/>
                  <a:cs typeface="Arial MT Pro Bold"/>
                  <a:sym typeface="Arial MT Pro Bold"/>
                </a:rPr>
                <a:t>Microsoft Power BI</a:t>
              </a:r>
            </a:p>
            <a:p>
              <a:pPr algn="just">
                <a:lnSpc>
                  <a:spcPts val="3150"/>
                </a:lnSpc>
              </a:pPr>
              <a:r>
                <a:rPr lang="en-US" sz="2100" b="1">
                  <a:solidFill>
                    <a:srgbClr val="8064A2"/>
                  </a:solidFill>
                  <a:latin typeface="Arial MT Pro Bold"/>
                  <a:ea typeface="Arial MT Pro Bold"/>
                  <a:cs typeface="Arial MT Pro Bold"/>
                  <a:sym typeface="Arial MT Pro Bold"/>
                </a:rPr>
                <a:t>Suitability: </a:t>
              </a:r>
              <a:r>
                <a:rPr lang="en-US" sz="2100">
                  <a:solidFill>
                    <a:srgbClr val="000000"/>
                  </a:solidFill>
                  <a:latin typeface="Arial MT Pro"/>
                  <a:ea typeface="Arial MT Pro"/>
                  <a:cs typeface="Arial MT Pro"/>
                  <a:sym typeface="Arial MT Pro"/>
                </a:rPr>
                <a:t>Power BI is highly suitable for analyzing and visualizing structured datasets like the Shark Attacks Dataset. It supports geospatial visualizations, time series analysis, and detailed filtering, making it easy to explore patterns across different attributes such as location, species, activity, and more.</a:t>
              </a:r>
            </a:p>
            <a:p>
              <a:pPr algn="just">
                <a:lnSpc>
                  <a:spcPts val="3150"/>
                </a:lnSpc>
              </a:pPr>
              <a:r>
                <a:rPr lang="en-US" sz="2100" b="1">
                  <a:solidFill>
                    <a:srgbClr val="8064A2"/>
                  </a:solidFill>
                  <a:latin typeface="Arial MT Pro Bold"/>
                  <a:ea typeface="Arial MT Pro Bold"/>
                  <a:cs typeface="Arial MT Pro Bold"/>
                  <a:sym typeface="Arial MT Pro Bold"/>
                </a:rPr>
                <a:t>Pros:</a:t>
              </a:r>
            </a:p>
            <a:p>
              <a:pPr marL="453396" lvl="1" indent="-226698" algn="just">
                <a:lnSpc>
                  <a:spcPts val="3150"/>
                </a:lnSpc>
                <a:buFont typeface="Arial"/>
                <a:buChar char="•"/>
              </a:pPr>
              <a:r>
                <a:rPr lang="en-US" sz="2100">
                  <a:solidFill>
                    <a:srgbClr val="000000"/>
                  </a:solidFill>
                  <a:latin typeface="Arial MT Pro"/>
                  <a:ea typeface="Arial MT Pro"/>
                  <a:cs typeface="Arial MT Pro"/>
                  <a:sym typeface="Arial MT Pro"/>
                </a:rPr>
                <a:t>Seamless integration with various data sources (e.g., Excel, SQL).</a:t>
              </a:r>
            </a:p>
            <a:p>
              <a:pPr marL="453396" lvl="1" indent="-226698" algn="just">
                <a:lnSpc>
                  <a:spcPts val="3150"/>
                </a:lnSpc>
                <a:buFont typeface="Arial"/>
                <a:buChar char="•"/>
              </a:pPr>
              <a:r>
                <a:rPr lang="en-US" sz="2100">
                  <a:solidFill>
                    <a:srgbClr val="000000"/>
                  </a:solidFill>
                  <a:latin typeface="Arial MT Pro"/>
                  <a:ea typeface="Arial MT Pro"/>
                  <a:cs typeface="Arial MT Pro"/>
                  <a:sym typeface="Arial MT Pro"/>
                </a:rPr>
                <a:t>Affordable, especially for organizations already using Microsoft products.</a:t>
              </a:r>
            </a:p>
            <a:p>
              <a:pPr marL="453396" lvl="1" indent="-226698" algn="just">
                <a:lnSpc>
                  <a:spcPts val="3150"/>
                </a:lnSpc>
                <a:buFont typeface="Arial"/>
                <a:buChar char="•"/>
              </a:pPr>
              <a:r>
                <a:rPr lang="en-US" sz="2100">
                  <a:solidFill>
                    <a:srgbClr val="000000"/>
                  </a:solidFill>
                  <a:latin typeface="Arial MT Pro"/>
                  <a:ea typeface="Arial MT Pro"/>
                  <a:cs typeface="Arial MT Pro"/>
                  <a:sym typeface="Arial MT Pro"/>
                </a:rPr>
                <a:t>Powerful filtering and drill-down features for in-depth analysis.</a:t>
              </a:r>
            </a:p>
            <a:p>
              <a:pPr algn="just">
                <a:lnSpc>
                  <a:spcPts val="3150"/>
                </a:lnSpc>
              </a:pPr>
              <a:r>
                <a:rPr lang="en-US" sz="2100" b="1">
                  <a:solidFill>
                    <a:srgbClr val="8064A2"/>
                  </a:solidFill>
                  <a:latin typeface="Arial MT Pro Bold"/>
                  <a:ea typeface="Arial MT Pro Bold"/>
                  <a:cs typeface="Arial MT Pro Bold"/>
                  <a:sym typeface="Arial MT Pro Bold"/>
                </a:rPr>
                <a:t>Cons: </a:t>
              </a:r>
            </a:p>
            <a:p>
              <a:pPr marL="453396" lvl="1" indent="-226698" algn="just">
                <a:lnSpc>
                  <a:spcPts val="3150"/>
                </a:lnSpc>
                <a:buFont typeface="Arial"/>
                <a:buChar char="•"/>
              </a:pPr>
              <a:r>
                <a:rPr lang="en-US" sz="2100">
                  <a:solidFill>
                    <a:srgbClr val="000000"/>
                  </a:solidFill>
                  <a:latin typeface="Arial MT Pro"/>
                  <a:ea typeface="Arial MT Pro"/>
                  <a:cs typeface="Arial MT Pro"/>
                  <a:sym typeface="Arial MT Pro"/>
                </a:rPr>
                <a:t>Limited advanced visualization options compared to Tableau.</a:t>
              </a:r>
            </a:p>
            <a:p>
              <a:pPr marL="453396" lvl="1" indent="-226698" algn="just">
                <a:lnSpc>
                  <a:spcPts val="3150"/>
                </a:lnSpc>
                <a:buFont typeface="Arial"/>
                <a:buChar char="•"/>
              </a:pPr>
              <a:r>
                <a:rPr lang="en-US" sz="2100">
                  <a:solidFill>
                    <a:srgbClr val="000000"/>
                  </a:solidFill>
                  <a:latin typeface="Arial MT Pro"/>
                  <a:ea typeface="Arial MT Pro"/>
                  <a:cs typeface="Arial MT Pro"/>
                  <a:sym typeface="Arial MT Pro"/>
                </a:rPr>
                <a:t>May require more customization to handle unstructured data or complex analysis.</a:t>
              </a:r>
            </a:p>
          </p:txBody>
        </p:sp>
      </p:grpSp>
      <p:sp>
        <p:nvSpPr>
          <p:cNvPr id="12" name="TextBox 12"/>
          <p:cNvSpPr txBox="1"/>
          <p:nvPr/>
        </p:nvSpPr>
        <p:spPr>
          <a:xfrm>
            <a:off x="3695725" y="9568039"/>
            <a:ext cx="5023113" cy="419755"/>
          </a:xfrm>
          <a:prstGeom prst="rect">
            <a:avLst/>
          </a:prstGeom>
        </p:spPr>
        <p:txBody>
          <a:bodyPr lIns="0" tIns="0" rIns="0" bIns="0" rtlCol="0" anchor="t">
            <a:spAutoFit/>
          </a:bodyPr>
          <a:lstStyle/>
          <a:p>
            <a:pPr algn="r">
              <a:lnSpc>
                <a:spcPts val="3113"/>
              </a:lnSpc>
              <a:spcBef>
                <a:spcPct val="0"/>
              </a:spcBef>
            </a:pPr>
            <a:r>
              <a:rPr lang="en-US" sz="2224" i="1">
                <a:solidFill>
                  <a:srgbClr val="000000"/>
                </a:solidFill>
                <a:latin typeface="Arial MT Pro Italics"/>
                <a:ea typeface="Arial MT Pro Italics"/>
                <a:cs typeface="Arial MT Pro Italics"/>
                <a:sym typeface="Arial MT Pro Italics"/>
              </a:rPr>
              <a:t>(Dixon, 2010; Shaptunova, 2025) </a:t>
            </a:r>
          </a:p>
        </p:txBody>
      </p:sp>
      <p:sp>
        <p:nvSpPr>
          <p:cNvPr id="13" name="TextBox 13"/>
          <p:cNvSpPr txBox="1"/>
          <p:nvPr/>
        </p:nvSpPr>
        <p:spPr>
          <a:xfrm>
            <a:off x="12236187" y="9568039"/>
            <a:ext cx="5023113" cy="419755"/>
          </a:xfrm>
          <a:prstGeom prst="rect">
            <a:avLst/>
          </a:prstGeom>
        </p:spPr>
        <p:txBody>
          <a:bodyPr lIns="0" tIns="0" rIns="0" bIns="0" rtlCol="0" anchor="t">
            <a:spAutoFit/>
          </a:bodyPr>
          <a:lstStyle/>
          <a:p>
            <a:pPr algn="r">
              <a:lnSpc>
                <a:spcPts val="3113"/>
              </a:lnSpc>
              <a:spcBef>
                <a:spcPct val="0"/>
              </a:spcBef>
            </a:pPr>
            <a:r>
              <a:rPr lang="en-US" sz="2224" i="1">
                <a:solidFill>
                  <a:srgbClr val="000000"/>
                </a:solidFill>
                <a:latin typeface="Arial MT Pro Italics"/>
                <a:ea typeface="Arial MT Pro Italics"/>
                <a:cs typeface="Arial MT Pro Italics"/>
                <a:sym typeface="Arial MT Pro Italics"/>
              </a:rPr>
              <a:t>(Pavlenko, 2022; DataFlair Team, 2018)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17362"/>
            <a:ext cx="12839700" cy="1117763"/>
            <a:chOff x="0" y="0"/>
            <a:chExt cx="17119600" cy="1490351"/>
          </a:xfrm>
        </p:grpSpPr>
        <p:sp>
          <p:nvSpPr>
            <p:cNvPr id="3" name="Freeform 3"/>
            <p:cNvSpPr/>
            <p:nvPr/>
          </p:nvSpPr>
          <p:spPr>
            <a:xfrm>
              <a:off x="0" y="0"/>
              <a:ext cx="17119600" cy="1490351"/>
            </a:xfrm>
            <a:custGeom>
              <a:avLst/>
              <a:gdLst/>
              <a:ahLst/>
              <a:cxnLst/>
              <a:rect l="l" t="t" r="r" b="b"/>
              <a:pathLst>
                <a:path w="17119600" h="1490351">
                  <a:moveTo>
                    <a:pt x="0" y="0"/>
                  </a:moveTo>
                  <a:lnTo>
                    <a:pt x="17119600" y="0"/>
                  </a:lnTo>
                  <a:lnTo>
                    <a:pt x="17119600" y="1490351"/>
                  </a:lnTo>
                  <a:lnTo>
                    <a:pt x="0" y="1490351"/>
                  </a:lnTo>
                  <a:close/>
                </a:path>
              </a:pathLst>
            </a:custGeom>
          </p:spPr>
        </p:sp>
        <p:sp>
          <p:nvSpPr>
            <p:cNvPr id="4" name="TextBox 4"/>
            <p:cNvSpPr txBox="1"/>
            <p:nvPr/>
          </p:nvSpPr>
          <p:spPr>
            <a:xfrm>
              <a:off x="0" y="-114300"/>
              <a:ext cx="17119600"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Introduction to the Dataset</a:t>
              </a:r>
            </a:p>
          </p:txBody>
        </p:sp>
      </p:grpSp>
      <p:grpSp>
        <p:nvGrpSpPr>
          <p:cNvPr id="5" name="Group 5"/>
          <p:cNvGrpSpPr/>
          <p:nvPr/>
        </p:nvGrpSpPr>
        <p:grpSpPr>
          <a:xfrm>
            <a:off x="1028700" y="2241129"/>
            <a:ext cx="15355781" cy="6798056"/>
            <a:chOff x="0" y="0"/>
            <a:chExt cx="15074806" cy="6673667"/>
          </a:xfrm>
        </p:grpSpPr>
        <p:sp>
          <p:nvSpPr>
            <p:cNvPr id="6" name="Freeform 6"/>
            <p:cNvSpPr/>
            <p:nvPr/>
          </p:nvSpPr>
          <p:spPr>
            <a:xfrm>
              <a:off x="0" y="0"/>
              <a:ext cx="15074807" cy="6673667"/>
            </a:xfrm>
            <a:custGeom>
              <a:avLst/>
              <a:gdLst/>
              <a:ahLst/>
              <a:cxnLst/>
              <a:rect l="l" t="t" r="r" b="b"/>
              <a:pathLst>
                <a:path w="15074807" h="6673667">
                  <a:moveTo>
                    <a:pt x="0" y="0"/>
                  </a:moveTo>
                  <a:lnTo>
                    <a:pt x="15074807" y="0"/>
                  </a:lnTo>
                  <a:lnTo>
                    <a:pt x="15074807" y="6673667"/>
                  </a:lnTo>
                  <a:lnTo>
                    <a:pt x="0" y="6673667"/>
                  </a:lnTo>
                  <a:close/>
                </a:path>
              </a:pathLst>
            </a:custGeom>
          </p:spPr>
        </p:sp>
        <p:sp>
          <p:nvSpPr>
            <p:cNvPr id="7" name="TextBox 7"/>
            <p:cNvSpPr txBox="1"/>
            <p:nvPr/>
          </p:nvSpPr>
          <p:spPr>
            <a:xfrm>
              <a:off x="0" y="-57150"/>
              <a:ext cx="15074806" cy="6730817"/>
            </a:xfrm>
            <a:prstGeom prst="rect">
              <a:avLst/>
            </a:prstGeom>
          </p:spPr>
          <p:txBody>
            <a:bodyPr lIns="0" tIns="0" rIns="0" bIns="0" rtlCol="0" anchor="t"/>
            <a:lstStyle/>
            <a:p>
              <a:pPr algn="just">
                <a:lnSpc>
                  <a:spcPts val="3479"/>
                </a:lnSpc>
              </a:pPr>
              <a:r>
                <a:rPr lang="en-US" sz="2899">
                  <a:solidFill>
                    <a:srgbClr val="000000"/>
                  </a:solidFill>
                  <a:latin typeface="Arial MT Pro"/>
                  <a:ea typeface="Arial MT Pro"/>
                  <a:cs typeface="Arial MT Pro"/>
                  <a:sym typeface="Arial MT Pro"/>
                </a:rPr>
                <a:t>This dataset hosted on Kaggle (Global Shark Attack Dataset) contains records of shark attacks, including various attributes such as the date of the attack, location, species of shark, and the nature of the incident. The dataset is compiled from various sources and includes forensic examinations of incidents, interviews with victims and witnesses, and evaluations of environmental conditions. </a:t>
              </a:r>
            </a:p>
            <a:p>
              <a:pPr algn="l">
                <a:lnSpc>
                  <a:spcPts val="3479"/>
                </a:lnSpc>
              </a:pPr>
              <a:endParaRPr lang="en-US" sz="2899">
                <a:solidFill>
                  <a:srgbClr val="000000"/>
                </a:solidFill>
                <a:latin typeface="Arial MT Pro"/>
                <a:ea typeface="Arial MT Pro"/>
                <a:cs typeface="Arial MT Pro"/>
                <a:sym typeface="Arial MT Pro"/>
              </a:endParaRPr>
            </a:p>
            <a:p>
              <a:pPr algn="l">
                <a:lnSpc>
                  <a:spcPts val="3479"/>
                </a:lnSpc>
              </a:pPr>
              <a:r>
                <a:rPr lang="en-US" sz="2899" b="1">
                  <a:solidFill>
                    <a:srgbClr val="8064A2"/>
                  </a:solidFill>
                  <a:latin typeface="Arial MT Pro Bold"/>
                  <a:ea typeface="Arial MT Pro Bold"/>
                  <a:cs typeface="Arial MT Pro Bold"/>
                  <a:sym typeface="Arial MT Pro Bold"/>
                </a:rPr>
                <a:t>Purpose of the Program: </a:t>
              </a:r>
            </a:p>
            <a:p>
              <a:pPr marL="626109" lvl="1" indent="-313054" algn="l">
                <a:lnSpc>
                  <a:spcPts val="3479"/>
                </a:lnSpc>
                <a:buFont typeface="Arial"/>
                <a:buChar char="•"/>
              </a:pPr>
              <a:r>
                <a:rPr lang="en-US" sz="2899">
                  <a:solidFill>
                    <a:srgbClr val="000000"/>
                  </a:solidFill>
                  <a:latin typeface="Arial MT Pro"/>
                  <a:ea typeface="Arial MT Pro"/>
                  <a:cs typeface="Arial MT Pro"/>
                  <a:sym typeface="Arial MT Pro"/>
                </a:rPr>
                <a:t>To analyze trends and patterns in shark attack incidents </a:t>
              </a:r>
            </a:p>
            <a:p>
              <a:pPr marL="626109" lvl="1" indent="-313054" algn="l">
                <a:lnSpc>
                  <a:spcPts val="3479"/>
                </a:lnSpc>
                <a:buFont typeface="Arial"/>
                <a:buChar char="•"/>
              </a:pPr>
              <a:r>
                <a:rPr lang="en-US" sz="2899">
                  <a:solidFill>
                    <a:srgbClr val="000000"/>
                  </a:solidFill>
                  <a:latin typeface="Arial MT Pro"/>
                  <a:ea typeface="Arial MT Pro"/>
                  <a:cs typeface="Arial MT Pro"/>
                  <a:sym typeface="Arial MT Pro"/>
                </a:rPr>
                <a:t>To predict shark attack types based on contextual factors like geography, activity, species, and demographics. </a:t>
              </a:r>
            </a:p>
            <a:p>
              <a:pPr marL="626109" lvl="1" indent="-313054" algn="l">
                <a:lnSpc>
                  <a:spcPts val="3479"/>
                </a:lnSpc>
                <a:buFont typeface="Arial"/>
                <a:buChar char="•"/>
              </a:pPr>
              <a:r>
                <a:rPr lang="en-US" sz="2899">
                  <a:solidFill>
                    <a:srgbClr val="000000"/>
                  </a:solidFill>
                  <a:latin typeface="Arial MT Pro"/>
                  <a:ea typeface="Arial MT Pro"/>
                  <a:cs typeface="Arial MT Pro"/>
                  <a:sym typeface="Arial MT Pro"/>
                </a:rPr>
                <a:t>To provide assistance in risk management, awareness campaigns, or marine safety planning.</a:t>
              </a:r>
            </a:p>
            <a:p>
              <a:pPr algn="l">
                <a:lnSpc>
                  <a:spcPts val="3479"/>
                </a:lnSpc>
              </a:pPr>
              <a:endParaRPr lang="en-US" sz="2899">
                <a:solidFill>
                  <a:srgbClr val="000000"/>
                </a:solidFill>
                <a:latin typeface="Arial MT Pro"/>
                <a:ea typeface="Arial MT Pro"/>
                <a:cs typeface="Arial MT Pro"/>
                <a:sym typeface="Arial MT Pro"/>
              </a:endParaRPr>
            </a:p>
          </p:txBody>
        </p:sp>
      </p:grpSp>
      <p:grpSp>
        <p:nvGrpSpPr>
          <p:cNvPr id="8" name="Group 8"/>
          <p:cNvGrpSpPr/>
          <p:nvPr/>
        </p:nvGrpSpPr>
        <p:grpSpPr>
          <a:xfrm>
            <a:off x="1028700" y="1867987"/>
            <a:ext cx="16878300" cy="746284"/>
            <a:chOff x="0" y="0"/>
            <a:chExt cx="22504400" cy="995045"/>
          </a:xfrm>
        </p:grpSpPr>
        <p:sp>
          <p:nvSpPr>
            <p:cNvPr id="9" name="Freeform 9"/>
            <p:cNvSpPr/>
            <p:nvPr/>
          </p:nvSpPr>
          <p:spPr>
            <a:xfrm>
              <a:off x="0" y="0"/>
              <a:ext cx="22504400" cy="995045"/>
            </a:xfrm>
            <a:custGeom>
              <a:avLst/>
              <a:gdLst/>
              <a:ahLst/>
              <a:cxnLst/>
              <a:rect l="l" t="t" r="r" b="b"/>
              <a:pathLst>
                <a:path w="22504400" h="995045">
                  <a:moveTo>
                    <a:pt x="0" y="0"/>
                  </a:moveTo>
                  <a:lnTo>
                    <a:pt x="22504400" y="0"/>
                  </a:lnTo>
                  <a:lnTo>
                    <a:pt x="22504400" y="995045"/>
                  </a:lnTo>
                  <a:lnTo>
                    <a:pt x="0" y="995045"/>
                  </a:lnTo>
                  <a:close/>
                </a:path>
              </a:pathLst>
            </a:custGeom>
          </p:spPr>
        </p:sp>
        <p:sp>
          <p:nvSpPr>
            <p:cNvPr id="10" name="TextBox 10"/>
            <p:cNvSpPr txBox="1"/>
            <p:nvPr/>
          </p:nvSpPr>
          <p:spPr>
            <a:xfrm>
              <a:off x="0" y="-85725"/>
              <a:ext cx="22504400" cy="1080770"/>
            </a:xfrm>
            <a:prstGeom prst="rect">
              <a:avLst/>
            </a:prstGeom>
          </p:spPr>
          <p:txBody>
            <a:bodyPr lIns="0" tIns="0" rIns="0" bIns="0" rtlCol="0" anchor="t"/>
            <a:lstStyle/>
            <a:p>
              <a:pPr algn="just">
                <a:lnSpc>
                  <a:spcPts val="4282"/>
                </a:lnSpc>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66109" y="1744472"/>
            <a:ext cx="15355781" cy="6798056"/>
            <a:chOff x="0" y="0"/>
            <a:chExt cx="15074806" cy="6673667"/>
          </a:xfrm>
        </p:grpSpPr>
        <p:sp>
          <p:nvSpPr>
            <p:cNvPr id="3" name="Freeform 3"/>
            <p:cNvSpPr/>
            <p:nvPr/>
          </p:nvSpPr>
          <p:spPr>
            <a:xfrm>
              <a:off x="0" y="0"/>
              <a:ext cx="15074807" cy="6673667"/>
            </a:xfrm>
            <a:custGeom>
              <a:avLst/>
              <a:gdLst/>
              <a:ahLst/>
              <a:cxnLst/>
              <a:rect l="l" t="t" r="r" b="b"/>
              <a:pathLst>
                <a:path w="15074807" h="6673667">
                  <a:moveTo>
                    <a:pt x="0" y="0"/>
                  </a:moveTo>
                  <a:lnTo>
                    <a:pt x="15074807" y="0"/>
                  </a:lnTo>
                  <a:lnTo>
                    <a:pt x="15074807" y="6673667"/>
                  </a:lnTo>
                  <a:lnTo>
                    <a:pt x="0" y="6673667"/>
                  </a:lnTo>
                  <a:close/>
                </a:path>
              </a:pathLst>
            </a:custGeom>
          </p:spPr>
        </p:sp>
        <p:sp>
          <p:nvSpPr>
            <p:cNvPr id="4" name="TextBox 4"/>
            <p:cNvSpPr txBox="1"/>
            <p:nvPr/>
          </p:nvSpPr>
          <p:spPr>
            <a:xfrm>
              <a:off x="0" y="-57150"/>
              <a:ext cx="15074806" cy="6730817"/>
            </a:xfrm>
            <a:prstGeom prst="rect">
              <a:avLst/>
            </a:prstGeom>
          </p:spPr>
          <p:txBody>
            <a:bodyPr lIns="0" tIns="0" rIns="0" bIns="0" rtlCol="0" anchor="t"/>
            <a:lstStyle/>
            <a:p>
              <a:pPr algn="just">
                <a:lnSpc>
                  <a:spcPts val="3479"/>
                </a:lnSpc>
              </a:pPr>
              <a:r>
                <a:rPr lang="en-US" sz="2899">
                  <a:solidFill>
                    <a:srgbClr val="000000"/>
                  </a:solidFill>
                  <a:latin typeface="Arial MT Pro"/>
                  <a:ea typeface="Arial MT Pro"/>
                  <a:cs typeface="Arial MT Pro"/>
                  <a:sym typeface="Arial MT Pro"/>
                </a:rPr>
                <a:t>This dataset contains 39,098 rows and 255 columns, amounting to over </a:t>
              </a:r>
              <a:r>
                <a:rPr lang="en-US" sz="2899" b="1">
                  <a:solidFill>
                    <a:srgbClr val="000000"/>
                  </a:solidFill>
                  <a:latin typeface="Arial MT Pro Bold"/>
                  <a:ea typeface="Arial MT Pro Bold"/>
                  <a:cs typeface="Arial MT Pro Bold"/>
                  <a:sym typeface="Arial MT Pro Bold"/>
                </a:rPr>
                <a:t>9.97 million data points</a:t>
              </a:r>
              <a:r>
                <a:rPr lang="en-US" sz="2899">
                  <a:solidFill>
                    <a:srgbClr val="000000"/>
                  </a:solidFill>
                  <a:latin typeface="Arial MT Pro"/>
                  <a:ea typeface="Arial MT Pro"/>
                  <a:cs typeface="Arial MT Pro"/>
                  <a:sym typeface="Arial MT Pro"/>
                </a:rPr>
                <a:t>, which significantly increases its complexity and demands for storage, processing, and analysis. Big data is not solely defined by volume but also by variety (numerous features and mixed data types), velocity (how data is collected or updated), and veracity (inconsistencies and unstructured elements, which this dataset contains, such as mixed data types and incomplete entries).</a:t>
              </a:r>
            </a:p>
            <a:p>
              <a:pPr algn="l">
                <a:lnSpc>
                  <a:spcPts val="3479"/>
                </a:lnSpc>
              </a:pPr>
              <a:endParaRPr lang="en-US" sz="2899">
                <a:solidFill>
                  <a:srgbClr val="000000"/>
                </a:solidFill>
                <a:latin typeface="Arial MT Pro"/>
                <a:ea typeface="Arial MT Pro"/>
                <a:cs typeface="Arial MT Pro"/>
                <a:sym typeface="Arial MT Pro"/>
              </a:endParaRPr>
            </a:p>
            <a:p>
              <a:pPr algn="just">
                <a:lnSpc>
                  <a:spcPts val="3479"/>
                </a:lnSpc>
              </a:pPr>
              <a:r>
                <a:rPr lang="en-US" sz="2899">
                  <a:solidFill>
                    <a:srgbClr val="000000"/>
                  </a:solidFill>
                  <a:latin typeface="Arial MT Pro"/>
                  <a:ea typeface="Arial MT Pro"/>
                  <a:cs typeface="Arial MT Pro"/>
                  <a:sym typeface="Arial MT Pro"/>
                </a:rPr>
                <a:t>Furthermore,</a:t>
              </a:r>
              <a:r>
                <a:rPr lang="en-US" sz="2899" b="1">
                  <a:solidFill>
                    <a:srgbClr val="000000"/>
                  </a:solidFill>
                  <a:latin typeface="Arial MT Pro Bold"/>
                  <a:ea typeface="Arial MT Pro Bold"/>
                  <a:cs typeface="Arial MT Pro Bold"/>
                  <a:sym typeface="Arial MT Pro Bold"/>
                </a:rPr>
                <a:t> this dataset is part of a larger global data initiative</a:t>
              </a:r>
              <a:r>
                <a:rPr lang="en-US" sz="2899">
                  <a:solidFill>
                    <a:srgbClr val="000000"/>
                  </a:solidFill>
                  <a:latin typeface="Arial MT Pro"/>
                  <a:ea typeface="Arial MT Pro"/>
                  <a:cs typeface="Arial MT Pro"/>
                  <a:sym typeface="Arial MT Pro"/>
                </a:rPr>
                <a:t>, namely the Global Shark Attack File (GSAF), an </a:t>
              </a:r>
              <a:r>
                <a:rPr lang="en-US" sz="2899" u="sng">
                  <a:solidFill>
                    <a:srgbClr val="000000"/>
                  </a:solidFill>
                  <a:latin typeface="Arial MT Pro"/>
                  <a:ea typeface="Arial MT Pro"/>
                  <a:cs typeface="Arial MT Pro"/>
                  <a:sym typeface="Arial MT Pro"/>
                </a:rPr>
                <a:t>expanding international database of shark attacks</a:t>
              </a:r>
              <a:r>
                <a:rPr lang="en-US" sz="2899">
                  <a:solidFill>
                    <a:srgbClr val="000000"/>
                  </a:solidFill>
                  <a:latin typeface="Arial MT Pro"/>
                  <a:ea typeface="Arial MT Pro"/>
                  <a:cs typeface="Arial MT Pro"/>
                  <a:sym typeface="Arial MT Pro"/>
                </a:rPr>
                <a:t> maintained by researchers and institutions. The file represents a </a:t>
              </a:r>
              <a:r>
                <a:rPr lang="en-US" sz="2899" b="1">
                  <a:solidFill>
                    <a:srgbClr val="000000"/>
                  </a:solidFill>
                  <a:latin typeface="Arial MT Pro Bold"/>
                  <a:ea typeface="Arial MT Pro Bold"/>
                  <a:cs typeface="Arial MT Pro Bold"/>
                  <a:sym typeface="Arial MT Pro Bold"/>
                </a:rPr>
                <a:t>subset of the broader dataset</a:t>
              </a:r>
              <a:r>
                <a:rPr lang="en-US" sz="2899">
                  <a:solidFill>
                    <a:srgbClr val="000000"/>
                  </a:solidFill>
                  <a:latin typeface="Arial MT Pro"/>
                  <a:ea typeface="Arial MT Pro"/>
                  <a:cs typeface="Arial MT Pro"/>
                  <a:sym typeface="Arial MT Pro"/>
                </a:rPr>
                <a:t>, which includes historical data dating back centuries (1800s to date) and is constantly growing through ongoing reports and data integration from researchers, governments, and public submissions.</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19175"/>
            <a:ext cx="7081258" cy="1117763"/>
            <a:chOff x="0" y="0"/>
            <a:chExt cx="9441677" cy="1490351"/>
          </a:xfrm>
        </p:grpSpPr>
        <p:sp>
          <p:nvSpPr>
            <p:cNvPr id="3" name="Freeform 3"/>
            <p:cNvSpPr/>
            <p:nvPr/>
          </p:nvSpPr>
          <p:spPr>
            <a:xfrm>
              <a:off x="0" y="0"/>
              <a:ext cx="9441677" cy="1490351"/>
            </a:xfrm>
            <a:custGeom>
              <a:avLst/>
              <a:gdLst/>
              <a:ahLst/>
              <a:cxnLst/>
              <a:rect l="l" t="t" r="r" b="b"/>
              <a:pathLst>
                <a:path w="9441677" h="1490351">
                  <a:moveTo>
                    <a:pt x="0" y="0"/>
                  </a:moveTo>
                  <a:lnTo>
                    <a:pt x="9441677" y="0"/>
                  </a:lnTo>
                  <a:lnTo>
                    <a:pt x="9441677" y="1490351"/>
                  </a:lnTo>
                  <a:lnTo>
                    <a:pt x="0" y="1490351"/>
                  </a:lnTo>
                  <a:close/>
                </a:path>
              </a:pathLst>
            </a:custGeom>
          </p:spPr>
        </p:sp>
        <p:sp>
          <p:nvSpPr>
            <p:cNvPr id="4" name="TextBox 4"/>
            <p:cNvSpPr txBox="1"/>
            <p:nvPr/>
          </p:nvSpPr>
          <p:spPr>
            <a:xfrm>
              <a:off x="0" y="-114300"/>
              <a:ext cx="9441677"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Data Dictionary</a:t>
              </a:r>
            </a:p>
          </p:txBody>
        </p:sp>
      </p:grpSp>
      <p:sp>
        <p:nvSpPr>
          <p:cNvPr id="5" name="Freeform 5"/>
          <p:cNvSpPr/>
          <p:nvPr/>
        </p:nvSpPr>
        <p:spPr>
          <a:xfrm>
            <a:off x="216312" y="2674167"/>
            <a:ext cx="10070497" cy="6584133"/>
          </a:xfrm>
          <a:custGeom>
            <a:avLst/>
            <a:gdLst/>
            <a:ahLst/>
            <a:cxnLst/>
            <a:rect l="l" t="t" r="r" b="b"/>
            <a:pathLst>
              <a:path w="10070497" h="6584133">
                <a:moveTo>
                  <a:pt x="0" y="0"/>
                </a:moveTo>
                <a:lnTo>
                  <a:pt x="10070498" y="0"/>
                </a:lnTo>
                <a:lnTo>
                  <a:pt x="10070498" y="6584133"/>
                </a:lnTo>
                <a:lnTo>
                  <a:pt x="0" y="6584133"/>
                </a:lnTo>
                <a:lnTo>
                  <a:pt x="0" y="0"/>
                </a:lnTo>
                <a:close/>
              </a:path>
            </a:pathLst>
          </a:custGeom>
          <a:blipFill>
            <a:blip r:embed="rId3"/>
            <a:stretch>
              <a:fillRect b="-57090"/>
            </a:stretch>
          </a:blipFill>
        </p:spPr>
      </p:sp>
      <p:sp>
        <p:nvSpPr>
          <p:cNvPr id="6" name="Freeform 6"/>
          <p:cNvSpPr/>
          <p:nvPr/>
        </p:nvSpPr>
        <p:spPr>
          <a:xfrm>
            <a:off x="10534514" y="2674167"/>
            <a:ext cx="7301495" cy="3015511"/>
          </a:xfrm>
          <a:custGeom>
            <a:avLst/>
            <a:gdLst/>
            <a:ahLst/>
            <a:cxnLst/>
            <a:rect l="l" t="t" r="r" b="b"/>
            <a:pathLst>
              <a:path w="7301495" h="3015511">
                <a:moveTo>
                  <a:pt x="0" y="0"/>
                </a:moveTo>
                <a:lnTo>
                  <a:pt x="7301495" y="0"/>
                </a:lnTo>
                <a:lnTo>
                  <a:pt x="7301495" y="3015511"/>
                </a:lnTo>
                <a:lnTo>
                  <a:pt x="0" y="3015511"/>
                </a:lnTo>
                <a:lnTo>
                  <a:pt x="0" y="0"/>
                </a:lnTo>
                <a:close/>
              </a:path>
            </a:pathLst>
          </a:custGeom>
          <a:blipFill>
            <a:blip r:embed="rId3"/>
            <a:stretch>
              <a:fillRect t="-169792" r="-8487"/>
            </a:stretch>
          </a:blipFill>
        </p:spPr>
      </p:sp>
      <p:grpSp>
        <p:nvGrpSpPr>
          <p:cNvPr id="7" name="Group 7"/>
          <p:cNvGrpSpPr/>
          <p:nvPr/>
        </p:nvGrpSpPr>
        <p:grpSpPr>
          <a:xfrm>
            <a:off x="1028700" y="2003839"/>
            <a:ext cx="7621246" cy="542141"/>
            <a:chOff x="0" y="0"/>
            <a:chExt cx="32448698" cy="2308255"/>
          </a:xfrm>
        </p:grpSpPr>
        <p:sp>
          <p:nvSpPr>
            <p:cNvPr id="8" name="Freeform 8"/>
            <p:cNvSpPr/>
            <p:nvPr/>
          </p:nvSpPr>
          <p:spPr>
            <a:xfrm>
              <a:off x="0" y="0"/>
              <a:ext cx="32448698" cy="2308255"/>
            </a:xfrm>
            <a:custGeom>
              <a:avLst/>
              <a:gdLst/>
              <a:ahLst/>
              <a:cxnLst/>
              <a:rect l="l" t="t" r="r" b="b"/>
              <a:pathLst>
                <a:path w="32448698" h="2308255">
                  <a:moveTo>
                    <a:pt x="0" y="0"/>
                  </a:moveTo>
                  <a:lnTo>
                    <a:pt x="32448698" y="0"/>
                  </a:lnTo>
                  <a:lnTo>
                    <a:pt x="32448698" y="2308255"/>
                  </a:lnTo>
                  <a:lnTo>
                    <a:pt x="0" y="2308255"/>
                  </a:lnTo>
                  <a:close/>
                </a:path>
              </a:pathLst>
            </a:custGeom>
          </p:spPr>
        </p:sp>
        <p:sp>
          <p:nvSpPr>
            <p:cNvPr id="9" name="TextBox 9"/>
            <p:cNvSpPr txBox="1"/>
            <p:nvPr/>
          </p:nvSpPr>
          <p:spPr>
            <a:xfrm>
              <a:off x="0" y="-57150"/>
              <a:ext cx="32448698" cy="2365405"/>
            </a:xfrm>
            <a:prstGeom prst="rect">
              <a:avLst/>
            </a:prstGeom>
          </p:spPr>
          <p:txBody>
            <a:bodyPr lIns="0" tIns="0" rIns="0" bIns="0" rtlCol="0" anchor="t"/>
            <a:lstStyle/>
            <a:p>
              <a:pPr marL="604519" lvl="1" indent="-302260" algn="l">
                <a:lnSpc>
                  <a:spcPts val="3359"/>
                </a:lnSpc>
                <a:buFont typeface="Arial"/>
                <a:buChar char="•"/>
              </a:pPr>
              <a:r>
                <a:rPr lang="en-US" sz="2799">
                  <a:solidFill>
                    <a:srgbClr val="000000"/>
                  </a:solidFill>
                  <a:latin typeface="Arial MT Pro"/>
                  <a:ea typeface="Arial MT Pro"/>
                  <a:cs typeface="Arial MT Pro"/>
                  <a:sym typeface="Arial MT Pro"/>
                </a:rPr>
                <a:t>The dataset has a total of 20 fields.</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469818"/>
            <a:ext cx="7081258" cy="1117763"/>
            <a:chOff x="0" y="0"/>
            <a:chExt cx="9441677" cy="1490351"/>
          </a:xfrm>
        </p:grpSpPr>
        <p:sp>
          <p:nvSpPr>
            <p:cNvPr id="3" name="Freeform 3"/>
            <p:cNvSpPr/>
            <p:nvPr/>
          </p:nvSpPr>
          <p:spPr>
            <a:xfrm>
              <a:off x="0" y="0"/>
              <a:ext cx="9441677" cy="1490351"/>
            </a:xfrm>
            <a:custGeom>
              <a:avLst/>
              <a:gdLst/>
              <a:ahLst/>
              <a:cxnLst/>
              <a:rect l="l" t="t" r="r" b="b"/>
              <a:pathLst>
                <a:path w="9441677" h="1490351">
                  <a:moveTo>
                    <a:pt x="0" y="0"/>
                  </a:moveTo>
                  <a:lnTo>
                    <a:pt x="9441677" y="0"/>
                  </a:lnTo>
                  <a:lnTo>
                    <a:pt x="9441677" y="1490351"/>
                  </a:lnTo>
                  <a:lnTo>
                    <a:pt x="0" y="1490351"/>
                  </a:lnTo>
                  <a:close/>
                </a:path>
              </a:pathLst>
            </a:custGeom>
          </p:spPr>
        </p:sp>
        <p:sp>
          <p:nvSpPr>
            <p:cNvPr id="4" name="TextBox 4"/>
            <p:cNvSpPr txBox="1"/>
            <p:nvPr/>
          </p:nvSpPr>
          <p:spPr>
            <a:xfrm>
              <a:off x="0" y="-114300"/>
              <a:ext cx="9441677"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Data Preparation</a:t>
              </a:r>
            </a:p>
          </p:txBody>
        </p:sp>
      </p:grpSp>
      <p:grpSp>
        <p:nvGrpSpPr>
          <p:cNvPr id="5" name="Group 5"/>
          <p:cNvGrpSpPr/>
          <p:nvPr/>
        </p:nvGrpSpPr>
        <p:grpSpPr>
          <a:xfrm>
            <a:off x="1028700" y="1587582"/>
            <a:ext cx="16230600" cy="5611262"/>
            <a:chOff x="0" y="0"/>
            <a:chExt cx="21640800" cy="7481683"/>
          </a:xfrm>
        </p:grpSpPr>
        <p:sp>
          <p:nvSpPr>
            <p:cNvPr id="6" name="Freeform 6"/>
            <p:cNvSpPr/>
            <p:nvPr/>
          </p:nvSpPr>
          <p:spPr>
            <a:xfrm>
              <a:off x="0" y="0"/>
              <a:ext cx="21640800" cy="7481684"/>
            </a:xfrm>
            <a:custGeom>
              <a:avLst/>
              <a:gdLst/>
              <a:ahLst/>
              <a:cxnLst/>
              <a:rect l="l" t="t" r="r" b="b"/>
              <a:pathLst>
                <a:path w="21640800" h="7481684">
                  <a:moveTo>
                    <a:pt x="0" y="0"/>
                  </a:moveTo>
                  <a:lnTo>
                    <a:pt x="21640800" y="0"/>
                  </a:lnTo>
                  <a:lnTo>
                    <a:pt x="21640800" y="7481684"/>
                  </a:lnTo>
                  <a:lnTo>
                    <a:pt x="0" y="7481684"/>
                  </a:lnTo>
                  <a:close/>
                </a:path>
              </a:pathLst>
            </a:custGeom>
          </p:spPr>
        </p:sp>
        <p:sp>
          <p:nvSpPr>
            <p:cNvPr id="7" name="TextBox 7"/>
            <p:cNvSpPr txBox="1"/>
            <p:nvPr/>
          </p:nvSpPr>
          <p:spPr>
            <a:xfrm>
              <a:off x="0" y="-114300"/>
              <a:ext cx="21640800" cy="7595983"/>
            </a:xfrm>
            <a:prstGeom prst="rect">
              <a:avLst/>
            </a:prstGeom>
          </p:spPr>
          <p:txBody>
            <a:bodyPr lIns="0" tIns="0" rIns="0" bIns="0" rtlCol="0" anchor="t"/>
            <a:lstStyle/>
            <a:p>
              <a:pPr algn="just">
                <a:lnSpc>
                  <a:spcPts val="3711"/>
                </a:lnSpc>
              </a:pPr>
              <a:r>
                <a:rPr lang="en-US" sz="2599" b="1">
                  <a:solidFill>
                    <a:srgbClr val="8064A2"/>
                  </a:solidFill>
                  <a:latin typeface="Arial MT Pro Bold"/>
                  <a:ea typeface="Arial MT Pro Bold"/>
                  <a:cs typeface="Arial MT Pro Bold"/>
                  <a:sym typeface="Arial MT Pro Bold"/>
                </a:rPr>
                <a:t>Data Cleaning:</a:t>
              </a:r>
              <a:r>
                <a:rPr lang="en-US" sz="2599">
                  <a:solidFill>
                    <a:srgbClr val="000000"/>
                  </a:solidFill>
                  <a:latin typeface="Arial MT Pro"/>
                  <a:ea typeface="Arial MT Pro"/>
                  <a:cs typeface="Arial MT Pro"/>
                  <a:sym typeface="Arial MT Pro"/>
                </a:rPr>
                <a:t> This involves identifying and correcting errors, inconsistencies, or inaccuracies in the dataset to ensure its accuracy, complete, and usable for analysis or modelling:</a:t>
              </a:r>
            </a:p>
            <a:p>
              <a:pPr marL="561127" lvl="1" indent="-280563" algn="just">
                <a:lnSpc>
                  <a:spcPts val="3711"/>
                </a:lnSpc>
                <a:buFont typeface="Arial"/>
                <a:buChar char="•"/>
              </a:pPr>
              <a:r>
                <a:rPr lang="en-US" sz="2599" b="1">
                  <a:solidFill>
                    <a:srgbClr val="000000"/>
                  </a:solidFill>
                  <a:latin typeface="Arial MT Pro Bold"/>
                  <a:ea typeface="Arial MT Pro Bold"/>
                  <a:cs typeface="Arial MT Pro Bold"/>
                  <a:sym typeface="Arial MT Pro Bold"/>
                </a:rPr>
                <a:t>Missing values:</a:t>
              </a:r>
              <a:r>
                <a:rPr lang="en-US" sz="2599">
                  <a:solidFill>
                    <a:srgbClr val="000000"/>
                  </a:solidFill>
                  <a:latin typeface="Arial MT Pro"/>
                  <a:ea typeface="Arial MT Pro"/>
                  <a:cs typeface="Arial MT Pro"/>
                  <a:sym typeface="Arial MT Pro"/>
                </a:rPr>
                <a:t> Rows with null values in key columns such as Type, Sex, Age, or Fatal were either removed, imputed, and replaced as “Unknown”, if possible. </a:t>
              </a:r>
            </a:p>
            <a:p>
              <a:pPr marL="561127" lvl="1" indent="-280563" algn="just">
                <a:lnSpc>
                  <a:spcPts val="3711"/>
                </a:lnSpc>
                <a:buFont typeface="Arial"/>
                <a:buChar char="•"/>
              </a:pPr>
              <a:r>
                <a:rPr lang="en-US" sz="2599" b="1">
                  <a:solidFill>
                    <a:srgbClr val="000000"/>
                  </a:solidFill>
                  <a:latin typeface="Arial MT Pro Bold"/>
                  <a:ea typeface="Arial MT Pro Bold"/>
                  <a:cs typeface="Arial MT Pro Bold"/>
                  <a:sym typeface="Arial MT Pro Bold"/>
                </a:rPr>
                <a:t>Standardizing values: </a:t>
              </a:r>
              <a:r>
                <a:rPr lang="en-US" sz="2599">
                  <a:solidFill>
                    <a:srgbClr val="000000"/>
                  </a:solidFill>
                  <a:latin typeface="Arial MT Pro"/>
                  <a:ea typeface="Arial MT Pro"/>
                  <a:cs typeface="Arial MT Pro"/>
                  <a:sym typeface="Arial MT Pro"/>
                </a:rPr>
                <a:t>Ensure consistent categories such as in Sex column (“MALE”⟶ “M”, “FEMALE”⟶ “F”) and Fatal column (“YES”⟶ “Y”, “NO”⟶ “N”, Unknown). </a:t>
              </a:r>
            </a:p>
            <a:p>
              <a:pPr marL="561127" lvl="1" indent="-280563" algn="just">
                <a:lnSpc>
                  <a:spcPts val="3711"/>
                </a:lnSpc>
                <a:buFont typeface="Arial"/>
                <a:buChar char="•"/>
              </a:pPr>
              <a:r>
                <a:rPr lang="en-US" sz="2599" b="1">
                  <a:solidFill>
                    <a:srgbClr val="000000"/>
                  </a:solidFill>
                  <a:latin typeface="Arial MT Pro Bold"/>
                  <a:ea typeface="Arial MT Pro Bold"/>
                  <a:cs typeface="Arial MT Pro Bold"/>
                  <a:sym typeface="Arial MT Pro Bold"/>
                </a:rPr>
                <a:t>Noise reduction</a:t>
              </a:r>
              <a:r>
                <a:rPr lang="en-US" sz="2599">
                  <a:solidFill>
                    <a:srgbClr val="000000"/>
                  </a:solidFill>
                  <a:latin typeface="Arial MT Pro"/>
                  <a:ea typeface="Arial MT Pro"/>
                  <a:cs typeface="Arial MT Pro"/>
                  <a:sym typeface="Arial MT Pro"/>
                </a:rPr>
                <a:t>: Irregular entries like "?" or “Unknown” in Species or Activity were either categorized under "Other" or excluded, depending on relevance.</a:t>
              </a:r>
            </a:p>
            <a:p>
              <a:pPr marL="561127" lvl="1" indent="-280563" algn="just">
                <a:lnSpc>
                  <a:spcPts val="3711"/>
                </a:lnSpc>
                <a:buFont typeface="Arial"/>
                <a:buChar char="•"/>
              </a:pPr>
              <a:r>
                <a:rPr lang="en-US" sz="2599" b="1">
                  <a:solidFill>
                    <a:srgbClr val="000000"/>
                  </a:solidFill>
                  <a:latin typeface="Arial MT Pro Bold"/>
                  <a:ea typeface="Arial MT Pro Bold"/>
                  <a:cs typeface="Arial MT Pro Bold"/>
                  <a:sym typeface="Arial MT Pro Bold"/>
                </a:rPr>
                <a:t>Outliers</a:t>
              </a:r>
              <a:r>
                <a:rPr lang="en-US" sz="2599">
                  <a:solidFill>
                    <a:srgbClr val="000000"/>
                  </a:solidFill>
                  <a:latin typeface="Arial MT Pro"/>
                  <a:ea typeface="Arial MT Pro"/>
                  <a:cs typeface="Arial MT Pro"/>
                  <a:sym typeface="Arial MT Pro"/>
                </a:rPr>
                <a:t>: Extreme age values or inconsistent date entries were either corrected or dropped.</a:t>
              </a:r>
            </a:p>
            <a:p>
              <a:pPr marL="561127" lvl="1" indent="-280563" algn="just">
                <a:lnSpc>
                  <a:spcPts val="3711"/>
                </a:lnSpc>
                <a:buFont typeface="Arial"/>
                <a:buChar char="•"/>
              </a:pPr>
              <a:r>
                <a:rPr lang="en-US" sz="2599" b="1">
                  <a:solidFill>
                    <a:srgbClr val="000000"/>
                  </a:solidFill>
                  <a:latin typeface="Arial MT Pro Bold"/>
                  <a:ea typeface="Arial MT Pro Bold"/>
                  <a:cs typeface="Arial MT Pro Bold"/>
                  <a:sym typeface="Arial MT Pro Bold"/>
                </a:rPr>
                <a:t>Eliminating duplicates</a:t>
              </a:r>
              <a:r>
                <a:rPr lang="en-US" sz="2599">
                  <a:solidFill>
                    <a:srgbClr val="000000"/>
                  </a:solidFill>
                  <a:latin typeface="Arial MT Pro"/>
                  <a:ea typeface="Arial MT Pro"/>
                  <a:cs typeface="Arial MT Pro"/>
                  <a:sym typeface="Arial MT Pro"/>
                </a:rPr>
                <a:t>: Duplicate entries were identified and removed.</a:t>
              </a:r>
            </a:p>
            <a:p>
              <a:pPr marL="561127" lvl="1" indent="-280563" algn="just">
                <a:lnSpc>
                  <a:spcPts val="3711"/>
                </a:lnSpc>
                <a:buFont typeface="Arial"/>
                <a:buChar char="•"/>
              </a:pPr>
              <a:r>
                <a:rPr lang="en-US" sz="2599" b="1">
                  <a:solidFill>
                    <a:srgbClr val="000000"/>
                  </a:solidFill>
                  <a:latin typeface="Arial MT Pro Bold"/>
                  <a:ea typeface="Arial MT Pro Bold"/>
                  <a:cs typeface="Arial MT Pro Bold"/>
                  <a:sym typeface="Arial MT Pro Bold"/>
                </a:rPr>
                <a:t>Fixing inconsistent country names</a:t>
              </a:r>
              <a:r>
                <a:rPr lang="en-US" sz="2599">
                  <a:solidFill>
                    <a:srgbClr val="000000"/>
                  </a:solidFill>
                  <a:latin typeface="Arial MT Pro"/>
                  <a:ea typeface="Arial MT Pro"/>
                  <a:cs typeface="Arial MT Pro"/>
                  <a:sym typeface="Arial MT Pro"/>
                </a:rPr>
                <a:t>: Applied mappings to unify country representations (e.g., "Usa"→ "United States of America", “Sudan?”⟶ “Sudan”).</a:t>
              </a:r>
            </a:p>
          </p:txBody>
        </p:sp>
      </p:grpSp>
      <p:grpSp>
        <p:nvGrpSpPr>
          <p:cNvPr id="8" name="Group 8"/>
          <p:cNvGrpSpPr/>
          <p:nvPr/>
        </p:nvGrpSpPr>
        <p:grpSpPr>
          <a:xfrm>
            <a:off x="1028700" y="7599138"/>
            <a:ext cx="16230600" cy="1993254"/>
            <a:chOff x="0" y="0"/>
            <a:chExt cx="21640800" cy="2657672"/>
          </a:xfrm>
        </p:grpSpPr>
        <p:sp>
          <p:nvSpPr>
            <p:cNvPr id="9" name="Freeform 9"/>
            <p:cNvSpPr/>
            <p:nvPr/>
          </p:nvSpPr>
          <p:spPr>
            <a:xfrm>
              <a:off x="0" y="0"/>
              <a:ext cx="21640800" cy="2657672"/>
            </a:xfrm>
            <a:custGeom>
              <a:avLst/>
              <a:gdLst/>
              <a:ahLst/>
              <a:cxnLst/>
              <a:rect l="l" t="t" r="r" b="b"/>
              <a:pathLst>
                <a:path w="21640800" h="2657672">
                  <a:moveTo>
                    <a:pt x="0" y="0"/>
                  </a:moveTo>
                  <a:lnTo>
                    <a:pt x="21640800" y="0"/>
                  </a:lnTo>
                  <a:lnTo>
                    <a:pt x="21640800" y="2657672"/>
                  </a:lnTo>
                  <a:lnTo>
                    <a:pt x="0" y="2657672"/>
                  </a:lnTo>
                  <a:close/>
                </a:path>
              </a:pathLst>
            </a:custGeom>
          </p:spPr>
        </p:sp>
        <p:sp>
          <p:nvSpPr>
            <p:cNvPr id="10" name="TextBox 10"/>
            <p:cNvSpPr txBox="1"/>
            <p:nvPr/>
          </p:nvSpPr>
          <p:spPr>
            <a:xfrm>
              <a:off x="0" y="-114300"/>
              <a:ext cx="21640800" cy="2771972"/>
            </a:xfrm>
            <a:prstGeom prst="rect">
              <a:avLst/>
            </a:prstGeom>
          </p:spPr>
          <p:txBody>
            <a:bodyPr lIns="0" tIns="0" rIns="0" bIns="0" rtlCol="0" anchor="t"/>
            <a:lstStyle/>
            <a:p>
              <a:pPr algn="just">
                <a:lnSpc>
                  <a:spcPts val="3711"/>
                </a:lnSpc>
              </a:pPr>
              <a:r>
                <a:rPr lang="en-US" sz="2599" b="1">
                  <a:solidFill>
                    <a:srgbClr val="8064A2"/>
                  </a:solidFill>
                  <a:latin typeface="Arial MT Pro Bold"/>
                  <a:ea typeface="Arial MT Pro Bold"/>
                  <a:cs typeface="Arial MT Pro Bold"/>
                  <a:sym typeface="Arial MT Pro Bold"/>
                </a:rPr>
                <a:t>Data Discretization:</a:t>
              </a:r>
              <a:r>
                <a:rPr lang="en-US" sz="2599">
                  <a:solidFill>
                    <a:srgbClr val="000000"/>
                  </a:solidFill>
                  <a:latin typeface="Arial MT Pro"/>
                  <a:ea typeface="Arial MT Pro"/>
                  <a:cs typeface="Arial MT Pro"/>
                  <a:sym typeface="Arial MT Pro"/>
                </a:rPr>
                <a:t> This is the process of converting continuous data into discrete categories or intervals for better modelling performance:</a:t>
              </a:r>
            </a:p>
            <a:p>
              <a:pPr marL="1122254" lvl="2" indent="-374085" algn="just">
                <a:lnSpc>
                  <a:spcPts val="3711"/>
                </a:lnSpc>
                <a:buFont typeface="Arial"/>
                <a:buChar char="⚬"/>
              </a:pPr>
              <a:r>
                <a:rPr lang="en-US" sz="2599" b="1">
                  <a:solidFill>
                    <a:srgbClr val="000000"/>
                  </a:solidFill>
                  <a:latin typeface="Arial MT Pro Bold"/>
                  <a:ea typeface="Arial MT Pro Bold"/>
                  <a:cs typeface="Arial MT Pro Bold"/>
                  <a:sym typeface="Arial MT Pro Bold"/>
                </a:rPr>
                <a:t>Temporal features like Years or Date</a:t>
              </a:r>
              <a:r>
                <a:rPr lang="en-US" sz="2599">
                  <a:solidFill>
                    <a:srgbClr val="000000"/>
                  </a:solidFill>
                  <a:latin typeface="Arial MT Pro"/>
                  <a:ea typeface="Arial MT Pro"/>
                  <a:cs typeface="Arial MT Pro"/>
                  <a:sym typeface="Arial MT Pro"/>
                </a:rPr>
                <a:t> were used to create periods or decades for trend analysis and to reduce dimensionality. </a:t>
              </a:r>
            </a:p>
          </p:txBody>
        </p:sp>
      </p:grpSp>
      <p:sp>
        <p:nvSpPr>
          <p:cNvPr id="11" name="AutoShape 11"/>
          <p:cNvSpPr/>
          <p:nvPr/>
        </p:nvSpPr>
        <p:spPr>
          <a:xfrm flipH="1">
            <a:off x="1028700" y="7398991"/>
            <a:ext cx="16230600" cy="0"/>
          </a:xfrm>
          <a:prstGeom prst="line">
            <a:avLst/>
          </a:prstGeom>
          <a:ln w="38100" cap="flat">
            <a:solidFill>
              <a:srgbClr val="000000"/>
            </a:solidFill>
            <a:prstDash val="solid"/>
            <a:headEnd type="none" w="sm" len="sm"/>
            <a:tailEnd type="none" w="sm" len="sm"/>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780860"/>
            <a:ext cx="16230600" cy="7011437"/>
            <a:chOff x="0" y="0"/>
            <a:chExt cx="21640800" cy="9348583"/>
          </a:xfrm>
        </p:grpSpPr>
        <p:sp>
          <p:nvSpPr>
            <p:cNvPr id="3" name="Freeform 3"/>
            <p:cNvSpPr/>
            <p:nvPr/>
          </p:nvSpPr>
          <p:spPr>
            <a:xfrm>
              <a:off x="0" y="0"/>
              <a:ext cx="21640800" cy="9348584"/>
            </a:xfrm>
            <a:custGeom>
              <a:avLst/>
              <a:gdLst/>
              <a:ahLst/>
              <a:cxnLst/>
              <a:rect l="l" t="t" r="r" b="b"/>
              <a:pathLst>
                <a:path w="21640800" h="9348584">
                  <a:moveTo>
                    <a:pt x="0" y="0"/>
                  </a:moveTo>
                  <a:lnTo>
                    <a:pt x="21640800" y="0"/>
                  </a:lnTo>
                  <a:lnTo>
                    <a:pt x="21640800" y="9348584"/>
                  </a:lnTo>
                  <a:lnTo>
                    <a:pt x="0" y="9348584"/>
                  </a:lnTo>
                  <a:close/>
                </a:path>
              </a:pathLst>
            </a:custGeom>
          </p:spPr>
        </p:sp>
        <p:sp>
          <p:nvSpPr>
            <p:cNvPr id="4" name="TextBox 4"/>
            <p:cNvSpPr txBox="1"/>
            <p:nvPr/>
          </p:nvSpPr>
          <p:spPr>
            <a:xfrm>
              <a:off x="0" y="-114300"/>
              <a:ext cx="21640800" cy="9462883"/>
            </a:xfrm>
            <a:prstGeom prst="rect">
              <a:avLst/>
            </a:prstGeom>
          </p:spPr>
          <p:txBody>
            <a:bodyPr lIns="0" tIns="0" rIns="0" bIns="0" rtlCol="0" anchor="t"/>
            <a:lstStyle/>
            <a:p>
              <a:pPr algn="just">
                <a:lnSpc>
                  <a:spcPts val="3711"/>
                </a:lnSpc>
              </a:pPr>
              <a:r>
                <a:rPr lang="en-US" sz="2599" b="1">
                  <a:solidFill>
                    <a:srgbClr val="8064A2"/>
                  </a:solidFill>
                  <a:latin typeface="Arial MT Pro Bold"/>
                  <a:ea typeface="Arial MT Pro Bold"/>
                  <a:cs typeface="Arial MT Pro Bold"/>
                  <a:sym typeface="Arial MT Pro Bold"/>
                </a:rPr>
                <a:t>Data Aggregation:</a:t>
              </a:r>
              <a:r>
                <a:rPr lang="en-US" sz="2599">
                  <a:solidFill>
                    <a:srgbClr val="000000"/>
                  </a:solidFill>
                  <a:latin typeface="Arial MT Pro"/>
                  <a:ea typeface="Arial MT Pro"/>
                  <a:cs typeface="Arial MT Pro"/>
                  <a:sym typeface="Arial MT Pro"/>
                </a:rPr>
                <a:t> It combines multiple data points into a summary form, such as calculating the average, sum, or count of values: </a:t>
              </a:r>
            </a:p>
            <a:p>
              <a:pPr marL="1122254" lvl="2" indent="-374085" algn="just">
                <a:lnSpc>
                  <a:spcPts val="3711"/>
                </a:lnSpc>
                <a:buFont typeface="Arial"/>
                <a:buChar char="⚬"/>
              </a:pPr>
              <a:r>
                <a:rPr lang="en-US" sz="2599" b="1">
                  <a:solidFill>
                    <a:srgbClr val="000000"/>
                  </a:solidFill>
                  <a:latin typeface="Arial MT Pro Bold"/>
                  <a:ea typeface="Arial MT Pro Bold"/>
                  <a:cs typeface="Arial MT Pro Bold"/>
                  <a:sym typeface="Arial MT Pro Bold"/>
                </a:rPr>
                <a:t>Aggregated shark data by year, species, country, and fatality</a:t>
              </a:r>
              <a:r>
                <a:rPr lang="en-US" sz="2599">
                  <a:solidFill>
                    <a:srgbClr val="000000"/>
                  </a:solidFill>
                  <a:latin typeface="Arial MT Pro"/>
                  <a:ea typeface="Arial MT Pro"/>
                  <a:cs typeface="Arial MT Pro"/>
                  <a:sym typeface="Arial MT Pro"/>
                </a:rPr>
                <a:t> to identify top countries with the most incidents  for temporal and geographical insights.</a:t>
              </a:r>
            </a:p>
            <a:p>
              <a:pPr marL="1122254" lvl="2" indent="-374085" algn="just">
                <a:lnSpc>
                  <a:spcPts val="3711"/>
                </a:lnSpc>
                <a:buFont typeface="Arial"/>
                <a:buChar char="⚬"/>
              </a:pPr>
              <a:r>
                <a:rPr lang="en-US" sz="2599" b="1">
                  <a:solidFill>
                    <a:srgbClr val="000000"/>
                  </a:solidFill>
                  <a:latin typeface="Arial MT Pro Bold"/>
                  <a:ea typeface="Arial MT Pro Bold"/>
                  <a:cs typeface="Arial MT Pro Bold"/>
                  <a:sym typeface="Arial MT Pro Bold"/>
                </a:rPr>
                <a:t>Grouped fatality rates by gender</a:t>
              </a:r>
              <a:r>
                <a:rPr lang="en-US" sz="2599">
                  <a:solidFill>
                    <a:srgbClr val="000000"/>
                  </a:solidFill>
                  <a:latin typeface="Arial MT Pro"/>
                  <a:ea typeface="Arial MT Pro"/>
                  <a:cs typeface="Arial MT Pro"/>
                  <a:sym typeface="Arial MT Pro"/>
                </a:rPr>
                <a:t> (M and F) to calculate fatal and non-fatal rates as percentages. </a:t>
              </a:r>
            </a:p>
            <a:p>
              <a:pPr marL="1122254" lvl="2" indent="-374085" algn="just">
                <a:lnSpc>
                  <a:spcPts val="3711"/>
                </a:lnSpc>
                <a:buFont typeface="Arial"/>
                <a:buChar char="⚬"/>
              </a:pPr>
              <a:r>
                <a:rPr lang="en-US" sz="2599" b="1">
                  <a:solidFill>
                    <a:srgbClr val="000000"/>
                  </a:solidFill>
                  <a:latin typeface="Arial MT Pro Bold"/>
                  <a:ea typeface="Arial MT Pro Bold"/>
                  <a:cs typeface="Arial MT Pro Bold"/>
                  <a:sym typeface="Arial MT Pro Bold"/>
                </a:rPr>
                <a:t>Grouped shark data by cluster </a:t>
              </a:r>
              <a:r>
                <a:rPr lang="en-US" sz="2599">
                  <a:solidFill>
                    <a:srgbClr val="000000"/>
                  </a:solidFill>
                  <a:latin typeface="Arial MT Pro"/>
                  <a:ea typeface="Arial MT Pro"/>
                  <a:cs typeface="Arial MT Pro"/>
                  <a:sym typeface="Arial MT Pro"/>
                </a:rPr>
                <a:t>(clustering technique) to compute means per group.</a:t>
              </a:r>
            </a:p>
            <a:p>
              <a:pPr algn="just">
                <a:lnSpc>
                  <a:spcPts val="3711"/>
                </a:lnSpc>
              </a:pPr>
              <a:endParaRPr lang="en-US" sz="2599">
                <a:solidFill>
                  <a:srgbClr val="000000"/>
                </a:solidFill>
                <a:latin typeface="Arial MT Pro"/>
                <a:ea typeface="Arial MT Pro"/>
                <a:cs typeface="Arial MT Pro"/>
                <a:sym typeface="Arial MT Pro"/>
              </a:endParaRPr>
            </a:p>
            <a:p>
              <a:pPr algn="just">
                <a:lnSpc>
                  <a:spcPts val="3711"/>
                </a:lnSpc>
              </a:pPr>
              <a:r>
                <a:rPr lang="en-US" sz="2599" b="1">
                  <a:solidFill>
                    <a:srgbClr val="8064A2"/>
                  </a:solidFill>
                  <a:latin typeface="Arial MT Pro Bold"/>
                  <a:ea typeface="Arial MT Pro Bold"/>
                  <a:cs typeface="Arial MT Pro Bold"/>
                  <a:sym typeface="Arial MT Pro Bold"/>
                </a:rPr>
                <a:t>Data Reduction:</a:t>
              </a:r>
              <a:r>
                <a:rPr lang="en-US" sz="2599">
                  <a:solidFill>
                    <a:srgbClr val="000000"/>
                  </a:solidFill>
                  <a:latin typeface="Arial MT Pro"/>
                  <a:ea typeface="Arial MT Pro"/>
                  <a:cs typeface="Arial MT Pro"/>
                  <a:sym typeface="Arial MT Pro"/>
                </a:rPr>
                <a:t> This technique reduces the size or complexity of the dataset while preserving key information. </a:t>
              </a:r>
            </a:p>
            <a:p>
              <a:pPr marL="1122254" lvl="2" indent="-374085" algn="just">
                <a:lnSpc>
                  <a:spcPts val="3711"/>
                </a:lnSpc>
                <a:buFont typeface="Arial"/>
                <a:buChar char="⚬"/>
              </a:pPr>
              <a:r>
                <a:rPr lang="en-US" sz="2599" b="1">
                  <a:solidFill>
                    <a:srgbClr val="000000"/>
                  </a:solidFill>
                  <a:latin typeface="Arial MT Pro Bold"/>
                  <a:ea typeface="Arial MT Pro Bold"/>
                  <a:cs typeface="Arial MT Pro Bold"/>
                  <a:sym typeface="Arial MT Pro Bold"/>
                </a:rPr>
                <a:t>Dropped irrelevant or high-missing columns </a:t>
              </a:r>
              <a:r>
                <a:rPr lang="en-US" sz="2599">
                  <a:solidFill>
                    <a:srgbClr val="000000"/>
                  </a:solidFill>
                  <a:latin typeface="Arial MT Pro"/>
                  <a:ea typeface="Arial MT Pro"/>
                  <a:cs typeface="Arial MT Pro"/>
                  <a:sym typeface="Arial MT Pro"/>
                </a:rPr>
                <a:t>like pdf, href, Name, Source, and other metadata. </a:t>
              </a:r>
            </a:p>
            <a:p>
              <a:pPr marL="1122254" lvl="2" indent="-374085" algn="just">
                <a:lnSpc>
                  <a:spcPts val="3711"/>
                </a:lnSpc>
                <a:buFont typeface="Arial"/>
                <a:buChar char="⚬"/>
              </a:pPr>
              <a:r>
                <a:rPr lang="en-US" sz="2599" b="1">
                  <a:solidFill>
                    <a:srgbClr val="000000"/>
                  </a:solidFill>
                  <a:latin typeface="Arial MT Pro Bold"/>
                  <a:ea typeface="Arial MT Pro Bold"/>
                  <a:cs typeface="Arial MT Pro Bold"/>
                  <a:sym typeface="Arial MT Pro Bold"/>
                </a:rPr>
                <a:t>Dimensionality Reduction using PCA</a:t>
              </a:r>
              <a:r>
                <a:rPr lang="en-US" sz="2599">
                  <a:solidFill>
                    <a:srgbClr val="000000"/>
                  </a:solidFill>
                  <a:latin typeface="Arial MT Pro"/>
                  <a:ea typeface="Arial MT Pro"/>
                  <a:cs typeface="Arial MT Pro"/>
                  <a:sym typeface="Arial MT Pro"/>
                </a:rPr>
                <a:t> (Principal Component Analysis) was applied prior to clustering, ensuring that only the most informative features were used.</a:t>
              </a:r>
            </a:p>
            <a:p>
              <a:pPr marL="1122254" lvl="2" indent="-374085" algn="just">
                <a:lnSpc>
                  <a:spcPts val="3711"/>
                </a:lnSpc>
                <a:buFont typeface="Arial"/>
                <a:buChar char="⚬"/>
              </a:pPr>
              <a:r>
                <a:rPr lang="en-US" sz="2599" b="1">
                  <a:solidFill>
                    <a:srgbClr val="000000"/>
                  </a:solidFill>
                  <a:latin typeface="Arial MT Pro Bold"/>
                  <a:ea typeface="Arial MT Pro Bold"/>
                  <a:cs typeface="Arial MT Pro Bold"/>
                  <a:sym typeface="Arial MT Pro Bold"/>
                </a:rPr>
                <a:t>Used feature selection</a:t>
              </a:r>
              <a:r>
                <a:rPr lang="en-US" sz="2599">
                  <a:solidFill>
                    <a:srgbClr val="000000"/>
                  </a:solidFill>
                  <a:latin typeface="Arial MT Pro"/>
                  <a:ea typeface="Arial MT Pro"/>
                  <a:cs typeface="Arial MT Pro"/>
                  <a:sym typeface="Arial MT Pro"/>
                </a:rPr>
                <a:t> to retain variables that are most relevant to classification (e.g., Activity, Species, Age, Fatal) and dropped unnecessary or noisy columns.</a:t>
              </a:r>
            </a:p>
            <a:p>
              <a:pPr marL="1122254" lvl="2" indent="-374085" algn="just">
                <a:lnSpc>
                  <a:spcPts val="3711"/>
                </a:lnSpc>
                <a:buFont typeface="Arial"/>
                <a:buChar char="⚬"/>
              </a:pPr>
              <a:r>
                <a:rPr lang="en-US" sz="2599" b="1">
                  <a:solidFill>
                    <a:srgbClr val="000000"/>
                  </a:solidFill>
                  <a:latin typeface="Arial MT Pro Bold"/>
                  <a:ea typeface="Arial MT Pro Bold"/>
                  <a:cs typeface="Arial MT Pro Bold"/>
                  <a:sym typeface="Arial MT Pro Bold"/>
                </a:rPr>
                <a:t>Applied SMOTE</a:t>
              </a:r>
              <a:r>
                <a:rPr lang="en-US" sz="2599">
                  <a:solidFill>
                    <a:srgbClr val="000000"/>
                  </a:solidFill>
                  <a:latin typeface="Arial MT Pro"/>
                  <a:ea typeface="Arial MT Pro"/>
                  <a:cs typeface="Arial MT Pro"/>
                  <a:sym typeface="Arial MT Pro"/>
                </a:rPr>
                <a:t> to reduce class imbalance before training classification models</a:t>
              </a:r>
            </a:p>
          </p:txBody>
        </p:sp>
      </p:grpSp>
      <p:sp>
        <p:nvSpPr>
          <p:cNvPr id="5" name="AutoShape 5"/>
          <p:cNvSpPr/>
          <p:nvPr/>
        </p:nvSpPr>
        <p:spPr>
          <a:xfrm flipH="1">
            <a:off x="1028700" y="4805018"/>
            <a:ext cx="16230600" cy="0"/>
          </a:xfrm>
          <a:prstGeom prst="line">
            <a:avLst/>
          </a:prstGeom>
          <a:ln w="38100" cap="flat">
            <a:solidFill>
              <a:srgbClr val="000000"/>
            </a:solidFill>
            <a:prstDash val="solid"/>
            <a:headEnd type="none" w="sm" len="sm"/>
            <a:tailEnd type="none" w="sm" len="sm"/>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383706" y="1028700"/>
            <a:ext cx="9520588" cy="1874011"/>
            <a:chOff x="0" y="0"/>
            <a:chExt cx="8413199" cy="1656035"/>
          </a:xfrm>
        </p:grpSpPr>
        <p:sp>
          <p:nvSpPr>
            <p:cNvPr id="3" name="Freeform 3"/>
            <p:cNvSpPr/>
            <p:nvPr/>
          </p:nvSpPr>
          <p:spPr>
            <a:xfrm>
              <a:off x="0" y="0"/>
              <a:ext cx="8413200" cy="1656036"/>
            </a:xfrm>
            <a:custGeom>
              <a:avLst/>
              <a:gdLst/>
              <a:ahLst/>
              <a:cxnLst/>
              <a:rect l="l" t="t" r="r" b="b"/>
              <a:pathLst>
                <a:path w="8413200" h="1656036">
                  <a:moveTo>
                    <a:pt x="0" y="0"/>
                  </a:moveTo>
                  <a:lnTo>
                    <a:pt x="8413200" y="0"/>
                  </a:lnTo>
                  <a:lnTo>
                    <a:pt x="8413200" y="1656036"/>
                  </a:lnTo>
                  <a:lnTo>
                    <a:pt x="0" y="1656036"/>
                  </a:lnTo>
                  <a:close/>
                </a:path>
              </a:pathLst>
            </a:custGeom>
          </p:spPr>
        </p:sp>
        <p:sp>
          <p:nvSpPr>
            <p:cNvPr id="4" name="TextBox 4"/>
            <p:cNvSpPr txBox="1"/>
            <p:nvPr/>
          </p:nvSpPr>
          <p:spPr>
            <a:xfrm>
              <a:off x="0" y="-66675"/>
              <a:ext cx="8413199" cy="1722710"/>
            </a:xfrm>
            <a:prstGeom prst="rect">
              <a:avLst/>
            </a:prstGeom>
          </p:spPr>
          <p:txBody>
            <a:bodyPr lIns="0" tIns="0" rIns="0" bIns="0" rtlCol="0" anchor="t"/>
            <a:lstStyle/>
            <a:p>
              <a:pPr algn="ctr">
                <a:lnSpc>
                  <a:spcPts val="4079"/>
                </a:lnSpc>
              </a:pPr>
              <a:r>
                <a:rPr lang="en-US" sz="3399" b="1">
                  <a:solidFill>
                    <a:srgbClr val="2B4865"/>
                  </a:solidFill>
                  <a:latin typeface="Arial MT Pro Bold"/>
                  <a:ea typeface="Arial MT Pro Bold"/>
                  <a:cs typeface="Arial MT Pro Bold"/>
                  <a:sym typeface="Arial MT Pro Bold"/>
                </a:rPr>
                <a:t>Methods to Visualize Analytical Model Output</a:t>
              </a:r>
            </a:p>
            <a:p>
              <a:pPr algn="l">
                <a:lnSpc>
                  <a:spcPts val="3359"/>
                </a:lnSpc>
              </a:pPr>
              <a:endParaRPr lang="en-US" sz="3399" b="1">
                <a:solidFill>
                  <a:srgbClr val="2B4865"/>
                </a:solidFill>
                <a:latin typeface="Arial MT Pro Bold"/>
                <a:ea typeface="Arial MT Pro Bold"/>
                <a:cs typeface="Arial MT Pro Bold"/>
                <a:sym typeface="Arial MT Pro Bold"/>
              </a:endParaRPr>
            </a:p>
            <a:p>
              <a:pPr algn="l">
                <a:lnSpc>
                  <a:spcPts val="3359"/>
                </a:lnSpc>
              </a:pPr>
              <a:endParaRPr lang="en-US" sz="3399" b="1">
                <a:solidFill>
                  <a:srgbClr val="2B4865"/>
                </a:solidFill>
                <a:latin typeface="Arial MT Pro Bold"/>
                <a:ea typeface="Arial MT Pro Bold"/>
                <a:cs typeface="Arial MT Pro Bold"/>
                <a:sym typeface="Arial MT Pro Bold"/>
              </a:endParaRPr>
            </a:p>
            <a:p>
              <a:pPr algn="l">
                <a:lnSpc>
                  <a:spcPts val="3359"/>
                </a:lnSpc>
              </a:pPr>
              <a:endParaRPr lang="en-US" sz="3399" b="1">
                <a:solidFill>
                  <a:srgbClr val="2B4865"/>
                </a:solidFill>
                <a:latin typeface="Arial MT Pro Bold"/>
                <a:ea typeface="Arial MT Pro Bold"/>
                <a:cs typeface="Arial MT Pro Bold"/>
                <a:sym typeface="Arial MT Pro Bold"/>
              </a:endParaRPr>
            </a:p>
          </p:txBody>
        </p:sp>
      </p:grpSp>
      <p:sp>
        <p:nvSpPr>
          <p:cNvPr id="5" name="Freeform 5"/>
          <p:cNvSpPr/>
          <p:nvPr/>
        </p:nvSpPr>
        <p:spPr>
          <a:xfrm>
            <a:off x="11178133" y="1965706"/>
            <a:ext cx="5452321" cy="4138509"/>
          </a:xfrm>
          <a:custGeom>
            <a:avLst/>
            <a:gdLst/>
            <a:ahLst/>
            <a:cxnLst/>
            <a:rect l="l" t="t" r="r" b="b"/>
            <a:pathLst>
              <a:path w="5452321" h="4138509">
                <a:moveTo>
                  <a:pt x="0" y="0"/>
                </a:moveTo>
                <a:lnTo>
                  <a:pt x="5452321" y="0"/>
                </a:lnTo>
                <a:lnTo>
                  <a:pt x="5452321" y="4138509"/>
                </a:lnTo>
                <a:lnTo>
                  <a:pt x="0" y="4138509"/>
                </a:lnTo>
                <a:lnTo>
                  <a:pt x="0" y="0"/>
                </a:lnTo>
                <a:close/>
              </a:path>
            </a:pathLst>
          </a:custGeom>
          <a:blipFill>
            <a:blip r:embed="rId3"/>
            <a:stretch>
              <a:fillRect/>
            </a:stretch>
          </a:blipFill>
        </p:spPr>
      </p:sp>
      <p:grpSp>
        <p:nvGrpSpPr>
          <p:cNvPr id="6" name="Group 6"/>
          <p:cNvGrpSpPr/>
          <p:nvPr/>
        </p:nvGrpSpPr>
        <p:grpSpPr>
          <a:xfrm>
            <a:off x="1643893" y="2510071"/>
            <a:ext cx="8898534" cy="3049778"/>
            <a:chOff x="0" y="0"/>
            <a:chExt cx="11850630" cy="4061545"/>
          </a:xfrm>
        </p:grpSpPr>
        <p:sp>
          <p:nvSpPr>
            <p:cNvPr id="7" name="Freeform 7"/>
            <p:cNvSpPr/>
            <p:nvPr/>
          </p:nvSpPr>
          <p:spPr>
            <a:xfrm>
              <a:off x="0" y="0"/>
              <a:ext cx="11850630" cy="4061545"/>
            </a:xfrm>
            <a:custGeom>
              <a:avLst/>
              <a:gdLst/>
              <a:ahLst/>
              <a:cxnLst/>
              <a:rect l="l" t="t" r="r" b="b"/>
              <a:pathLst>
                <a:path w="11850630" h="4061545">
                  <a:moveTo>
                    <a:pt x="0" y="0"/>
                  </a:moveTo>
                  <a:lnTo>
                    <a:pt x="11850630" y="0"/>
                  </a:lnTo>
                  <a:lnTo>
                    <a:pt x="11850630" y="4061545"/>
                  </a:lnTo>
                  <a:lnTo>
                    <a:pt x="0" y="4061545"/>
                  </a:lnTo>
                  <a:close/>
                </a:path>
              </a:pathLst>
            </a:custGeom>
          </p:spPr>
        </p:sp>
        <p:sp>
          <p:nvSpPr>
            <p:cNvPr id="8" name="TextBox 8"/>
            <p:cNvSpPr txBox="1"/>
            <p:nvPr/>
          </p:nvSpPr>
          <p:spPr>
            <a:xfrm>
              <a:off x="0" y="-142875"/>
              <a:ext cx="11850630" cy="4204420"/>
            </a:xfrm>
            <a:prstGeom prst="rect">
              <a:avLst/>
            </a:prstGeom>
          </p:spPr>
          <p:txBody>
            <a:bodyPr lIns="0" tIns="0" rIns="0" bIns="0" rtlCol="0" anchor="t"/>
            <a:lstStyle/>
            <a:p>
              <a:pPr algn="just">
                <a:lnSpc>
                  <a:spcPts val="4081"/>
                </a:lnSpc>
              </a:pPr>
              <a:r>
                <a:rPr lang="en-US" sz="2599">
                  <a:solidFill>
                    <a:srgbClr val="000000"/>
                  </a:solidFill>
                  <a:latin typeface="Arial MT Pro"/>
                  <a:ea typeface="Arial MT Pro"/>
                  <a:cs typeface="Arial MT Pro"/>
                  <a:sym typeface="Arial MT Pro"/>
                </a:rPr>
                <a:t>The </a:t>
              </a:r>
              <a:r>
                <a:rPr lang="en-US" sz="2599" b="1">
                  <a:solidFill>
                    <a:srgbClr val="000000"/>
                  </a:solidFill>
                  <a:latin typeface="Arial MT Pro Bold"/>
                  <a:ea typeface="Arial MT Pro Bold"/>
                  <a:cs typeface="Arial MT Pro Bold"/>
                  <a:sym typeface="Arial MT Pro Bold"/>
                </a:rPr>
                <a:t>confusion matrix </a:t>
              </a:r>
              <a:r>
                <a:rPr lang="en-US" sz="2599">
                  <a:solidFill>
                    <a:srgbClr val="000000"/>
                  </a:solidFill>
                  <a:latin typeface="Arial MT Pro"/>
                  <a:ea typeface="Arial MT Pro"/>
                  <a:cs typeface="Arial MT Pro"/>
                  <a:sym typeface="Arial MT Pro"/>
                </a:rPr>
                <a:t>helps illustrate how well the models predicted the type of shark attack (e.g., Unprovoked, Provoked, Watercraft, etc.) by showing the number of correct and incorrect classifications for each category. This is useful in spotting which types of attacks the model struggles to identify. </a:t>
              </a:r>
            </a:p>
          </p:txBody>
        </p:sp>
      </p:grpSp>
      <p:grpSp>
        <p:nvGrpSpPr>
          <p:cNvPr id="9" name="Group 9"/>
          <p:cNvGrpSpPr/>
          <p:nvPr/>
        </p:nvGrpSpPr>
        <p:grpSpPr>
          <a:xfrm>
            <a:off x="1643893" y="6437678"/>
            <a:ext cx="8898534" cy="3564128"/>
            <a:chOff x="0" y="0"/>
            <a:chExt cx="11850630" cy="4746531"/>
          </a:xfrm>
        </p:grpSpPr>
        <p:sp>
          <p:nvSpPr>
            <p:cNvPr id="10" name="Freeform 10"/>
            <p:cNvSpPr/>
            <p:nvPr/>
          </p:nvSpPr>
          <p:spPr>
            <a:xfrm>
              <a:off x="0" y="0"/>
              <a:ext cx="11850630" cy="4746531"/>
            </a:xfrm>
            <a:custGeom>
              <a:avLst/>
              <a:gdLst/>
              <a:ahLst/>
              <a:cxnLst/>
              <a:rect l="l" t="t" r="r" b="b"/>
              <a:pathLst>
                <a:path w="11850630" h="4746531">
                  <a:moveTo>
                    <a:pt x="0" y="0"/>
                  </a:moveTo>
                  <a:lnTo>
                    <a:pt x="11850630" y="0"/>
                  </a:lnTo>
                  <a:lnTo>
                    <a:pt x="11850630" y="4746531"/>
                  </a:lnTo>
                  <a:lnTo>
                    <a:pt x="0" y="4746531"/>
                  </a:lnTo>
                  <a:close/>
                </a:path>
              </a:pathLst>
            </a:custGeom>
          </p:spPr>
        </p:sp>
        <p:sp>
          <p:nvSpPr>
            <p:cNvPr id="11" name="TextBox 11"/>
            <p:cNvSpPr txBox="1"/>
            <p:nvPr/>
          </p:nvSpPr>
          <p:spPr>
            <a:xfrm>
              <a:off x="0" y="-142875"/>
              <a:ext cx="11850630" cy="4889406"/>
            </a:xfrm>
            <a:prstGeom prst="rect">
              <a:avLst/>
            </a:prstGeom>
          </p:spPr>
          <p:txBody>
            <a:bodyPr lIns="0" tIns="0" rIns="0" bIns="0" rtlCol="0" anchor="t"/>
            <a:lstStyle/>
            <a:p>
              <a:pPr algn="just">
                <a:lnSpc>
                  <a:spcPts val="4081"/>
                </a:lnSpc>
              </a:pPr>
              <a:r>
                <a:rPr lang="en-US" sz="2599">
                  <a:solidFill>
                    <a:srgbClr val="000000"/>
                  </a:solidFill>
                  <a:latin typeface="Arial MT Pro"/>
                  <a:ea typeface="Arial MT Pro"/>
                  <a:cs typeface="Arial MT Pro"/>
                  <a:sym typeface="Arial MT Pro"/>
                </a:rPr>
                <a:t>The </a:t>
              </a:r>
              <a:r>
                <a:rPr lang="en-US" sz="2599" b="1">
                  <a:solidFill>
                    <a:srgbClr val="000000"/>
                  </a:solidFill>
                  <a:latin typeface="Arial MT Pro Bold"/>
                  <a:ea typeface="Arial MT Pro Bold"/>
                  <a:cs typeface="Arial MT Pro Bold"/>
                  <a:sym typeface="Arial MT Pro Bold"/>
                </a:rPr>
                <a:t>ROC curve</a:t>
              </a:r>
              <a:r>
                <a:rPr lang="en-US" sz="2599">
                  <a:solidFill>
                    <a:srgbClr val="000000"/>
                  </a:solidFill>
                  <a:latin typeface="Arial MT Pro"/>
                  <a:ea typeface="Arial MT Pro"/>
                  <a:cs typeface="Arial MT Pro"/>
                  <a:sym typeface="Arial MT Pro"/>
                </a:rPr>
                <a:t> provides a visual representation of how well the model distinguishes between different attack types. For this multiclass dataset, the ROC curve shows the true positive rate versus the false positive rate for each attack class, helping to assess the model’s ability to separate categories like "Unprovoked" and "Sea Disaster" effectively.</a:t>
              </a:r>
            </a:p>
          </p:txBody>
        </p:sp>
      </p:grpSp>
      <p:sp>
        <p:nvSpPr>
          <p:cNvPr id="12" name="Freeform 12"/>
          <p:cNvSpPr/>
          <p:nvPr/>
        </p:nvSpPr>
        <p:spPr>
          <a:xfrm>
            <a:off x="11100636" y="6320264"/>
            <a:ext cx="5607315" cy="3798956"/>
          </a:xfrm>
          <a:custGeom>
            <a:avLst/>
            <a:gdLst/>
            <a:ahLst/>
            <a:cxnLst/>
            <a:rect l="l" t="t" r="r" b="b"/>
            <a:pathLst>
              <a:path w="5607315" h="3798956">
                <a:moveTo>
                  <a:pt x="0" y="0"/>
                </a:moveTo>
                <a:lnTo>
                  <a:pt x="5607315" y="0"/>
                </a:lnTo>
                <a:lnTo>
                  <a:pt x="5607315" y="3798956"/>
                </a:lnTo>
                <a:lnTo>
                  <a:pt x="0" y="3798956"/>
                </a:lnTo>
                <a:lnTo>
                  <a:pt x="0" y="0"/>
                </a:lnTo>
                <a:close/>
              </a:path>
            </a:pathLst>
          </a:custGeom>
          <a:blipFill>
            <a:blip r:embed="rId4"/>
            <a:stretch>
              <a:fillRect/>
            </a:stretch>
          </a:blipFill>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21901" y="904875"/>
            <a:ext cx="7361754" cy="637481"/>
          </a:xfrm>
          <a:prstGeom prst="rect">
            <a:avLst/>
          </a:prstGeom>
        </p:spPr>
        <p:txBody>
          <a:bodyPr lIns="0" tIns="0" rIns="0" bIns="0" rtlCol="0" anchor="t">
            <a:spAutoFit/>
          </a:bodyPr>
          <a:lstStyle/>
          <a:p>
            <a:pPr algn="ctr">
              <a:lnSpc>
                <a:spcPts val="4610"/>
              </a:lnSpc>
              <a:spcBef>
                <a:spcPct val="0"/>
              </a:spcBef>
            </a:pPr>
            <a:r>
              <a:rPr lang="en-US" sz="3399" b="1">
                <a:solidFill>
                  <a:srgbClr val="2B4865"/>
                </a:solidFill>
                <a:latin typeface="Arial MT Pro Bold"/>
                <a:ea typeface="Arial MT Pro Bold"/>
                <a:cs typeface="Arial MT Pro Bold"/>
                <a:sym typeface="Arial MT Pro Bold"/>
              </a:rPr>
              <a:t>Potential Issues in Data Preparation</a:t>
            </a:r>
          </a:p>
        </p:txBody>
      </p:sp>
      <p:grpSp>
        <p:nvGrpSpPr>
          <p:cNvPr id="3" name="Group 3"/>
          <p:cNvGrpSpPr/>
          <p:nvPr/>
        </p:nvGrpSpPr>
        <p:grpSpPr>
          <a:xfrm>
            <a:off x="1104640" y="2644136"/>
            <a:ext cx="7444199" cy="2137817"/>
            <a:chOff x="0" y="0"/>
            <a:chExt cx="9913818" cy="2847039"/>
          </a:xfrm>
        </p:grpSpPr>
        <p:sp>
          <p:nvSpPr>
            <p:cNvPr id="4" name="Freeform 4"/>
            <p:cNvSpPr/>
            <p:nvPr/>
          </p:nvSpPr>
          <p:spPr>
            <a:xfrm>
              <a:off x="0" y="0"/>
              <a:ext cx="9913818" cy="2847039"/>
            </a:xfrm>
            <a:custGeom>
              <a:avLst/>
              <a:gdLst/>
              <a:ahLst/>
              <a:cxnLst/>
              <a:rect l="l" t="t" r="r" b="b"/>
              <a:pathLst>
                <a:path w="9913818" h="2847039">
                  <a:moveTo>
                    <a:pt x="0" y="0"/>
                  </a:moveTo>
                  <a:lnTo>
                    <a:pt x="9913818" y="0"/>
                  </a:lnTo>
                  <a:lnTo>
                    <a:pt x="9913818" y="2847039"/>
                  </a:lnTo>
                  <a:lnTo>
                    <a:pt x="0" y="2847039"/>
                  </a:lnTo>
                  <a:close/>
                </a:path>
              </a:pathLst>
            </a:custGeom>
          </p:spPr>
        </p:sp>
        <p:sp>
          <p:nvSpPr>
            <p:cNvPr id="5" name="TextBox 5"/>
            <p:cNvSpPr txBox="1"/>
            <p:nvPr/>
          </p:nvSpPr>
          <p:spPr>
            <a:xfrm>
              <a:off x="0" y="-142875"/>
              <a:ext cx="9913818" cy="2989914"/>
            </a:xfrm>
            <a:prstGeom prst="rect">
              <a:avLst/>
            </a:prstGeom>
          </p:spPr>
          <p:txBody>
            <a:bodyPr lIns="0" tIns="0" rIns="0" bIns="0" rtlCol="0" anchor="t"/>
            <a:lstStyle/>
            <a:p>
              <a:pPr algn="just">
                <a:lnSpc>
                  <a:spcPts val="4081"/>
                </a:lnSpc>
              </a:pPr>
              <a:r>
                <a:rPr lang="en-US" sz="2599" b="1">
                  <a:solidFill>
                    <a:srgbClr val="000000"/>
                  </a:solidFill>
                  <a:latin typeface="Arial MT Pro Bold"/>
                  <a:ea typeface="Arial MT Pro Bold"/>
                  <a:cs typeface="Arial MT Pro Bold"/>
                  <a:sym typeface="Arial MT Pro Bold"/>
                </a:rPr>
                <a:t>Missing Values</a:t>
              </a:r>
              <a:r>
                <a:rPr lang="en-US" sz="2599">
                  <a:solidFill>
                    <a:srgbClr val="000000"/>
                  </a:solidFill>
                  <a:latin typeface="Arial MT Pro"/>
                  <a:ea typeface="Arial MT Pro"/>
                  <a:cs typeface="Arial MT Pro"/>
                  <a:sym typeface="Arial MT Pro"/>
                </a:rPr>
                <a:t>: Many real-world fields (like ‘Age’ or ‘Injury’) have missing or inconsistent entries. Many rows contain NaNs or vague descriptions (e.g., “Unknown” activity or species).</a:t>
              </a:r>
            </a:p>
          </p:txBody>
        </p:sp>
      </p:grpSp>
      <p:grpSp>
        <p:nvGrpSpPr>
          <p:cNvPr id="6" name="Group 6"/>
          <p:cNvGrpSpPr/>
          <p:nvPr/>
        </p:nvGrpSpPr>
        <p:grpSpPr>
          <a:xfrm>
            <a:off x="9815101" y="2465308"/>
            <a:ext cx="7444199" cy="2535428"/>
            <a:chOff x="0" y="0"/>
            <a:chExt cx="9913818" cy="3376559"/>
          </a:xfrm>
        </p:grpSpPr>
        <p:sp>
          <p:nvSpPr>
            <p:cNvPr id="7" name="Freeform 7"/>
            <p:cNvSpPr/>
            <p:nvPr/>
          </p:nvSpPr>
          <p:spPr>
            <a:xfrm>
              <a:off x="0" y="0"/>
              <a:ext cx="9913818" cy="3376559"/>
            </a:xfrm>
            <a:custGeom>
              <a:avLst/>
              <a:gdLst/>
              <a:ahLst/>
              <a:cxnLst/>
              <a:rect l="l" t="t" r="r" b="b"/>
              <a:pathLst>
                <a:path w="9913818" h="3376559">
                  <a:moveTo>
                    <a:pt x="0" y="0"/>
                  </a:moveTo>
                  <a:lnTo>
                    <a:pt x="9913818" y="0"/>
                  </a:lnTo>
                  <a:lnTo>
                    <a:pt x="9913818" y="3376559"/>
                  </a:lnTo>
                  <a:lnTo>
                    <a:pt x="0" y="3376559"/>
                  </a:lnTo>
                  <a:close/>
                </a:path>
              </a:pathLst>
            </a:custGeom>
          </p:spPr>
        </p:sp>
        <p:sp>
          <p:nvSpPr>
            <p:cNvPr id="8" name="TextBox 8"/>
            <p:cNvSpPr txBox="1"/>
            <p:nvPr/>
          </p:nvSpPr>
          <p:spPr>
            <a:xfrm>
              <a:off x="0" y="-142875"/>
              <a:ext cx="9913818" cy="3519434"/>
            </a:xfrm>
            <a:prstGeom prst="rect">
              <a:avLst/>
            </a:prstGeom>
          </p:spPr>
          <p:txBody>
            <a:bodyPr lIns="0" tIns="0" rIns="0" bIns="0" rtlCol="0" anchor="t"/>
            <a:lstStyle/>
            <a:p>
              <a:pPr algn="just">
                <a:lnSpc>
                  <a:spcPts val="4081"/>
                </a:lnSpc>
              </a:pPr>
              <a:r>
                <a:rPr lang="en-US" sz="2599" b="1">
                  <a:solidFill>
                    <a:srgbClr val="000000"/>
                  </a:solidFill>
                  <a:latin typeface="Arial MT Pro Bold"/>
                  <a:ea typeface="Arial MT Pro Bold"/>
                  <a:cs typeface="Arial MT Pro Bold"/>
                  <a:sym typeface="Arial MT Pro Bold"/>
                </a:rPr>
                <a:t>Imbalanced Data:</a:t>
              </a:r>
              <a:r>
                <a:rPr lang="en-US" sz="2599">
                  <a:solidFill>
                    <a:srgbClr val="000000"/>
                  </a:solidFill>
                  <a:latin typeface="Arial MT Pro"/>
                  <a:ea typeface="Arial MT Pro"/>
                  <a:cs typeface="Arial MT Pro"/>
                  <a:sym typeface="Arial MT Pro"/>
                </a:rPr>
                <a:t> Some attack types or regions are overrepresented, requiring resampling techniques. Most entries may belong to one class (e.g., non-fatal), leading to biased model predictions.</a:t>
              </a:r>
            </a:p>
          </p:txBody>
        </p:sp>
      </p:grpSp>
      <p:grpSp>
        <p:nvGrpSpPr>
          <p:cNvPr id="9" name="Group 9"/>
          <p:cNvGrpSpPr/>
          <p:nvPr/>
        </p:nvGrpSpPr>
        <p:grpSpPr>
          <a:xfrm>
            <a:off x="9815101" y="6141880"/>
            <a:ext cx="7304856" cy="1792906"/>
            <a:chOff x="0" y="0"/>
            <a:chExt cx="9728248" cy="2387705"/>
          </a:xfrm>
        </p:grpSpPr>
        <p:sp>
          <p:nvSpPr>
            <p:cNvPr id="10" name="Freeform 10"/>
            <p:cNvSpPr/>
            <p:nvPr/>
          </p:nvSpPr>
          <p:spPr>
            <a:xfrm>
              <a:off x="0" y="0"/>
              <a:ext cx="9728249" cy="2387705"/>
            </a:xfrm>
            <a:custGeom>
              <a:avLst/>
              <a:gdLst/>
              <a:ahLst/>
              <a:cxnLst/>
              <a:rect l="l" t="t" r="r" b="b"/>
              <a:pathLst>
                <a:path w="9728249" h="2387705">
                  <a:moveTo>
                    <a:pt x="0" y="0"/>
                  </a:moveTo>
                  <a:lnTo>
                    <a:pt x="9728249" y="0"/>
                  </a:lnTo>
                  <a:lnTo>
                    <a:pt x="9728249" y="2387705"/>
                  </a:lnTo>
                  <a:lnTo>
                    <a:pt x="0" y="2387705"/>
                  </a:lnTo>
                  <a:close/>
                </a:path>
              </a:pathLst>
            </a:custGeom>
          </p:spPr>
        </p:sp>
        <p:sp>
          <p:nvSpPr>
            <p:cNvPr id="11" name="TextBox 11"/>
            <p:cNvSpPr txBox="1"/>
            <p:nvPr/>
          </p:nvSpPr>
          <p:spPr>
            <a:xfrm>
              <a:off x="0" y="-142875"/>
              <a:ext cx="9728248" cy="2530580"/>
            </a:xfrm>
            <a:prstGeom prst="rect">
              <a:avLst/>
            </a:prstGeom>
          </p:spPr>
          <p:txBody>
            <a:bodyPr lIns="0" tIns="0" rIns="0" bIns="0" rtlCol="0" anchor="t"/>
            <a:lstStyle/>
            <a:p>
              <a:pPr algn="just">
                <a:lnSpc>
                  <a:spcPts val="4081"/>
                </a:lnSpc>
              </a:pPr>
              <a:r>
                <a:rPr lang="en-US" sz="2599" b="1">
                  <a:solidFill>
                    <a:srgbClr val="000000"/>
                  </a:solidFill>
                  <a:latin typeface="Arial MT Pro Bold"/>
                  <a:ea typeface="Arial MT Pro Bold"/>
                  <a:cs typeface="Arial MT Pro Bold"/>
                  <a:sym typeface="Arial MT Pro Bold"/>
                </a:rPr>
                <a:t>Inconsistent or Noisy Entries: </a:t>
              </a:r>
              <a:r>
                <a:rPr lang="en-US" sz="2599">
                  <a:solidFill>
                    <a:srgbClr val="000000"/>
                  </a:solidFill>
                  <a:latin typeface="Arial MT Pro"/>
                  <a:ea typeface="Arial MT Pro"/>
                  <a:cs typeface="Arial MT Pro"/>
                  <a:sym typeface="Arial MT Pro"/>
                </a:rPr>
                <a:t>Features like "Activity" or "Species" have many unique values; improper encoding may hurt model performance.</a:t>
              </a:r>
            </a:p>
          </p:txBody>
        </p:sp>
      </p:grpSp>
      <p:grpSp>
        <p:nvGrpSpPr>
          <p:cNvPr id="12" name="Group 12"/>
          <p:cNvGrpSpPr/>
          <p:nvPr/>
        </p:nvGrpSpPr>
        <p:grpSpPr>
          <a:xfrm>
            <a:off x="1104424" y="6141880"/>
            <a:ext cx="7444199" cy="2133544"/>
            <a:chOff x="0" y="0"/>
            <a:chExt cx="9913818" cy="2841350"/>
          </a:xfrm>
        </p:grpSpPr>
        <p:sp>
          <p:nvSpPr>
            <p:cNvPr id="13" name="Freeform 13"/>
            <p:cNvSpPr/>
            <p:nvPr/>
          </p:nvSpPr>
          <p:spPr>
            <a:xfrm>
              <a:off x="0" y="0"/>
              <a:ext cx="9913818" cy="2841350"/>
            </a:xfrm>
            <a:custGeom>
              <a:avLst/>
              <a:gdLst/>
              <a:ahLst/>
              <a:cxnLst/>
              <a:rect l="l" t="t" r="r" b="b"/>
              <a:pathLst>
                <a:path w="9913818" h="2841350">
                  <a:moveTo>
                    <a:pt x="0" y="0"/>
                  </a:moveTo>
                  <a:lnTo>
                    <a:pt x="9913818" y="0"/>
                  </a:lnTo>
                  <a:lnTo>
                    <a:pt x="9913818" y="2841350"/>
                  </a:lnTo>
                  <a:lnTo>
                    <a:pt x="0" y="2841350"/>
                  </a:lnTo>
                  <a:close/>
                </a:path>
              </a:pathLst>
            </a:custGeom>
          </p:spPr>
        </p:sp>
        <p:sp>
          <p:nvSpPr>
            <p:cNvPr id="14" name="TextBox 14"/>
            <p:cNvSpPr txBox="1"/>
            <p:nvPr/>
          </p:nvSpPr>
          <p:spPr>
            <a:xfrm>
              <a:off x="0" y="-142875"/>
              <a:ext cx="9913818" cy="2984225"/>
            </a:xfrm>
            <a:prstGeom prst="rect">
              <a:avLst/>
            </a:prstGeom>
          </p:spPr>
          <p:txBody>
            <a:bodyPr lIns="0" tIns="0" rIns="0" bIns="0" rtlCol="0" anchor="t"/>
            <a:lstStyle/>
            <a:p>
              <a:pPr algn="just">
                <a:lnSpc>
                  <a:spcPts val="4081"/>
                </a:lnSpc>
              </a:pPr>
              <a:r>
                <a:rPr lang="en-US" sz="2599" b="1">
                  <a:solidFill>
                    <a:srgbClr val="000000"/>
                  </a:solidFill>
                  <a:latin typeface="Arial MT Pro Bold"/>
                  <a:ea typeface="Arial MT Pro Bold"/>
                  <a:cs typeface="Arial MT Pro Bold"/>
                  <a:sym typeface="Arial MT Pro Bold"/>
                </a:rPr>
                <a:t>Textual Ambiguity: </a:t>
              </a:r>
              <a:r>
                <a:rPr lang="en-US" sz="2599">
                  <a:solidFill>
                    <a:srgbClr val="000000"/>
                  </a:solidFill>
                  <a:latin typeface="Arial MT Pro"/>
                  <a:ea typeface="Arial MT Pro"/>
                  <a:cs typeface="Arial MT Pro"/>
                  <a:sym typeface="Arial MT Pro"/>
                </a:rPr>
                <a:t>Descriptions like “surfing” vs. “surfing near shore” can make feature engineering challenging unless NLP techniques are used.</a:t>
              </a:r>
            </a:p>
          </p:txBody>
        </p:sp>
      </p:grpSp>
      <p:sp>
        <p:nvSpPr>
          <p:cNvPr id="15" name="AutoShape 15"/>
          <p:cNvSpPr/>
          <p:nvPr/>
        </p:nvSpPr>
        <p:spPr>
          <a:xfrm flipH="1">
            <a:off x="1104640" y="5461917"/>
            <a:ext cx="16230600" cy="0"/>
          </a:xfrm>
          <a:prstGeom prst="line">
            <a:avLst/>
          </a:prstGeom>
          <a:ln w="38100" cap="flat">
            <a:solidFill>
              <a:srgbClr val="000000"/>
            </a:solidFill>
            <a:prstDash val="solid"/>
            <a:headEnd type="none" w="sm" len="sm"/>
            <a:tailEnd type="none" w="sm" len="sm"/>
          </a:ln>
        </p:spPr>
      </p:sp>
      <p:sp>
        <p:nvSpPr>
          <p:cNvPr id="16" name="AutoShape 16"/>
          <p:cNvSpPr/>
          <p:nvPr/>
        </p:nvSpPr>
        <p:spPr>
          <a:xfrm>
            <a:off x="9167748" y="2021673"/>
            <a:ext cx="28445" cy="6880487"/>
          </a:xfrm>
          <a:prstGeom prst="line">
            <a:avLst/>
          </a:prstGeom>
          <a:ln w="38100" cap="flat">
            <a:solidFill>
              <a:srgbClr val="000000"/>
            </a:solidFill>
            <a:prstDash val="solid"/>
            <a:headEnd type="none" w="sm" len="sm"/>
            <a:tailEnd type="none" w="sm" len="sm"/>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674641"/>
            <a:ext cx="13767291" cy="593819"/>
          </a:xfrm>
          <a:prstGeom prst="rect">
            <a:avLst/>
          </a:prstGeom>
        </p:spPr>
        <p:txBody>
          <a:bodyPr lIns="0" tIns="0" rIns="0" bIns="0" rtlCol="0" anchor="t">
            <a:spAutoFit/>
          </a:bodyPr>
          <a:lstStyle/>
          <a:p>
            <a:pPr algn="l">
              <a:lnSpc>
                <a:spcPts val="4339"/>
              </a:lnSpc>
              <a:spcBef>
                <a:spcPct val="0"/>
              </a:spcBef>
            </a:pPr>
            <a:r>
              <a:rPr lang="en-US" sz="3199" b="1">
                <a:solidFill>
                  <a:srgbClr val="2B4865"/>
                </a:solidFill>
                <a:latin typeface="Arial MT Pro Bold"/>
                <a:ea typeface="Arial MT Pro Bold"/>
                <a:cs typeface="Arial MT Pro Bold"/>
                <a:sym typeface="Arial MT Pro Bold"/>
              </a:rPr>
              <a:t>Proposed Dataset Preparation for Analytical Model</a:t>
            </a:r>
          </a:p>
        </p:txBody>
      </p:sp>
      <p:grpSp>
        <p:nvGrpSpPr>
          <p:cNvPr id="3" name="Group 3"/>
          <p:cNvGrpSpPr/>
          <p:nvPr/>
        </p:nvGrpSpPr>
        <p:grpSpPr>
          <a:xfrm>
            <a:off x="1028700" y="1515187"/>
            <a:ext cx="16230600" cy="8340472"/>
            <a:chOff x="0" y="0"/>
            <a:chExt cx="21640800" cy="11120629"/>
          </a:xfrm>
        </p:grpSpPr>
        <p:sp>
          <p:nvSpPr>
            <p:cNvPr id="4" name="Freeform 4"/>
            <p:cNvSpPr/>
            <p:nvPr/>
          </p:nvSpPr>
          <p:spPr>
            <a:xfrm>
              <a:off x="0" y="0"/>
              <a:ext cx="21640800" cy="11120629"/>
            </a:xfrm>
            <a:custGeom>
              <a:avLst/>
              <a:gdLst/>
              <a:ahLst/>
              <a:cxnLst/>
              <a:rect l="l" t="t" r="r" b="b"/>
              <a:pathLst>
                <a:path w="21640800" h="11120629">
                  <a:moveTo>
                    <a:pt x="0" y="0"/>
                  </a:moveTo>
                  <a:lnTo>
                    <a:pt x="21640800" y="0"/>
                  </a:lnTo>
                  <a:lnTo>
                    <a:pt x="21640800" y="11120629"/>
                  </a:lnTo>
                  <a:lnTo>
                    <a:pt x="0" y="11120629"/>
                  </a:lnTo>
                  <a:close/>
                </a:path>
              </a:pathLst>
            </a:custGeom>
          </p:spPr>
        </p:sp>
        <p:sp>
          <p:nvSpPr>
            <p:cNvPr id="5" name="TextBox 5"/>
            <p:cNvSpPr txBox="1"/>
            <p:nvPr/>
          </p:nvSpPr>
          <p:spPr>
            <a:xfrm>
              <a:off x="0" y="-180975"/>
              <a:ext cx="21640800" cy="11301604"/>
            </a:xfrm>
            <a:prstGeom prst="rect">
              <a:avLst/>
            </a:prstGeom>
          </p:spPr>
          <p:txBody>
            <a:bodyPr lIns="0" tIns="0" rIns="0" bIns="0" rtlCol="0" anchor="t"/>
            <a:lstStyle/>
            <a:p>
              <a:pPr marL="561336" lvl="1" indent="-280668" algn="just">
                <a:lnSpc>
                  <a:spcPts val="4497"/>
                </a:lnSpc>
                <a:buAutoNum type="arabicPeriod"/>
              </a:pPr>
              <a:r>
                <a:rPr lang="en-US" sz="2599" b="1">
                  <a:solidFill>
                    <a:srgbClr val="000000"/>
                  </a:solidFill>
                  <a:latin typeface="Arial MT Pro Bold"/>
                  <a:ea typeface="Arial MT Pro Bold"/>
                  <a:cs typeface="Arial MT Pro Bold"/>
                  <a:sym typeface="Arial MT Pro Bold"/>
                </a:rPr>
                <a:t>Selected key variables relevant to classification</a:t>
              </a:r>
              <a:r>
                <a:rPr lang="en-US" sz="2599">
                  <a:solidFill>
                    <a:srgbClr val="000000"/>
                  </a:solidFill>
                  <a:latin typeface="Arial MT Pro"/>
                  <a:ea typeface="Arial MT Pro"/>
                  <a:cs typeface="Arial MT Pro"/>
                  <a:sym typeface="Arial MT Pro"/>
                </a:rPr>
                <a:t>: Sex, Age, Type, Activity, Country, Fatal, etc. Removed unnecessary or identifier fields like Name, Location, PDF.</a:t>
              </a:r>
            </a:p>
            <a:p>
              <a:pPr marL="561336" lvl="1" indent="-280668" algn="just">
                <a:lnSpc>
                  <a:spcPts val="4497"/>
                </a:lnSpc>
                <a:buAutoNum type="arabicPeriod"/>
              </a:pPr>
              <a:r>
                <a:rPr lang="en-US" sz="2599" b="1">
                  <a:solidFill>
                    <a:srgbClr val="000000"/>
                  </a:solidFill>
                  <a:latin typeface="Arial MT Pro Bold"/>
                  <a:ea typeface="Arial MT Pro Bold"/>
                  <a:cs typeface="Arial MT Pro Bold"/>
                  <a:sym typeface="Arial MT Pro Bold"/>
                </a:rPr>
                <a:t> Imputing missing values in features</a:t>
              </a:r>
              <a:r>
                <a:rPr lang="en-US" sz="2599">
                  <a:solidFill>
                    <a:srgbClr val="000000"/>
                  </a:solidFill>
                  <a:latin typeface="Arial MT Pro"/>
                  <a:ea typeface="Arial MT Pro"/>
                  <a:cs typeface="Arial MT Pro"/>
                  <a:sym typeface="Arial MT Pro"/>
                </a:rPr>
                <a:t> like Age or Species using statistical methods (e.g., median age).</a:t>
              </a:r>
            </a:p>
            <a:p>
              <a:pPr marL="561336" lvl="1" indent="-280668" algn="just">
                <a:lnSpc>
                  <a:spcPts val="4497"/>
                </a:lnSpc>
                <a:buAutoNum type="arabicPeriod"/>
              </a:pPr>
              <a:r>
                <a:rPr lang="en-US" sz="2599" b="1">
                  <a:solidFill>
                    <a:srgbClr val="000000"/>
                  </a:solidFill>
                  <a:latin typeface="Arial MT Pro Bold"/>
                  <a:ea typeface="Arial MT Pro Bold"/>
                  <a:cs typeface="Arial MT Pro Bold"/>
                  <a:sym typeface="Arial MT Pro Bold"/>
                </a:rPr>
                <a:t> Used SMOTE</a:t>
              </a:r>
              <a:r>
                <a:rPr lang="en-US" sz="2599">
                  <a:solidFill>
                    <a:srgbClr val="000000"/>
                  </a:solidFill>
                  <a:latin typeface="Arial MT Pro"/>
                  <a:ea typeface="Arial MT Pro"/>
                  <a:cs typeface="Arial MT Pro"/>
                  <a:sym typeface="Arial MT Pro"/>
                </a:rPr>
                <a:t> to address class imbalance in the Fatal column.</a:t>
              </a:r>
            </a:p>
            <a:p>
              <a:pPr marL="561336" lvl="1" indent="-280668" algn="just">
                <a:lnSpc>
                  <a:spcPts val="4497"/>
                </a:lnSpc>
                <a:buAutoNum type="arabicPeriod"/>
              </a:pPr>
              <a:r>
                <a:rPr lang="en-US" sz="2599" b="1">
                  <a:solidFill>
                    <a:srgbClr val="000000"/>
                  </a:solidFill>
                  <a:latin typeface="Arial MT Pro Bold"/>
                  <a:ea typeface="Arial MT Pro Bold"/>
                  <a:cs typeface="Arial MT Pro Bold"/>
                  <a:sym typeface="Arial MT Pro Bold"/>
                </a:rPr>
                <a:t> Created new features</a:t>
              </a:r>
              <a:r>
                <a:rPr lang="en-US" sz="2599">
                  <a:solidFill>
                    <a:srgbClr val="000000"/>
                  </a:solidFill>
                  <a:latin typeface="Arial MT Pro"/>
                  <a:ea typeface="Arial MT Pro"/>
                  <a:cs typeface="Arial MT Pro"/>
                  <a:sym typeface="Arial MT Pro"/>
                </a:rPr>
                <a:t> such as Is_Adult, High_Risk_Activity, or Decade to capture meaningful patterns (feature engineering).</a:t>
              </a:r>
            </a:p>
            <a:p>
              <a:pPr marL="561336" lvl="1" indent="-280668" algn="just">
                <a:lnSpc>
                  <a:spcPts val="4497"/>
                </a:lnSpc>
                <a:buAutoNum type="arabicPeriod"/>
              </a:pPr>
              <a:r>
                <a:rPr lang="en-US" sz="2599">
                  <a:solidFill>
                    <a:srgbClr val="000000"/>
                  </a:solidFill>
                  <a:latin typeface="Arial MT Pro"/>
                  <a:ea typeface="Arial MT Pro"/>
                  <a:cs typeface="Arial MT Pro"/>
                  <a:sym typeface="Arial MT Pro"/>
                </a:rPr>
                <a:t> </a:t>
              </a:r>
              <a:r>
                <a:rPr lang="en-US" sz="2599" b="1">
                  <a:solidFill>
                    <a:srgbClr val="000000"/>
                  </a:solidFill>
                  <a:latin typeface="Arial MT Pro Bold"/>
                  <a:ea typeface="Arial MT Pro Bold"/>
                  <a:cs typeface="Arial MT Pro Bold"/>
                  <a:sym typeface="Arial MT Pro Bold"/>
                </a:rPr>
                <a:t>Applied PCA before KMeans clustering</a:t>
              </a:r>
              <a:r>
                <a:rPr lang="en-US" sz="2599">
                  <a:solidFill>
                    <a:srgbClr val="000000"/>
                  </a:solidFill>
                  <a:latin typeface="Arial MT Pro"/>
                  <a:ea typeface="Arial MT Pro"/>
                  <a:cs typeface="Arial MT Pro"/>
                  <a:sym typeface="Arial MT Pro"/>
                </a:rPr>
                <a:t> to reduce dimensionality and noise.</a:t>
              </a:r>
            </a:p>
            <a:p>
              <a:pPr marL="561336" lvl="1" indent="-280668" algn="just">
                <a:lnSpc>
                  <a:spcPts val="4497"/>
                </a:lnSpc>
                <a:buAutoNum type="arabicPeriod"/>
              </a:pPr>
              <a:r>
                <a:rPr lang="en-US" sz="2599" b="1">
                  <a:solidFill>
                    <a:srgbClr val="000000"/>
                  </a:solidFill>
                  <a:latin typeface="Arial MT Pro Bold"/>
                  <a:ea typeface="Arial MT Pro Bold"/>
                  <a:cs typeface="Arial MT Pro Bold"/>
                  <a:sym typeface="Arial MT Pro Bold"/>
                </a:rPr>
                <a:t> Data was split into training and testing sets </a:t>
              </a:r>
              <a:r>
                <a:rPr lang="en-US" sz="2599">
                  <a:solidFill>
                    <a:srgbClr val="000000"/>
                  </a:solidFill>
                  <a:latin typeface="Arial MT Pro"/>
                  <a:ea typeface="Arial MT Pro"/>
                  <a:cs typeface="Arial MT Pro"/>
                  <a:sym typeface="Arial MT Pro"/>
                </a:rPr>
                <a:t>with stratification to maintain class proportions, ensuring model generalizability.</a:t>
              </a:r>
            </a:p>
            <a:p>
              <a:pPr marL="561336" lvl="1" indent="-280668" algn="just">
                <a:lnSpc>
                  <a:spcPts val="4497"/>
                </a:lnSpc>
                <a:buAutoNum type="arabicPeriod"/>
              </a:pPr>
              <a:r>
                <a:rPr lang="en-US" sz="2599" b="1">
                  <a:solidFill>
                    <a:srgbClr val="000000"/>
                  </a:solidFill>
                  <a:latin typeface="Arial MT Pro Bold"/>
                  <a:ea typeface="Arial MT Pro Bold"/>
                  <a:cs typeface="Arial MT Pro Bold"/>
                  <a:sym typeface="Arial MT Pro Bold"/>
                </a:rPr>
                <a:t> Applied Label Encoding</a:t>
              </a:r>
              <a:r>
                <a:rPr lang="en-US" sz="2599">
                  <a:solidFill>
                    <a:srgbClr val="000000"/>
                  </a:solidFill>
                  <a:latin typeface="Arial MT Pro"/>
                  <a:ea typeface="Arial MT Pro"/>
                  <a:cs typeface="Arial MT Pro"/>
                  <a:sym typeface="Arial MT Pro"/>
                </a:rPr>
                <a:t> for binary and ordinal variables (e.g., Sex, Fatal). Applied One-Hot Encoding for nominal multi-class variables like Activity, Species, Country where necessary.</a:t>
              </a:r>
            </a:p>
            <a:p>
              <a:pPr marL="561336" lvl="1" indent="-280668" algn="just">
                <a:lnSpc>
                  <a:spcPts val="4497"/>
                </a:lnSpc>
                <a:buAutoNum type="arabicPeriod"/>
              </a:pPr>
              <a:r>
                <a:rPr lang="en-US" sz="2599" b="1">
                  <a:solidFill>
                    <a:srgbClr val="000000"/>
                  </a:solidFill>
                  <a:latin typeface="Arial MT Pro Bold"/>
                  <a:ea typeface="Arial MT Pro Bold"/>
                  <a:cs typeface="Arial MT Pro Bold"/>
                  <a:sym typeface="Arial MT Pro Bold"/>
                </a:rPr>
                <a:t> Standardized and scaled continuous features </a:t>
              </a:r>
              <a:r>
                <a:rPr lang="en-US" sz="2599">
                  <a:solidFill>
                    <a:srgbClr val="000000"/>
                  </a:solidFill>
                  <a:latin typeface="Arial MT Pro"/>
                  <a:ea typeface="Arial MT Pro"/>
                  <a:cs typeface="Arial MT Pro"/>
                  <a:sym typeface="Arial MT Pro"/>
                </a:rPr>
                <a:t>such as Age (especially for models sensitive to scale like SVM or KMeans).</a:t>
              </a:r>
            </a:p>
            <a:p>
              <a:pPr algn="just">
                <a:lnSpc>
                  <a:spcPts val="4497"/>
                </a:lnSpc>
              </a:pPr>
              <a:endParaRPr lang="en-US" sz="2599">
                <a:solidFill>
                  <a:srgbClr val="000000"/>
                </a:solidFill>
                <a:latin typeface="Arial MT Pro"/>
                <a:ea typeface="Arial MT Pro"/>
                <a:cs typeface="Arial MT Pro"/>
                <a:sym typeface="Arial MT Pro"/>
              </a:endParaRPr>
            </a:p>
            <a:p>
              <a:pPr algn="just">
                <a:lnSpc>
                  <a:spcPts val="4497"/>
                </a:lnSpc>
              </a:pPr>
              <a:endParaRPr lang="en-US" sz="2599">
                <a:solidFill>
                  <a:srgbClr val="000000"/>
                </a:solidFill>
                <a:latin typeface="Arial MT Pro"/>
                <a:ea typeface="Arial MT Pro"/>
                <a:cs typeface="Arial MT Pro"/>
                <a:sym typeface="Arial MT Pro"/>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483529" y="469818"/>
            <a:ext cx="9775771" cy="1935356"/>
            <a:chOff x="0" y="0"/>
            <a:chExt cx="12093242" cy="2394157"/>
          </a:xfrm>
        </p:grpSpPr>
        <p:sp>
          <p:nvSpPr>
            <p:cNvPr id="3" name="Freeform 3"/>
            <p:cNvSpPr/>
            <p:nvPr/>
          </p:nvSpPr>
          <p:spPr>
            <a:xfrm>
              <a:off x="0" y="0"/>
              <a:ext cx="12093242" cy="2394157"/>
            </a:xfrm>
            <a:custGeom>
              <a:avLst/>
              <a:gdLst/>
              <a:ahLst/>
              <a:cxnLst/>
              <a:rect l="l" t="t" r="r" b="b"/>
              <a:pathLst>
                <a:path w="12093242" h="2394157">
                  <a:moveTo>
                    <a:pt x="0" y="0"/>
                  </a:moveTo>
                  <a:lnTo>
                    <a:pt x="12093242" y="0"/>
                  </a:lnTo>
                  <a:lnTo>
                    <a:pt x="12093242" y="2394157"/>
                  </a:lnTo>
                  <a:lnTo>
                    <a:pt x="0" y="2394157"/>
                  </a:lnTo>
                  <a:close/>
                </a:path>
              </a:pathLst>
            </a:custGeom>
          </p:spPr>
        </p:sp>
        <p:sp>
          <p:nvSpPr>
            <p:cNvPr id="4" name="TextBox 4"/>
            <p:cNvSpPr txBox="1"/>
            <p:nvPr/>
          </p:nvSpPr>
          <p:spPr>
            <a:xfrm>
              <a:off x="0" y="-104775"/>
              <a:ext cx="12093242" cy="2498932"/>
            </a:xfrm>
            <a:prstGeom prst="rect">
              <a:avLst/>
            </a:prstGeom>
          </p:spPr>
          <p:txBody>
            <a:bodyPr lIns="0" tIns="0" rIns="0" bIns="0" rtlCol="0" anchor="t"/>
            <a:lstStyle/>
            <a:p>
              <a:pPr algn="just">
                <a:lnSpc>
                  <a:spcPts val="3427"/>
                </a:lnSpc>
              </a:pPr>
              <a:r>
                <a:rPr lang="en-US" sz="2400">
                  <a:solidFill>
                    <a:srgbClr val="000000"/>
                  </a:solidFill>
                  <a:latin typeface="Arial MT Pro"/>
                  <a:ea typeface="Arial MT Pro"/>
                  <a:cs typeface="Arial MT Pro"/>
                  <a:sym typeface="Arial MT Pro"/>
                </a:rPr>
                <a:t>Data transformation is a crucial preprocessing step that helps ensure the analytical model can </a:t>
              </a:r>
              <a:r>
                <a:rPr lang="en-US" sz="2400" i="1">
                  <a:solidFill>
                    <a:srgbClr val="000000"/>
                  </a:solidFill>
                  <a:latin typeface="Arial MT Pro Italics"/>
                  <a:ea typeface="Arial MT Pro Italics"/>
                  <a:cs typeface="Arial MT Pro Italics"/>
                  <a:sym typeface="Arial MT Pro Italics"/>
                </a:rPr>
                <a:t>learn effectively</a:t>
              </a:r>
              <a:r>
                <a:rPr lang="en-US" sz="2400">
                  <a:solidFill>
                    <a:srgbClr val="000000"/>
                  </a:solidFill>
                  <a:latin typeface="Arial MT Pro"/>
                  <a:ea typeface="Arial MT Pro"/>
                  <a:cs typeface="Arial MT Pro"/>
                  <a:sym typeface="Arial MT Pro"/>
                </a:rPr>
                <a:t>, </a:t>
              </a:r>
              <a:r>
                <a:rPr lang="en-US" sz="2400" i="1">
                  <a:solidFill>
                    <a:srgbClr val="000000"/>
                  </a:solidFill>
                  <a:latin typeface="Arial MT Pro Italics"/>
                  <a:ea typeface="Arial MT Pro Italics"/>
                  <a:cs typeface="Arial MT Pro Italics"/>
                  <a:sym typeface="Arial MT Pro Italics"/>
                </a:rPr>
                <a:t>produce accurate predictions</a:t>
              </a:r>
              <a:r>
                <a:rPr lang="en-US" sz="2400">
                  <a:solidFill>
                    <a:srgbClr val="000000"/>
                  </a:solidFill>
                  <a:latin typeface="Arial MT Pro"/>
                  <a:ea typeface="Arial MT Pro"/>
                  <a:cs typeface="Arial MT Pro"/>
                  <a:sym typeface="Arial MT Pro"/>
                </a:rPr>
                <a:t>, and </a:t>
              </a:r>
              <a:r>
                <a:rPr lang="en-US" sz="2400" i="1">
                  <a:solidFill>
                    <a:srgbClr val="000000"/>
                  </a:solidFill>
                  <a:latin typeface="Arial MT Pro Italics"/>
                  <a:ea typeface="Arial MT Pro Italics"/>
                  <a:cs typeface="Arial MT Pro Italics"/>
                  <a:sym typeface="Arial MT Pro Italics"/>
                </a:rPr>
                <a:t>generalize well</a:t>
              </a:r>
              <a:r>
                <a:rPr lang="en-US" sz="2400">
                  <a:solidFill>
                    <a:srgbClr val="000000"/>
                  </a:solidFill>
                  <a:latin typeface="Arial MT Pro"/>
                  <a:ea typeface="Arial MT Pro"/>
                  <a:cs typeface="Arial MT Pro"/>
                  <a:sym typeface="Arial MT Pro"/>
                </a:rPr>
                <a:t>.</a:t>
              </a:r>
            </a:p>
            <a:p>
              <a:pPr algn="just">
                <a:lnSpc>
                  <a:spcPts val="3427"/>
                </a:lnSpc>
              </a:pPr>
              <a:endParaRPr lang="en-US" sz="2400">
                <a:solidFill>
                  <a:srgbClr val="000000"/>
                </a:solidFill>
                <a:latin typeface="Arial MT Pro"/>
                <a:ea typeface="Arial MT Pro"/>
                <a:cs typeface="Arial MT Pro"/>
                <a:sym typeface="Arial MT Pro"/>
              </a:endParaRPr>
            </a:p>
          </p:txBody>
        </p:sp>
      </p:grpSp>
      <p:grpSp>
        <p:nvGrpSpPr>
          <p:cNvPr id="5" name="Group 5"/>
          <p:cNvGrpSpPr/>
          <p:nvPr/>
        </p:nvGrpSpPr>
        <p:grpSpPr>
          <a:xfrm>
            <a:off x="1028700" y="469818"/>
            <a:ext cx="7081258" cy="1117763"/>
            <a:chOff x="0" y="0"/>
            <a:chExt cx="9441677" cy="1490351"/>
          </a:xfrm>
        </p:grpSpPr>
        <p:sp>
          <p:nvSpPr>
            <p:cNvPr id="6" name="Freeform 6"/>
            <p:cNvSpPr/>
            <p:nvPr/>
          </p:nvSpPr>
          <p:spPr>
            <a:xfrm>
              <a:off x="0" y="0"/>
              <a:ext cx="9441677" cy="1490351"/>
            </a:xfrm>
            <a:custGeom>
              <a:avLst/>
              <a:gdLst/>
              <a:ahLst/>
              <a:cxnLst/>
              <a:rect l="l" t="t" r="r" b="b"/>
              <a:pathLst>
                <a:path w="9441677" h="1490351">
                  <a:moveTo>
                    <a:pt x="0" y="0"/>
                  </a:moveTo>
                  <a:lnTo>
                    <a:pt x="9441677" y="0"/>
                  </a:lnTo>
                  <a:lnTo>
                    <a:pt x="9441677" y="1490351"/>
                  </a:lnTo>
                  <a:lnTo>
                    <a:pt x="0" y="1490351"/>
                  </a:lnTo>
                  <a:close/>
                </a:path>
              </a:pathLst>
            </a:custGeom>
          </p:spPr>
        </p:sp>
        <p:sp>
          <p:nvSpPr>
            <p:cNvPr id="7" name="TextBox 7"/>
            <p:cNvSpPr txBox="1"/>
            <p:nvPr/>
          </p:nvSpPr>
          <p:spPr>
            <a:xfrm>
              <a:off x="0" y="-114300"/>
              <a:ext cx="9441677"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Data Transformation</a:t>
              </a:r>
            </a:p>
          </p:txBody>
        </p:sp>
      </p:grpSp>
      <p:grpSp>
        <p:nvGrpSpPr>
          <p:cNvPr id="8" name="Group 8"/>
          <p:cNvGrpSpPr/>
          <p:nvPr/>
        </p:nvGrpSpPr>
        <p:grpSpPr>
          <a:xfrm>
            <a:off x="1028700" y="1900965"/>
            <a:ext cx="16230600" cy="7783373"/>
            <a:chOff x="0" y="0"/>
            <a:chExt cx="20078271" cy="9628521"/>
          </a:xfrm>
        </p:grpSpPr>
        <p:sp>
          <p:nvSpPr>
            <p:cNvPr id="9" name="Freeform 9"/>
            <p:cNvSpPr/>
            <p:nvPr/>
          </p:nvSpPr>
          <p:spPr>
            <a:xfrm>
              <a:off x="0" y="0"/>
              <a:ext cx="20078272" cy="9628521"/>
            </a:xfrm>
            <a:custGeom>
              <a:avLst/>
              <a:gdLst/>
              <a:ahLst/>
              <a:cxnLst/>
              <a:rect l="l" t="t" r="r" b="b"/>
              <a:pathLst>
                <a:path w="20078272" h="9628521">
                  <a:moveTo>
                    <a:pt x="0" y="0"/>
                  </a:moveTo>
                  <a:lnTo>
                    <a:pt x="20078272" y="0"/>
                  </a:lnTo>
                  <a:lnTo>
                    <a:pt x="20078272" y="9628521"/>
                  </a:lnTo>
                  <a:lnTo>
                    <a:pt x="0" y="9628521"/>
                  </a:lnTo>
                  <a:close/>
                </a:path>
              </a:pathLst>
            </a:custGeom>
          </p:spPr>
        </p:sp>
        <p:sp>
          <p:nvSpPr>
            <p:cNvPr id="10" name="TextBox 10"/>
            <p:cNvSpPr txBox="1"/>
            <p:nvPr/>
          </p:nvSpPr>
          <p:spPr>
            <a:xfrm>
              <a:off x="0" y="-114300"/>
              <a:ext cx="20078271" cy="9742821"/>
            </a:xfrm>
            <a:prstGeom prst="rect">
              <a:avLst/>
            </a:prstGeom>
          </p:spPr>
          <p:txBody>
            <a:bodyPr lIns="0" tIns="0" rIns="0" bIns="0" rtlCol="0" anchor="t"/>
            <a:lstStyle/>
            <a:p>
              <a:pPr algn="just">
                <a:lnSpc>
                  <a:spcPts val="3855"/>
                </a:lnSpc>
              </a:pPr>
              <a:r>
                <a:rPr lang="en-US" sz="2700">
                  <a:solidFill>
                    <a:srgbClr val="000000"/>
                  </a:solidFill>
                  <a:latin typeface="Arial MT Pro"/>
                  <a:ea typeface="Arial MT Pro"/>
                  <a:cs typeface="Arial MT Pro"/>
                  <a:sym typeface="Arial MT Pro"/>
                </a:rPr>
                <a:t>Data transformation </a:t>
              </a:r>
              <a:r>
                <a:rPr lang="en-US" sz="2700" u="sng">
                  <a:solidFill>
                    <a:srgbClr val="000000"/>
                  </a:solidFill>
                  <a:latin typeface="Arial MT Pro"/>
                  <a:ea typeface="Arial MT Pro"/>
                  <a:cs typeface="Arial MT Pro"/>
                  <a:sym typeface="Arial MT Pro"/>
                </a:rPr>
                <a:t>improves</a:t>
              </a:r>
              <a:r>
                <a:rPr lang="en-US" sz="2700" b="1" u="sng">
                  <a:solidFill>
                    <a:srgbClr val="000000"/>
                  </a:solidFill>
                  <a:latin typeface="Arial MT Pro Bold"/>
                  <a:ea typeface="Arial MT Pro Bold"/>
                  <a:cs typeface="Arial MT Pro Bold"/>
                  <a:sym typeface="Arial MT Pro Bold"/>
                </a:rPr>
                <a:t> </a:t>
              </a:r>
              <a:r>
                <a:rPr lang="en-US" sz="2700" u="sng">
                  <a:solidFill>
                    <a:srgbClr val="000000"/>
                  </a:solidFill>
                  <a:latin typeface="Arial MT Pro"/>
                  <a:ea typeface="Arial MT Pro"/>
                  <a:cs typeface="Arial MT Pro"/>
                  <a:sym typeface="Arial MT Pro"/>
                </a:rPr>
                <a:t>model compatibility</a:t>
              </a:r>
              <a:r>
                <a:rPr lang="en-US" sz="2700" b="1">
                  <a:solidFill>
                    <a:srgbClr val="000000"/>
                  </a:solidFill>
                  <a:latin typeface="Arial MT Pro Bold"/>
                  <a:ea typeface="Arial MT Pro Bold"/>
                  <a:cs typeface="Arial MT Pro Bold"/>
                  <a:sym typeface="Arial MT Pro Bold"/>
                </a:rPr>
                <a:t>,</a:t>
              </a:r>
              <a:r>
                <a:rPr lang="en-US" sz="2700">
                  <a:solidFill>
                    <a:srgbClr val="000000"/>
                  </a:solidFill>
                  <a:latin typeface="Arial MT Pro"/>
                  <a:ea typeface="Arial MT Pro"/>
                  <a:cs typeface="Arial MT Pro"/>
                  <a:sym typeface="Arial MT Pro"/>
                </a:rPr>
                <a:t> since most machine learning algorithms require data in a specific format. Numerical-only models like Logistic Regression, SVM, and KMeans cannot handle raw categorical text, such as Sex, Type, or Country.</a:t>
              </a:r>
            </a:p>
            <a:p>
              <a:pPr marL="582930" lvl="1" indent="-291465" algn="just">
                <a:lnSpc>
                  <a:spcPts val="3855"/>
                </a:lnSpc>
                <a:buFont typeface="Arial"/>
                <a:buChar char="•"/>
              </a:pPr>
              <a:r>
                <a:rPr lang="en-US" sz="2700" b="1">
                  <a:solidFill>
                    <a:srgbClr val="000000"/>
                  </a:solidFill>
                  <a:latin typeface="Arial MT Pro Bold"/>
                  <a:ea typeface="Arial MT Pro Bold"/>
                  <a:cs typeface="Arial MT Pro Bold"/>
                  <a:sym typeface="Arial MT Pro Bold"/>
                </a:rPr>
                <a:t>Transformation applied</a:t>
              </a:r>
              <a:r>
                <a:rPr lang="en-US" sz="2700">
                  <a:solidFill>
                    <a:srgbClr val="000000"/>
                  </a:solidFill>
                  <a:latin typeface="Arial MT Pro"/>
                  <a:ea typeface="Arial MT Pro"/>
                  <a:cs typeface="Arial MT Pro"/>
                  <a:sym typeface="Arial MT Pro"/>
                </a:rPr>
                <a:t>: The categorical features are converted into numerical format using label encoding and one-hot encoding, allowing models to process them properly.</a:t>
              </a:r>
            </a:p>
            <a:p>
              <a:pPr algn="just">
                <a:lnSpc>
                  <a:spcPts val="3855"/>
                </a:lnSpc>
              </a:pPr>
              <a:r>
                <a:rPr lang="en-US" sz="2700">
                  <a:solidFill>
                    <a:srgbClr val="000000"/>
                  </a:solidFill>
                  <a:latin typeface="Arial MT Pro"/>
                  <a:ea typeface="Arial MT Pro"/>
                  <a:cs typeface="Arial MT Pro"/>
                  <a:sym typeface="Arial MT Pro"/>
                </a:rPr>
                <a:t>It also </a:t>
              </a:r>
              <a:r>
                <a:rPr lang="en-US" sz="2700" u="sng">
                  <a:solidFill>
                    <a:srgbClr val="000000"/>
                  </a:solidFill>
                  <a:latin typeface="Arial MT Pro"/>
                  <a:ea typeface="Arial MT Pro"/>
                  <a:cs typeface="Arial MT Pro"/>
                  <a:sym typeface="Arial MT Pro"/>
                </a:rPr>
                <a:t>handles data imbalance for better learning</a:t>
              </a:r>
              <a:r>
                <a:rPr lang="en-US" sz="2700">
                  <a:solidFill>
                    <a:srgbClr val="000000"/>
                  </a:solidFill>
                  <a:latin typeface="Arial MT Pro"/>
                  <a:ea typeface="Arial MT Pro"/>
                  <a:cs typeface="Arial MT Pro"/>
                  <a:sym typeface="Arial MT Pro"/>
                </a:rPr>
                <a:t>. In the dataset, there is a class imbalance between fatal and non-fatal shark attacks. Without transformation, models tend to favour the majority class, resulting in poor predictive performance for the minority class. </a:t>
              </a:r>
            </a:p>
            <a:p>
              <a:pPr marL="582930" lvl="1" indent="-291465" algn="just">
                <a:lnSpc>
                  <a:spcPts val="3855"/>
                </a:lnSpc>
                <a:buFont typeface="Arial"/>
                <a:buChar char="•"/>
              </a:pPr>
              <a:r>
                <a:rPr lang="en-US" sz="2700" b="1">
                  <a:solidFill>
                    <a:srgbClr val="000000"/>
                  </a:solidFill>
                  <a:latin typeface="Arial MT Pro Bold"/>
                  <a:ea typeface="Arial MT Pro Bold"/>
                  <a:cs typeface="Arial MT Pro Bold"/>
                  <a:sym typeface="Arial MT Pro Bold"/>
                </a:rPr>
                <a:t>Transformation applied</a:t>
              </a:r>
              <a:r>
                <a:rPr lang="en-US" sz="2700">
                  <a:solidFill>
                    <a:srgbClr val="000000"/>
                  </a:solidFill>
                  <a:latin typeface="Arial MT Pro"/>
                  <a:ea typeface="Arial MT Pro"/>
                  <a:cs typeface="Arial MT Pro"/>
                  <a:sym typeface="Arial MT Pro"/>
                </a:rPr>
                <a:t>: SMOTE was used to balance the dataset, helping the model learn both classes more equally.</a:t>
              </a:r>
            </a:p>
            <a:p>
              <a:pPr algn="just">
                <a:lnSpc>
                  <a:spcPts val="3855"/>
                </a:lnSpc>
              </a:pPr>
              <a:r>
                <a:rPr lang="en-US" sz="2700">
                  <a:solidFill>
                    <a:srgbClr val="000000"/>
                  </a:solidFill>
                  <a:latin typeface="Arial MT Pro"/>
                  <a:ea typeface="Arial MT Pro"/>
                  <a:cs typeface="Arial MT Pro"/>
                  <a:sym typeface="Arial MT Pro"/>
                </a:rPr>
                <a:t>It </a:t>
              </a:r>
              <a:r>
                <a:rPr lang="en-US" sz="2700" u="sng">
                  <a:solidFill>
                    <a:srgbClr val="000000"/>
                  </a:solidFill>
                  <a:latin typeface="Arial MT Pro"/>
                  <a:ea typeface="Arial MT Pro"/>
                  <a:cs typeface="Arial MT Pro"/>
                  <a:sym typeface="Arial MT Pro"/>
                </a:rPr>
                <a:t>normalizes feature scales</a:t>
              </a:r>
              <a:r>
                <a:rPr lang="en-US" sz="2700">
                  <a:solidFill>
                    <a:srgbClr val="000000"/>
                  </a:solidFill>
                  <a:latin typeface="Arial MT Pro"/>
                  <a:ea typeface="Arial MT Pro"/>
                  <a:cs typeface="Arial MT Pro"/>
                  <a:sym typeface="Arial MT Pro"/>
                </a:rPr>
                <a:t>. Features like Age have a different range compared to binary variables like Sex or Fatal. Models like KMeans or SVM are sensitive to feature scale. Large-valued features can dominate others, skewing results.</a:t>
              </a:r>
            </a:p>
            <a:p>
              <a:pPr marL="582930" lvl="1" indent="-291465" algn="just">
                <a:lnSpc>
                  <a:spcPts val="3855"/>
                </a:lnSpc>
                <a:buFont typeface="Arial"/>
                <a:buChar char="•"/>
              </a:pPr>
              <a:r>
                <a:rPr lang="en-US" sz="2700" b="1">
                  <a:solidFill>
                    <a:srgbClr val="000000"/>
                  </a:solidFill>
                  <a:latin typeface="Arial MT Pro Bold"/>
                  <a:ea typeface="Arial MT Pro Bold"/>
                  <a:cs typeface="Arial MT Pro Bold"/>
                  <a:sym typeface="Arial MT Pro Bold"/>
                </a:rPr>
                <a:t>Transformation applied</a:t>
              </a:r>
              <a:r>
                <a:rPr lang="en-US" sz="2700">
                  <a:solidFill>
                    <a:srgbClr val="000000"/>
                  </a:solidFill>
                  <a:latin typeface="Arial MT Pro"/>
                  <a:ea typeface="Arial MT Pro"/>
                  <a:cs typeface="Arial MT Pro"/>
                  <a:sym typeface="Arial MT Pro"/>
                </a:rPr>
                <a:t>: Standardization or normalization was used to bring all numerical features to the same scale, improving model performance and fairness.</a:t>
              </a:r>
            </a:p>
            <a:p>
              <a:pPr algn="just">
                <a:lnSpc>
                  <a:spcPts val="3855"/>
                </a:lnSpc>
              </a:pPr>
              <a:endParaRPr lang="en-US" sz="2700">
                <a:solidFill>
                  <a:srgbClr val="000000"/>
                </a:solidFill>
                <a:latin typeface="Arial MT Pro"/>
                <a:ea typeface="Arial MT Pro"/>
                <a:cs typeface="Arial MT Pro"/>
                <a:sym typeface="Arial MT Pro"/>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469818"/>
            <a:ext cx="7081258" cy="1117763"/>
            <a:chOff x="0" y="0"/>
            <a:chExt cx="9441677" cy="1490351"/>
          </a:xfrm>
        </p:grpSpPr>
        <p:sp>
          <p:nvSpPr>
            <p:cNvPr id="3" name="Freeform 3"/>
            <p:cNvSpPr/>
            <p:nvPr/>
          </p:nvSpPr>
          <p:spPr>
            <a:xfrm>
              <a:off x="0" y="0"/>
              <a:ext cx="9441677" cy="1490351"/>
            </a:xfrm>
            <a:custGeom>
              <a:avLst/>
              <a:gdLst/>
              <a:ahLst/>
              <a:cxnLst/>
              <a:rect l="l" t="t" r="r" b="b"/>
              <a:pathLst>
                <a:path w="9441677" h="1490351">
                  <a:moveTo>
                    <a:pt x="0" y="0"/>
                  </a:moveTo>
                  <a:lnTo>
                    <a:pt x="9441677" y="0"/>
                  </a:lnTo>
                  <a:lnTo>
                    <a:pt x="9441677" y="1490351"/>
                  </a:lnTo>
                  <a:lnTo>
                    <a:pt x="0" y="1490351"/>
                  </a:lnTo>
                  <a:close/>
                </a:path>
              </a:pathLst>
            </a:custGeom>
          </p:spPr>
        </p:sp>
        <p:sp>
          <p:nvSpPr>
            <p:cNvPr id="4" name="TextBox 4"/>
            <p:cNvSpPr txBox="1"/>
            <p:nvPr/>
          </p:nvSpPr>
          <p:spPr>
            <a:xfrm>
              <a:off x="0" y="-114300"/>
              <a:ext cx="9441677"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Data Transformation</a:t>
              </a:r>
            </a:p>
          </p:txBody>
        </p:sp>
      </p:grpSp>
      <p:grpSp>
        <p:nvGrpSpPr>
          <p:cNvPr id="5" name="Group 5"/>
          <p:cNvGrpSpPr/>
          <p:nvPr/>
        </p:nvGrpSpPr>
        <p:grpSpPr>
          <a:xfrm>
            <a:off x="1028700" y="1604035"/>
            <a:ext cx="16230600" cy="7078929"/>
            <a:chOff x="0" y="0"/>
            <a:chExt cx="20078271" cy="8757080"/>
          </a:xfrm>
        </p:grpSpPr>
        <p:sp>
          <p:nvSpPr>
            <p:cNvPr id="6" name="Freeform 6"/>
            <p:cNvSpPr/>
            <p:nvPr/>
          </p:nvSpPr>
          <p:spPr>
            <a:xfrm>
              <a:off x="0" y="0"/>
              <a:ext cx="20078272" cy="8757080"/>
            </a:xfrm>
            <a:custGeom>
              <a:avLst/>
              <a:gdLst/>
              <a:ahLst/>
              <a:cxnLst/>
              <a:rect l="l" t="t" r="r" b="b"/>
              <a:pathLst>
                <a:path w="20078272" h="8757080">
                  <a:moveTo>
                    <a:pt x="0" y="0"/>
                  </a:moveTo>
                  <a:lnTo>
                    <a:pt x="20078272" y="0"/>
                  </a:lnTo>
                  <a:lnTo>
                    <a:pt x="20078272" y="8757080"/>
                  </a:lnTo>
                  <a:lnTo>
                    <a:pt x="0" y="8757080"/>
                  </a:lnTo>
                  <a:close/>
                </a:path>
              </a:pathLst>
            </a:custGeom>
          </p:spPr>
        </p:sp>
        <p:sp>
          <p:nvSpPr>
            <p:cNvPr id="7" name="TextBox 7"/>
            <p:cNvSpPr txBox="1"/>
            <p:nvPr/>
          </p:nvSpPr>
          <p:spPr>
            <a:xfrm>
              <a:off x="0" y="-114300"/>
              <a:ext cx="20078271" cy="8871380"/>
            </a:xfrm>
            <a:prstGeom prst="rect">
              <a:avLst/>
            </a:prstGeom>
          </p:spPr>
          <p:txBody>
            <a:bodyPr lIns="0" tIns="0" rIns="0" bIns="0" rtlCol="0" anchor="t"/>
            <a:lstStyle/>
            <a:p>
              <a:pPr algn="just">
                <a:lnSpc>
                  <a:spcPts val="3855"/>
                </a:lnSpc>
              </a:pPr>
              <a:r>
                <a:rPr lang="en-US" sz="2700">
                  <a:solidFill>
                    <a:srgbClr val="000000"/>
                  </a:solidFill>
                  <a:latin typeface="Arial MT Pro"/>
                  <a:ea typeface="Arial MT Pro"/>
                  <a:cs typeface="Arial MT Pro"/>
                  <a:sym typeface="Arial MT Pro"/>
                </a:rPr>
                <a:t>It </a:t>
              </a:r>
              <a:r>
                <a:rPr lang="en-US" sz="2700" u="sng">
                  <a:solidFill>
                    <a:srgbClr val="000000"/>
                  </a:solidFill>
                  <a:latin typeface="Arial MT Pro"/>
                  <a:ea typeface="Arial MT Pro"/>
                  <a:cs typeface="Arial MT Pro"/>
                  <a:sym typeface="Arial MT Pro"/>
                </a:rPr>
                <a:t>reduces complexity and dimensionality</a:t>
              </a:r>
              <a:r>
                <a:rPr lang="en-US" sz="2700">
                  <a:solidFill>
                    <a:srgbClr val="000000"/>
                  </a:solidFill>
                  <a:latin typeface="Arial MT Pro"/>
                  <a:ea typeface="Arial MT Pro"/>
                  <a:cs typeface="Arial MT Pro"/>
                  <a:sym typeface="Arial MT Pro"/>
                </a:rPr>
                <a:t>. High-dimensional data can cause the "curse of dimensionality," where too many irrelevant or redundant features reduce model performance:</a:t>
              </a:r>
            </a:p>
            <a:p>
              <a:pPr marL="582930" lvl="1" indent="-291465" algn="just">
                <a:lnSpc>
                  <a:spcPts val="3855"/>
                </a:lnSpc>
                <a:buFont typeface="Arial"/>
                <a:buChar char="•"/>
              </a:pPr>
              <a:r>
                <a:rPr lang="en-US" sz="2700" b="1">
                  <a:solidFill>
                    <a:srgbClr val="000000"/>
                  </a:solidFill>
                  <a:latin typeface="Arial MT Pro Bold"/>
                  <a:ea typeface="Arial MT Pro Bold"/>
                  <a:cs typeface="Arial MT Pro Bold"/>
                  <a:sym typeface="Arial MT Pro Bold"/>
                </a:rPr>
                <a:t>Transformation applied</a:t>
              </a:r>
              <a:r>
                <a:rPr lang="en-US" sz="2700">
                  <a:solidFill>
                    <a:srgbClr val="000000"/>
                  </a:solidFill>
                  <a:latin typeface="Arial MT Pro"/>
                  <a:ea typeface="Arial MT Pro"/>
                  <a:cs typeface="Arial MT Pro"/>
                  <a:sym typeface="Arial MT Pro"/>
                </a:rPr>
                <a:t>: Principal Component Analysis (PCA) was used to reduce the number of features before clustering, keeping only the most informative components.</a:t>
              </a:r>
            </a:p>
            <a:p>
              <a:pPr algn="just">
                <a:lnSpc>
                  <a:spcPts val="3855"/>
                </a:lnSpc>
              </a:pPr>
              <a:r>
                <a:rPr lang="en-US" sz="2700">
                  <a:solidFill>
                    <a:srgbClr val="000000"/>
                  </a:solidFill>
                  <a:latin typeface="Arial MT Pro"/>
                  <a:ea typeface="Arial MT Pro"/>
                  <a:cs typeface="Arial MT Pro"/>
                  <a:sym typeface="Arial MT Pro"/>
                </a:rPr>
                <a:t>It </a:t>
              </a:r>
              <a:r>
                <a:rPr lang="en-US" sz="2700" u="sng">
                  <a:solidFill>
                    <a:srgbClr val="000000"/>
                  </a:solidFill>
                  <a:latin typeface="Arial MT Pro"/>
                  <a:ea typeface="Arial MT Pro"/>
                  <a:cs typeface="Arial MT Pro"/>
                  <a:sym typeface="Arial MT Pro"/>
                </a:rPr>
                <a:t>increases predictive power through feature engineering</a:t>
              </a:r>
              <a:r>
                <a:rPr lang="en-US" sz="2700">
                  <a:solidFill>
                    <a:srgbClr val="000000"/>
                  </a:solidFill>
                  <a:latin typeface="Arial MT Pro"/>
                  <a:ea typeface="Arial MT Pro"/>
                  <a:cs typeface="Arial MT Pro"/>
                  <a:sym typeface="Arial MT Pro"/>
                </a:rPr>
                <a:t>. Raw data may not capture all the patterns or context needed:</a:t>
              </a:r>
            </a:p>
            <a:p>
              <a:pPr marL="582930" lvl="1" indent="-291465" algn="just">
                <a:lnSpc>
                  <a:spcPts val="3855"/>
                </a:lnSpc>
                <a:buFont typeface="Arial"/>
                <a:buChar char="•"/>
              </a:pPr>
              <a:r>
                <a:rPr lang="en-US" sz="2700" b="1">
                  <a:solidFill>
                    <a:srgbClr val="000000"/>
                  </a:solidFill>
                  <a:latin typeface="Arial MT Pro Bold"/>
                  <a:ea typeface="Arial MT Pro Bold"/>
                  <a:cs typeface="Arial MT Pro Bold"/>
                  <a:sym typeface="Arial MT Pro Bold"/>
                </a:rPr>
                <a:t>Transformation applied:</a:t>
              </a:r>
              <a:r>
                <a:rPr lang="en-US" sz="2700">
                  <a:solidFill>
                    <a:srgbClr val="000000"/>
                  </a:solidFill>
                  <a:latin typeface="Arial MT Pro"/>
                  <a:ea typeface="Arial MT Pro"/>
                  <a:cs typeface="Arial MT Pro"/>
                  <a:sym typeface="Arial MT Pro"/>
                </a:rPr>
                <a:t> Derived variables were created (like age groups or activity risk levels), which helped models capture more meaningful patterns. This boosts interpretability and can improve classification accuracy.</a:t>
              </a:r>
            </a:p>
            <a:p>
              <a:pPr algn="just">
                <a:lnSpc>
                  <a:spcPts val="3855"/>
                </a:lnSpc>
              </a:pPr>
              <a:r>
                <a:rPr lang="en-US" sz="2700">
                  <a:solidFill>
                    <a:srgbClr val="000000"/>
                  </a:solidFill>
                  <a:latin typeface="Arial MT Pro"/>
                  <a:ea typeface="Arial MT Pro"/>
                  <a:cs typeface="Arial MT Pro"/>
                  <a:sym typeface="Arial MT Pro"/>
                </a:rPr>
                <a:t>It </a:t>
              </a:r>
              <a:r>
                <a:rPr lang="en-US" sz="2700" u="sng">
                  <a:solidFill>
                    <a:srgbClr val="000000"/>
                  </a:solidFill>
                  <a:latin typeface="Arial MT Pro"/>
                  <a:ea typeface="Arial MT Pro"/>
                  <a:cs typeface="Arial MT Pro"/>
                  <a:sym typeface="Arial MT Pro"/>
                </a:rPr>
                <a:t>ensures clean, consistent input for modelling</a:t>
              </a:r>
              <a:r>
                <a:rPr lang="en-US" sz="2700">
                  <a:solidFill>
                    <a:srgbClr val="000000"/>
                  </a:solidFill>
                  <a:latin typeface="Arial MT Pro"/>
                  <a:ea typeface="Arial MT Pro"/>
                  <a:cs typeface="Arial MT Pro"/>
                  <a:sym typeface="Arial MT Pro"/>
                </a:rPr>
                <a:t>. Many columns had inconsistent formats or entries — like text variations ("M", "Male", "male") or unknowns ("?", "Unknown"):</a:t>
              </a:r>
            </a:p>
            <a:p>
              <a:pPr marL="582930" lvl="1" indent="-291465" algn="just">
                <a:lnSpc>
                  <a:spcPts val="3855"/>
                </a:lnSpc>
                <a:buFont typeface="Arial"/>
                <a:buChar char="•"/>
              </a:pPr>
              <a:r>
                <a:rPr lang="en-US" sz="2700" b="1">
                  <a:solidFill>
                    <a:srgbClr val="000000"/>
                  </a:solidFill>
                  <a:latin typeface="Arial MT Pro Bold"/>
                  <a:ea typeface="Arial MT Pro Bold"/>
                  <a:cs typeface="Arial MT Pro Bold"/>
                  <a:sym typeface="Arial MT Pro Bold"/>
                </a:rPr>
                <a:t>Transformation applied:</a:t>
              </a:r>
              <a:r>
                <a:rPr lang="en-US" sz="2700">
                  <a:solidFill>
                    <a:srgbClr val="000000"/>
                  </a:solidFill>
                  <a:latin typeface="Arial MT Pro"/>
                  <a:ea typeface="Arial MT Pro"/>
                  <a:cs typeface="Arial MT Pro"/>
                  <a:sym typeface="Arial MT Pro"/>
                </a:rPr>
                <a:t> The entries were cleaned and unified before modelling, reducing noise and inconsistencies.</a:t>
              </a:r>
            </a:p>
            <a:p>
              <a:pPr algn="just">
                <a:lnSpc>
                  <a:spcPts val="3855"/>
                </a:lnSpc>
              </a:pPr>
              <a:endParaRPr lang="en-US" sz="2700">
                <a:solidFill>
                  <a:srgbClr val="000000"/>
                </a:solidFill>
                <a:latin typeface="Arial MT Pro"/>
                <a:ea typeface="Arial MT Pro"/>
                <a:cs typeface="Arial MT Pro"/>
                <a:sym typeface="Arial MT Pro"/>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845987"/>
            <a:ext cx="7081258" cy="1117763"/>
            <a:chOff x="0" y="0"/>
            <a:chExt cx="9441677" cy="1490351"/>
          </a:xfrm>
        </p:grpSpPr>
        <p:sp>
          <p:nvSpPr>
            <p:cNvPr id="3" name="Freeform 3"/>
            <p:cNvSpPr/>
            <p:nvPr/>
          </p:nvSpPr>
          <p:spPr>
            <a:xfrm>
              <a:off x="0" y="0"/>
              <a:ext cx="9441677" cy="1490351"/>
            </a:xfrm>
            <a:custGeom>
              <a:avLst/>
              <a:gdLst/>
              <a:ahLst/>
              <a:cxnLst/>
              <a:rect l="l" t="t" r="r" b="b"/>
              <a:pathLst>
                <a:path w="9441677" h="1490351">
                  <a:moveTo>
                    <a:pt x="0" y="0"/>
                  </a:moveTo>
                  <a:lnTo>
                    <a:pt x="9441677" y="0"/>
                  </a:lnTo>
                  <a:lnTo>
                    <a:pt x="9441677" y="1490351"/>
                  </a:lnTo>
                  <a:lnTo>
                    <a:pt x="0" y="1490351"/>
                  </a:lnTo>
                  <a:close/>
                </a:path>
              </a:pathLst>
            </a:custGeom>
          </p:spPr>
        </p:sp>
        <p:sp>
          <p:nvSpPr>
            <p:cNvPr id="4" name="TextBox 4"/>
            <p:cNvSpPr txBox="1"/>
            <p:nvPr/>
          </p:nvSpPr>
          <p:spPr>
            <a:xfrm>
              <a:off x="0" y="-114300"/>
              <a:ext cx="9441677"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Project Goals</a:t>
              </a:r>
            </a:p>
          </p:txBody>
        </p:sp>
      </p:grpSp>
      <p:grpSp>
        <p:nvGrpSpPr>
          <p:cNvPr id="5" name="Group 5"/>
          <p:cNvGrpSpPr/>
          <p:nvPr/>
        </p:nvGrpSpPr>
        <p:grpSpPr>
          <a:xfrm>
            <a:off x="2455164" y="2268231"/>
            <a:ext cx="13377672" cy="6247257"/>
            <a:chOff x="0" y="0"/>
            <a:chExt cx="14239652" cy="6649795"/>
          </a:xfrm>
        </p:grpSpPr>
        <p:sp>
          <p:nvSpPr>
            <p:cNvPr id="6" name="Freeform 6"/>
            <p:cNvSpPr/>
            <p:nvPr/>
          </p:nvSpPr>
          <p:spPr>
            <a:xfrm>
              <a:off x="0" y="0"/>
              <a:ext cx="14239652" cy="6649795"/>
            </a:xfrm>
            <a:custGeom>
              <a:avLst/>
              <a:gdLst/>
              <a:ahLst/>
              <a:cxnLst/>
              <a:rect l="l" t="t" r="r" b="b"/>
              <a:pathLst>
                <a:path w="14239652" h="6649795">
                  <a:moveTo>
                    <a:pt x="0" y="0"/>
                  </a:moveTo>
                  <a:lnTo>
                    <a:pt x="14239652" y="0"/>
                  </a:lnTo>
                  <a:lnTo>
                    <a:pt x="14239652" y="6649795"/>
                  </a:lnTo>
                  <a:lnTo>
                    <a:pt x="0" y="6649795"/>
                  </a:lnTo>
                  <a:close/>
                </a:path>
              </a:pathLst>
            </a:custGeom>
          </p:spPr>
        </p:sp>
        <p:sp>
          <p:nvSpPr>
            <p:cNvPr id="7" name="TextBox 7"/>
            <p:cNvSpPr txBox="1"/>
            <p:nvPr/>
          </p:nvSpPr>
          <p:spPr>
            <a:xfrm>
              <a:off x="0" y="-219075"/>
              <a:ext cx="14239652" cy="6868870"/>
            </a:xfrm>
            <a:prstGeom prst="rect">
              <a:avLst/>
            </a:prstGeom>
          </p:spPr>
          <p:txBody>
            <a:bodyPr lIns="0" tIns="0" rIns="0" bIns="0" rtlCol="0" anchor="t"/>
            <a:lstStyle/>
            <a:p>
              <a:pPr algn="just">
                <a:lnSpc>
                  <a:spcPts val="5576"/>
                </a:lnSpc>
              </a:pPr>
              <a:r>
                <a:rPr lang="en-US" sz="3299" b="1">
                  <a:solidFill>
                    <a:srgbClr val="000000"/>
                  </a:solidFill>
                  <a:latin typeface="Arial MT Pro Bold"/>
                  <a:ea typeface="Arial MT Pro Bold"/>
                  <a:cs typeface="Arial MT Pro Bold"/>
                  <a:sym typeface="Arial MT Pro Bold"/>
                </a:rPr>
                <a:t>I</a:t>
              </a:r>
              <a:r>
                <a:rPr lang="en-US" sz="3299" b="1" u="none">
                  <a:solidFill>
                    <a:srgbClr val="000000"/>
                  </a:solidFill>
                  <a:latin typeface="Arial MT Pro Bold"/>
                  <a:ea typeface="Arial MT Pro Bold"/>
                  <a:cs typeface="Arial MT Pro Bold"/>
                  <a:sym typeface="Arial MT Pro Bold"/>
                </a:rPr>
                <a:t>de</a:t>
              </a:r>
              <a:r>
                <a:rPr lang="en-US" sz="3299" b="1">
                  <a:solidFill>
                    <a:srgbClr val="000000"/>
                  </a:solidFill>
                  <a:latin typeface="Arial MT Pro Bold"/>
                  <a:ea typeface="Arial MT Pro Bold"/>
                  <a:cs typeface="Arial MT Pro Bold"/>
                  <a:sym typeface="Arial MT Pro Bold"/>
                </a:rPr>
                <a:t>nt</a:t>
              </a:r>
              <a:r>
                <a:rPr lang="en-US" sz="3299" b="1" u="none">
                  <a:solidFill>
                    <a:srgbClr val="000000"/>
                  </a:solidFill>
                  <a:latin typeface="Arial MT Pro Bold"/>
                  <a:ea typeface="Arial MT Pro Bold"/>
                  <a:cs typeface="Arial MT Pro Bold"/>
                  <a:sym typeface="Arial MT Pro Bold"/>
                </a:rPr>
                <a:t>i</a:t>
              </a:r>
              <a:r>
                <a:rPr lang="en-US" sz="3299" b="1">
                  <a:solidFill>
                    <a:srgbClr val="000000"/>
                  </a:solidFill>
                  <a:latin typeface="Arial MT Pro Bold"/>
                  <a:ea typeface="Arial MT Pro Bold"/>
                  <a:cs typeface="Arial MT Pro Bold"/>
                  <a:sym typeface="Arial MT Pro Bold"/>
                </a:rPr>
                <a:t>f</a:t>
              </a:r>
              <a:r>
                <a:rPr lang="en-US" sz="3299" b="1" u="none">
                  <a:solidFill>
                    <a:srgbClr val="000000"/>
                  </a:solidFill>
                  <a:latin typeface="Arial MT Pro Bold"/>
                  <a:ea typeface="Arial MT Pro Bold"/>
                  <a:cs typeface="Arial MT Pro Bold"/>
                  <a:sym typeface="Arial MT Pro Bold"/>
                </a:rPr>
                <a:t>y </a:t>
              </a:r>
              <a:r>
                <a:rPr lang="en-US" sz="3299" b="1">
                  <a:solidFill>
                    <a:srgbClr val="000000"/>
                  </a:solidFill>
                  <a:latin typeface="Arial MT Pro Bold"/>
                  <a:ea typeface="Arial MT Pro Bold"/>
                  <a:cs typeface="Arial MT Pro Bold"/>
                  <a:sym typeface="Arial MT Pro Bold"/>
                </a:rPr>
                <a:t>p</a:t>
              </a:r>
              <a:r>
                <a:rPr lang="en-US" sz="3299" b="1" u="none">
                  <a:solidFill>
                    <a:srgbClr val="000000"/>
                  </a:solidFill>
                  <a:latin typeface="Arial MT Pro Bold"/>
                  <a:ea typeface="Arial MT Pro Bold"/>
                  <a:cs typeface="Arial MT Pro Bold"/>
                  <a:sym typeface="Arial MT Pro Bold"/>
                </a:rPr>
                <a:t>a</a:t>
              </a:r>
              <a:r>
                <a:rPr lang="en-US" sz="3299" b="1">
                  <a:solidFill>
                    <a:srgbClr val="000000"/>
                  </a:solidFill>
                  <a:latin typeface="Arial MT Pro Bold"/>
                  <a:ea typeface="Arial MT Pro Bold"/>
                  <a:cs typeface="Arial MT Pro Bold"/>
                  <a:sym typeface="Arial MT Pro Bold"/>
                </a:rPr>
                <a:t>tt</a:t>
              </a:r>
              <a:r>
                <a:rPr lang="en-US" sz="3299" b="1" u="none">
                  <a:solidFill>
                    <a:srgbClr val="000000"/>
                  </a:solidFill>
                  <a:latin typeface="Arial MT Pro Bold"/>
                  <a:ea typeface="Arial MT Pro Bold"/>
                  <a:cs typeface="Arial MT Pro Bold"/>
                  <a:sym typeface="Arial MT Pro Bold"/>
                </a:rPr>
                <a:t>e</a:t>
              </a:r>
              <a:r>
                <a:rPr lang="en-US" sz="3299" b="1">
                  <a:solidFill>
                    <a:srgbClr val="000000"/>
                  </a:solidFill>
                  <a:latin typeface="Arial MT Pro Bold"/>
                  <a:ea typeface="Arial MT Pro Bold"/>
                  <a:cs typeface="Arial MT Pro Bold"/>
                  <a:sym typeface="Arial MT Pro Bold"/>
                </a:rPr>
                <a:t>r</a:t>
              </a:r>
              <a:r>
                <a:rPr lang="en-US" sz="3299" b="1" u="none">
                  <a:solidFill>
                    <a:srgbClr val="000000"/>
                  </a:solidFill>
                  <a:latin typeface="Arial MT Pro Bold"/>
                  <a:ea typeface="Arial MT Pro Bold"/>
                  <a:cs typeface="Arial MT Pro Bold"/>
                  <a:sym typeface="Arial MT Pro Bold"/>
                </a:rPr>
                <a:t>ns</a:t>
              </a:r>
              <a:r>
                <a:rPr lang="en-US" sz="3299">
                  <a:solidFill>
                    <a:srgbClr val="000000"/>
                  </a:solidFill>
                  <a:latin typeface="Arial MT Pro"/>
                  <a:ea typeface="Arial MT Pro"/>
                  <a:cs typeface="Arial MT Pro"/>
                  <a:sym typeface="Arial MT Pro"/>
                </a:rPr>
                <a:t> </a:t>
              </a:r>
              <a:r>
                <a:rPr lang="en-US" sz="3299" u="none">
                  <a:solidFill>
                    <a:srgbClr val="000000"/>
                  </a:solidFill>
                  <a:latin typeface="Arial MT Pro"/>
                  <a:ea typeface="Arial MT Pro"/>
                  <a:cs typeface="Arial MT Pro"/>
                  <a:sym typeface="Arial MT Pro"/>
                </a:rPr>
                <a:t>in</a:t>
              </a:r>
              <a:r>
                <a:rPr lang="en-US" sz="3299">
                  <a:solidFill>
                    <a:srgbClr val="000000"/>
                  </a:solidFill>
                  <a:latin typeface="Arial MT Pro"/>
                  <a:ea typeface="Arial MT Pro"/>
                  <a:cs typeface="Arial MT Pro"/>
                  <a:sym typeface="Arial MT Pro"/>
                </a:rPr>
                <a:t> shark attacks across different dimensions (e.g., location, time, activity, and demographics) to support public safety initiatives.</a:t>
              </a:r>
            </a:p>
            <a:p>
              <a:pPr algn="just">
                <a:lnSpc>
                  <a:spcPts val="5576"/>
                </a:lnSpc>
              </a:pPr>
              <a:r>
                <a:rPr lang="en-US" sz="3299" b="1">
                  <a:solidFill>
                    <a:srgbClr val="000000"/>
                  </a:solidFill>
                  <a:latin typeface="Arial MT Pro Bold"/>
                  <a:ea typeface="Arial MT Pro Bold"/>
                  <a:cs typeface="Arial MT Pro Bold"/>
                  <a:sym typeface="Arial MT Pro Bold"/>
                </a:rPr>
                <a:t>Classify </a:t>
              </a:r>
              <a:r>
                <a:rPr lang="en-US" sz="3299">
                  <a:solidFill>
                    <a:srgbClr val="000000"/>
                  </a:solidFill>
                  <a:latin typeface="Arial MT Pro"/>
                  <a:ea typeface="Arial MT Pro"/>
                  <a:cs typeface="Arial MT Pro"/>
                  <a:sym typeface="Arial MT Pro"/>
                </a:rPr>
                <a:t>the type of shark attacks using machine learning algorithms to assist </a:t>
              </a:r>
              <a:r>
                <a:rPr lang="en-US" sz="3299" u="none">
                  <a:solidFill>
                    <a:srgbClr val="000000"/>
                  </a:solidFill>
                  <a:latin typeface="Arial MT Pro"/>
                  <a:ea typeface="Arial MT Pro"/>
                  <a:cs typeface="Arial MT Pro"/>
                  <a:sym typeface="Arial MT Pro"/>
                </a:rPr>
                <a:t>in i</a:t>
              </a:r>
              <a:r>
                <a:rPr lang="en-US" sz="3299">
                  <a:solidFill>
                    <a:srgbClr val="000000"/>
                  </a:solidFill>
                  <a:latin typeface="Arial MT Pro"/>
                  <a:ea typeface="Arial MT Pro"/>
                  <a:cs typeface="Arial MT Pro"/>
                  <a:sym typeface="Arial MT Pro"/>
                </a:rPr>
                <a:t>n</a:t>
              </a:r>
              <a:r>
                <a:rPr lang="en-US" sz="3299" u="none">
                  <a:solidFill>
                    <a:srgbClr val="000000"/>
                  </a:solidFill>
                  <a:latin typeface="Arial MT Pro"/>
                  <a:ea typeface="Arial MT Pro"/>
                  <a:cs typeface="Arial MT Pro"/>
                  <a:sym typeface="Arial MT Pro"/>
                </a:rPr>
                <a:t>ci</a:t>
              </a:r>
              <a:r>
                <a:rPr lang="en-US" sz="3299">
                  <a:solidFill>
                    <a:srgbClr val="000000"/>
                  </a:solidFill>
                  <a:latin typeface="Arial MT Pro"/>
                  <a:ea typeface="Arial MT Pro"/>
                  <a:cs typeface="Arial MT Pro"/>
                  <a:sym typeface="Arial MT Pro"/>
                </a:rPr>
                <a:t>d</a:t>
              </a:r>
              <a:r>
                <a:rPr lang="en-US" sz="3299" u="none">
                  <a:solidFill>
                    <a:srgbClr val="000000"/>
                  </a:solidFill>
                  <a:latin typeface="Arial MT Pro"/>
                  <a:ea typeface="Arial MT Pro"/>
                  <a:cs typeface="Arial MT Pro"/>
                  <a:sym typeface="Arial MT Pro"/>
                </a:rPr>
                <a:t>e</a:t>
              </a:r>
              <a:r>
                <a:rPr lang="en-US" sz="3299">
                  <a:solidFill>
                    <a:srgbClr val="000000"/>
                  </a:solidFill>
                  <a:latin typeface="Arial MT Pro"/>
                  <a:ea typeface="Arial MT Pro"/>
                  <a:cs typeface="Arial MT Pro"/>
                  <a:sym typeface="Arial MT Pro"/>
                </a:rPr>
                <a:t>nt</a:t>
              </a:r>
              <a:r>
                <a:rPr lang="en-US" sz="3299" u="none">
                  <a:solidFill>
                    <a:srgbClr val="000000"/>
                  </a:solidFill>
                  <a:latin typeface="Arial MT Pro"/>
                  <a:ea typeface="Arial MT Pro"/>
                  <a:cs typeface="Arial MT Pro"/>
                  <a:sym typeface="Arial MT Pro"/>
                </a:rPr>
                <a:t> </a:t>
              </a:r>
              <a:r>
                <a:rPr lang="en-US" sz="3299">
                  <a:solidFill>
                    <a:srgbClr val="000000"/>
                  </a:solidFill>
                  <a:latin typeface="Arial MT Pro"/>
                  <a:ea typeface="Arial MT Pro"/>
                  <a:cs typeface="Arial MT Pro"/>
                  <a:sym typeface="Arial MT Pro"/>
                </a:rPr>
                <a:t>re</a:t>
              </a:r>
              <a:r>
                <a:rPr lang="en-US" sz="3299" u="none">
                  <a:solidFill>
                    <a:srgbClr val="000000"/>
                  </a:solidFill>
                  <a:latin typeface="Arial MT Pro"/>
                  <a:ea typeface="Arial MT Pro"/>
                  <a:cs typeface="Arial MT Pro"/>
                  <a:sym typeface="Arial MT Pro"/>
                </a:rPr>
                <a:t>porting</a:t>
              </a:r>
              <a:r>
                <a:rPr lang="en-US" sz="3299">
                  <a:solidFill>
                    <a:srgbClr val="000000"/>
                  </a:solidFill>
                  <a:latin typeface="Arial MT Pro"/>
                  <a:ea typeface="Arial MT Pro"/>
                  <a:cs typeface="Arial MT Pro"/>
                  <a:sym typeface="Arial MT Pro"/>
                </a:rPr>
                <a:t> and response planning.</a:t>
              </a:r>
            </a:p>
            <a:p>
              <a:pPr algn="just">
                <a:lnSpc>
                  <a:spcPts val="5576"/>
                </a:lnSpc>
              </a:pPr>
              <a:r>
                <a:rPr lang="en-US" sz="3299" b="1">
                  <a:solidFill>
                    <a:srgbClr val="000000"/>
                  </a:solidFill>
                  <a:latin typeface="Arial MT Pro Bold"/>
                  <a:ea typeface="Arial MT Pro Bold"/>
                  <a:cs typeface="Arial MT Pro Bold"/>
                  <a:sym typeface="Arial MT Pro Bold"/>
                </a:rPr>
                <a:t>Cluster</a:t>
              </a:r>
              <a:r>
                <a:rPr lang="en-US" sz="3299">
                  <a:solidFill>
                    <a:srgbClr val="000000"/>
                  </a:solidFill>
                  <a:latin typeface="Arial MT Pro"/>
                  <a:ea typeface="Arial MT Pro"/>
                  <a:cs typeface="Arial MT Pro"/>
                  <a:sym typeface="Arial MT Pro"/>
                </a:rPr>
                <a:t> shark attacks to discover hidden groupings that can guide targeted interventions or policies.</a:t>
              </a:r>
            </a:p>
            <a:p>
              <a:pPr algn="just">
                <a:lnSpc>
                  <a:spcPts val="5576"/>
                </a:lnSpc>
              </a:pPr>
              <a:r>
                <a:rPr lang="en-US" sz="3299" b="1">
                  <a:solidFill>
                    <a:srgbClr val="000000"/>
                  </a:solidFill>
                  <a:latin typeface="Arial MT Pro Bold"/>
                  <a:ea typeface="Arial MT Pro Bold"/>
                  <a:cs typeface="Arial MT Pro Bold"/>
                  <a:sym typeface="Arial MT Pro Bold"/>
                </a:rPr>
                <a:t>Fo</a:t>
              </a:r>
              <a:r>
                <a:rPr lang="en-US" sz="3299" b="1" u="none">
                  <a:solidFill>
                    <a:srgbClr val="000000"/>
                  </a:solidFill>
                  <a:latin typeface="Arial MT Pro Bold"/>
                  <a:ea typeface="Arial MT Pro Bold"/>
                  <a:cs typeface="Arial MT Pro Bold"/>
                  <a:sym typeface="Arial MT Pro Bold"/>
                </a:rPr>
                <a:t>recast</a:t>
              </a:r>
              <a:r>
                <a:rPr lang="en-US" sz="3299" u="none">
                  <a:solidFill>
                    <a:srgbClr val="000000"/>
                  </a:solidFill>
                  <a:latin typeface="Arial MT Pro"/>
                  <a:ea typeface="Arial MT Pro"/>
                  <a:cs typeface="Arial MT Pro"/>
                  <a:sym typeface="Arial MT Pro"/>
                </a:rPr>
                <a:t> </a:t>
              </a:r>
              <a:r>
                <a:rPr lang="en-US" sz="3299">
                  <a:solidFill>
                    <a:srgbClr val="000000"/>
                  </a:solidFill>
                  <a:latin typeface="Arial MT Pro"/>
                  <a:ea typeface="Arial MT Pro"/>
                  <a:cs typeface="Arial MT Pro"/>
                  <a:sym typeface="Arial MT Pro"/>
                </a:rPr>
                <a:t>f</a:t>
              </a:r>
              <a:r>
                <a:rPr lang="en-US" sz="3299" u="none">
                  <a:solidFill>
                    <a:srgbClr val="000000"/>
                  </a:solidFill>
                  <a:latin typeface="Arial MT Pro"/>
                  <a:ea typeface="Arial MT Pro"/>
                  <a:cs typeface="Arial MT Pro"/>
                  <a:sym typeface="Arial MT Pro"/>
                </a:rPr>
                <a:t>ut</a:t>
              </a:r>
              <a:r>
                <a:rPr lang="en-US" sz="3299">
                  <a:solidFill>
                    <a:srgbClr val="000000"/>
                  </a:solidFill>
                  <a:latin typeface="Arial MT Pro"/>
                  <a:ea typeface="Arial MT Pro"/>
                  <a:cs typeface="Arial MT Pro"/>
                  <a:sym typeface="Arial MT Pro"/>
                </a:rPr>
                <a:t>u</a:t>
              </a:r>
              <a:r>
                <a:rPr lang="en-US" sz="3299" u="none">
                  <a:solidFill>
                    <a:srgbClr val="000000"/>
                  </a:solidFill>
                  <a:latin typeface="Arial MT Pro"/>
                  <a:ea typeface="Arial MT Pro"/>
                  <a:cs typeface="Arial MT Pro"/>
                  <a:sym typeface="Arial MT Pro"/>
                </a:rPr>
                <a:t>re</a:t>
              </a:r>
              <a:r>
                <a:rPr lang="en-US" sz="3299">
                  <a:solidFill>
                    <a:srgbClr val="000000"/>
                  </a:solidFill>
                  <a:latin typeface="Arial MT Pro"/>
                  <a:ea typeface="Arial MT Pro"/>
                  <a:cs typeface="Arial MT Pro"/>
                  <a:sym typeface="Arial MT Pro"/>
                </a:rPr>
                <a:t> fatal shark attack trends using time series analysis to improve readiness and resource allocation.</a:t>
              </a:r>
            </a:p>
          </p:txBody>
        </p:sp>
      </p:grpSp>
      <p:sp>
        <p:nvSpPr>
          <p:cNvPr id="8" name="Freeform 8"/>
          <p:cNvSpPr/>
          <p:nvPr/>
        </p:nvSpPr>
        <p:spPr>
          <a:xfrm>
            <a:off x="1661537" y="2268231"/>
            <a:ext cx="574171" cy="574171"/>
          </a:xfrm>
          <a:custGeom>
            <a:avLst/>
            <a:gdLst/>
            <a:ahLst/>
            <a:cxnLst/>
            <a:rect l="l" t="t" r="r" b="b"/>
            <a:pathLst>
              <a:path w="574171" h="574171">
                <a:moveTo>
                  <a:pt x="0" y="0"/>
                </a:moveTo>
                <a:lnTo>
                  <a:pt x="574171" y="0"/>
                </a:lnTo>
                <a:lnTo>
                  <a:pt x="574171" y="574171"/>
                </a:lnTo>
                <a:lnTo>
                  <a:pt x="0" y="57417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a:off x="1661537" y="4324802"/>
            <a:ext cx="574171" cy="574171"/>
          </a:xfrm>
          <a:custGeom>
            <a:avLst/>
            <a:gdLst/>
            <a:ahLst/>
            <a:cxnLst/>
            <a:rect l="l" t="t" r="r" b="b"/>
            <a:pathLst>
              <a:path w="574171" h="574171">
                <a:moveTo>
                  <a:pt x="0" y="0"/>
                </a:moveTo>
                <a:lnTo>
                  <a:pt x="574171" y="0"/>
                </a:lnTo>
                <a:lnTo>
                  <a:pt x="574171" y="574171"/>
                </a:lnTo>
                <a:lnTo>
                  <a:pt x="0" y="57417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a:off x="1661537" y="5738231"/>
            <a:ext cx="574171" cy="574171"/>
          </a:xfrm>
          <a:custGeom>
            <a:avLst/>
            <a:gdLst/>
            <a:ahLst/>
            <a:cxnLst/>
            <a:rect l="l" t="t" r="r" b="b"/>
            <a:pathLst>
              <a:path w="574171" h="574171">
                <a:moveTo>
                  <a:pt x="0" y="0"/>
                </a:moveTo>
                <a:lnTo>
                  <a:pt x="574171" y="0"/>
                </a:lnTo>
                <a:lnTo>
                  <a:pt x="574171" y="574171"/>
                </a:lnTo>
                <a:lnTo>
                  <a:pt x="0" y="57417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a:off x="1661537" y="7150602"/>
            <a:ext cx="574171" cy="574171"/>
          </a:xfrm>
          <a:custGeom>
            <a:avLst/>
            <a:gdLst/>
            <a:ahLst/>
            <a:cxnLst/>
            <a:rect l="l" t="t" r="r" b="b"/>
            <a:pathLst>
              <a:path w="574171" h="574171">
                <a:moveTo>
                  <a:pt x="0" y="0"/>
                </a:moveTo>
                <a:lnTo>
                  <a:pt x="574171" y="0"/>
                </a:lnTo>
                <a:lnTo>
                  <a:pt x="574171" y="574171"/>
                </a:lnTo>
                <a:lnTo>
                  <a:pt x="0" y="574171"/>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469818"/>
            <a:ext cx="12527471" cy="1117763"/>
            <a:chOff x="0" y="0"/>
            <a:chExt cx="16703295" cy="1490351"/>
          </a:xfrm>
        </p:grpSpPr>
        <p:sp>
          <p:nvSpPr>
            <p:cNvPr id="3" name="Freeform 3"/>
            <p:cNvSpPr/>
            <p:nvPr/>
          </p:nvSpPr>
          <p:spPr>
            <a:xfrm>
              <a:off x="0" y="0"/>
              <a:ext cx="16703295" cy="1490351"/>
            </a:xfrm>
            <a:custGeom>
              <a:avLst/>
              <a:gdLst/>
              <a:ahLst/>
              <a:cxnLst/>
              <a:rect l="l" t="t" r="r" b="b"/>
              <a:pathLst>
                <a:path w="16703295" h="1490351">
                  <a:moveTo>
                    <a:pt x="0" y="0"/>
                  </a:moveTo>
                  <a:lnTo>
                    <a:pt x="16703295" y="0"/>
                  </a:lnTo>
                  <a:lnTo>
                    <a:pt x="16703295" y="1490351"/>
                  </a:lnTo>
                  <a:lnTo>
                    <a:pt x="0" y="1490351"/>
                  </a:lnTo>
                  <a:close/>
                </a:path>
              </a:pathLst>
            </a:custGeom>
          </p:spPr>
        </p:sp>
        <p:sp>
          <p:nvSpPr>
            <p:cNvPr id="4" name="TextBox 4"/>
            <p:cNvSpPr txBox="1"/>
            <p:nvPr/>
          </p:nvSpPr>
          <p:spPr>
            <a:xfrm>
              <a:off x="0" y="-114300"/>
              <a:ext cx="16703295"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Data Analysis and Data Visualisation</a:t>
              </a:r>
            </a:p>
          </p:txBody>
        </p:sp>
      </p:grpSp>
      <p:sp>
        <p:nvSpPr>
          <p:cNvPr id="5" name="Freeform 5"/>
          <p:cNvSpPr/>
          <p:nvPr/>
        </p:nvSpPr>
        <p:spPr>
          <a:xfrm>
            <a:off x="9374763" y="2446492"/>
            <a:ext cx="8362816" cy="5394016"/>
          </a:xfrm>
          <a:custGeom>
            <a:avLst/>
            <a:gdLst/>
            <a:ahLst/>
            <a:cxnLst/>
            <a:rect l="l" t="t" r="r" b="b"/>
            <a:pathLst>
              <a:path w="8362816" h="5394016">
                <a:moveTo>
                  <a:pt x="0" y="0"/>
                </a:moveTo>
                <a:lnTo>
                  <a:pt x="8362816" y="0"/>
                </a:lnTo>
                <a:lnTo>
                  <a:pt x="8362816" y="5394016"/>
                </a:lnTo>
                <a:lnTo>
                  <a:pt x="0" y="5394016"/>
                </a:lnTo>
                <a:lnTo>
                  <a:pt x="0" y="0"/>
                </a:lnTo>
                <a:close/>
              </a:path>
            </a:pathLst>
          </a:custGeom>
          <a:blipFill>
            <a:blip r:embed="rId3"/>
            <a:stretch>
              <a:fillRect/>
            </a:stretch>
          </a:blipFill>
        </p:spPr>
      </p:sp>
      <p:sp>
        <p:nvSpPr>
          <p:cNvPr id="6" name="TextBox 6"/>
          <p:cNvSpPr txBox="1"/>
          <p:nvPr/>
        </p:nvSpPr>
        <p:spPr>
          <a:xfrm>
            <a:off x="1028700" y="1727191"/>
            <a:ext cx="8115300" cy="7042150"/>
          </a:xfrm>
          <a:prstGeom prst="rect">
            <a:avLst/>
          </a:prstGeom>
        </p:spPr>
        <p:txBody>
          <a:bodyPr lIns="0" tIns="0" rIns="0" bIns="0" rtlCol="0" anchor="t">
            <a:spAutoFit/>
          </a:bodyPr>
          <a:lstStyle/>
          <a:p>
            <a:pPr algn="just">
              <a:lnSpc>
                <a:spcPts val="3499"/>
              </a:lnSpc>
            </a:pPr>
            <a:r>
              <a:rPr lang="en-US" sz="2499" i="1">
                <a:solidFill>
                  <a:srgbClr val="000000"/>
                </a:solidFill>
                <a:latin typeface="Arial MT Pro Italics"/>
                <a:ea typeface="Arial MT Pro Italics"/>
                <a:cs typeface="Arial MT Pro Italics"/>
                <a:sym typeface="Arial MT Pro Italics"/>
              </a:rPr>
              <a:t>Based on the summary statistics: </a:t>
            </a:r>
          </a:p>
          <a:p>
            <a:pPr marL="539749" lvl="1" indent="-269875" algn="just">
              <a:lnSpc>
                <a:spcPts val="3499"/>
              </a:lnSpc>
              <a:buFont typeface="Arial"/>
              <a:buChar char="•"/>
            </a:pPr>
            <a:r>
              <a:rPr lang="en-US" sz="2499">
                <a:solidFill>
                  <a:srgbClr val="000000"/>
                </a:solidFill>
                <a:latin typeface="Arial MT Pro"/>
                <a:ea typeface="Arial MT Pro"/>
                <a:cs typeface="Arial MT Pro"/>
                <a:sym typeface="Arial MT Pro"/>
              </a:rPr>
              <a:t>The dataset </a:t>
            </a:r>
            <a:r>
              <a:rPr lang="en-US" sz="2499" b="1">
                <a:solidFill>
                  <a:srgbClr val="000000"/>
                </a:solidFill>
                <a:latin typeface="Arial MT Pro Bold"/>
                <a:ea typeface="Arial MT Pro Bold"/>
                <a:cs typeface="Arial MT Pro Bold"/>
                <a:sym typeface="Arial MT Pro Bold"/>
              </a:rPr>
              <a:t>spans across multiple years</a:t>
            </a:r>
            <a:r>
              <a:rPr lang="en-US" sz="2499">
                <a:solidFill>
                  <a:srgbClr val="000000"/>
                </a:solidFill>
                <a:latin typeface="Arial MT Pro"/>
                <a:ea typeface="Arial MT Pro"/>
                <a:cs typeface="Arial MT Pro"/>
                <a:sym typeface="Arial MT Pro"/>
              </a:rPr>
              <a:t>, with a mean year of 1937 and extending up to 2025.</a:t>
            </a:r>
          </a:p>
          <a:p>
            <a:pPr marL="539749" lvl="1" indent="-269875" algn="just">
              <a:lnSpc>
                <a:spcPts val="3499"/>
              </a:lnSpc>
              <a:buFont typeface="Arial"/>
              <a:buChar char="•"/>
            </a:pPr>
            <a:r>
              <a:rPr lang="en-US" sz="2499">
                <a:solidFill>
                  <a:srgbClr val="000000"/>
                </a:solidFill>
                <a:latin typeface="Arial MT Pro"/>
                <a:ea typeface="Arial MT Pro"/>
                <a:cs typeface="Arial MT Pro"/>
                <a:sym typeface="Arial MT Pro"/>
              </a:rPr>
              <a:t>"Type" shows 13 unique values, with </a:t>
            </a:r>
            <a:r>
              <a:rPr lang="en-US" sz="2499" b="1">
                <a:solidFill>
                  <a:srgbClr val="000000"/>
                </a:solidFill>
                <a:latin typeface="Arial MT Pro Bold"/>
                <a:ea typeface="Arial MT Pro Bold"/>
                <a:cs typeface="Arial MT Pro Bold"/>
                <a:sym typeface="Arial MT Pro Bold"/>
              </a:rPr>
              <a:t>"Unprovoked" being the most frequent type</a:t>
            </a:r>
            <a:r>
              <a:rPr lang="en-US" sz="2499">
                <a:solidFill>
                  <a:srgbClr val="000000"/>
                </a:solidFill>
                <a:latin typeface="Arial MT Pro"/>
                <a:ea typeface="Arial MT Pro"/>
                <a:cs typeface="Arial MT Pro"/>
                <a:sym typeface="Arial MT Pro"/>
              </a:rPr>
              <a:t> (5,074 instances). This might indicate that most incidents happen without human provocation.</a:t>
            </a:r>
          </a:p>
          <a:p>
            <a:pPr marL="539749" lvl="1" indent="-269875" algn="just">
              <a:lnSpc>
                <a:spcPts val="3499"/>
              </a:lnSpc>
              <a:buFont typeface="Arial"/>
              <a:buChar char="•"/>
            </a:pPr>
            <a:r>
              <a:rPr lang="en-US" sz="2499">
                <a:solidFill>
                  <a:srgbClr val="000000"/>
                </a:solidFill>
                <a:latin typeface="Arial MT Pro"/>
                <a:ea typeface="Arial MT Pro"/>
                <a:cs typeface="Arial MT Pro"/>
                <a:sym typeface="Arial MT Pro"/>
              </a:rPr>
              <a:t>The </a:t>
            </a:r>
            <a:r>
              <a:rPr lang="en-US" sz="2499" b="1">
                <a:solidFill>
                  <a:srgbClr val="000000"/>
                </a:solidFill>
                <a:latin typeface="Arial MT Pro Bold"/>
                <a:ea typeface="Arial MT Pro Bold"/>
                <a:cs typeface="Arial MT Pro Bold"/>
                <a:sym typeface="Arial MT Pro Bold"/>
              </a:rPr>
              <a:t>United States of America tops the list as the most frequent country of occurrence</a:t>
            </a:r>
            <a:r>
              <a:rPr lang="en-US" sz="2499">
                <a:solidFill>
                  <a:srgbClr val="000000"/>
                </a:solidFill>
                <a:latin typeface="Arial MT Pro"/>
                <a:ea typeface="Arial MT Pro"/>
                <a:cs typeface="Arial MT Pro"/>
                <a:sym typeface="Arial MT Pro"/>
              </a:rPr>
              <a:t> (2,561 instances), with Florida being the most common state (1,184 cases). </a:t>
            </a:r>
          </a:p>
          <a:p>
            <a:pPr marL="539749" lvl="1" indent="-269875" algn="just">
              <a:lnSpc>
                <a:spcPts val="3499"/>
              </a:lnSpc>
              <a:buFont typeface="Arial"/>
              <a:buChar char="•"/>
            </a:pPr>
            <a:r>
              <a:rPr lang="en-US" sz="2499" b="1">
                <a:solidFill>
                  <a:srgbClr val="000000"/>
                </a:solidFill>
                <a:latin typeface="Arial MT Pro Bold"/>
                <a:ea typeface="Arial MT Pro Bold"/>
                <a:cs typeface="Arial MT Pro Bold"/>
                <a:sym typeface="Arial MT Pro Bold"/>
              </a:rPr>
              <a:t>"Surfing" is the most frequent activity</a:t>
            </a:r>
            <a:r>
              <a:rPr lang="en-US" sz="2499">
                <a:solidFill>
                  <a:srgbClr val="000000"/>
                </a:solidFill>
                <a:latin typeface="Arial MT Pro"/>
                <a:ea typeface="Arial MT Pro"/>
                <a:cs typeface="Arial MT Pro"/>
                <a:sym typeface="Arial MT Pro"/>
              </a:rPr>
              <a:t> (1,129 occurrences), which is not surprising, given its close interaction with ocean environments.</a:t>
            </a:r>
          </a:p>
          <a:p>
            <a:pPr marL="539749" lvl="1" indent="-269875" algn="just">
              <a:lnSpc>
                <a:spcPts val="3499"/>
              </a:lnSpc>
              <a:buFont typeface="Arial"/>
              <a:buChar char="•"/>
            </a:pPr>
            <a:r>
              <a:rPr lang="en-US" sz="2499">
                <a:solidFill>
                  <a:srgbClr val="000000"/>
                </a:solidFill>
                <a:latin typeface="Arial MT Pro"/>
                <a:ea typeface="Arial MT Pro"/>
                <a:cs typeface="Arial MT Pro"/>
                <a:sym typeface="Arial MT Pro"/>
              </a:rPr>
              <a:t>The </a:t>
            </a:r>
            <a:r>
              <a:rPr lang="en-US" sz="2499" b="1">
                <a:solidFill>
                  <a:srgbClr val="000000"/>
                </a:solidFill>
                <a:latin typeface="Arial MT Pro Bold"/>
                <a:ea typeface="Arial MT Pro Bold"/>
                <a:cs typeface="Arial MT Pro Bold"/>
                <a:sym typeface="Arial MT Pro Bold"/>
              </a:rPr>
              <a:t>majority of incidents involve males</a:t>
            </a:r>
            <a:r>
              <a:rPr lang="en-US" sz="2499">
                <a:solidFill>
                  <a:srgbClr val="000000"/>
                </a:solidFill>
                <a:latin typeface="Arial MT Pro"/>
                <a:ea typeface="Arial MT Pro"/>
                <a:cs typeface="Arial MT Pro"/>
                <a:sym typeface="Arial MT Pro"/>
              </a:rPr>
              <a:t> (with 5,477 occurrences).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52958" y="195764"/>
            <a:ext cx="14582085" cy="1074031"/>
          </a:xfrm>
          <a:prstGeom prst="rect">
            <a:avLst/>
          </a:prstGeom>
        </p:spPr>
        <p:txBody>
          <a:bodyPr lIns="0" tIns="0" rIns="0" bIns="0" rtlCol="0" anchor="t">
            <a:spAutoFit/>
          </a:bodyPr>
          <a:lstStyle/>
          <a:p>
            <a:pPr algn="ctr">
              <a:lnSpc>
                <a:spcPts val="4068"/>
              </a:lnSpc>
              <a:spcBef>
                <a:spcPct val="0"/>
              </a:spcBef>
            </a:pPr>
            <a:r>
              <a:rPr lang="en-US" sz="3000" b="1">
                <a:solidFill>
                  <a:srgbClr val="2B4865"/>
                </a:solidFill>
                <a:latin typeface="Arial MT Pro Bold"/>
                <a:ea typeface="Arial MT Pro Bold"/>
                <a:cs typeface="Arial MT Pro Bold"/>
                <a:sym typeface="Arial MT Pro Bold"/>
              </a:rPr>
              <a:t>Which gender is most frequently involved in shark attacks? Are fatal shark attacks more likely to happen to one gender over the other? </a:t>
            </a:r>
          </a:p>
        </p:txBody>
      </p:sp>
      <p:sp>
        <p:nvSpPr>
          <p:cNvPr id="3" name="TextBox 3"/>
          <p:cNvSpPr txBox="1"/>
          <p:nvPr/>
        </p:nvSpPr>
        <p:spPr>
          <a:xfrm>
            <a:off x="749946" y="7482752"/>
            <a:ext cx="7980484" cy="1710690"/>
          </a:xfrm>
          <a:prstGeom prst="rect">
            <a:avLst/>
          </a:prstGeom>
        </p:spPr>
        <p:txBody>
          <a:bodyPr lIns="0" tIns="0" rIns="0" bIns="0" rtlCol="0" anchor="t">
            <a:spAutoFit/>
          </a:bodyPr>
          <a:lstStyle/>
          <a:p>
            <a:pPr algn="just">
              <a:lnSpc>
                <a:spcPts val="3359"/>
              </a:lnSpc>
            </a:pPr>
            <a:r>
              <a:rPr lang="en-US" sz="2400">
                <a:solidFill>
                  <a:srgbClr val="000000"/>
                </a:solidFill>
                <a:latin typeface="Arial MT Pro"/>
                <a:ea typeface="Arial MT Pro"/>
                <a:cs typeface="Arial MT Pro"/>
                <a:sym typeface="Arial MT Pro"/>
              </a:rPr>
              <a:t>The </a:t>
            </a:r>
            <a:r>
              <a:rPr lang="en-US" sz="2400" b="1">
                <a:solidFill>
                  <a:srgbClr val="000000"/>
                </a:solidFill>
                <a:latin typeface="Arial MT Pro Bold"/>
                <a:ea typeface="Arial MT Pro Bold"/>
                <a:cs typeface="Arial MT Pro Bold"/>
                <a:sym typeface="Arial MT Pro Bold"/>
              </a:rPr>
              <a:t>overwhelming majority of shark attack victims are male</a:t>
            </a:r>
            <a:r>
              <a:rPr lang="en-US" sz="2400">
                <a:solidFill>
                  <a:srgbClr val="000000"/>
                </a:solidFill>
                <a:latin typeface="Arial MT Pro"/>
                <a:ea typeface="Arial MT Pro"/>
                <a:cs typeface="Arial MT Pro"/>
                <a:sym typeface="Arial MT Pro"/>
              </a:rPr>
              <a:t> (87.4%), while females account for only 12.6%. This disparity suggests that the </a:t>
            </a:r>
            <a:r>
              <a:rPr lang="en-US" sz="2400" u="sng">
                <a:solidFill>
                  <a:srgbClr val="000000"/>
                </a:solidFill>
                <a:latin typeface="Arial MT Pro"/>
                <a:ea typeface="Arial MT Pro"/>
                <a:cs typeface="Arial MT Pro"/>
                <a:sym typeface="Arial MT Pro"/>
              </a:rPr>
              <a:t>water activities (e.g., surfing, diving) are typically undertaken by males.</a:t>
            </a:r>
          </a:p>
        </p:txBody>
      </p:sp>
      <p:sp>
        <p:nvSpPr>
          <p:cNvPr id="4" name="TextBox 4"/>
          <p:cNvSpPr txBox="1"/>
          <p:nvPr/>
        </p:nvSpPr>
        <p:spPr>
          <a:xfrm>
            <a:off x="9737758" y="7063652"/>
            <a:ext cx="7791879" cy="2548890"/>
          </a:xfrm>
          <a:prstGeom prst="rect">
            <a:avLst/>
          </a:prstGeom>
        </p:spPr>
        <p:txBody>
          <a:bodyPr lIns="0" tIns="0" rIns="0" bIns="0" rtlCol="0" anchor="t">
            <a:spAutoFit/>
          </a:bodyPr>
          <a:lstStyle/>
          <a:p>
            <a:pPr algn="just">
              <a:lnSpc>
                <a:spcPts val="3359"/>
              </a:lnSpc>
            </a:pPr>
            <a:r>
              <a:rPr lang="en-US" sz="2400">
                <a:solidFill>
                  <a:srgbClr val="000000"/>
                </a:solidFill>
                <a:latin typeface="Arial MT Pro"/>
                <a:ea typeface="Arial MT Pro"/>
                <a:cs typeface="Arial MT Pro"/>
                <a:sym typeface="Arial MT Pro"/>
              </a:rPr>
              <a:t>Among females, 83.4% of attacks are non-fatal, with a low fatality rate of 16.5%. In contrast, </a:t>
            </a:r>
            <a:r>
              <a:rPr lang="en-US" sz="2400" b="1">
                <a:solidFill>
                  <a:srgbClr val="000000"/>
                </a:solidFill>
                <a:latin typeface="Arial MT Pro Bold"/>
                <a:ea typeface="Arial MT Pro Bold"/>
                <a:cs typeface="Arial MT Pro Bold"/>
                <a:sym typeface="Arial MT Pro Bold"/>
              </a:rPr>
              <a:t>males face a higher fatality rate</a:t>
            </a:r>
            <a:r>
              <a:rPr lang="en-US" sz="2400">
                <a:solidFill>
                  <a:srgbClr val="000000"/>
                </a:solidFill>
                <a:latin typeface="Arial MT Pro"/>
                <a:ea typeface="Arial MT Pro"/>
                <a:cs typeface="Arial MT Pro"/>
                <a:sym typeface="Arial MT Pro"/>
              </a:rPr>
              <a:t> of 23.5%, with 76.5% of incidents being non-fatal. This difference might be attributed to </a:t>
            </a:r>
            <a:r>
              <a:rPr lang="en-US" sz="2400" u="sng">
                <a:solidFill>
                  <a:srgbClr val="000000"/>
                </a:solidFill>
                <a:latin typeface="Arial MT Pro"/>
                <a:ea typeface="Arial MT Pro"/>
                <a:cs typeface="Arial MT Pro"/>
                <a:sym typeface="Arial MT Pro"/>
              </a:rPr>
              <a:t>behavioural factors</a:t>
            </a:r>
            <a:r>
              <a:rPr lang="en-US" sz="2400">
                <a:solidFill>
                  <a:srgbClr val="000000"/>
                </a:solidFill>
                <a:latin typeface="Arial MT Pro"/>
                <a:ea typeface="Arial MT Pro"/>
                <a:cs typeface="Arial MT Pro"/>
                <a:sym typeface="Arial MT Pro"/>
              </a:rPr>
              <a:t>, such as male engaging in riskier activities or venturing closer to sharks.</a:t>
            </a:r>
          </a:p>
        </p:txBody>
      </p:sp>
      <p:pic>
        <p:nvPicPr>
          <p:cNvPr id="5" name="Picture 5"/>
          <p:cNvPicPr>
            <a:picLocks noChangeAspect="1"/>
          </p:cNvPicPr>
          <p:nvPr/>
        </p:nvPicPr>
        <p:blipFill>
          <a:blip r:embed="rId3"/>
          <a:stretch>
            <a:fillRect/>
          </a:stretch>
        </p:blipFill>
        <p:spPr>
          <a:xfrm>
            <a:off x="-154024" y="969108"/>
            <a:ext cx="9788424" cy="6899480"/>
          </a:xfrm>
          <a:prstGeom prst="rect">
            <a:avLst/>
          </a:prstGeom>
        </p:spPr>
      </p:pic>
      <p:sp>
        <p:nvSpPr>
          <p:cNvPr id="6" name="TextBox 6"/>
          <p:cNvSpPr txBox="1"/>
          <p:nvPr/>
        </p:nvSpPr>
        <p:spPr>
          <a:xfrm>
            <a:off x="6597184" y="2849276"/>
            <a:ext cx="500480" cy="198120"/>
          </a:xfrm>
          <a:prstGeom prst="rect">
            <a:avLst/>
          </a:prstGeom>
        </p:spPr>
        <p:txBody>
          <a:bodyPr lIns="0" tIns="0" rIns="0" bIns="0" rtlCol="0" anchor="t">
            <a:spAutoFit/>
          </a:bodyPr>
          <a:lstStyle/>
          <a:p>
            <a:pPr algn="just">
              <a:lnSpc>
                <a:spcPts val="1679"/>
              </a:lnSpc>
            </a:pPr>
            <a:r>
              <a:rPr lang="en-US" sz="1200">
                <a:solidFill>
                  <a:srgbClr val="FFFFFF"/>
                </a:solidFill>
                <a:latin typeface="Canva Sans"/>
                <a:ea typeface="Canva Sans"/>
                <a:cs typeface="Canva Sans"/>
                <a:sym typeface="Canva Sans"/>
              </a:rPr>
              <a:t>87.4%</a:t>
            </a:r>
          </a:p>
        </p:txBody>
      </p:sp>
      <p:sp>
        <p:nvSpPr>
          <p:cNvPr id="7" name="TextBox 7"/>
          <p:cNvSpPr txBox="1"/>
          <p:nvPr/>
        </p:nvSpPr>
        <p:spPr>
          <a:xfrm>
            <a:off x="2807630" y="6318868"/>
            <a:ext cx="500480" cy="198120"/>
          </a:xfrm>
          <a:prstGeom prst="rect">
            <a:avLst/>
          </a:prstGeom>
        </p:spPr>
        <p:txBody>
          <a:bodyPr lIns="0" tIns="0" rIns="0" bIns="0" rtlCol="0" anchor="t">
            <a:spAutoFit/>
          </a:bodyPr>
          <a:lstStyle/>
          <a:p>
            <a:pPr algn="just">
              <a:lnSpc>
                <a:spcPts val="1679"/>
              </a:lnSpc>
            </a:pPr>
            <a:r>
              <a:rPr lang="en-US" sz="1200">
                <a:solidFill>
                  <a:srgbClr val="FFFFFF"/>
                </a:solidFill>
                <a:latin typeface="Canva Sans"/>
                <a:ea typeface="Canva Sans"/>
                <a:cs typeface="Canva Sans"/>
                <a:sym typeface="Canva Sans"/>
              </a:rPr>
              <a:t>12.6%</a:t>
            </a:r>
          </a:p>
        </p:txBody>
      </p:sp>
      <p:pic>
        <p:nvPicPr>
          <p:cNvPr id="8" name="Picture 8"/>
          <p:cNvPicPr>
            <a:picLocks noChangeAspect="1"/>
          </p:cNvPicPr>
          <p:nvPr/>
        </p:nvPicPr>
        <p:blipFill>
          <a:blip r:embed="rId4"/>
          <a:stretch>
            <a:fillRect/>
          </a:stretch>
        </p:blipFill>
        <p:spPr>
          <a:xfrm>
            <a:off x="8677114" y="980035"/>
            <a:ext cx="9657296" cy="680705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70332" y="2707045"/>
            <a:ext cx="11084287" cy="5930093"/>
          </a:xfrm>
          <a:custGeom>
            <a:avLst/>
            <a:gdLst/>
            <a:ahLst/>
            <a:cxnLst/>
            <a:rect l="l" t="t" r="r" b="b"/>
            <a:pathLst>
              <a:path w="11084287" h="5930093">
                <a:moveTo>
                  <a:pt x="0" y="0"/>
                </a:moveTo>
                <a:lnTo>
                  <a:pt x="11084287" y="0"/>
                </a:lnTo>
                <a:lnTo>
                  <a:pt x="11084287" y="5930093"/>
                </a:lnTo>
                <a:lnTo>
                  <a:pt x="0" y="5930093"/>
                </a:lnTo>
                <a:lnTo>
                  <a:pt x="0" y="0"/>
                </a:lnTo>
                <a:close/>
              </a:path>
            </a:pathLst>
          </a:custGeom>
          <a:blipFill>
            <a:blip r:embed="rId3"/>
            <a:stretch>
              <a:fillRect/>
            </a:stretch>
          </a:blipFill>
        </p:spPr>
      </p:sp>
      <p:sp>
        <p:nvSpPr>
          <p:cNvPr id="3" name="TextBox 3"/>
          <p:cNvSpPr txBox="1"/>
          <p:nvPr/>
        </p:nvSpPr>
        <p:spPr>
          <a:xfrm>
            <a:off x="3023390" y="923925"/>
            <a:ext cx="12241221" cy="1074031"/>
          </a:xfrm>
          <a:prstGeom prst="rect">
            <a:avLst/>
          </a:prstGeom>
        </p:spPr>
        <p:txBody>
          <a:bodyPr lIns="0" tIns="0" rIns="0" bIns="0" rtlCol="0" anchor="t">
            <a:spAutoFit/>
          </a:bodyPr>
          <a:lstStyle/>
          <a:p>
            <a:pPr algn="ctr">
              <a:lnSpc>
                <a:spcPts val="4068"/>
              </a:lnSpc>
              <a:spcBef>
                <a:spcPct val="0"/>
              </a:spcBef>
            </a:pPr>
            <a:r>
              <a:rPr lang="en-US" sz="3000" b="1">
                <a:solidFill>
                  <a:srgbClr val="2B4865"/>
                </a:solidFill>
                <a:latin typeface="Arial MT Pro Bold"/>
                <a:ea typeface="Arial MT Pro Bold"/>
                <a:cs typeface="Arial MT Pro Bold"/>
                <a:sym typeface="Arial MT Pro Bold"/>
              </a:rPr>
              <a:t>Which age groups are most at risk of shark attacks, and are there gender-based trends in these distributions?</a:t>
            </a:r>
          </a:p>
        </p:txBody>
      </p:sp>
      <p:sp>
        <p:nvSpPr>
          <p:cNvPr id="4" name="TextBox 4"/>
          <p:cNvSpPr txBox="1"/>
          <p:nvPr/>
        </p:nvSpPr>
        <p:spPr>
          <a:xfrm>
            <a:off x="11454619" y="2611795"/>
            <a:ext cx="5804681" cy="6442558"/>
          </a:xfrm>
          <a:prstGeom prst="rect">
            <a:avLst/>
          </a:prstGeom>
        </p:spPr>
        <p:txBody>
          <a:bodyPr lIns="0" tIns="0" rIns="0" bIns="0" rtlCol="0" anchor="t">
            <a:spAutoFit/>
          </a:bodyPr>
          <a:lstStyle/>
          <a:p>
            <a:pPr marL="582928" lvl="1" indent="-291464" algn="just">
              <a:lnSpc>
                <a:spcPts val="3661"/>
              </a:lnSpc>
              <a:buFont typeface="Arial"/>
              <a:buChar char="•"/>
            </a:pPr>
            <a:r>
              <a:rPr lang="en-US" sz="2699">
                <a:solidFill>
                  <a:srgbClr val="000000"/>
                </a:solidFill>
                <a:latin typeface="Arial MT Pro"/>
                <a:ea typeface="Arial MT Pro"/>
                <a:cs typeface="Arial MT Pro"/>
                <a:sym typeface="Arial MT Pro"/>
              </a:rPr>
              <a:t>It shows that </a:t>
            </a:r>
            <a:r>
              <a:rPr lang="en-US" sz="2699" b="1">
                <a:solidFill>
                  <a:srgbClr val="000000"/>
                </a:solidFill>
                <a:latin typeface="Arial MT Pro Bold"/>
                <a:ea typeface="Arial MT Pro Bold"/>
                <a:cs typeface="Arial MT Pro Bold"/>
                <a:sym typeface="Arial MT Pro Bold"/>
              </a:rPr>
              <a:t>males are significantly more frequent victims</a:t>
            </a:r>
            <a:r>
              <a:rPr lang="en-US" sz="2699">
                <a:solidFill>
                  <a:srgbClr val="000000"/>
                </a:solidFill>
                <a:latin typeface="Arial MT Pro"/>
                <a:ea typeface="Arial MT Pro"/>
                <a:cs typeface="Arial MT Pro"/>
                <a:sym typeface="Arial MT Pro"/>
              </a:rPr>
              <a:t> compared to females.</a:t>
            </a:r>
          </a:p>
          <a:p>
            <a:pPr marL="582928" lvl="1" indent="-291464" algn="just">
              <a:lnSpc>
                <a:spcPts val="3661"/>
              </a:lnSpc>
              <a:buFont typeface="Arial"/>
              <a:buChar char="•"/>
            </a:pPr>
            <a:r>
              <a:rPr lang="en-US" sz="2699">
                <a:solidFill>
                  <a:srgbClr val="000000"/>
                </a:solidFill>
                <a:latin typeface="Arial MT Pro"/>
                <a:ea typeface="Arial MT Pro"/>
                <a:cs typeface="Arial MT Pro"/>
                <a:sym typeface="Arial MT Pro"/>
              </a:rPr>
              <a:t>The highest frequency of shark attacks occurs among </a:t>
            </a:r>
            <a:r>
              <a:rPr lang="en-US" sz="2699" u="sng">
                <a:solidFill>
                  <a:srgbClr val="000000"/>
                </a:solidFill>
                <a:latin typeface="Arial MT Pro"/>
                <a:ea typeface="Arial MT Pro"/>
                <a:cs typeface="Arial MT Pro"/>
                <a:sym typeface="Arial MT Pro"/>
              </a:rPr>
              <a:t>males aged 15 to 25 years</a:t>
            </a:r>
            <a:r>
              <a:rPr lang="en-US" sz="2699">
                <a:solidFill>
                  <a:srgbClr val="000000"/>
                </a:solidFill>
                <a:latin typeface="Arial MT Pro"/>
                <a:ea typeface="Arial MT Pro"/>
                <a:cs typeface="Arial MT Pro"/>
                <a:sym typeface="Arial MT Pro"/>
              </a:rPr>
              <a:t>, with a peak around </a:t>
            </a:r>
            <a:r>
              <a:rPr lang="en-US" sz="2699" b="1">
                <a:solidFill>
                  <a:srgbClr val="000000"/>
                </a:solidFill>
                <a:latin typeface="Arial MT Pro Bold"/>
                <a:ea typeface="Arial MT Pro Bold"/>
                <a:cs typeface="Arial MT Pro Bold"/>
                <a:sym typeface="Arial MT Pro Bold"/>
              </a:rPr>
              <a:t>age 20</a:t>
            </a:r>
            <a:r>
              <a:rPr lang="en-US" sz="2699">
                <a:solidFill>
                  <a:srgbClr val="000000"/>
                </a:solidFill>
                <a:latin typeface="Arial MT Pro"/>
                <a:ea typeface="Arial MT Pro"/>
                <a:cs typeface="Arial MT Pro"/>
                <a:sym typeface="Arial MT Pro"/>
              </a:rPr>
              <a:t>. Females also exhibit a </a:t>
            </a:r>
            <a:r>
              <a:rPr lang="en-US" sz="2699" u="sng">
                <a:solidFill>
                  <a:srgbClr val="000000"/>
                </a:solidFill>
                <a:latin typeface="Arial MT Pro"/>
                <a:ea typeface="Arial MT Pro"/>
                <a:cs typeface="Arial MT Pro"/>
                <a:sym typeface="Arial MT Pro"/>
              </a:rPr>
              <a:t>slight peak</a:t>
            </a:r>
            <a:r>
              <a:rPr lang="en-US" sz="2699">
                <a:solidFill>
                  <a:srgbClr val="000000"/>
                </a:solidFill>
                <a:latin typeface="Arial MT Pro"/>
                <a:ea typeface="Arial MT Pro"/>
                <a:cs typeface="Arial MT Pro"/>
                <a:sym typeface="Arial MT Pro"/>
              </a:rPr>
              <a:t> in the same age range, but with a much lower frequency compared to males.</a:t>
            </a:r>
          </a:p>
          <a:p>
            <a:pPr marL="582928" lvl="1" indent="-291464" algn="just">
              <a:lnSpc>
                <a:spcPts val="3661"/>
              </a:lnSpc>
              <a:buFont typeface="Arial"/>
              <a:buChar char="•"/>
            </a:pPr>
            <a:r>
              <a:rPr lang="en-US" sz="2699">
                <a:solidFill>
                  <a:srgbClr val="000000"/>
                </a:solidFill>
                <a:latin typeface="Arial MT Pro"/>
                <a:ea typeface="Arial MT Pro"/>
                <a:cs typeface="Arial MT Pro"/>
                <a:sym typeface="Arial MT Pro"/>
              </a:rPr>
              <a:t>Young males are likely engaging in activities that place them at </a:t>
            </a:r>
            <a:r>
              <a:rPr lang="en-US" sz="2699" u="sng">
                <a:solidFill>
                  <a:srgbClr val="000000"/>
                </a:solidFill>
                <a:latin typeface="Arial MT Pro"/>
                <a:ea typeface="Arial MT Pro"/>
                <a:cs typeface="Arial MT Pro"/>
                <a:sym typeface="Arial MT Pro"/>
              </a:rPr>
              <a:t>higher risk in shark-prone environments</a:t>
            </a:r>
            <a:r>
              <a:rPr lang="en-US" sz="2699">
                <a:solidFill>
                  <a:srgbClr val="000000"/>
                </a:solidFill>
                <a:latin typeface="Arial MT Pro"/>
                <a:ea typeface="Arial MT Pro"/>
                <a:cs typeface="Arial MT Pro"/>
                <a:sym typeface="Arial MT Pro"/>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40123" y="271002"/>
            <a:ext cx="14407754" cy="1074031"/>
          </a:xfrm>
          <a:prstGeom prst="rect">
            <a:avLst/>
          </a:prstGeom>
        </p:spPr>
        <p:txBody>
          <a:bodyPr lIns="0" tIns="0" rIns="0" bIns="0" rtlCol="0" anchor="t">
            <a:spAutoFit/>
          </a:bodyPr>
          <a:lstStyle/>
          <a:p>
            <a:pPr algn="ctr">
              <a:lnSpc>
                <a:spcPts val="4068"/>
              </a:lnSpc>
              <a:spcBef>
                <a:spcPct val="0"/>
              </a:spcBef>
            </a:pPr>
            <a:r>
              <a:rPr lang="en-US" sz="3000" b="1">
                <a:solidFill>
                  <a:srgbClr val="2B4865"/>
                </a:solidFill>
                <a:latin typeface="Arial MT Pro Bold"/>
                <a:ea typeface="Arial MT Pro Bold"/>
                <a:cs typeface="Arial MT Pro Bold"/>
                <a:sym typeface="Arial MT Pro Bold"/>
              </a:rPr>
              <a:t> Which shark species are most frequently involved in incidents, and which are more likely to cause fatalities?</a:t>
            </a:r>
          </a:p>
        </p:txBody>
      </p:sp>
      <p:sp>
        <p:nvSpPr>
          <p:cNvPr id="3" name="TextBox 3"/>
          <p:cNvSpPr txBox="1"/>
          <p:nvPr/>
        </p:nvSpPr>
        <p:spPr>
          <a:xfrm>
            <a:off x="10305973" y="1950754"/>
            <a:ext cx="6953327" cy="6740271"/>
          </a:xfrm>
          <a:prstGeom prst="rect">
            <a:avLst/>
          </a:prstGeom>
        </p:spPr>
        <p:txBody>
          <a:bodyPr lIns="0" tIns="0" rIns="0" bIns="0" rtlCol="0" anchor="t">
            <a:spAutoFit/>
          </a:bodyPr>
          <a:lstStyle/>
          <a:p>
            <a:pPr marL="496571" lvl="1" indent="-248285" algn="just">
              <a:lnSpc>
                <a:spcPts val="3312"/>
              </a:lnSpc>
              <a:buFont typeface="Arial"/>
              <a:buChar char="•"/>
            </a:pPr>
            <a:r>
              <a:rPr lang="en-US" sz="2300">
                <a:solidFill>
                  <a:srgbClr val="000000"/>
                </a:solidFill>
                <a:latin typeface="Arial MT Pro"/>
                <a:ea typeface="Arial MT Pro"/>
                <a:cs typeface="Arial MT Pro"/>
                <a:sym typeface="Arial MT Pro"/>
              </a:rPr>
              <a:t>It illustrates that the </a:t>
            </a:r>
            <a:r>
              <a:rPr lang="en-US" sz="2300" b="1">
                <a:solidFill>
                  <a:srgbClr val="000000"/>
                </a:solidFill>
                <a:latin typeface="Arial MT Pro Bold"/>
                <a:ea typeface="Arial MT Pro Bold"/>
                <a:cs typeface="Arial MT Pro Bold"/>
                <a:sym typeface="Arial MT Pro Bold"/>
              </a:rPr>
              <a:t>White Shark</a:t>
            </a:r>
            <a:r>
              <a:rPr lang="en-US" sz="2300">
                <a:solidFill>
                  <a:srgbClr val="000000"/>
                </a:solidFill>
                <a:latin typeface="Arial MT Pro"/>
                <a:ea typeface="Arial MT Pro"/>
                <a:cs typeface="Arial MT Pro"/>
                <a:sym typeface="Arial MT Pro"/>
              </a:rPr>
              <a:t> </a:t>
            </a:r>
            <a:r>
              <a:rPr lang="en-US" sz="2300" b="1">
                <a:solidFill>
                  <a:srgbClr val="000000"/>
                </a:solidFill>
                <a:latin typeface="Arial MT Pro Bold"/>
                <a:ea typeface="Arial MT Pro Bold"/>
                <a:cs typeface="Arial MT Pro Bold"/>
                <a:sym typeface="Arial MT Pro Bold"/>
              </a:rPr>
              <a:t>is the most frequently involved in shark incidents</a:t>
            </a:r>
            <a:r>
              <a:rPr lang="en-US" sz="2300">
                <a:solidFill>
                  <a:srgbClr val="000000"/>
                </a:solidFill>
                <a:latin typeface="Arial MT Pro"/>
                <a:ea typeface="Arial MT Pro"/>
                <a:cs typeface="Arial MT Pro"/>
                <a:sym typeface="Arial MT Pro"/>
              </a:rPr>
              <a:t>, with a total of 614 occurrences. Among these, a significant portion is </a:t>
            </a:r>
            <a:r>
              <a:rPr lang="en-US" sz="2300" b="1">
                <a:solidFill>
                  <a:srgbClr val="000000"/>
                </a:solidFill>
                <a:latin typeface="Arial MT Pro Bold"/>
                <a:ea typeface="Arial MT Pro Bold"/>
                <a:cs typeface="Arial MT Pro Bold"/>
                <a:sym typeface="Arial MT Pro Bold"/>
              </a:rPr>
              <a:t>fatal</a:t>
            </a:r>
            <a:r>
              <a:rPr lang="en-US" sz="2300">
                <a:solidFill>
                  <a:srgbClr val="000000"/>
                </a:solidFill>
                <a:latin typeface="Arial MT Pro"/>
                <a:ea typeface="Arial MT Pro"/>
                <a:cs typeface="Arial MT Pro"/>
                <a:sym typeface="Arial MT Pro"/>
              </a:rPr>
              <a:t>, making it the species most associated with fatalities. The prominence of White Shark poses the greatest risk to human life during interactions</a:t>
            </a:r>
          </a:p>
          <a:p>
            <a:pPr marL="496571" lvl="1" indent="-248285" algn="just">
              <a:lnSpc>
                <a:spcPts val="3312"/>
              </a:lnSpc>
              <a:buFont typeface="Arial"/>
              <a:buChar char="•"/>
            </a:pPr>
            <a:r>
              <a:rPr lang="en-US" sz="2300" b="1">
                <a:solidFill>
                  <a:srgbClr val="000000"/>
                </a:solidFill>
                <a:latin typeface="Arial MT Pro Bold"/>
                <a:ea typeface="Arial MT Pro Bold"/>
                <a:cs typeface="Arial MT Pro Bold"/>
                <a:sym typeface="Arial MT Pro Bold"/>
              </a:rPr>
              <a:t>Tiger Sharks </a:t>
            </a:r>
            <a:r>
              <a:rPr lang="en-US" sz="2300">
                <a:solidFill>
                  <a:srgbClr val="000000"/>
                </a:solidFill>
                <a:latin typeface="Arial MT Pro"/>
                <a:ea typeface="Arial MT Pro"/>
                <a:cs typeface="Arial MT Pro"/>
                <a:sym typeface="Arial MT Pro"/>
              </a:rPr>
              <a:t>(269 occurrences) </a:t>
            </a:r>
            <a:r>
              <a:rPr lang="en-US" sz="2300" b="1">
                <a:solidFill>
                  <a:srgbClr val="000000"/>
                </a:solidFill>
                <a:latin typeface="Arial MT Pro Bold"/>
                <a:ea typeface="Arial MT Pro Bold"/>
                <a:cs typeface="Arial MT Pro Bold"/>
                <a:sym typeface="Arial MT Pro Bold"/>
              </a:rPr>
              <a:t>and Bull Sharks </a:t>
            </a:r>
            <a:r>
              <a:rPr lang="en-US" sz="2300">
                <a:solidFill>
                  <a:srgbClr val="000000"/>
                </a:solidFill>
                <a:latin typeface="Arial MT Pro"/>
                <a:ea typeface="Arial MT Pro"/>
                <a:cs typeface="Arial MT Pro"/>
                <a:sym typeface="Arial MT Pro"/>
              </a:rPr>
              <a:t>(192 occurrences)  follow in frequency, and both species also have notable fatality rates, although lower than the White Shark.</a:t>
            </a:r>
          </a:p>
          <a:p>
            <a:pPr marL="496571" lvl="1" indent="-248285" algn="just">
              <a:lnSpc>
                <a:spcPts val="3312"/>
              </a:lnSpc>
              <a:buFont typeface="Arial"/>
              <a:buChar char="•"/>
            </a:pPr>
            <a:r>
              <a:rPr lang="en-US" sz="2300">
                <a:solidFill>
                  <a:srgbClr val="000000"/>
                </a:solidFill>
                <a:latin typeface="Arial MT Pro"/>
                <a:ea typeface="Arial MT Pro"/>
                <a:cs typeface="Arial MT Pro"/>
                <a:sym typeface="Arial MT Pro"/>
              </a:rPr>
              <a:t>Other species such as the</a:t>
            </a:r>
            <a:r>
              <a:rPr lang="en-US" sz="2300" b="1">
                <a:solidFill>
                  <a:srgbClr val="000000"/>
                </a:solidFill>
                <a:latin typeface="Arial MT Pro Bold"/>
                <a:ea typeface="Arial MT Pro Bold"/>
                <a:cs typeface="Arial MT Pro Bold"/>
                <a:sym typeface="Arial MT Pro Bold"/>
              </a:rPr>
              <a:t> Mako Shark, Black tip Shark, Nurse Shark,</a:t>
            </a:r>
            <a:r>
              <a:rPr lang="en-US" sz="2300">
                <a:solidFill>
                  <a:srgbClr val="000000"/>
                </a:solidFill>
                <a:latin typeface="Arial MT Pro"/>
                <a:ea typeface="Arial MT Pro"/>
                <a:cs typeface="Arial MT Pro"/>
                <a:sym typeface="Arial MT Pro"/>
              </a:rPr>
              <a:t> and others have fewer occurrences (each under 130) and the proportion of fatal incidents for these species is relatively lower.</a:t>
            </a:r>
          </a:p>
        </p:txBody>
      </p:sp>
      <p:pic>
        <p:nvPicPr>
          <p:cNvPr id="4" name="Picture 4"/>
          <p:cNvPicPr>
            <a:picLocks noChangeAspect="1"/>
          </p:cNvPicPr>
          <p:nvPr/>
        </p:nvPicPr>
        <p:blipFill>
          <a:blip r:embed="rId3"/>
          <a:stretch>
            <a:fillRect/>
          </a:stretch>
        </p:blipFill>
        <p:spPr>
          <a:xfrm>
            <a:off x="170230" y="868835"/>
            <a:ext cx="10301646" cy="924793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149745" y="439297"/>
            <a:ext cx="11988510" cy="1074031"/>
          </a:xfrm>
          <a:prstGeom prst="rect">
            <a:avLst/>
          </a:prstGeom>
        </p:spPr>
        <p:txBody>
          <a:bodyPr lIns="0" tIns="0" rIns="0" bIns="0" rtlCol="0" anchor="t">
            <a:spAutoFit/>
          </a:bodyPr>
          <a:lstStyle/>
          <a:p>
            <a:pPr algn="ctr">
              <a:lnSpc>
                <a:spcPts val="4068"/>
              </a:lnSpc>
              <a:spcBef>
                <a:spcPct val="0"/>
              </a:spcBef>
            </a:pPr>
            <a:r>
              <a:rPr lang="en-US" sz="3000" b="1">
                <a:solidFill>
                  <a:srgbClr val="2B4865"/>
                </a:solidFill>
                <a:latin typeface="Arial MT Pro Bold"/>
                <a:ea typeface="Arial MT Pro Bold"/>
                <a:cs typeface="Arial MT Pro Bold"/>
                <a:sym typeface="Arial MT Pro Bold"/>
              </a:rPr>
              <a:t>Where do shark attacks occur most frequently, and how do the fatality rates compare among the top countries?</a:t>
            </a:r>
          </a:p>
        </p:txBody>
      </p:sp>
      <p:sp>
        <p:nvSpPr>
          <p:cNvPr id="3" name="TextBox 3"/>
          <p:cNvSpPr txBox="1"/>
          <p:nvPr/>
        </p:nvSpPr>
        <p:spPr>
          <a:xfrm>
            <a:off x="11575748" y="2189267"/>
            <a:ext cx="6133865" cy="6591376"/>
          </a:xfrm>
          <a:prstGeom prst="rect">
            <a:avLst/>
          </a:prstGeom>
        </p:spPr>
        <p:txBody>
          <a:bodyPr lIns="0" tIns="0" rIns="0" bIns="0" rtlCol="0" anchor="t">
            <a:spAutoFit/>
          </a:bodyPr>
          <a:lstStyle/>
          <a:p>
            <a:pPr marL="518160" lvl="1" indent="-259080" algn="just">
              <a:lnSpc>
                <a:spcPts val="3254"/>
              </a:lnSpc>
              <a:buFont typeface="Arial"/>
              <a:buChar char="•"/>
            </a:pPr>
            <a:r>
              <a:rPr lang="en-US" sz="2400" b="1">
                <a:solidFill>
                  <a:srgbClr val="000000"/>
                </a:solidFill>
                <a:latin typeface="Arial MT Pro Bold"/>
                <a:ea typeface="Arial MT Pro Bold"/>
                <a:cs typeface="Arial MT Pro Bold"/>
                <a:sym typeface="Arial MT Pro Bold"/>
              </a:rPr>
              <a:t>Shark attacks are most frequent in the United States</a:t>
            </a:r>
            <a:r>
              <a:rPr lang="en-US" sz="2400">
                <a:solidFill>
                  <a:srgbClr val="000000"/>
                </a:solidFill>
                <a:latin typeface="Arial MT Pro"/>
                <a:ea typeface="Arial MT Pro"/>
                <a:cs typeface="Arial MT Pro"/>
                <a:sym typeface="Arial MT Pro"/>
              </a:rPr>
              <a:t> (2,351 incidents), where fatality rates are relatively low compared to non-fatal attacks. This suggests that </a:t>
            </a:r>
            <a:r>
              <a:rPr lang="en-US" sz="2400" u="sng">
                <a:solidFill>
                  <a:srgbClr val="000000"/>
                </a:solidFill>
                <a:latin typeface="Arial MT Pro"/>
                <a:ea typeface="Arial MT Pro"/>
                <a:cs typeface="Arial MT Pro"/>
                <a:sym typeface="Arial MT Pro"/>
              </a:rPr>
              <a:t>while shark encounters are common, they are less likely to be deadly.</a:t>
            </a:r>
          </a:p>
          <a:p>
            <a:pPr marL="518160" lvl="1" indent="-259080" algn="just">
              <a:lnSpc>
                <a:spcPts val="3254"/>
              </a:lnSpc>
              <a:buFont typeface="Arial"/>
              <a:buChar char="•"/>
            </a:pPr>
            <a:r>
              <a:rPr lang="en-US" sz="2400">
                <a:solidFill>
                  <a:srgbClr val="000000"/>
                </a:solidFill>
                <a:latin typeface="Arial MT Pro"/>
                <a:ea typeface="Arial MT Pro"/>
                <a:cs typeface="Arial MT Pro"/>
                <a:sym typeface="Arial MT Pro"/>
              </a:rPr>
              <a:t>Australia follows with 1,357 attacks, showing a </a:t>
            </a:r>
            <a:r>
              <a:rPr lang="en-US" sz="2400" b="1">
                <a:solidFill>
                  <a:srgbClr val="000000"/>
                </a:solidFill>
                <a:latin typeface="Arial MT Pro Bold"/>
                <a:ea typeface="Arial MT Pro Bold"/>
                <a:cs typeface="Arial MT Pro Bold"/>
                <a:sym typeface="Arial MT Pro Bold"/>
              </a:rPr>
              <a:t>higher proportion of fatal incidents compared to U.S</a:t>
            </a:r>
            <a:r>
              <a:rPr lang="en-US" sz="2400">
                <a:solidFill>
                  <a:srgbClr val="000000"/>
                </a:solidFill>
                <a:latin typeface="Arial MT Pro"/>
                <a:ea typeface="Arial MT Pro"/>
                <a:cs typeface="Arial MT Pro"/>
                <a:sym typeface="Arial MT Pro"/>
              </a:rPr>
              <a:t>. </a:t>
            </a:r>
          </a:p>
          <a:p>
            <a:pPr marL="518160" lvl="1" indent="-259080" algn="just">
              <a:lnSpc>
                <a:spcPts val="3254"/>
              </a:lnSpc>
              <a:buFont typeface="Arial"/>
              <a:buChar char="•"/>
            </a:pPr>
            <a:r>
              <a:rPr lang="en-US" sz="2400">
                <a:solidFill>
                  <a:srgbClr val="000000"/>
                </a:solidFill>
                <a:latin typeface="Arial MT Pro"/>
                <a:ea typeface="Arial MT Pro"/>
                <a:cs typeface="Arial MT Pro"/>
                <a:sym typeface="Arial MT Pro"/>
              </a:rPr>
              <a:t>South Africa has 531 attacks with a notable fatality rate, indicating greater risk in its waters. </a:t>
            </a:r>
          </a:p>
          <a:p>
            <a:pPr marL="518160" lvl="1" indent="-259080" algn="just">
              <a:lnSpc>
                <a:spcPts val="3254"/>
              </a:lnSpc>
              <a:buFont typeface="Arial"/>
              <a:buChar char="•"/>
            </a:pPr>
            <a:r>
              <a:rPr lang="en-US" sz="2400">
                <a:solidFill>
                  <a:srgbClr val="000000"/>
                </a:solidFill>
                <a:latin typeface="Arial MT Pro"/>
                <a:ea typeface="Arial MT Pro"/>
                <a:cs typeface="Arial MT Pro"/>
                <a:sym typeface="Arial MT Pro"/>
              </a:rPr>
              <a:t>Smaller totals are seen in Papua New Guinea (141) and New Zealand (134), but these also have significant fatality rates relative to their occurrence.</a:t>
            </a:r>
          </a:p>
        </p:txBody>
      </p:sp>
      <p:pic>
        <p:nvPicPr>
          <p:cNvPr id="4" name="Picture 4"/>
          <p:cNvPicPr>
            <a:picLocks noChangeAspect="1"/>
          </p:cNvPicPr>
          <p:nvPr/>
        </p:nvPicPr>
        <p:blipFill>
          <a:blip r:embed="rId3"/>
          <a:stretch>
            <a:fillRect/>
          </a:stretch>
        </p:blipFill>
        <p:spPr>
          <a:xfrm>
            <a:off x="-26005" y="898895"/>
            <a:ext cx="12656458" cy="941411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149745" y="439297"/>
            <a:ext cx="11988510" cy="559681"/>
          </a:xfrm>
          <a:prstGeom prst="rect">
            <a:avLst/>
          </a:prstGeom>
        </p:spPr>
        <p:txBody>
          <a:bodyPr lIns="0" tIns="0" rIns="0" bIns="0" rtlCol="0" anchor="t">
            <a:spAutoFit/>
          </a:bodyPr>
          <a:lstStyle/>
          <a:p>
            <a:pPr algn="ctr">
              <a:lnSpc>
                <a:spcPts val="4068"/>
              </a:lnSpc>
              <a:spcBef>
                <a:spcPct val="0"/>
              </a:spcBef>
            </a:pPr>
            <a:r>
              <a:rPr lang="en-US" sz="3000" b="1">
                <a:solidFill>
                  <a:srgbClr val="2B4865"/>
                </a:solidFill>
                <a:latin typeface="Arial MT Pro Bold"/>
                <a:ea typeface="Arial MT Pro Bold"/>
                <a:cs typeface="Arial MT Pro Bold"/>
                <a:sym typeface="Arial MT Pro Bold"/>
              </a:rPr>
              <a:t>What is the global distribution of shark attacks?</a:t>
            </a:r>
          </a:p>
        </p:txBody>
      </p:sp>
      <p:pic>
        <p:nvPicPr>
          <p:cNvPr id="3" name="Picture 3"/>
          <p:cNvPicPr>
            <a:picLocks noChangeAspect="1"/>
          </p:cNvPicPr>
          <p:nvPr/>
        </p:nvPicPr>
        <p:blipFill>
          <a:blip r:embed="rId3"/>
          <a:stretch>
            <a:fillRect/>
          </a:stretch>
        </p:blipFill>
        <p:spPr>
          <a:xfrm>
            <a:off x="1498436" y="-245561"/>
            <a:ext cx="15291127" cy="10778121"/>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149745" y="439297"/>
            <a:ext cx="11988510" cy="1074031"/>
          </a:xfrm>
          <a:prstGeom prst="rect">
            <a:avLst/>
          </a:prstGeom>
        </p:spPr>
        <p:txBody>
          <a:bodyPr lIns="0" tIns="0" rIns="0" bIns="0" rtlCol="0" anchor="t">
            <a:spAutoFit/>
          </a:bodyPr>
          <a:lstStyle/>
          <a:p>
            <a:pPr algn="ctr">
              <a:lnSpc>
                <a:spcPts val="4068"/>
              </a:lnSpc>
              <a:spcBef>
                <a:spcPct val="0"/>
              </a:spcBef>
            </a:pPr>
            <a:r>
              <a:rPr lang="en-US" sz="3000" b="1">
                <a:solidFill>
                  <a:srgbClr val="2B4865"/>
                </a:solidFill>
                <a:latin typeface="Arial MT Pro Bold"/>
                <a:ea typeface="Arial MT Pro Bold"/>
                <a:cs typeface="Arial MT Pro Bold"/>
                <a:sym typeface="Arial MT Pro Bold"/>
              </a:rPr>
              <a:t>What are the most common types of shark attacks, and how might that influence safety awareness efforts?</a:t>
            </a:r>
          </a:p>
        </p:txBody>
      </p:sp>
      <p:pic>
        <p:nvPicPr>
          <p:cNvPr id="3" name="Picture 3"/>
          <p:cNvPicPr>
            <a:picLocks noChangeAspect="1"/>
          </p:cNvPicPr>
          <p:nvPr/>
        </p:nvPicPr>
        <p:blipFill>
          <a:blip r:embed="rId3"/>
          <a:stretch>
            <a:fillRect/>
          </a:stretch>
        </p:blipFill>
        <p:spPr>
          <a:xfrm>
            <a:off x="-85932" y="945004"/>
            <a:ext cx="13375582" cy="9427928"/>
          </a:xfrm>
          <a:prstGeom prst="rect">
            <a:avLst/>
          </a:prstGeom>
        </p:spPr>
      </p:pic>
      <p:sp>
        <p:nvSpPr>
          <p:cNvPr id="4" name="TextBox 4"/>
          <p:cNvSpPr txBox="1"/>
          <p:nvPr/>
        </p:nvSpPr>
        <p:spPr>
          <a:xfrm>
            <a:off x="12330227" y="2188693"/>
            <a:ext cx="4929073" cy="7069607"/>
          </a:xfrm>
          <a:prstGeom prst="rect">
            <a:avLst/>
          </a:prstGeom>
        </p:spPr>
        <p:txBody>
          <a:bodyPr lIns="0" tIns="0" rIns="0" bIns="0" rtlCol="0" anchor="t">
            <a:spAutoFit/>
          </a:bodyPr>
          <a:lstStyle/>
          <a:p>
            <a:pPr marL="496571" lvl="1" indent="-248285" algn="just">
              <a:lnSpc>
                <a:spcPts val="3118"/>
              </a:lnSpc>
              <a:buFont typeface="Arial"/>
              <a:buChar char="•"/>
            </a:pPr>
            <a:r>
              <a:rPr lang="en-US" sz="2300">
                <a:solidFill>
                  <a:srgbClr val="000000"/>
                </a:solidFill>
                <a:latin typeface="Arial MT Pro"/>
                <a:ea typeface="Arial MT Pro"/>
                <a:cs typeface="Arial MT Pro"/>
                <a:sym typeface="Arial MT Pro"/>
              </a:rPr>
              <a:t>The data shows that </a:t>
            </a:r>
            <a:r>
              <a:rPr lang="en-US" sz="2300" b="1">
                <a:solidFill>
                  <a:srgbClr val="000000"/>
                </a:solidFill>
                <a:latin typeface="Arial MT Pro Bold"/>
                <a:ea typeface="Arial MT Pro Bold"/>
                <a:cs typeface="Arial MT Pro Bold"/>
                <a:sym typeface="Arial MT Pro Bold"/>
              </a:rPr>
              <a:t>Unprovoked shark attacks are overwhelmingly th</a:t>
            </a:r>
            <a:r>
              <a:rPr lang="en-US" sz="2300" b="1" u="none">
                <a:solidFill>
                  <a:srgbClr val="000000"/>
                </a:solidFill>
                <a:latin typeface="Arial MT Pro Bold"/>
                <a:ea typeface="Arial MT Pro Bold"/>
                <a:cs typeface="Arial MT Pro Bold"/>
                <a:sym typeface="Arial MT Pro Bold"/>
              </a:rPr>
              <a:t>e </a:t>
            </a:r>
            <a:r>
              <a:rPr lang="en-US" sz="2300" b="1">
                <a:solidFill>
                  <a:srgbClr val="000000"/>
                </a:solidFill>
                <a:latin typeface="Arial MT Pro Bold"/>
                <a:ea typeface="Arial MT Pro Bold"/>
                <a:cs typeface="Arial MT Pro Bold"/>
                <a:sym typeface="Arial MT Pro Bold"/>
              </a:rPr>
              <a:t>mo</a:t>
            </a:r>
            <a:r>
              <a:rPr lang="en-US" sz="2300" b="1" u="none">
                <a:solidFill>
                  <a:srgbClr val="000000"/>
                </a:solidFill>
                <a:latin typeface="Arial MT Pro Bold"/>
                <a:ea typeface="Arial MT Pro Bold"/>
                <a:cs typeface="Arial MT Pro Bold"/>
                <a:sym typeface="Arial MT Pro Bold"/>
              </a:rPr>
              <a:t>st common ty</a:t>
            </a:r>
            <a:r>
              <a:rPr lang="en-US" sz="2300" b="1">
                <a:solidFill>
                  <a:srgbClr val="000000"/>
                </a:solidFill>
                <a:latin typeface="Arial MT Pro Bold"/>
                <a:ea typeface="Arial MT Pro Bold"/>
                <a:cs typeface="Arial MT Pro Bold"/>
                <a:sym typeface="Arial MT Pro Bold"/>
              </a:rPr>
              <a:t>p</a:t>
            </a:r>
            <a:r>
              <a:rPr lang="en-US" sz="2300" b="1" u="none">
                <a:solidFill>
                  <a:srgbClr val="000000"/>
                </a:solidFill>
                <a:latin typeface="Arial MT Pro Bold"/>
                <a:ea typeface="Arial MT Pro Bold"/>
                <a:cs typeface="Arial MT Pro Bold"/>
                <a:sym typeface="Arial MT Pro Bold"/>
              </a:rPr>
              <a:t>e</a:t>
            </a:r>
            <a:r>
              <a:rPr lang="en-US" sz="2300">
                <a:solidFill>
                  <a:srgbClr val="000000"/>
                </a:solidFill>
                <a:latin typeface="Arial MT Pro"/>
                <a:ea typeface="Arial MT Pro"/>
                <a:cs typeface="Arial MT Pro"/>
                <a:sym typeface="Arial MT Pro"/>
              </a:rPr>
              <a:t>, with 5,074 incidents, far surpassing other categories such as Provoked attacks, Unknown incidents, and smaller numbers for Watercraft, Sea Disasters, and Questionable cases.</a:t>
            </a:r>
          </a:p>
          <a:p>
            <a:pPr marL="496571" lvl="1" indent="-248285" algn="just">
              <a:lnSpc>
                <a:spcPts val="3118"/>
              </a:lnSpc>
              <a:buFont typeface="Arial"/>
              <a:buChar char="•"/>
            </a:pPr>
            <a:r>
              <a:rPr lang="en-US" sz="2300">
                <a:solidFill>
                  <a:srgbClr val="000000"/>
                </a:solidFill>
                <a:latin typeface="Arial MT Pro"/>
                <a:ea typeface="Arial MT Pro"/>
                <a:cs typeface="Arial MT Pro"/>
                <a:sym typeface="Arial MT Pro"/>
              </a:rPr>
              <a:t>Since unprovoked attacks dominate,</a:t>
            </a:r>
            <a:r>
              <a:rPr lang="en-US" sz="2300" u="sng">
                <a:solidFill>
                  <a:srgbClr val="000000"/>
                </a:solidFill>
                <a:latin typeface="Arial MT Pro"/>
                <a:ea typeface="Arial MT Pro"/>
                <a:cs typeface="Arial MT Pro"/>
                <a:sym typeface="Arial MT Pro"/>
              </a:rPr>
              <a:t> public education could prioritize informing people about actions that inadvertently attract sharks</a:t>
            </a:r>
            <a:r>
              <a:rPr lang="en-US" sz="2300">
                <a:solidFill>
                  <a:srgbClr val="000000"/>
                </a:solidFill>
                <a:latin typeface="Arial MT Pro"/>
                <a:ea typeface="Arial MT Pro"/>
                <a:cs typeface="Arial MT Pro"/>
                <a:sym typeface="Arial MT Pro"/>
              </a:rPr>
              <a:t>, such as wearing shiny jewellery, splashing excessively, or entering the water with open wounds.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198896" y="469019"/>
            <a:ext cx="13890209" cy="559681"/>
          </a:xfrm>
          <a:prstGeom prst="rect">
            <a:avLst/>
          </a:prstGeom>
        </p:spPr>
        <p:txBody>
          <a:bodyPr lIns="0" tIns="0" rIns="0" bIns="0" rtlCol="0" anchor="t">
            <a:spAutoFit/>
          </a:bodyPr>
          <a:lstStyle/>
          <a:p>
            <a:pPr algn="ctr">
              <a:lnSpc>
                <a:spcPts val="4068"/>
              </a:lnSpc>
              <a:spcBef>
                <a:spcPct val="0"/>
              </a:spcBef>
            </a:pPr>
            <a:r>
              <a:rPr lang="en-US" sz="3000" b="1">
                <a:solidFill>
                  <a:srgbClr val="2B4865"/>
                </a:solidFill>
                <a:latin typeface="Arial MT Pro Bold"/>
                <a:ea typeface="Arial MT Pro Bold"/>
                <a:cs typeface="Arial MT Pro Bold"/>
                <a:sym typeface="Arial MT Pro Bold"/>
              </a:rPr>
              <a:t>Which human activities are most associated with provoked shark attacks?</a:t>
            </a:r>
          </a:p>
        </p:txBody>
      </p:sp>
      <p:pic>
        <p:nvPicPr>
          <p:cNvPr id="3" name="Picture 3"/>
          <p:cNvPicPr>
            <a:picLocks noChangeAspect="1"/>
          </p:cNvPicPr>
          <p:nvPr/>
        </p:nvPicPr>
        <p:blipFill>
          <a:blip r:embed="rId3"/>
          <a:stretch>
            <a:fillRect/>
          </a:stretch>
        </p:blipFill>
        <p:spPr>
          <a:xfrm>
            <a:off x="-131687" y="603748"/>
            <a:ext cx="13924643" cy="9814939"/>
          </a:xfrm>
          <a:prstGeom prst="rect">
            <a:avLst/>
          </a:prstGeom>
        </p:spPr>
      </p:pic>
      <p:sp>
        <p:nvSpPr>
          <p:cNvPr id="4" name="TextBox 4"/>
          <p:cNvSpPr txBox="1"/>
          <p:nvPr/>
        </p:nvSpPr>
        <p:spPr>
          <a:xfrm>
            <a:off x="12632569" y="2324076"/>
            <a:ext cx="4929073" cy="6288557"/>
          </a:xfrm>
          <a:prstGeom prst="rect">
            <a:avLst/>
          </a:prstGeom>
        </p:spPr>
        <p:txBody>
          <a:bodyPr lIns="0" tIns="0" rIns="0" bIns="0" rtlCol="0" anchor="t">
            <a:spAutoFit/>
          </a:bodyPr>
          <a:lstStyle/>
          <a:p>
            <a:pPr marL="496571" lvl="1" indent="-248285" algn="just">
              <a:lnSpc>
                <a:spcPts val="3118"/>
              </a:lnSpc>
              <a:buFont typeface="Arial"/>
              <a:buChar char="•"/>
            </a:pPr>
            <a:r>
              <a:rPr lang="en-US" sz="2300">
                <a:solidFill>
                  <a:srgbClr val="000000"/>
                </a:solidFill>
                <a:latin typeface="Arial MT Pro"/>
                <a:ea typeface="Arial MT Pro"/>
                <a:cs typeface="Arial MT Pro"/>
                <a:sym typeface="Arial MT Pro"/>
              </a:rPr>
              <a:t>The human activities most associated with provoked shark attacks often involve direct interactions with sharks</a:t>
            </a:r>
            <a:r>
              <a:rPr lang="en-US" sz="2300" u="none">
                <a:solidFill>
                  <a:srgbClr val="000000"/>
                </a:solidFill>
                <a:latin typeface="Arial MT Pro"/>
                <a:ea typeface="Arial MT Pro"/>
                <a:cs typeface="Arial MT Pro"/>
                <a:sym typeface="Arial MT Pro"/>
              </a:rPr>
              <a:t> </a:t>
            </a:r>
            <a:r>
              <a:rPr lang="en-US" sz="2300">
                <a:solidFill>
                  <a:srgbClr val="000000"/>
                </a:solidFill>
                <a:latin typeface="Arial MT Pro"/>
                <a:ea typeface="Arial MT Pro"/>
                <a:cs typeface="Arial MT Pro"/>
                <a:sym typeface="Arial MT Pro"/>
              </a:rPr>
              <a:t>or </a:t>
            </a:r>
            <a:r>
              <a:rPr lang="en-US" sz="2300" u="none">
                <a:solidFill>
                  <a:srgbClr val="000000"/>
                </a:solidFill>
                <a:latin typeface="Arial MT Pro"/>
                <a:ea typeface="Arial MT Pro"/>
                <a:cs typeface="Arial MT Pro"/>
                <a:sym typeface="Arial MT Pro"/>
              </a:rPr>
              <a:t>their environments.</a:t>
            </a:r>
            <a:r>
              <a:rPr lang="en-US" sz="2300" b="1" u="none">
                <a:solidFill>
                  <a:srgbClr val="000000"/>
                </a:solidFill>
                <a:latin typeface="Arial MT Pro Bold"/>
                <a:ea typeface="Arial MT Pro Bold"/>
                <a:cs typeface="Arial MT Pro Bold"/>
                <a:sym typeface="Arial MT Pro Bold"/>
              </a:rPr>
              <a:t> Fishing to</a:t>
            </a:r>
            <a:r>
              <a:rPr lang="en-US" sz="2300" b="1">
                <a:solidFill>
                  <a:srgbClr val="000000"/>
                </a:solidFill>
                <a:latin typeface="Arial MT Pro Bold"/>
                <a:ea typeface="Arial MT Pro Bold"/>
                <a:cs typeface="Arial MT Pro Bold"/>
                <a:sym typeface="Arial MT Pro Bold"/>
              </a:rPr>
              <a:t>ps th</a:t>
            </a:r>
            <a:r>
              <a:rPr lang="en-US" sz="2300" b="1" u="none">
                <a:solidFill>
                  <a:srgbClr val="000000"/>
                </a:solidFill>
                <a:latin typeface="Arial MT Pro Bold"/>
                <a:ea typeface="Arial MT Pro Bold"/>
                <a:cs typeface="Arial MT Pro Bold"/>
                <a:sym typeface="Arial MT Pro Bold"/>
              </a:rPr>
              <a:t>e list</a:t>
            </a:r>
            <a:r>
              <a:rPr lang="en-US" sz="2300" b="1">
                <a:solidFill>
                  <a:srgbClr val="000000"/>
                </a:solidFill>
                <a:latin typeface="Arial MT Pro Bold"/>
                <a:ea typeface="Arial MT Pro Bold"/>
                <a:cs typeface="Arial MT Pro Bold"/>
                <a:sym typeface="Arial MT Pro Bold"/>
              </a:rPr>
              <a:t> with 200 incidents</a:t>
            </a:r>
            <a:r>
              <a:rPr lang="en-US" sz="2300">
                <a:solidFill>
                  <a:srgbClr val="000000"/>
                </a:solidFill>
                <a:latin typeface="Arial MT Pro"/>
                <a:ea typeface="Arial MT Pro"/>
                <a:cs typeface="Arial MT Pro"/>
                <a:sym typeface="Arial MT Pro"/>
              </a:rPr>
              <a:t>, followed by Spearfishing with 55 incidents, and Shark fishing with 14 incidents. These activities can provoke sharks, </a:t>
            </a:r>
            <a:r>
              <a:rPr lang="en-US" sz="2300" u="sng">
                <a:solidFill>
                  <a:srgbClr val="000000"/>
                </a:solidFill>
                <a:latin typeface="Arial MT Pro"/>
                <a:ea typeface="Arial MT Pro"/>
                <a:cs typeface="Arial MT Pro"/>
                <a:sym typeface="Arial MT Pro"/>
              </a:rPr>
              <a:t>as they may feel threatened or attracted by bait or caught fish</a:t>
            </a:r>
            <a:r>
              <a:rPr lang="en-US" sz="2300">
                <a:solidFill>
                  <a:srgbClr val="000000"/>
                </a:solidFill>
                <a:latin typeface="Arial MT Pro"/>
                <a:ea typeface="Arial MT Pro"/>
                <a:cs typeface="Arial MT Pro"/>
                <a:sym typeface="Arial MT Pro"/>
              </a:rPr>
              <a:t>.</a:t>
            </a:r>
            <a:r>
              <a:rPr lang="en-US" sz="2300" u="none">
                <a:solidFill>
                  <a:srgbClr val="000000"/>
                </a:solidFill>
                <a:latin typeface="Arial MT Pro"/>
                <a:ea typeface="Arial MT Pro"/>
                <a:cs typeface="Arial MT Pro"/>
                <a:sym typeface="Arial MT Pro"/>
              </a:rPr>
              <a:t> </a:t>
            </a:r>
          </a:p>
          <a:p>
            <a:pPr marL="496571" lvl="1" indent="-248285" algn="just">
              <a:lnSpc>
                <a:spcPts val="3118"/>
              </a:lnSpc>
              <a:buFont typeface="Arial"/>
              <a:buChar char="•"/>
            </a:pPr>
            <a:r>
              <a:rPr lang="en-US" sz="2300">
                <a:solidFill>
                  <a:srgbClr val="000000"/>
                </a:solidFill>
                <a:latin typeface="Arial MT Pro"/>
                <a:ea typeface="Arial MT Pro"/>
                <a:cs typeface="Arial MT Pro"/>
                <a:sym typeface="Arial MT Pro"/>
              </a:rPr>
              <a:t>Othe</a:t>
            </a:r>
            <a:r>
              <a:rPr lang="en-US" sz="2300" u="none">
                <a:solidFill>
                  <a:srgbClr val="000000"/>
                </a:solidFill>
                <a:latin typeface="Arial MT Pro"/>
                <a:ea typeface="Arial MT Pro"/>
                <a:cs typeface="Arial MT Pro"/>
                <a:sym typeface="Arial MT Pro"/>
              </a:rPr>
              <a:t>r</a:t>
            </a:r>
            <a:r>
              <a:rPr lang="en-US" sz="2300">
                <a:solidFill>
                  <a:srgbClr val="000000"/>
                </a:solidFill>
                <a:latin typeface="Arial MT Pro"/>
                <a:ea typeface="Arial MT Pro"/>
                <a:cs typeface="Arial MT Pro"/>
                <a:sym typeface="Arial MT Pro"/>
              </a:rPr>
              <a:t> act</a:t>
            </a:r>
            <a:r>
              <a:rPr lang="en-US" sz="2300" u="none">
                <a:solidFill>
                  <a:srgbClr val="000000"/>
                </a:solidFill>
                <a:latin typeface="Arial MT Pro"/>
                <a:ea typeface="Arial MT Pro"/>
                <a:cs typeface="Arial MT Pro"/>
                <a:sym typeface="Arial MT Pro"/>
              </a:rPr>
              <a:t>i</a:t>
            </a:r>
            <a:r>
              <a:rPr lang="en-US" sz="2300">
                <a:solidFill>
                  <a:srgbClr val="000000"/>
                </a:solidFill>
                <a:latin typeface="Arial MT Pro"/>
                <a:ea typeface="Arial MT Pro"/>
                <a:cs typeface="Arial MT Pro"/>
                <a:sym typeface="Arial MT Pro"/>
              </a:rPr>
              <a:t>v</a:t>
            </a:r>
            <a:r>
              <a:rPr lang="en-US" sz="2300" u="none">
                <a:solidFill>
                  <a:srgbClr val="000000"/>
                </a:solidFill>
                <a:latin typeface="Arial MT Pro"/>
                <a:ea typeface="Arial MT Pro"/>
                <a:cs typeface="Arial MT Pro"/>
                <a:sym typeface="Arial MT Pro"/>
              </a:rPr>
              <a:t>iti</a:t>
            </a:r>
            <a:r>
              <a:rPr lang="en-US" sz="2300">
                <a:solidFill>
                  <a:srgbClr val="000000"/>
                </a:solidFill>
                <a:latin typeface="Arial MT Pro"/>
                <a:ea typeface="Arial MT Pro"/>
                <a:cs typeface="Arial MT Pro"/>
                <a:sym typeface="Arial MT Pro"/>
              </a:rPr>
              <a:t>es lik</a:t>
            </a:r>
            <a:r>
              <a:rPr lang="en-US" sz="2300" u="none">
                <a:solidFill>
                  <a:srgbClr val="000000"/>
                </a:solidFill>
                <a:latin typeface="Arial MT Pro"/>
                <a:ea typeface="Arial MT Pro"/>
                <a:cs typeface="Arial MT Pro"/>
                <a:sym typeface="Arial MT Pro"/>
              </a:rPr>
              <a:t>e </a:t>
            </a:r>
            <a:r>
              <a:rPr lang="en-US" sz="2300">
                <a:solidFill>
                  <a:srgbClr val="000000"/>
                </a:solidFill>
                <a:latin typeface="Arial MT Pro"/>
                <a:ea typeface="Arial MT Pro"/>
                <a:cs typeface="Arial MT Pro"/>
                <a:sym typeface="Arial MT Pro"/>
              </a:rPr>
              <a:t>Div</a:t>
            </a:r>
            <a:r>
              <a:rPr lang="en-US" sz="2300" u="none">
                <a:solidFill>
                  <a:srgbClr val="000000"/>
                </a:solidFill>
                <a:latin typeface="Arial MT Pro"/>
                <a:ea typeface="Arial MT Pro"/>
                <a:cs typeface="Arial MT Pro"/>
                <a:sym typeface="Arial MT Pro"/>
              </a:rPr>
              <a:t>in</a:t>
            </a:r>
            <a:r>
              <a:rPr lang="en-US" sz="2300">
                <a:solidFill>
                  <a:srgbClr val="000000"/>
                </a:solidFill>
                <a:latin typeface="Arial MT Pro"/>
                <a:ea typeface="Arial MT Pro"/>
                <a:cs typeface="Arial MT Pro"/>
                <a:sym typeface="Arial MT Pro"/>
              </a:rPr>
              <a:t>g, Sur</a:t>
            </a:r>
            <a:r>
              <a:rPr lang="en-US" sz="2300" u="none">
                <a:solidFill>
                  <a:srgbClr val="000000"/>
                </a:solidFill>
                <a:latin typeface="Arial MT Pro"/>
                <a:ea typeface="Arial MT Pro"/>
                <a:cs typeface="Arial MT Pro"/>
                <a:sym typeface="Arial MT Pro"/>
              </a:rPr>
              <a:t>fing</a:t>
            </a:r>
            <a:r>
              <a:rPr lang="en-US" sz="2300">
                <a:solidFill>
                  <a:srgbClr val="000000"/>
                </a:solidFill>
                <a:latin typeface="Arial MT Pro"/>
                <a:ea typeface="Arial MT Pro"/>
                <a:cs typeface="Arial MT Pro"/>
                <a:sym typeface="Arial MT Pro"/>
              </a:rPr>
              <a:t>,</a:t>
            </a:r>
            <a:r>
              <a:rPr lang="en-US" sz="2300" u="none">
                <a:solidFill>
                  <a:srgbClr val="000000"/>
                </a:solidFill>
                <a:latin typeface="Arial MT Pro"/>
                <a:ea typeface="Arial MT Pro"/>
                <a:cs typeface="Arial MT Pro"/>
                <a:sym typeface="Arial MT Pro"/>
              </a:rPr>
              <a:t> a</a:t>
            </a:r>
            <a:r>
              <a:rPr lang="en-US" sz="2300">
                <a:solidFill>
                  <a:srgbClr val="000000"/>
                </a:solidFill>
                <a:latin typeface="Arial MT Pro"/>
                <a:ea typeface="Arial MT Pro"/>
                <a:cs typeface="Arial MT Pro"/>
                <a:sym typeface="Arial MT Pro"/>
              </a:rPr>
              <a:t>nd</a:t>
            </a:r>
            <a:r>
              <a:rPr lang="en-US" sz="2300" u="none">
                <a:solidFill>
                  <a:srgbClr val="000000"/>
                </a:solidFill>
                <a:latin typeface="Arial MT Pro"/>
                <a:ea typeface="Arial MT Pro"/>
                <a:cs typeface="Arial MT Pro"/>
                <a:sym typeface="Arial MT Pro"/>
              </a:rPr>
              <a:t> </a:t>
            </a:r>
            <a:r>
              <a:rPr lang="en-US" sz="2300">
                <a:solidFill>
                  <a:srgbClr val="000000"/>
                </a:solidFill>
                <a:latin typeface="Arial MT Pro"/>
                <a:ea typeface="Arial MT Pro"/>
                <a:cs typeface="Arial MT Pro"/>
                <a:sym typeface="Arial MT Pro"/>
              </a:rPr>
              <a:t>Swimm</a:t>
            </a:r>
            <a:r>
              <a:rPr lang="en-US" sz="2300" u="none">
                <a:solidFill>
                  <a:srgbClr val="000000"/>
                </a:solidFill>
                <a:latin typeface="Arial MT Pro"/>
                <a:ea typeface="Arial MT Pro"/>
                <a:cs typeface="Arial MT Pro"/>
                <a:sym typeface="Arial MT Pro"/>
              </a:rPr>
              <a:t>in</a:t>
            </a:r>
            <a:r>
              <a:rPr lang="en-US" sz="2300">
                <a:solidFill>
                  <a:srgbClr val="000000"/>
                </a:solidFill>
                <a:latin typeface="Arial MT Pro"/>
                <a:ea typeface="Arial MT Pro"/>
                <a:cs typeface="Arial MT Pro"/>
                <a:sym typeface="Arial MT Pro"/>
              </a:rPr>
              <a:t>g</a:t>
            </a:r>
            <a:r>
              <a:rPr lang="en-US" sz="2300" u="none">
                <a:solidFill>
                  <a:srgbClr val="000000"/>
                </a:solidFill>
                <a:latin typeface="Arial MT Pro"/>
                <a:ea typeface="Arial MT Pro"/>
                <a:cs typeface="Arial MT Pro"/>
                <a:sym typeface="Arial MT Pro"/>
              </a:rPr>
              <a:t> a</a:t>
            </a:r>
            <a:r>
              <a:rPr lang="en-US" sz="2300">
                <a:solidFill>
                  <a:srgbClr val="000000"/>
                </a:solidFill>
                <a:latin typeface="Arial MT Pro"/>
                <a:ea typeface="Arial MT Pro"/>
                <a:cs typeface="Arial MT Pro"/>
                <a:sym typeface="Arial MT Pro"/>
              </a:rPr>
              <a:t>lso</a:t>
            </a:r>
            <a:r>
              <a:rPr lang="en-US" sz="2300" u="none">
                <a:solidFill>
                  <a:srgbClr val="000000"/>
                </a:solidFill>
                <a:latin typeface="Arial MT Pro"/>
                <a:ea typeface="Arial MT Pro"/>
                <a:cs typeface="Arial MT Pro"/>
                <a:sym typeface="Arial MT Pro"/>
              </a:rPr>
              <a:t> </a:t>
            </a:r>
            <a:r>
              <a:rPr lang="en-US" sz="2300">
                <a:solidFill>
                  <a:srgbClr val="000000"/>
                </a:solidFill>
                <a:latin typeface="Arial MT Pro"/>
                <a:ea typeface="Arial MT Pro"/>
                <a:cs typeface="Arial MT Pro"/>
                <a:sym typeface="Arial MT Pro"/>
              </a:rPr>
              <a:t>co</a:t>
            </a:r>
            <a:r>
              <a:rPr lang="en-US" sz="2300" u="none">
                <a:solidFill>
                  <a:srgbClr val="000000"/>
                </a:solidFill>
                <a:latin typeface="Arial MT Pro"/>
                <a:ea typeface="Arial MT Pro"/>
                <a:cs typeface="Arial MT Pro"/>
                <a:sym typeface="Arial MT Pro"/>
              </a:rPr>
              <a:t>n</a:t>
            </a:r>
            <a:r>
              <a:rPr lang="en-US" sz="2300">
                <a:solidFill>
                  <a:srgbClr val="000000"/>
                </a:solidFill>
                <a:latin typeface="Arial MT Pro"/>
                <a:ea typeface="Arial MT Pro"/>
                <a:cs typeface="Arial MT Pro"/>
                <a:sym typeface="Arial MT Pro"/>
              </a:rPr>
              <a:t>t</a:t>
            </a:r>
            <a:r>
              <a:rPr lang="en-US" sz="2300" u="none">
                <a:solidFill>
                  <a:srgbClr val="000000"/>
                </a:solidFill>
                <a:latin typeface="Arial MT Pro"/>
                <a:ea typeface="Arial MT Pro"/>
                <a:cs typeface="Arial MT Pro"/>
                <a:sym typeface="Arial MT Pro"/>
              </a:rPr>
              <a:t>r</a:t>
            </a:r>
            <a:r>
              <a:rPr lang="en-US" sz="2300">
                <a:solidFill>
                  <a:srgbClr val="000000"/>
                </a:solidFill>
                <a:latin typeface="Arial MT Pro"/>
                <a:ea typeface="Arial MT Pro"/>
                <a:cs typeface="Arial MT Pro"/>
                <a:sym typeface="Arial MT Pro"/>
              </a:rPr>
              <a:t>ibu</a:t>
            </a:r>
            <a:r>
              <a:rPr lang="en-US" sz="2300" u="none">
                <a:solidFill>
                  <a:srgbClr val="000000"/>
                </a:solidFill>
                <a:latin typeface="Arial MT Pro"/>
                <a:ea typeface="Arial MT Pro"/>
                <a:cs typeface="Arial MT Pro"/>
                <a:sym typeface="Arial MT Pro"/>
              </a:rPr>
              <a:t>te</a:t>
            </a:r>
            <a:r>
              <a:rPr lang="en-US" sz="2300">
                <a:solidFill>
                  <a:srgbClr val="000000"/>
                </a:solidFill>
                <a:latin typeface="Arial MT Pro"/>
                <a:ea typeface="Arial MT Pro"/>
                <a:cs typeface="Arial MT Pro"/>
                <a:sym typeface="Arial MT Pro"/>
              </a:rPr>
              <a:t> </a:t>
            </a:r>
            <a:r>
              <a:rPr lang="en-US" sz="2300" u="none">
                <a:solidFill>
                  <a:srgbClr val="000000"/>
                </a:solidFill>
                <a:latin typeface="Arial MT Pro"/>
                <a:ea typeface="Arial MT Pro"/>
                <a:cs typeface="Arial MT Pro"/>
                <a:sym typeface="Arial MT Pro"/>
              </a:rPr>
              <a:t>t</a:t>
            </a:r>
            <a:r>
              <a:rPr lang="en-US" sz="2300">
                <a:solidFill>
                  <a:srgbClr val="000000"/>
                </a:solidFill>
                <a:latin typeface="Arial MT Pro"/>
                <a:ea typeface="Arial MT Pro"/>
                <a:cs typeface="Arial MT Pro"/>
                <a:sym typeface="Arial MT Pro"/>
              </a:rPr>
              <a:t>o provoked</a:t>
            </a:r>
            <a:r>
              <a:rPr lang="en-US" sz="2300" u="none">
                <a:solidFill>
                  <a:srgbClr val="000000"/>
                </a:solidFill>
                <a:latin typeface="Arial MT Pro"/>
                <a:ea typeface="Arial MT Pro"/>
                <a:cs typeface="Arial MT Pro"/>
                <a:sym typeface="Arial MT Pro"/>
              </a:rPr>
              <a:t> attacks</a:t>
            </a:r>
            <a:r>
              <a:rPr lang="en-US" sz="2300">
                <a:solidFill>
                  <a:srgbClr val="000000"/>
                </a:solidFill>
                <a:latin typeface="Arial MT Pro"/>
                <a:ea typeface="Arial MT Pro"/>
                <a:cs typeface="Arial MT Pro"/>
                <a:sym typeface="Arial MT Pro"/>
              </a:rPr>
              <a:t>, though to a </a:t>
            </a:r>
            <a:r>
              <a:rPr lang="en-US" sz="2300" u="sng">
                <a:solidFill>
                  <a:srgbClr val="000000"/>
                </a:solidFill>
                <a:latin typeface="Arial MT Pro"/>
                <a:ea typeface="Arial MT Pro"/>
                <a:cs typeface="Arial MT Pro"/>
                <a:sym typeface="Arial MT Pro"/>
              </a:rPr>
              <a:t>lesser extent</a:t>
            </a:r>
            <a:r>
              <a:rPr lang="en-US" sz="2300">
                <a:solidFill>
                  <a:srgbClr val="000000"/>
                </a:solidFill>
                <a:latin typeface="Arial MT Pro"/>
                <a:ea typeface="Arial MT Pro"/>
                <a:cs typeface="Arial MT Pro"/>
                <a:sym typeface="Arial MT Pro"/>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472946"/>
            <a:ext cx="16230600" cy="6288557"/>
          </a:xfrm>
          <a:prstGeom prst="rect">
            <a:avLst/>
          </a:prstGeom>
        </p:spPr>
        <p:txBody>
          <a:bodyPr lIns="0" tIns="0" rIns="0" bIns="0" rtlCol="0" anchor="t">
            <a:spAutoFit/>
          </a:bodyPr>
          <a:lstStyle/>
          <a:p>
            <a:pPr algn="just">
              <a:lnSpc>
                <a:spcPts val="3118"/>
              </a:lnSpc>
            </a:pPr>
            <a:r>
              <a:rPr lang="en-US" sz="2300" b="1">
                <a:solidFill>
                  <a:srgbClr val="8064A2"/>
                </a:solidFill>
                <a:latin typeface="Arial MT Pro Bold"/>
                <a:ea typeface="Arial MT Pro Bold"/>
                <a:cs typeface="Arial MT Pro Bold"/>
                <a:sym typeface="Arial MT Pro Bold"/>
              </a:rPr>
              <a:t>Goal</a:t>
            </a:r>
            <a:r>
              <a:rPr lang="en-US" sz="2300">
                <a:solidFill>
                  <a:srgbClr val="000000"/>
                </a:solidFill>
                <a:latin typeface="Arial MT Pro"/>
                <a:ea typeface="Arial MT Pro"/>
                <a:cs typeface="Arial MT Pro"/>
                <a:sym typeface="Arial MT Pro"/>
              </a:rPr>
              <a:t>:</a:t>
            </a:r>
            <a:r>
              <a:rPr lang="en-US" sz="2300" b="1">
                <a:solidFill>
                  <a:srgbClr val="000000"/>
                </a:solidFill>
                <a:latin typeface="Arial MT Pro Bold"/>
                <a:ea typeface="Arial MT Pro Bold"/>
                <a:cs typeface="Arial MT Pro Bold"/>
                <a:sym typeface="Arial MT Pro Bold"/>
              </a:rPr>
              <a:t> Predict the type of shark attack</a:t>
            </a:r>
            <a:r>
              <a:rPr lang="en-US" sz="2300">
                <a:solidFill>
                  <a:srgbClr val="000000"/>
                </a:solidFill>
                <a:latin typeface="Arial MT Pro"/>
                <a:ea typeface="Arial MT Pro"/>
                <a:cs typeface="Arial MT Pro"/>
                <a:sym typeface="Arial MT Pro"/>
              </a:rPr>
              <a:t> (e.g., Unprovoked, Provoked, Unknown, Watercraft, Sea Disaster, Questionable)</a:t>
            </a:r>
            <a:r>
              <a:rPr lang="en-US" sz="2300" u="sng">
                <a:solidFill>
                  <a:srgbClr val="000000"/>
                </a:solidFill>
                <a:latin typeface="Arial MT Pro"/>
                <a:ea typeface="Arial MT Pro"/>
                <a:cs typeface="Arial MT Pro"/>
                <a:sym typeface="Arial MT Pro"/>
              </a:rPr>
              <a:t> based on features such as location, activity, fatality, gender, and more.</a:t>
            </a:r>
            <a:r>
              <a:rPr lang="en-US" sz="2300">
                <a:solidFill>
                  <a:srgbClr val="000000"/>
                </a:solidFill>
                <a:latin typeface="Arial MT Pro"/>
                <a:ea typeface="Arial MT Pro"/>
                <a:cs typeface="Arial MT Pro"/>
                <a:sym typeface="Arial MT Pro"/>
              </a:rPr>
              <a:t> This supports lifeguard preparedness, safety communication, and data-driven policy making by helping authorities understand what kind of incidents are likely under given conditions.</a:t>
            </a:r>
          </a:p>
          <a:p>
            <a:pPr algn="just">
              <a:lnSpc>
                <a:spcPts val="3118"/>
              </a:lnSpc>
            </a:pPr>
            <a:endParaRPr lang="en-US" sz="2300">
              <a:solidFill>
                <a:srgbClr val="000000"/>
              </a:solidFill>
              <a:latin typeface="Arial MT Pro"/>
              <a:ea typeface="Arial MT Pro"/>
              <a:cs typeface="Arial MT Pro"/>
              <a:sym typeface="Arial MT Pro"/>
            </a:endParaRPr>
          </a:p>
          <a:p>
            <a:pPr algn="just">
              <a:lnSpc>
                <a:spcPts val="3118"/>
              </a:lnSpc>
            </a:pPr>
            <a:r>
              <a:rPr lang="en-US" sz="2300" b="1">
                <a:solidFill>
                  <a:srgbClr val="8064A2"/>
                </a:solidFill>
                <a:latin typeface="Arial MT Pro Bold"/>
                <a:ea typeface="Arial MT Pro Bold"/>
                <a:cs typeface="Arial MT Pro Bold"/>
                <a:sym typeface="Arial MT Pro Bold"/>
              </a:rPr>
              <a:t>Preparation:</a:t>
            </a:r>
          </a:p>
          <a:p>
            <a:pPr marL="496571" lvl="1" indent="-248285" algn="just">
              <a:lnSpc>
                <a:spcPts val="3118"/>
              </a:lnSpc>
              <a:buAutoNum type="arabicPeriod"/>
            </a:pPr>
            <a:r>
              <a:rPr lang="en-US" sz="2300" b="1">
                <a:solidFill>
                  <a:srgbClr val="000000"/>
                </a:solidFill>
                <a:latin typeface="Arial MT Pro Bold"/>
                <a:ea typeface="Arial MT Pro Bold"/>
                <a:cs typeface="Arial MT Pro Bold"/>
                <a:sym typeface="Arial MT Pro Bold"/>
              </a:rPr>
              <a:t>Calculates the area u</a:t>
            </a:r>
            <a:r>
              <a:rPr lang="en-US" sz="2300" b="1" u="none">
                <a:solidFill>
                  <a:srgbClr val="000000"/>
                </a:solidFill>
                <a:latin typeface="Arial MT Pro Bold"/>
                <a:ea typeface="Arial MT Pro Bold"/>
                <a:cs typeface="Arial MT Pro Bold"/>
                <a:sym typeface="Arial MT Pro Bold"/>
              </a:rPr>
              <a:t>nder</a:t>
            </a:r>
            <a:r>
              <a:rPr lang="en-US" sz="2300" b="1">
                <a:solidFill>
                  <a:srgbClr val="000000"/>
                </a:solidFill>
                <a:latin typeface="Arial MT Pro Bold"/>
                <a:ea typeface="Arial MT Pro Bold"/>
                <a:cs typeface="Arial MT Pro Bold"/>
                <a:sym typeface="Arial MT Pro Bold"/>
              </a:rPr>
              <a:t> the Precision-Recall curv</a:t>
            </a:r>
            <a:r>
              <a:rPr lang="en-US" sz="2300" b="1" u="none">
                <a:solidFill>
                  <a:srgbClr val="000000"/>
                </a:solidFill>
                <a:latin typeface="Arial MT Pro Bold"/>
                <a:ea typeface="Arial MT Pro Bold"/>
                <a:cs typeface="Arial MT Pro Bold"/>
                <a:sym typeface="Arial MT Pro Bold"/>
              </a:rPr>
              <a:t>e</a:t>
            </a:r>
            <a:r>
              <a:rPr lang="en-US" sz="2300" u="none">
                <a:solidFill>
                  <a:srgbClr val="000000"/>
                </a:solidFill>
                <a:latin typeface="Arial MT Pro"/>
                <a:ea typeface="Arial MT Pro"/>
                <a:cs typeface="Arial MT Pro"/>
                <a:sym typeface="Arial MT Pro"/>
              </a:rPr>
              <a:t> to asse</a:t>
            </a:r>
            <a:r>
              <a:rPr lang="en-US" sz="2300">
                <a:solidFill>
                  <a:srgbClr val="000000"/>
                </a:solidFill>
                <a:latin typeface="Arial MT Pro"/>
                <a:ea typeface="Arial MT Pro"/>
                <a:cs typeface="Arial MT Pro"/>
                <a:sym typeface="Arial MT Pro"/>
              </a:rPr>
              <a:t>ss m</a:t>
            </a:r>
            <a:r>
              <a:rPr lang="en-US" sz="2300" u="none">
                <a:solidFill>
                  <a:srgbClr val="000000"/>
                </a:solidFill>
                <a:latin typeface="Arial MT Pro"/>
                <a:ea typeface="Arial MT Pro"/>
                <a:cs typeface="Arial MT Pro"/>
                <a:sym typeface="Arial MT Pro"/>
              </a:rPr>
              <a:t>ode</a:t>
            </a:r>
            <a:r>
              <a:rPr lang="en-US" sz="2300">
                <a:solidFill>
                  <a:srgbClr val="000000"/>
                </a:solidFill>
                <a:latin typeface="Arial MT Pro"/>
                <a:ea typeface="Arial MT Pro"/>
                <a:cs typeface="Arial MT Pro"/>
                <a:sym typeface="Arial MT Pro"/>
              </a:rPr>
              <a:t>l pe</a:t>
            </a:r>
            <a:r>
              <a:rPr lang="en-US" sz="2300" u="none">
                <a:solidFill>
                  <a:srgbClr val="000000"/>
                </a:solidFill>
                <a:latin typeface="Arial MT Pro"/>
                <a:ea typeface="Arial MT Pro"/>
                <a:cs typeface="Arial MT Pro"/>
                <a:sym typeface="Arial MT Pro"/>
              </a:rPr>
              <a:t>r</a:t>
            </a:r>
            <a:r>
              <a:rPr lang="en-US" sz="2300">
                <a:solidFill>
                  <a:srgbClr val="000000"/>
                </a:solidFill>
                <a:latin typeface="Arial MT Pro"/>
                <a:ea typeface="Arial MT Pro"/>
                <a:cs typeface="Arial MT Pro"/>
                <a:sym typeface="Arial MT Pro"/>
              </a:rPr>
              <a:t>formance on imbalanced dat</a:t>
            </a:r>
            <a:r>
              <a:rPr lang="en-US" sz="2300" u="none">
                <a:solidFill>
                  <a:srgbClr val="000000"/>
                </a:solidFill>
                <a:latin typeface="Arial MT Pro"/>
                <a:ea typeface="Arial MT Pro"/>
                <a:cs typeface="Arial MT Pro"/>
                <a:sym typeface="Arial MT Pro"/>
              </a:rPr>
              <a:t>a</a:t>
            </a:r>
            <a:r>
              <a:rPr lang="en-US" sz="2300">
                <a:solidFill>
                  <a:srgbClr val="000000"/>
                </a:solidFill>
                <a:latin typeface="Arial MT Pro"/>
                <a:ea typeface="Arial MT Pro"/>
                <a:cs typeface="Arial MT Pro"/>
                <a:sym typeface="Arial MT Pro"/>
              </a:rPr>
              <a:t>.</a:t>
            </a:r>
          </a:p>
          <a:p>
            <a:pPr marL="496571" lvl="1" indent="-248285" algn="just">
              <a:lnSpc>
                <a:spcPts val="3118"/>
              </a:lnSpc>
              <a:buAutoNum type="arabicPeriod"/>
            </a:pPr>
            <a:r>
              <a:rPr lang="en-US" sz="2300" b="1">
                <a:solidFill>
                  <a:srgbClr val="000000"/>
                </a:solidFill>
                <a:latin typeface="Arial MT Pro Bold"/>
                <a:ea typeface="Arial MT Pro Bold"/>
                <a:cs typeface="Arial MT Pro Bold"/>
                <a:sym typeface="Arial MT Pro Bold"/>
              </a:rPr>
              <a:t>Applies feature scaling </a:t>
            </a:r>
            <a:r>
              <a:rPr lang="en-US" sz="2300">
                <a:solidFill>
                  <a:srgbClr val="000000"/>
                </a:solidFill>
                <a:latin typeface="Arial MT Pro"/>
                <a:ea typeface="Arial MT Pro"/>
                <a:cs typeface="Arial MT Pro"/>
                <a:sym typeface="Arial MT Pro"/>
              </a:rPr>
              <a:t>to numerical features and one-hot encoding to categorical ones.</a:t>
            </a:r>
          </a:p>
          <a:p>
            <a:pPr marL="496571" lvl="1" indent="-248285" algn="just">
              <a:lnSpc>
                <a:spcPts val="3118"/>
              </a:lnSpc>
              <a:buAutoNum type="arabicPeriod"/>
            </a:pPr>
            <a:r>
              <a:rPr lang="en-US" sz="2300" b="1">
                <a:solidFill>
                  <a:srgbClr val="000000"/>
                </a:solidFill>
                <a:latin typeface="Arial MT Pro Bold"/>
                <a:ea typeface="Arial MT Pro Bold"/>
                <a:cs typeface="Arial MT Pro Bold"/>
                <a:sym typeface="Arial MT Pro Bold"/>
              </a:rPr>
              <a:t>Divides the data into training and testing sets (80/20) </a:t>
            </a:r>
            <a:r>
              <a:rPr lang="en-US" sz="2300">
                <a:solidFill>
                  <a:srgbClr val="000000"/>
                </a:solidFill>
                <a:latin typeface="Arial MT Pro"/>
                <a:ea typeface="Arial MT Pro"/>
                <a:cs typeface="Arial MT Pro"/>
                <a:sym typeface="Arial MT Pro"/>
              </a:rPr>
              <a:t>to evaluate model performance.</a:t>
            </a:r>
          </a:p>
          <a:p>
            <a:pPr marL="496571" lvl="1" indent="-248285" algn="just">
              <a:lnSpc>
                <a:spcPts val="3118"/>
              </a:lnSpc>
              <a:buAutoNum type="arabicPeriod"/>
            </a:pPr>
            <a:r>
              <a:rPr lang="en-US" sz="2300" b="1">
                <a:solidFill>
                  <a:srgbClr val="000000"/>
                </a:solidFill>
                <a:latin typeface="Arial MT Pro Bold"/>
                <a:ea typeface="Arial MT Pro Bold"/>
                <a:cs typeface="Arial MT Pro Bold"/>
                <a:sym typeface="Arial MT Pro Bold"/>
              </a:rPr>
              <a:t>Defines four bas</a:t>
            </a:r>
            <a:r>
              <a:rPr lang="en-US" sz="2300" b="1" u="none">
                <a:solidFill>
                  <a:srgbClr val="000000"/>
                </a:solidFill>
                <a:latin typeface="Arial MT Pro Bold"/>
                <a:ea typeface="Arial MT Pro Bold"/>
                <a:cs typeface="Arial MT Pro Bold"/>
                <a:sym typeface="Arial MT Pro Bold"/>
              </a:rPr>
              <a:t>e</a:t>
            </a:r>
            <a:r>
              <a:rPr lang="en-US" sz="2300" b="1">
                <a:solidFill>
                  <a:srgbClr val="000000"/>
                </a:solidFill>
                <a:latin typeface="Arial MT Pro Bold"/>
                <a:ea typeface="Arial MT Pro Bold"/>
                <a:cs typeface="Arial MT Pro Bold"/>
                <a:sym typeface="Arial MT Pro Bold"/>
              </a:rPr>
              <a:t> </a:t>
            </a:r>
            <a:r>
              <a:rPr lang="en-US" sz="2300" b="1" u="none">
                <a:solidFill>
                  <a:srgbClr val="000000"/>
                </a:solidFill>
                <a:latin typeface="Arial MT Pro Bold"/>
                <a:ea typeface="Arial MT Pro Bold"/>
                <a:cs typeface="Arial MT Pro Bold"/>
                <a:sym typeface="Arial MT Pro Bold"/>
              </a:rPr>
              <a:t>classifi</a:t>
            </a:r>
            <a:r>
              <a:rPr lang="en-US" sz="2300" b="1">
                <a:solidFill>
                  <a:srgbClr val="000000"/>
                </a:solidFill>
                <a:latin typeface="Arial MT Pro Bold"/>
                <a:ea typeface="Arial MT Pro Bold"/>
                <a:cs typeface="Arial MT Pro Bold"/>
                <a:sym typeface="Arial MT Pro Bold"/>
              </a:rPr>
              <a:t>ers:</a:t>
            </a:r>
            <a:r>
              <a:rPr lang="en-US" sz="2300">
                <a:solidFill>
                  <a:srgbClr val="000000"/>
                </a:solidFill>
                <a:latin typeface="Arial MT Pro"/>
                <a:ea typeface="Arial MT Pro"/>
                <a:cs typeface="Arial MT Pro"/>
                <a:sym typeface="Arial MT Pro"/>
              </a:rPr>
              <a:t> Logis</a:t>
            </a:r>
            <a:r>
              <a:rPr lang="en-US" sz="2300" u="none">
                <a:solidFill>
                  <a:srgbClr val="000000"/>
                </a:solidFill>
                <a:latin typeface="Arial MT Pro"/>
                <a:ea typeface="Arial MT Pro"/>
                <a:cs typeface="Arial MT Pro"/>
                <a:sym typeface="Arial MT Pro"/>
              </a:rPr>
              <a:t>ti</a:t>
            </a:r>
            <a:r>
              <a:rPr lang="en-US" sz="2300">
                <a:solidFill>
                  <a:srgbClr val="000000"/>
                </a:solidFill>
                <a:latin typeface="Arial MT Pro"/>
                <a:ea typeface="Arial MT Pro"/>
                <a:cs typeface="Arial MT Pro"/>
                <a:sym typeface="Arial MT Pro"/>
              </a:rPr>
              <a:t>c</a:t>
            </a:r>
            <a:r>
              <a:rPr lang="en-US" sz="2300" u="none">
                <a:solidFill>
                  <a:srgbClr val="000000"/>
                </a:solidFill>
                <a:latin typeface="Arial MT Pro"/>
                <a:ea typeface="Arial MT Pro"/>
                <a:cs typeface="Arial MT Pro"/>
                <a:sym typeface="Arial MT Pro"/>
              </a:rPr>
              <a:t> </a:t>
            </a:r>
            <a:r>
              <a:rPr lang="en-US" sz="2300">
                <a:solidFill>
                  <a:srgbClr val="000000"/>
                </a:solidFill>
                <a:latin typeface="Arial MT Pro"/>
                <a:ea typeface="Arial MT Pro"/>
                <a:cs typeface="Arial MT Pro"/>
                <a:sym typeface="Arial MT Pro"/>
              </a:rPr>
              <a:t>R</a:t>
            </a:r>
            <a:r>
              <a:rPr lang="en-US" sz="2300" u="none">
                <a:solidFill>
                  <a:srgbClr val="000000"/>
                </a:solidFill>
                <a:latin typeface="Arial MT Pro"/>
                <a:ea typeface="Arial MT Pro"/>
                <a:cs typeface="Arial MT Pro"/>
                <a:sym typeface="Arial MT Pro"/>
              </a:rPr>
              <a:t>e</a:t>
            </a:r>
            <a:r>
              <a:rPr lang="en-US" sz="2300">
                <a:solidFill>
                  <a:srgbClr val="000000"/>
                </a:solidFill>
                <a:latin typeface="Arial MT Pro"/>
                <a:ea typeface="Arial MT Pro"/>
                <a:cs typeface="Arial MT Pro"/>
                <a:sym typeface="Arial MT Pro"/>
              </a:rPr>
              <a:t>g</a:t>
            </a:r>
            <a:r>
              <a:rPr lang="en-US" sz="2300" u="none">
                <a:solidFill>
                  <a:srgbClr val="000000"/>
                </a:solidFill>
                <a:latin typeface="Arial MT Pro"/>
                <a:ea typeface="Arial MT Pro"/>
                <a:cs typeface="Arial MT Pro"/>
                <a:sym typeface="Arial MT Pro"/>
              </a:rPr>
              <a:t>r</a:t>
            </a:r>
            <a:r>
              <a:rPr lang="en-US" sz="2300">
                <a:solidFill>
                  <a:srgbClr val="000000"/>
                </a:solidFill>
                <a:latin typeface="Arial MT Pro"/>
                <a:ea typeface="Arial MT Pro"/>
                <a:cs typeface="Arial MT Pro"/>
                <a:sym typeface="Arial MT Pro"/>
              </a:rPr>
              <a:t>e</a:t>
            </a:r>
            <a:r>
              <a:rPr lang="en-US" sz="2300" u="none">
                <a:solidFill>
                  <a:srgbClr val="000000"/>
                </a:solidFill>
                <a:latin typeface="Arial MT Pro"/>
                <a:ea typeface="Arial MT Pro"/>
                <a:cs typeface="Arial MT Pro"/>
                <a:sym typeface="Arial MT Pro"/>
              </a:rPr>
              <a:t>s</a:t>
            </a:r>
            <a:r>
              <a:rPr lang="en-US" sz="2300">
                <a:solidFill>
                  <a:srgbClr val="000000"/>
                </a:solidFill>
                <a:latin typeface="Arial MT Pro"/>
                <a:ea typeface="Arial MT Pro"/>
                <a:cs typeface="Arial MT Pro"/>
                <a:sym typeface="Arial MT Pro"/>
              </a:rPr>
              <a:t>sion</a:t>
            </a:r>
            <a:r>
              <a:rPr lang="en-US" sz="2300" u="none">
                <a:solidFill>
                  <a:srgbClr val="000000"/>
                </a:solidFill>
                <a:latin typeface="Arial MT Pro"/>
                <a:ea typeface="Arial MT Pro"/>
                <a:cs typeface="Arial MT Pro"/>
                <a:sym typeface="Arial MT Pro"/>
              </a:rPr>
              <a:t>, </a:t>
            </a:r>
            <a:r>
              <a:rPr lang="en-US" sz="2300">
                <a:solidFill>
                  <a:srgbClr val="000000"/>
                </a:solidFill>
                <a:latin typeface="Arial MT Pro"/>
                <a:ea typeface="Arial MT Pro"/>
                <a:cs typeface="Arial MT Pro"/>
                <a:sym typeface="Arial MT Pro"/>
              </a:rPr>
              <a:t>De</a:t>
            </a:r>
            <a:r>
              <a:rPr lang="en-US" sz="2300" u="none">
                <a:solidFill>
                  <a:srgbClr val="000000"/>
                </a:solidFill>
                <a:latin typeface="Arial MT Pro"/>
                <a:ea typeface="Arial MT Pro"/>
                <a:cs typeface="Arial MT Pro"/>
                <a:sym typeface="Arial MT Pro"/>
              </a:rPr>
              <a:t>c</a:t>
            </a:r>
            <a:r>
              <a:rPr lang="en-US" sz="2300">
                <a:solidFill>
                  <a:srgbClr val="000000"/>
                </a:solidFill>
                <a:latin typeface="Arial MT Pro"/>
                <a:ea typeface="Arial MT Pro"/>
                <a:cs typeface="Arial MT Pro"/>
                <a:sym typeface="Arial MT Pro"/>
              </a:rPr>
              <a:t>i</a:t>
            </a:r>
            <a:r>
              <a:rPr lang="en-US" sz="2300" u="none">
                <a:solidFill>
                  <a:srgbClr val="000000"/>
                </a:solidFill>
                <a:latin typeface="Arial MT Pro"/>
                <a:ea typeface="Arial MT Pro"/>
                <a:cs typeface="Arial MT Pro"/>
                <a:sym typeface="Arial MT Pro"/>
              </a:rPr>
              <a:t>sion </a:t>
            </a:r>
            <a:r>
              <a:rPr lang="en-US" sz="2300">
                <a:solidFill>
                  <a:srgbClr val="000000"/>
                </a:solidFill>
                <a:latin typeface="Arial MT Pro"/>
                <a:ea typeface="Arial MT Pro"/>
                <a:cs typeface="Arial MT Pro"/>
                <a:sym typeface="Arial MT Pro"/>
              </a:rPr>
              <a:t>T</a:t>
            </a:r>
            <a:r>
              <a:rPr lang="en-US" sz="2300" u="none">
                <a:solidFill>
                  <a:srgbClr val="000000"/>
                </a:solidFill>
                <a:latin typeface="Arial MT Pro"/>
                <a:ea typeface="Arial MT Pro"/>
                <a:cs typeface="Arial MT Pro"/>
                <a:sym typeface="Arial MT Pro"/>
              </a:rPr>
              <a:t>r</a:t>
            </a:r>
            <a:r>
              <a:rPr lang="en-US" sz="2300">
                <a:solidFill>
                  <a:srgbClr val="000000"/>
                </a:solidFill>
                <a:latin typeface="Arial MT Pro"/>
                <a:ea typeface="Arial MT Pro"/>
                <a:cs typeface="Arial MT Pro"/>
                <a:sym typeface="Arial MT Pro"/>
              </a:rPr>
              <a:t>ee</a:t>
            </a:r>
            <a:r>
              <a:rPr lang="en-US" sz="2300" u="none">
                <a:solidFill>
                  <a:srgbClr val="000000"/>
                </a:solidFill>
                <a:latin typeface="Arial MT Pro"/>
                <a:ea typeface="Arial MT Pro"/>
                <a:cs typeface="Arial MT Pro"/>
                <a:sym typeface="Arial MT Pro"/>
              </a:rPr>
              <a:t>, R</a:t>
            </a:r>
            <a:r>
              <a:rPr lang="en-US" sz="2300">
                <a:solidFill>
                  <a:srgbClr val="000000"/>
                </a:solidFill>
                <a:latin typeface="Arial MT Pro"/>
                <a:ea typeface="Arial MT Pro"/>
                <a:cs typeface="Arial MT Pro"/>
                <a:sym typeface="Arial MT Pro"/>
              </a:rPr>
              <a:t>andom</a:t>
            </a:r>
            <a:r>
              <a:rPr lang="en-US" sz="2300" u="none">
                <a:solidFill>
                  <a:srgbClr val="000000"/>
                </a:solidFill>
                <a:latin typeface="Arial MT Pro"/>
                <a:ea typeface="Arial MT Pro"/>
                <a:cs typeface="Arial MT Pro"/>
                <a:sym typeface="Arial MT Pro"/>
              </a:rPr>
              <a:t> </a:t>
            </a:r>
            <a:r>
              <a:rPr lang="en-US" sz="2300">
                <a:solidFill>
                  <a:srgbClr val="000000"/>
                </a:solidFill>
                <a:latin typeface="Arial MT Pro"/>
                <a:ea typeface="Arial MT Pro"/>
                <a:cs typeface="Arial MT Pro"/>
                <a:sym typeface="Arial MT Pro"/>
              </a:rPr>
              <a:t>Forest</a:t>
            </a:r>
            <a:r>
              <a:rPr lang="en-US" sz="2300" u="none">
                <a:solidFill>
                  <a:srgbClr val="000000"/>
                </a:solidFill>
                <a:latin typeface="Arial MT Pro"/>
                <a:ea typeface="Arial MT Pro"/>
                <a:cs typeface="Arial MT Pro"/>
                <a:sym typeface="Arial MT Pro"/>
              </a:rPr>
              <a:t>, and </a:t>
            </a:r>
            <a:r>
              <a:rPr lang="en-US" sz="2300">
                <a:solidFill>
                  <a:srgbClr val="000000"/>
                </a:solidFill>
                <a:latin typeface="Arial MT Pro"/>
                <a:ea typeface="Arial MT Pro"/>
                <a:cs typeface="Arial MT Pro"/>
                <a:sym typeface="Arial MT Pro"/>
              </a:rPr>
              <a:t>SVM, with built-in class</a:t>
            </a:r>
            <a:r>
              <a:rPr lang="en-US" sz="2300" u="none">
                <a:solidFill>
                  <a:srgbClr val="000000"/>
                </a:solidFill>
                <a:latin typeface="Arial MT Pro"/>
                <a:ea typeface="Arial MT Pro"/>
                <a:cs typeface="Arial MT Pro"/>
                <a:sym typeface="Arial MT Pro"/>
              </a:rPr>
              <a:t> </a:t>
            </a:r>
            <a:r>
              <a:rPr lang="en-US" sz="2300">
                <a:solidFill>
                  <a:srgbClr val="000000"/>
                </a:solidFill>
                <a:latin typeface="Arial MT Pro"/>
                <a:ea typeface="Arial MT Pro"/>
                <a:cs typeface="Arial MT Pro"/>
                <a:sym typeface="Arial MT Pro"/>
              </a:rPr>
              <a:t>balancing</a:t>
            </a:r>
            <a:r>
              <a:rPr lang="en-US" sz="2300" u="none">
                <a:solidFill>
                  <a:srgbClr val="000000"/>
                </a:solidFill>
                <a:latin typeface="Arial MT Pro"/>
                <a:ea typeface="Arial MT Pro"/>
                <a:cs typeface="Arial MT Pro"/>
                <a:sym typeface="Arial MT Pro"/>
              </a:rPr>
              <a:t>.</a:t>
            </a:r>
          </a:p>
          <a:p>
            <a:pPr marL="496571" lvl="1" indent="-248285" algn="just">
              <a:lnSpc>
                <a:spcPts val="3118"/>
              </a:lnSpc>
              <a:buAutoNum type="arabicPeriod"/>
            </a:pPr>
            <a:r>
              <a:rPr lang="en-US" sz="2300" b="1" u="none">
                <a:solidFill>
                  <a:srgbClr val="000000"/>
                </a:solidFill>
                <a:latin typeface="Arial MT Pro Bold"/>
                <a:ea typeface="Arial MT Pro Bold"/>
                <a:cs typeface="Arial MT Pro Bold"/>
                <a:sym typeface="Arial MT Pro Bold"/>
              </a:rPr>
              <a:t>Inc</a:t>
            </a:r>
            <a:r>
              <a:rPr lang="en-US" sz="2300" b="1">
                <a:solidFill>
                  <a:srgbClr val="000000"/>
                </a:solidFill>
                <a:latin typeface="Arial MT Pro Bold"/>
                <a:ea typeface="Arial MT Pro Bold"/>
                <a:cs typeface="Arial MT Pro Bold"/>
                <a:sym typeface="Arial MT Pro Bold"/>
              </a:rPr>
              <a:t>ludes resampling techn</a:t>
            </a:r>
            <a:r>
              <a:rPr lang="en-US" sz="2300" b="1" u="none">
                <a:solidFill>
                  <a:srgbClr val="000000"/>
                </a:solidFill>
                <a:latin typeface="Arial MT Pro Bold"/>
                <a:ea typeface="Arial MT Pro Bold"/>
                <a:cs typeface="Arial MT Pro Bold"/>
                <a:sym typeface="Arial MT Pro Bold"/>
              </a:rPr>
              <a:t>iques</a:t>
            </a:r>
            <a:r>
              <a:rPr lang="en-US" sz="2300" u="none">
                <a:solidFill>
                  <a:srgbClr val="000000"/>
                </a:solidFill>
                <a:latin typeface="Arial MT Pro"/>
                <a:ea typeface="Arial MT Pro"/>
                <a:cs typeface="Arial MT Pro"/>
                <a:sym typeface="Arial MT Pro"/>
              </a:rPr>
              <a:t> like </a:t>
            </a:r>
            <a:r>
              <a:rPr lang="en-US" sz="2300">
                <a:solidFill>
                  <a:srgbClr val="000000"/>
                </a:solidFill>
                <a:latin typeface="Arial MT Pro"/>
                <a:ea typeface="Arial MT Pro"/>
                <a:cs typeface="Arial MT Pro"/>
                <a:sym typeface="Arial MT Pro"/>
              </a:rPr>
              <a:t>SMOTE, ADASYN, Oversampling, U</a:t>
            </a:r>
            <a:r>
              <a:rPr lang="en-US" sz="2300" u="none">
                <a:solidFill>
                  <a:srgbClr val="000000"/>
                </a:solidFill>
                <a:latin typeface="Arial MT Pro"/>
                <a:ea typeface="Arial MT Pro"/>
                <a:cs typeface="Arial MT Pro"/>
                <a:sym typeface="Arial MT Pro"/>
              </a:rPr>
              <a:t>n</a:t>
            </a:r>
            <a:r>
              <a:rPr lang="en-US" sz="2300">
                <a:solidFill>
                  <a:srgbClr val="000000"/>
                </a:solidFill>
                <a:latin typeface="Arial MT Pro"/>
                <a:ea typeface="Arial MT Pro"/>
                <a:cs typeface="Arial MT Pro"/>
                <a:sym typeface="Arial MT Pro"/>
              </a:rPr>
              <a:t>de</a:t>
            </a:r>
            <a:r>
              <a:rPr lang="en-US" sz="2300" u="none">
                <a:solidFill>
                  <a:srgbClr val="000000"/>
                </a:solidFill>
                <a:latin typeface="Arial MT Pro"/>
                <a:ea typeface="Arial MT Pro"/>
                <a:cs typeface="Arial MT Pro"/>
                <a:sym typeface="Arial MT Pro"/>
              </a:rPr>
              <a:t>r</a:t>
            </a:r>
            <a:r>
              <a:rPr lang="en-US" sz="2300">
                <a:solidFill>
                  <a:srgbClr val="000000"/>
                </a:solidFill>
                <a:latin typeface="Arial MT Pro"/>
                <a:ea typeface="Arial MT Pro"/>
                <a:cs typeface="Arial MT Pro"/>
                <a:sym typeface="Arial MT Pro"/>
              </a:rPr>
              <a:t>sa</a:t>
            </a:r>
            <a:r>
              <a:rPr lang="en-US" sz="2300" u="none">
                <a:solidFill>
                  <a:srgbClr val="000000"/>
                </a:solidFill>
                <a:latin typeface="Arial MT Pro"/>
                <a:ea typeface="Arial MT Pro"/>
                <a:cs typeface="Arial MT Pro"/>
                <a:sym typeface="Arial MT Pro"/>
              </a:rPr>
              <a:t>m</a:t>
            </a:r>
            <a:r>
              <a:rPr lang="en-US" sz="2300">
                <a:solidFill>
                  <a:srgbClr val="000000"/>
                </a:solidFill>
                <a:latin typeface="Arial MT Pro"/>
                <a:ea typeface="Arial MT Pro"/>
                <a:cs typeface="Arial MT Pro"/>
                <a:sym typeface="Arial MT Pro"/>
              </a:rPr>
              <a:t>pl</a:t>
            </a:r>
            <a:r>
              <a:rPr lang="en-US" sz="2300" u="none">
                <a:solidFill>
                  <a:srgbClr val="000000"/>
                </a:solidFill>
                <a:latin typeface="Arial MT Pro"/>
                <a:ea typeface="Arial MT Pro"/>
                <a:cs typeface="Arial MT Pro"/>
                <a:sym typeface="Arial MT Pro"/>
              </a:rPr>
              <a:t>ing, and Tomek Links </a:t>
            </a:r>
            <a:r>
              <a:rPr lang="en-US" sz="2300">
                <a:solidFill>
                  <a:srgbClr val="000000"/>
                </a:solidFill>
                <a:latin typeface="Arial MT Pro"/>
                <a:ea typeface="Arial MT Pro"/>
                <a:cs typeface="Arial MT Pro"/>
                <a:sym typeface="Arial MT Pro"/>
              </a:rPr>
              <a:t>t</a:t>
            </a:r>
            <a:r>
              <a:rPr lang="en-US" sz="2300" u="none">
                <a:solidFill>
                  <a:srgbClr val="000000"/>
                </a:solidFill>
                <a:latin typeface="Arial MT Pro"/>
                <a:ea typeface="Arial MT Pro"/>
                <a:cs typeface="Arial MT Pro"/>
                <a:sym typeface="Arial MT Pro"/>
              </a:rPr>
              <a:t>o</a:t>
            </a:r>
            <a:r>
              <a:rPr lang="en-US" sz="2300">
                <a:solidFill>
                  <a:srgbClr val="000000"/>
                </a:solidFill>
                <a:latin typeface="Arial MT Pro"/>
                <a:ea typeface="Arial MT Pro"/>
                <a:cs typeface="Arial MT Pro"/>
                <a:sym typeface="Arial MT Pro"/>
              </a:rPr>
              <a:t> addr</a:t>
            </a:r>
            <a:r>
              <a:rPr lang="en-US" sz="2300" u="none">
                <a:solidFill>
                  <a:srgbClr val="000000"/>
                </a:solidFill>
                <a:latin typeface="Arial MT Pro"/>
                <a:ea typeface="Arial MT Pro"/>
                <a:cs typeface="Arial MT Pro"/>
                <a:sym typeface="Arial MT Pro"/>
              </a:rPr>
              <a:t>ess </a:t>
            </a:r>
            <a:r>
              <a:rPr lang="en-US" sz="2300">
                <a:solidFill>
                  <a:srgbClr val="000000"/>
                </a:solidFill>
                <a:latin typeface="Arial MT Pro"/>
                <a:ea typeface="Arial MT Pro"/>
                <a:cs typeface="Arial MT Pro"/>
                <a:sym typeface="Arial MT Pro"/>
              </a:rPr>
              <a:t>cl</a:t>
            </a:r>
            <a:r>
              <a:rPr lang="en-US" sz="2300" u="none">
                <a:solidFill>
                  <a:srgbClr val="000000"/>
                </a:solidFill>
                <a:latin typeface="Arial MT Pro"/>
                <a:ea typeface="Arial MT Pro"/>
                <a:cs typeface="Arial MT Pro"/>
                <a:sym typeface="Arial MT Pro"/>
              </a:rPr>
              <a:t>a</a:t>
            </a:r>
            <a:r>
              <a:rPr lang="en-US" sz="2300">
                <a:solidFill>
                  <a:srgbClr val="000000"/>
                </a:solidFill>
                <a:latin typeface="Arial MT Pro"/>
                <a:ea typeface="Arial MT Pro"/>
                <a:cs typeface="Arial MT Pro"/>
                <a:sym typeface="Arial MT Pro"/>
              </a:rPr>
              <a:t>ss im</a:t>
            </a:r>
            <a:r>
              <a:rPr lang="en-US" sz="2300" u="none">
                <a:solidFill>
                  <a:srgbClr val="000000"/>
                </a:solidFill>
                <a:latin typeface="Arial MT Pro"/>
                <a:ea typeface="Arial MT Pro"/>
                <a:cs typeface="Arial MT Pro"/>
                <a:sym typeface="Arial MT Pro"/>
              </a:rPr>
              <a:t>b</a:t>
            </a:r>
            <a:r>
              <a:rPr lang="en-US" sz="2300">
                <a:solidFill>
                  <a:srgbClr val="000000"/>
                </a:solidFill>
                <a:latin typeface="Arial MT Pro"/>
                <a:ea typeface="Arial MT Pro"/>
                <a:cs typeface="Arial MT Pro"/>
                <a:sym typeface="Arial MT Pro"/>
              </a:rPr>
              <a:t>al</a:t>
            </a:r>
            <a:r>
              <a:rPr lang="en-US" sz="2300" u="none">
                <a:solidFill>
                  <a:srgbClr val="000000"/>
                </a:solidFill>
                <a:latin typeface="Arial MT Pro"/>
                <a:ea typeface="Arial MT Pro"/>
                <a:cs typeface="Arial MT Pro"/>
                <a:sym typeface="Arial MT Pro"/>
              </a:rPr>
              <a:t>a</a:t>
            </a:r>
            <a:r>
              <a:rPr lang="en-US" sz="2300">
                <a:solidFill>
                  <a:srgbClr val="000000"/>
                </a:solidFill>
                <a:latin typeface="Arial MT Pro"/>
                <a:ea typeface="Arial MT Pro"/>
                <a:cs typeface="Arial MT Pro"/>
                <a:sym typeface="Arial MT Pro"/>
              </a:rPr>
              <a:t>n</a:t>
            </a:r>
            <a:r>
              <a:rPr lang="en-US" sz="2300" u="none">
                <a:solidFill>
                  <a:srgbClr val="000000"/>
                </a:solidFill>
                <a:latin typeface="Arial MT Pro"/>
                <a:ea typeface="Arial MT Pro"/>
                <a:cs typeface="Arial MT Pro"/>
                <a:sym typeface="Arial MT Pro"/>
              </a:rPr>
              <a:t>c</a:t>
            </a:r>
            <a:r>
              <a:rPr lang="en-US" sz="2300">
                <a:solidFill>
                  <a:srgbClr val="000000"/>
                </a:solidFill>
                <a:latin typeface="Arial MT Pro"/>
                <a:ea typeface="Arial MT Pro"/>
                <a:cs typeface="Arial MT Pro"/>
                <a:sym typeface="Arial MT Pro"/>
              </a:rPr>
              <a:t>e.</a:t>
            </a:r>
          </a:p>
          <a:p>
            <a:pPr marL="496571" lvl="1" indent="-248285" algn="just">
              <a:lnSpc>
                <a:spcPts val="3118"/>
              </a:lnSpc>
              <a:buAutoNum type="arabicPeriod"/>
            </a:pPr>
            <a:r>
              <a:rPr lang="en-US" sz="2300">
                <a:solidFill>
                  <a:srgbClr val="000000"/>
                </a:solidFill>
                <a:latin typeface="Arial MT Pro"/>
                <a:ea typeface="Arial MT Pro"/>
                <a:cs typeface="Arial MT Pro"/>
                <a:sym typeface="Arial MT Pro"/>
              </a:rPr>
              <a:t>For </a:t>
            </a:r>
            <a:r>
              <a:rPr lang="en-US" sz="2300" u="none">
                <a:solidFill>
                  <a:srgbClr val="000000"/>
                </a:solidFill>
                <a:latin typeface="Arial MT Pro"/>
                <a:ea typeface="Arial MT Pro"/>
                <a:cs typeface="Arial MT Pro"/>
                <a:sym typeface="Arial MT Pro"/>
              </a:rPr>
              <a:t>each resa</a:t>
            </a:r>
            <a:r>
              <a:rPr lang="en-US" sz="2300">
                <a:solidFill>
                  <a:srgbClr val="000000"/>
                </a:solidFill>
                <a:latin typeface="Arial MT Pro"/>
                <a:ea typeface="Arial MT Pro"/>
                <a:cs typeface="Arial MT Pro"/>
                <a:sym typeface="Arial MT Pro"/>
              </a:rPr>
              <a:t>mpling me</a:t>
            </a:r>
            <a:r>
              <a:rPr lang="en-US" sz="2300" u="none">
                <a:solidFill>
                  <a:srgbClr val="000000"/>
                </a:solidFill>
                <a:latin typeface="Arial MT Pro"/>
                <a:ea typeface="Arial MT Pro"/>
                <a:cs typeface="Arial MT Pro"/>
                <a:sym typeface="Arial MT Pro"/>
              </a:rPr>
              <a:t>thod, </a:t>
            </a:r>
            <a:r>
              <a:rPr lang="en-US" sz="2300" b="1" u="none">
                <a:solidFill>
                  <a:srgbClr val="000000"/>
                </a:solidFill>
                <a:latin typeface="Arial MT Pro Bold"/>
                <a:ea typeface="Arial MT Pro Bold"/>
                <a:cs typeface="Arial MT Pro Bold"/>
                <a:sym typeface="Arial MT Pro Bold"/>
              </a:rPr>
              <a:t>resample</a:t>
            </a:r>
            <a:r>
              <a:rPr lang="en-US" sz="2300" b="1">
                <a:solidFill>
                  <a:srgbClr val="000000"/>
                </a:solidFill>
                <a:latin typeface="Arial MT Pro Bold"/>
                <a:ea typeface="Arial MT Pro Bold"/>
                <a:cs typeface="Arial MT Pro Bold"/>
                <a:sym typeface="Arial MT Pro Bold"/>
              </a:rPr>
              <a:t>s the training </a:t>
            </a:r>
            <a:r>
              <a:rPr lang="en-US" sz="2300" b="1" u="none">
                <a:solidFill>
                  <a:srgbClr val="000000"/>
                </a:solidFill>
                <a:latin typeface="Arial MT Pro Bold"/>
                <a:ea typeface="Arial MT Pro Bold"/>
                <a:cs typeface="Arial MT Pro Bold"/>
                <a:sym typeface="Arial MT Pro Bold"/>
              </a:rPr>
              <a:t>da</a:t>
            </a:r>
            <a:r>
              <a:rPr lang="en-US" sz="2300" b="1">
                <a:solidFill>
                  <a:srgbClr val="000000"/>
                </a:solidFill>
                <a:latin typeface="Arial MT Pro Bold"/>
                <a:ea typeface="Arial MT Pro Bold"/>
                <a:cs typeface="Arial MT Pro Bold"/>
                <a:sym typeface="Arial MT Pro Bold"/>
              </a:rPr>
              <a:t>ta</a:t>
            </a:r>
            <a:r>
              <a:rPr lang="en-US" sz="2300">
                <a:solidFill>
                  <a:srgbClr val="000000"/>
                </a:solidFill>
                <a:latin typeface="Arial MT Pro"/>
                <a:ea typeface="Arial MT Pro"/>
                <a:cs typeface="Arial MT Pro"/>
                <a:sym typeface="Arial MT Pro"/>
              </a:rPr>
              <a:t>, trains all models, and makes predictions on the test set.</a:t>
            </a:r>
          </a:p>
          <a:p>
            <a:pPr marL="496571" lvl="1" indent="-248285" algn="just">
              <a:lnSpc>
                <a:spcPts val="3118"/>
              </a:lnSpc>
              <a:buAutoNum type="arabicPeriod"/>
            </a:pPr>
            <a:r>
              <a:rPr lang="en-US" sz="2300">
                <a:solidFill>
                  <a:srgbClr val="000000"/>
                </a:solidFill>
                <a:latin typeface="Arial MT Pro"/>
                <a:ea typeface="Arial MT Pro"/>
                <a:cs typeface="Arial MT Pro"/>
                <a:sym typeface="Arial MT Pro"/>
              </a:rPr>
              <a:t>Prints confusion matrices, classification reports, accuracy, ROC AUC, and PR AUC scores </a:t>
            </a:r>
            <a:r>
              <a:rPr lang="en-US" sz="2300" b="1">
                <a:solidFill>
                  <a:srgbClr val="000000"/>
                </a:solidFill>
                <a:latin typeface="Arial MT Pro Bold"/>
                <a:ea typeface="Arial MT Pro Bold"/>
                <a:cs typeface="Arial MT Pro Bold"/>
                <a:sym typeface="Arial MT Pro Bold"/>
              </a:rPr>
              <a:t>for comprehensive model comparison.</a:t>
            </a:r>
          </a:p>
        </p:txBody>
      </p:sp>
      <p:sp>
        <p:nvSpPr>
          <p:cNvPr id="3" name="Freeform 3"/>
          <p:cNvSpPr/>
          <p:nvPr/>
        </p:nvSpPr>
        <p:spPr>
          <a:xfrm>
            <a:off x="2234638" y="8196970"/>
            <a:ext cx="7522914" cy="1704419"/>
          </a:xfrm>
          <a:custGeom>
            <a:avLst/>
            <a:gdLst/>
            <a:ahLst/>
            <a:cxnLst/>
            <a:rect l="l" t="t" r="r" b="b"/>
            <a:pathLst>
              <a:path w="7522914" h="1704419">
                <a:moveTo>
                  <a:pt x="0" y="0"/>
                </a:moveTo>
                <a:lnTo>
                  <a:pt x="7522913" y="0"/>
                </a:lnTo>
                <a:lnTo>
                  <a:pt x="7522913" y="1704419"/>
                </a:lnTo>
                <a:lnTo>
                  <a:pt x="0" y="1704419"/>
                </a:lnTo>
                <a:lnTo>
                  <a:pt x="0" y="0"/>
                </a:lnTo>
                <a:close/>
              </a:path>
            </a:pathLst>
          </a:custGeom>
          <a:blipFill>
            <a:blip r:embed="rId3"/>
            <a:stretch>
              <a:fillRect r="-6618"/>
            </a:stretch>
          </a:blipFill>
        </p:spPr>
      </p:sp>
      <p:sp>
        <p:nvSpPr>
          <p:cNvPr id="4" name="Freeform 4"/>
          <p:cNvSpPr/>
          <p:nvPr/>
        </p:nvSpPr>
        <p:spPr>
          <a:xfrm>
            <a:off x="10976227" y="8196970"/>
            <a:ext cx="5744533" cy="1704419"/>
          </a:xfrm>
          <a:custGeom>
            <a:avLst/>
            <a:gdLst/>
            <a:ahLst/>
            <a:cxnLst/>
            <a:rect l="l" t="t" r="r" b="b"/>
            <a:pathLst>
              <a:path w="5744533" h="1704419">
                <a:moveTo>
                  <a:pt x="0" y="0"/>
                </a:moveTo>
                <a:lnTo>
                  <a:pt x="5744533" y="0"/>
                </a:lnTo>
                <a:lnTo>
                  <a:pt x="5744533" y="1704419"/>
                </a:lnTo>
                <a:lnTo>
                  <a:pt x="0" y="1704419"/>
                </a:lnTo>
                <a:lnTo>
                  <a:pt x="0" y="0"/>
                </a:lnTo>
                <a:close/>
              </a:path>
            </a:pathLst>
          </a:custGeom>
          <a:blipFill>
            <a:blip r:embed="rId4"/>
            <a:stretch>
              <a:fillRect r="-17506"/>
            </a:stretch>
          </a:blipFill>
        </p:spPr>
      </p:sp>
      <p:sp>
        <p:nvSpPr>
          <p:cNvPr id="5" name="TextBox 5"/>
          <p:cNvSpPr txBox="1"/>
          <p:nvPr/>
        </p:nvSpPr>
        <p:spPr>
          <a:xfrm>
            <a:off x="1028700" y="648043"/>
            <a:ext cx="13890209" cy="637489"/>
          </a:xfrm>
          <a:prstGeom prst="rect">
            <a:avLst/>
          </a:prstGeom>
        </p:spPr>
        <p:txBody>
          <a:bodyPr lIns="0" tIns="0" rIns="0" bIns="0" rtlCol="0" anchor="t">
            <a:spAutoFit/>
          </a:bodyPr>
          <a:lstStyle/>
          <a:p>
            <a:pPr algn="l">
              <a:lnSpc>
                <a:spcPts val="4610"/>
              </a:lnSpc>
              <a:spcBef>
                <a:spcPct val="0"/>
              </a:spcBef>
            </a:pPr>
            <a:r>
              <a:rPr lang="en-US" sz="3399" b="1">
                <a:solidFill>
                  <a:srgbClr val="2B4865"/>
                </a:solidFill>
                <a:latin typeface="Arial MT Pro Bold"/>
                <a:ea typeface="Arial MT Pro Bold"/>
                <a:cs typeface="Arial MT Pro Bold"/>
                <a:sym typeface="Arial MT Pro Bold"/>
              </a:rPr>
              <a:t>Classification Modelling</a:t>
            </a:r>
          </a:p>
        </p:txBody>
      </p:sp>
      <p:sp>
        <p:nvSpPr>
          <p:cNvPr id="6" name="TextBox 6"/>
          <p:cNvSpPr txBox="1"/>
          <p:nvPr/>
        </p:nvSpPr>
        <p:spPr>
          <a:xfrm>
            <a:off x="11570136" y="7627279"/>
            <a:ext cx="4556714" cy="430682"/>
          </a:xfrm>
          <a:prstGeom prst="rect">
            <a:avLst/>
          </a:prstGeom>
        </p:spPr>
        <p:txBody>
          <a:bodyPr lIns="0" tIns="0" rIns="0" bIns="0" rtlCol="0" anchor="t">
            <a:spAutoFit/>
          </a:bodyPr>
          <a:lstStyle/>
          <a:p>
            <a:pPr algn="ctr">
              <a:lnSpc>
                <a:spcPts val="3118"/>
              </a:lnSpc>
            </a:pPr>
            <a:r>
              <a:rPr lang="en-US" sz="2300" i="1">
                <a:solidFill>
                  <a:srgbClr val="E89197"/>
                </a:solidFill>
                <a:latin typeface="Arial MT Pro Italics"/>
                <a:ea typeface="Arial MT Pro Italics"/>
                <a:cs typeface="Arial MT Pro Italics"/>
                <a:sym typeface="Arial MT Pro Italics"/>
              </a:rPr>
              <a:t># Defining resampling methods</a:t>
            </a:r>
          </a:p>
        </p:txBody>
      </p:sp>
      <p:sp>
        <p:nvSpPr>
          <p:cNvPr id="7" name="TextBox 7"/>
          <p:cNvSpPr txBox="1"/>
          <p:nvPr/>
        </p:nvSpPr>
        <p:spPr>
          <a:xfrm>
            <a:off x="4757183" y="7627279"/>
            <a:ext cx="2477823" cy="430682"/>
          </a:xfrm>
          <a:prstGeom prst="rect">
            <a:avLst/>
          </a:prstGeom>
        </p:spPr>
        <p:txBody>
          <a:bodyPr lIns="0" tIns="0" rIns="0" bIns="0" rtlCol="0" anchor="t">
            <a:spAutoFit/>
          </a:bodyPr>
          <a:lstStyle/>
          <a:p>
            <a:pPr algn="just">
              <a:lnSpc>
                <a:spcPts val="3118"/>
              </a:lnSpc>
            </a:pPr>
            <a:r>
              <a:rPr lang="en-US" sz="2300" i="1">
                <a:solidFill>
                  <a:srgbClr val="E89197"/>
                </a:solidFill>
                <a:latin typeface="Arial MT Pro Italics"/>
                <a:ea typeface="Arial MT Pro Italics"/>
                <a:cs typeface="Arial MT Pro Italics"/>
                <a:sym typeface="Arial MT Pro Italics"/>
              </a:rPr>
              <a:t># Defining Models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482471"/>
            <a:ext cx="16230600" cy="8413623"/>
          </a:xfrm>
          <a:prstGeom prst="rect">
            <a:avLst/>
          </a:prstGeom>
        </p:spPr>
        <p:txBody>
          <a:bodyPr lIns="0" tIns="0" rIns="0" bIns="0" rtlCol="0" anchor="t">
            <a:spAutoFit/>
          </a:bodyPr>
          <a:lstStyle/>
          <a:p>
            <a:pPr algn="just">
              <a:lnSpc>
                <a:spcPts val="3051"/>
              </a:lnSpc>
            </a:pPr>
            <a:r>
              <a:rPr lang="en-US" sz="2250">
                <a:solidFill>
                  <a:srgbClr val="000000"/>
                </a:solidFill>
                <a:latin typeface="Arial MT Pro"/>
                <a:ea typeface="Arial MT Pro"/>
                <a:cs typeface="Arial MT Pro"/>
                <a:sym typeface="Arial MT Pro"/>
              </a:rPr>
              <a:t>After reviewing</a:t>
            </a:r>
            <a:r>
              <a:rPr lang="en-US" sz="2250" u="none">
                <a:solidFill>
                  <a:srgbClr val="000000"/>
                </a:solidFill>
                <a:latin typeface="Arial MT Pro"/>
                <a:ea typeface="Arial MT Pro"/>
                <a:cs typeface="Arial MT Pro"/>
                <a:sym typeface="Arial MT Pro"/>
              </a:rPr>
              <a:t> th</a:t>
            </a:r>
            <a:r>
              <a:rPr lang="en-US" sz="2250">
                <a:solidFill>
                  <a:srgbClr val="000000"/>
                </a:solidFill>
                <a:latin typeface="Arial MT Pro"/>
                <a:ea typeface="Arial MT Pro"/>
                <a:cs typeface="Arial MT Pro"/>
                <a:sym typeface="Arial MT Pro"/>
              </a:rPr>
              <a:t>e</a:t>
            </a:r>
            <a:r>
              <a:rPr lang="en-US" sz="2250" u="none">
                <a:solidFill>
                  <a:srgbClr val="000000"/>
                </a:solidFill>
                <a:latin typeface="Arial MT Pro"/>
                <a:ea typeface="Arial MT Pro"/>
                <a:cs typeface="Arial MT Pro"/>
                <a:sym typeface="Arial MT Pro"/>
              </a:rPr>
              <a:t> cla</a:t>
            </a:r>
            <a:r>
              <a:rPr lang="en-US" sz="2250">
                <a:solidFill>
                  <a:srgbClr val="000000"/>
                </a:solidFill>
                <a:latin typeface="Arial MT Pro"/>
                <a:ea typeface="Arial MT Pro"/>
                <a:cs typeface="Arial MT Pro"/>
                <a:sym typeface="Arial MT Pro"/>
              </a:rPr>
              <a:t>ssification results acr</a:t>
            </a:r>
            <a:r>
              <a:rPr lang="en-US" sz="2250" u="none">
                <a:solidFill>
                  <a:srgbClr val="000000"/>
                </a:solidFill>
                <a:latin typeface="Arial MT Pro"/>
                <a:ea typeface="Arial MT Pro"/>
                <a:cs typeface="Arial MT Pro"/>
                <a:sym typeface="Arial MT Pro"/>
              </a:rPr>
              <a:t>o</a:t>
            </a:r>
            <a:r>
              <a:rPr lang="en-US" sz="2250">
                <a:solidFill>
                  <a:srgbClr val="000000"/>
                </a:solidFill>
                <a:latin typeface="Arial MT Pro"/>
                <a:ea typeface="Arial MT Pro"/>
                <a:cs typeface="Arial MT Pro"/>
                <a:sym typeface="Arial MT Pro"/>
              </a:rPr>
              <a:t>ss all resampling methods, the b</a:t>
            </a:r>
            <a:r>
              <a:rPr lang="en-US" sz="2250" u="none">
                <a:solidFill>
                  <a:srgbClr val="000000"/>
                </a:solidFill>
                <a:latin typeface="Arial MT Pro"/>
                <a:ea typeface="Arial MT Pro"/>
                <a:cs typeface="Arial MT Pro"/>
                <a:sym typeface="Arial MT Pro"/>
              </a:rPr>
              <a:t>e</a:t>
            </a:r>
            <a:r>
              <a:rPr lang="en-US" sz="2250">
                <a:solidFill>
                  <a:srgbClr val="000000"/>
                </a:solidFill>
                <a:latin typeface="Arial MT Pro"/>
                <a:ea typeface="Arial MT Pro"/>
                <a:cs typeface="Arial MT Pro"/>
                <a:sym typeface="Arial MT Pro"/>
              </a:rPr>
              <a:t>s</a:t>
            </a:r>
            <a:r>
              <a:rPr lang="en-US" sz="2250" u="none">
                <a:solidFill>
                  <a:srgbClr val="000000"/>
                </a:solidFill>
                <a:latin typeface="Arial MT Pro"/>
                <a:ea typeface="Arial MT Pro"/>
                <a:cs typeface="Arial MT Pro"/>
                <a:sym typeface="Arial MT Pro"/>
              </a:rPr>
              <a:t>t </a:t>
            </a:r>
            <a:r>
              <a:rPr lang="en-US" sz="2250">
                <a:solidFill>
                  <a:srgbClr val="000000"/>
                </a:solidFill>
                <a:latin typeface="Arial MT Pro"/>
                <a:ea typeface="Arial MT Pro"/>
                <a:cs typeface="Arial MT Pro"/>
                <a:sym typeface="Arial MT Pro"/>
              </a:rPr>
              <a:t>and</a:t>
            </a:r>
            <a:r>
              <a:rPr lang="en-US" sz="2250" u="none">
                <a:solidFill>
                  <a:srgbClr val="000000"/>
                </a:solidFill>
                <a:latin typeface="Arial MT Pro"/>
                <a:ea typeface="Arial MT Pro"/>
                <a:cs typeface="Arial MT Pro"/>
                <a:sym typeface="Arial MT Pro"/>
              </a:rPr>
              <a:t> m</a:t>
            </a:r>
            <a:r>
              <a:rPr lang="en-US" sz="2250">
                <a:solidFill>
                  <a:srgbClr val="000000"/>
                </a:solidFill>
                <a:latin typeface="Arial MT Pro"/>
                <a:ea typeface="Arial MT Pro"/>
                <a:cs typeface="Arial MT Pro"/>
                <a:sym typeface="Arial MT Pro"/>
              </a:rPr>
              <a:t>ost</a:t>
            </a:r>
            <a:r>
              <a:rPr lang="en-US" sz="2250" u="none">
                <a:solidFill>
                  <a:srgbClr val="000000"/>
                </a:solidFill>
                <a:latin typeface="Arial MT Pro"/>
                <a:ea typeface="Arial MT Pro"/>
                <a:cs typeface="Arial MT Pro"/>
                <a:sym typeface="Arial MT Pro"/>
              </a:rPr>
              <a:t> a</a:t>
            </a:r>
            <a:r>
              <a:rPr lang="en-US" sz="2250">
                <a:solidFill>
                  <a:srgbClr val="000000"/>
                </a:solidFill>
                <a:latin typeface="Arial MT Pro"/>
                <a:ea typeface="Arial MT Pro"/>
                <a:cs typeface="Arial MT Pro"/>
                <a:sym typeface="Arial MT Pro"/>
              </a:rPr>
              <a:t>pp</a:t>
            </a:r>
            <a:r>
              <a:rPr lang="en-US" sz="2250" u="none">
                <a:solidFill>
                  <a:srgbClr val="000000"/>
                </a:solidFill>
                <a:latin typeface="Arial MT Pro"/>
                <a:ea typeface="Arial MT Pro"/>
                <a:cs typeface="Arial MT Pro"/>
                <a:sym typeface="Arial MT Pro"/>
              </a:rPr>
              <a:t>ro</a:t>
            </a:r>
            <a:r>
              <a:rPr lang="en-US" sz="2250">
                <a:solidFill>
                  <a:srgbClr val="000000"/>
                </a:solidFill>
                <a:latin typeface="Arial MT Pro"/>
                <a:ea typeface="Arial MT Pro"/>
                <a:cs typeface="Arial MT Pro"/>
                <a:sym typeface="Arial MT Pro"/>
              </a:rPr>
              <a:t>pr</a:t>
            </a:r>
            <a:r>
              <a:rPr lang="en-US" sz="2250" u="none">
                <a:solidFill>
                  <a:srgbClr val="000000"/>
                </a:solidFill>
                <a:latin typeface="Arial MT Pro"/>
                <a:ea typeface="Arial MT Pro"/>
                <a:cs typeface="Arial MT Pro"/>
                <a:sym typeface="Arial MT Pro"/>
              </a:rPr>
              <a:t>ia</a:t>
            </a:r>
            <a:r>
              <a:rPr lang="en-US" sz="2250">
                <a:solidFill>
                  <a:srgbClr val="000000"/>
                </a:solidFill>
                <a:latin typeface="Arial MT Pro"/>
                <a:ea typeface="Arial MT Pro"/>
                <a:cs typeface="Arial MT Pro"/>
                <a:sym typeface="Arial MT Pro"/>
              </a:rPr>
              <a:t>t</a:t>
            </a:r>
            <a:r>
              <a:rPr lang="en-US" sz="2250" u="none">
                <a:solidFill>
                  <a:srgbClr val="000000"/>
                </a:solidFill>
                <a:latin typeface="Arial MT Pro"/>
                <a:ea typeface="Arial MT Pro"/>
                <a:cs typeface="Arial MT Pro"/>
                <a:sym typeface="Arial MT Pro"/>
              </a:rPr>
              <a:t>e resa</a:t>
            </a:r>
            <a:r>
              <a:rPr lang="en-US" sz="2250">
                <a:solidFill>
                  <a:srgbClr val="000000"/>
                </a:solidFill>
                <a:latin typeface="Arial MT Pro"/>
                <a:ea typeface="Arial MT Pro"/>
                <a:cs typeface="Arial MT Pro"/>
                <a:sym typeface="Arial MT Pro"/>
              </a:rPr>
              <a:t>mpling me</a:t>
            </a:r>
            <a:r>
              <a:rPr lang="en-US" sz="2250" u="none">
                <a:solidFill>
                  <a:srgbClr val="000000"/>
                </a:solidFill>
                <a:latin typeface="Arial MT Pro"/>
                <a:ea typeface="Arial MT Pro"/>
                <a:cs typeface="Arial MT Pro"/>
                <a:sym typeface="Arial MT Pro"/>
              </a:rPr>
              <a:t>thod </a:t>
            </a:r>
            <a:r>
              <a:rPr lang="en-US" sz="2250">
                <a:solidFill>
                  <a:srgbClr val="000000"/>
                </a:solidFill>
                <a:latin typeface="Arial MT Pro"/>
                <a:ea typeface="Arial MT Pro"/>
                <a:cs typeface="Arial MT Pro"/>
                <a:sym typeface="Arial MT Pro"/>
              </a:rPr>
              <a:t>overall is:</a:t>
            </a:r>
            <a:r>
              <a:rPr lang="en-US" sz="2250" b="1">
                <a:solidFill>
                  <a:srgbClr val="000000"/>
                </a:solidFill>
                <a:latin typeface="Arial MT Pro Bold"/>
                <a:ea typeface="Arial MT Pro Bold"/>
                <a:cs typeface="Arial MT Pro Bold"/>
                <a:sym typeface="Arial MT Pro Bold"/>
              </a:rPr>
              <a:t> </a:t>
            </a:r>
            <a:r>
              <a:rPr lang="en-US" sz="2250" b="1">
                <a:solidFill>
                  <a:srgbClr val="0088B6"/>
                </a:solidFill>
                <a:latin typeface="Arial MT Pro Bold"/>
                <a:ea typeface="Arial MT Pro Bold"/>
                <a:cs typeface="Arial MT Pro Bold"/>
                <a:sym typeface="Arial MT Pro Bold"/>
              </a:rPr>
              <a:t>SMOTE or Synthetic Minority Over-sampling Technique</a:t>
            </a:r>
          </a:p>
          <a:p>
            <a:pPr algn="just">
              <a:lnSpc>
                <a:spcPts val="3051"/>
              </a:lnSpc>
            </a:pPr>
            <a:endParaRPr lang="en-US" sz="2250" b="1">
              <a:solidFill>
                <a:srgbClr val="0088B6"/>
              </a:solidFill>
              <a:latin typeface="Arial MT Pro Bold"/>
              <a:ea typeface="Arial MT Pro Bold"/>
              <a:cs typeface="Arial MT Pro Bold"/>
              <a:sym typeface="Arial MT Pro Bold"/>
            </a:endParaRPr>
          </a:p>
          <a:p>
            <a:pPr algn="just">
              <a:lnSpc>
                <a:spcPts val="3051"/>
              </a:lnSpc>
            </a:pPr>
            <a:r>
              <a:rPr lang="en-US" sz="2250" b="1">
                <a:solidFill>
                  <a:srgbClr val="8064A2"/>
                </a:solidFill>
                <a:latin typeface="Arial MT Pro Bold"/>
                <a:ea typeface="Arial MT Pro Bold"/>
                <a:cs typeface="Arial MT Pro Bold"/>
                <a:sym typeface="Arial MT Pro Bold"/>
              </a:rPr>
              <a:t>Why SMOTE?</a:t>
            </a:r>
          </a:p>
          <a:p>
            <a:pPr marL="485775" lvl="1" indent="-242888" algn="just">
              <a:lnSpc>
                <a:spcPts val="3051"/>
              </a:lnSpc>
              <a:buAutoNum type="arabicPeriod"/>
            </a:pPr>
            <a:r>
              <a:rPr lang="en-US" sz="2250">
                <a:solidFill>
                  <a:srgbClr val="000000"/>
                </a:solidFill>
                <a:latin typeface="Arial MT Pro"/>
                <a:ea typeface="Arial MT Pro"/>
                <a:cs typeface="Arial MT Pro"/>
                <a:sym typeface="Arial MT Pro"/>
              </a:rPr>
              <a:t>Consistently high performance across all models.</a:t>
            </a:r>
          </a:p>
          <a:p>
            <a:pPr marL="485775" lvl="1" indent="-242888" algn="just">
              <a:lnSpc>
                <a:spcPts val="3051"/>
              </a:lnSpc>
              <a:buAutoNum type="arabicPeriod"/>
            </a:pPr>
            <a:r>
              <a:rPr lang="en-US" sz="2250">
                <a:solidFill>
                  <a:srgbClr val="000000"/>
                </a:solidFill>
                <a:latin typeface="Arial MT Pro"/>
                <a:ea typeface="Arial MT Pro"/>
                <a:cs typeface="Arial MT Pro"/>
                <a:sym typeface="Arial MT Pro"/>
              </a:rPr>
              <a:t>SMOTE achieves high precision and recall on both majority and minority classes.</a:t>
            </a:r>
          </a:p>
          <a:p>
            <a:pPr marL="971550" lvl="2" indent="-323850" algn="just">
              <a:lnSpc>
                <a:spcPts val="3051"/>
              </a:lnSpc>
              <a:buAutoNum type="alphaLcPeriod"/>
            </a:pPr>
            <a:r>
              <a:rPr lang="en-US" sz="2250">
                <a:solidFill>
                  <a:srgbClr val="000000"/>
                </a:solidFill>
                <a:latin typeface="Arial MT Pro"/>
                <a:ea typeface="Arial MT Pro"/>
                <a:cs typeface="Arial MT Pro"/>
                <a:sym typeface="Arial MT Pro"/>
              </a:rPr>
              <a:t>Unlike undersampling methods, it does not discard valuable majority data.</a:t>
            </a:r>
          </a:p>
          <a:p>
            <a:pPr marL="971550" lvl="2" indent="-323850" algn="just">
              <a:lnSpc>
                <a:spcPts val="3051"/>
              </a:lnSpc>
              <a:buAutoNum type="alphaLcPeriod"/>
            </a:pPr>
            <a:r>
              <a:rPr lang="en-US" sz="2250">
                <a:solidFill>
                  <a:srgbClr val="000000"/>
                </a:solidFill>
                <a:latin typeface="Arial MT Pro"/>
                <a:ea typeface="Arial MT Pro"/>
                <a:cs typeface="Arial MT Pro"/>
                <a:sym typeface="Arial MT Pro"/>
              </a:rPr>
              <a:t>Unlike SMOTE+Undersampling, it avoids extreme class distortions.</a:t>
            </a:r>
          </a:p>
          <a:p>
            <a:pPr marL="485775" lvl="1" indent="-242888" algn="just">
              <a:lnSpc>
                <a:spcPts val="3051"/>
              </a:lnSpc>
              <a:buAutoNum type="arabicPeriod"/>
            </a:pPr>
            <a:r>
              <a:rPr lang="en-US" sz="2250">
                <a:solidFill>
                  <a:srgbClr val="000000"/>
                </a:solidFill>
                <a:latin typeface="Arial MT Pro"/>
                <a:ea typeface="Arial MT Pro"/>
                <a:cs typeface="Arial MT Pro"/>
                <a:sym typeface="Arial MT Pro"/>
              </a:rPr>
              <a:t>Provoked, Sea Disaster, and Watercraft types, which are underrepresented, were more accurately predicted using SMOTE.</a:t>
            </a:r>
          </a:p>
          <a:p>
            <a:pPr marL="485775" lvl="1" indent="-242888" algn="just">
              <a:lnSpc>
                <a:spcPts val="3051"/>
              </a:lnSpc>
              <a:buAutoNum type="arabicPeriod"/>
            </a:pPr>
            <a:r>
              <a:rPr lang="en-US" sz="2250">
                <a:solidFill>
                  <a:srgbClr val="000000"/>
                </a:solidFill>
                <a:latin typeface="Arial MT Pro"/>
                <a:ea typeface="Arial MT Pro"/>
                <a:cs typeface="Arial MT Pro"/>
                <a:sym typeface="Arial MT Pro"/>
              </a:rPr>
              <a:t>All models under SMOTE maintained above 0.82 accuracy and strong PR AUC/ROC AUC scores, which suggests good generalization.</a:t>
            </a:r>
          </a:p>
          <a:p>
            <a:pPr algn="just">
              <a:lnSpc>
                <a:spcPts val="3051"/>
              </a:lnSpc>
            </a:pPr>
            <a:endParaRPr lang="en-US" sz="2250">
              <a:solidFill>
                <a:srgbClr val="000000"/>
              </a:solidFill>
              <a:latin typeface="Arial MT Pro"/>
              <a:ea typeface="Arial MT Pro"/>
              <a:cs typeface="Arial MT Pro"/>
              <a:sym typeface="Arial MT Pro"/>
            </a:endParaRPr>
          </a:p>
          <a:p>
            <a:pPr algn="just">
              <a:lnSpc>
                <a:spcPts val="3051"/>
              </a:lnSpc>
            </a:pPr>
            <a:r>
              <a:rPr lang="en-US" sz="2250" b="1">
                <a:solidFill>
                  <a:srgbClr val="8064A2"/>
                </a:solidFill>
                <a:latin typeface="Arial MT Pro Bold"/>
                <a:ea typeface="Arial MT Pro Bold"/>
                <a:cs typeface="Arial MT Pro Bold"/>
                <a:sym typeface="Arial MT Pro Bold"/>
              </a:rPr>
              <a:t>Why Not Other Resampling Methods? </a:t>
            </a:r>
          </a:p>
          <a:p>
            <a:pPr marL="485775" lvl="1" indent="-242888" algn="just">
              <a:lnSpc>
                <a:spcPts val="3051"/>
              </a:lnSpc>
              <a:buFont typeface="Arial"/>
              <a:buChar char="•"/>
            </a:pPr>
            <a:r>
              <a:rPr lang="en-US" sz="2250" b="1">
                <a:solidFill>
                  <a:srgbClr val="000000"/>
                </a:solidFill>
                <a:latin typeface="Arial MT Pro Bold"/>
                <a:ea typeface="Arial MT Pro Bold"/>
                <a:cs typeface="Arial MT Pro Bold"/>
                <a:sym typeface="Arial MT Pro Bold"/>
              </a:rPr>
              <a:t>Random Undersampling </a:t>
            </a:r>
            <a:r>
              <a:rPr lang="en-US" sz="2250">
                <a:solidFill>
                  <a:srgbClr val="000000"/>
                </a:solidFill>
                <a:latin typeface="Arial MT Pro"/>
                <a:ea typeface="Arial MT Pro"/>
                <a:cs typeface="Arial MT Pro"/>
                <a:sym typeface="Arial MT Pro"/>
              </a:rPr>
              <a:t>significantly reduced overall accuracy (as low as 36%–47%) by dropping too much majority data.</a:t>
            </a:r>
          </a:p>
          <a:p>
            <a:pPr marL="485775" lvl="1" indent="-242888" algn="just">
              <a:lnSpc>
                <a:spcPts val="3051"/>
              </a:lnSpc>
              <a:buFont typeface="Arial"/>
              <a:buChar char="•"/>
            </a:pPr>
            <a:r>
              <a:rPr lang="en-US" sz="2250" b="1">
                <a:solidFill>
                  <a:srgbClr val="000000"/>
                </a:solidFill>
                <a:latin typeface="Arial MT Pro Bold"/>
                <a:ea typeface="Arial MT Pro Bold"/>
                <a:cs typeface="Arial MT Pro Bold"/>
                <a:sym typeface="Arial MT Pro Bold"/>
              </a:rPr>
              <a:t>SMOTE + Undersampling</a:t>
            </a:r>
            <a:r>
              <a:rPr lang="en-US" sz="2250">
                <a:solidFill>
                  <a:srgbClr val="000000"/>
                </a:solidFill>
                <a:latin typeface="Arial MT Pro"/>
                <a:ea typeface="Arial MT Pro"/>
                <a:cs typeface="Arial MT Pro"/>
                <a:sym typeface="Arial MT Pro"/>
              </a:rPr>
              <a:t> caused extreme overfitting to minority classes and collapsed overall performance (e.g., Unprovoked recall dropped to 31%).</a:t>
            </a:r>
          </a:p>
          <a:p>
            <a:pPr marL="485775" lvl="1" indent="-242888" algn="just">
              <a:lnSpc>
                <a:spcPts val="3051"/>
              </a:lnSpc>
              <a:buFont typeface="Arial"/>
              <a:buChar char="•"/>
            </a:pPr>
            <a:r>
              <a:rPr lang="en-US" sz="2250" b="1">
                <a:solidFill>
                  <a:srgbClr val="000000"/>
                </a:solidFill>
                <a:latin typeface="Arial MT Pro Bold"/>
                <a:ea typeface="Arial MT Pro Bold"/>
                <a:cs typeface="Arial MT Pro Bold"/>
                <a:sym typeface="Arial MT Pro Bold"/>
              </a:rPr>
              <a:t>Tomek Links</a:t>
            </a:r>
            <a:r>
              <a:rPr lang="en-US" sz="2250">
                <a:solidFill>
                  <a:srgbClr val="000000"/>
                </a:solidFill>
                <a:latin typeface="Arial MT Pro"/>
                <a:ea typeface="Arial MT Pro"/>
                <a:cs typeface="Arial MT Pro"/>
                <a:sym typeface="Arial MT Pro"/>
              </a:rPr>
              <a:t> showed improvement over raw undersampling, but still lagged behind SMOTE in macro/micro F1 and ROC AUC.</a:t>
            </a:r>
          </a:p>
          <a:p>
            <a:pPr marL="485775" lvl="1" indent="-242888" algn="just">
              <a:lnSpc>
                <a:spcPts val="3051"/>
              </a:lnSpc>
              <a:buFont typeface="Arial"/>
              <a:buChar char="•"/>
            </a:pPr>
            <a:r>
              <a:rPr lang="en-US" sz="2250" b="1">
                <a:solidFill>
                  <a:srgbClr val="000000"/>
                </a:solidFill>
                <a:latin typeface="Arial MT Pro Bold"/>
                <a:ea typeface="Arial MT Pro Bold"/>
                <a:cs typeface="Arial MT Pro Bold"/>
                <a:sym typeface="Arial MT Pro Bold"/>
              </a:rPr>
              <a:t>ADASYN </a:t>
            </a:r>
            <a:r>
              <a:rPr lang="en-US" sz="2250">
                <a:solidFill>
                  <a:srgbClr val="000000"/>
                </a:solidFill>
                <a:latin typeface="Arial MT Pro"/>
                <a:ea typeface="Arial MT Pro"/>
                <a:cs typeface="Arial MT Pro"/>
                <a:sym typeface="Arial MT Pro"/>
              </a:rPr>
              <a:t>was close to SMOTE in many metrics but less stable across models and had slightly lower recall on minority classes.</a:t>
            </a:r>
          </a:p>
          <a:p>
            <a:pPr marL="485775" lvl="1" indent="-242888" algn="just">
              <a:lnSpc>
                <a:spcPts val="3051"/>
              </a:lnSpc>
              <a:buFont typeface="Arial"/>
              <a:buChar char="•"/>
            </a:pPr>
            <a:r>
              <a:rPr lang="en-US" sz="2250" b="1">
                <a:solidFill>
                  <a:srgbClr val="000000"/>
                </a:solidFill>
                <a:latin typeface="Arial MT Pro Bold"/>
                <a:ea typeface="Arial MT Pro Bold"/>
                <a:cs typeface="Arial MT Pro Bold"/>
                <a:sym typeface="Arial MT Pro Bold"/>
              </a:rPr>
              <a:t>Random Oversampling</a:t>
            </a:r>
            <a:r>
              <a:rPr lang="en-US" sz="2250">
                <a:solidFill>
                  <a:srgbClr val="000000"/>
                </a:solidFill>
                <a:latin typeface="Arial MT Pro"/>
                <a:ea typeface="Arial MT Pro"/>
                <a:cs typeface="Arial MT Pro"/>
                <a:sym typeface="Arial MT Pro"/>
              </a:rPr>
              <a:t> inflated performance metrics artificially and increased risk of overfitting.</a:t>
            </a:r>
          </a:p>
          <a:p>
            <a:pPr algn="just">
              <a:lnSpc>
                <a:spcPts val="3051"/>
              </a:lnSpc>
            </a:pPr>
            <a:endParaRPr lang="en-US" sz="2250">
              <a:solidFill>
                <a:srgbClr val="000000"/>
              </a:solidFill>
              <a:latin typeface="Arial MT Pro"/>
              <a:ea typeface="Arial MT Pro"/>
              <a:cs typeface="Arial MT Pro"/>
              <a:sym typeface="Arial MT Pro"/>
            </a:endParaRPr>
          </a:p>
        </p:txBody>
      </p:sp>
      <p:sp>
        <p:nvSpPr>
          <p:cNvPr id="3" name="TextBox 3"/>
          <p:cNvSpPr txBox="1"/>
          <p:nvPr/>
        </p:nvSpPr>
        <p:spPr>
          <a:xfrm>
            <a:off x="1028700" y="648043"/>
            <a:ext cx="13890209" cy="637489"/>
          </a:xfrm>
          <a:prstGeom prst="rect">
            <a:avLst/>
          </a:prstGeom>
        </p:spPr>
        <p:txBody>
          <a:bodyPr lIns="0" tIns="0" rIns="0" bIns="0" rtlCol="0" anchor="t">
            <a:spAutoFit/>
          </a:bodyPr>
          <a:lstStyle/>
          <a:p>
            <a:pPr algn="l">
              <a:lnSpc>
                <a:spcPts val="4610"/>
              </a:lnSpc>
              <a:spcBef>
                <a:spcPct val="0"/>
              </a:spcBef>
            </a:pPr>
            <a:r>
              <a:rPr lang="en-US" sz="3399" b="1">
                <a:solidFill>
                  <a:srgbClr val="2B4865"/>
                </a:solidFill>
                <a:latin typeface="Arial MT Pro Bold"/>
                <a:ea typeface="Arial MT Pro Bold"/>
                <a:cs typeface="Arial MT Pro Bold"/>
                <a:sym typeface="Arial MT Pro Bold"/>
              </a:rPr>
              <a:t>Classification Modelling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881581" y="1937257"/>
          <a:ext cx="14524839" cy="6412486"/>
        </p:xfrm>
        <a:graphic>
          <a:graphicData uri="http://schemas.openxmlformats.org/drawingml/2006/table">
            <a:tbl>
              <a:tblPr/>
              <a:tblGrid>
                <a:gridCol w="3309793">
                  <a:extLst>
                    <a:ext uri="{9D8B030D-6E8A-4147-A177-3AD203B41FA5}">
                      <a16:colId xmlns:a16="http://schemas.microsoft.com/office/drawing/2014/main" val="20000"/>
                    </a:ext>
                  </a:extLst>
                </a:gridCol>
                <a:gridCol w="1917702">
                  <a:extLst>
                    <a:ext uri="{9D8B030D-6E8A-4147-A177-3AD203B41FA5}">
                      <a16:colId xmlns:a16="http://schemas.microsoft.com/office/drawing/2014/main" val="20001"/>
                    </a:ext>
                  </a:extLst>
                </a:gridCol>
                <a:gridCol w="1974671">
                  <a:extLst>
                    <a:ext uri="{9D8B030D-6E8A-4147-A177-3AD203B41FA5}">
                      <a16:colId xmlns:a16="http://schemas.microsoft.com/office/drawing/2014/main" val="20002"/>
                    </a:ext>
                  </a:extLst>
                </a:gridCol>
                <a:gridCol w="1879730">
                  <a:extLst>
                    <a:ext uri="{9D8B030D-6E8A-4147-A177-3AD203B41FA5}">
                      <a16:colId xmlns:a16="http://schemas.microsoft.com/office/drawing/2014/main" val="20003"/>
                    </a:ext>
                  </a:extLst>
                </a:gridCol>
                <a:gridCol w="2053027">
                  <a:extLst>
                    <a:ext uri="{9D8B030D-6E8A-4147-A177-3AD203B41FA5}">
                      <a16:colId xmlns:a16="http://schemas.microsoft.com/office/drawing/2014/main" val="20004"/>
                    </a:ext>
                  </a:extLst>
                </a:gridCol>
                <a:gridCol w="1602832">
                  <a:extLst>
                    <a:ext uri="{9D8B030D-6E8A-4147-A177-3AD203B41FA5}">
                      <a16:colId xmlns:a16="http://schemas.microsoft.com/office/drawing/2014/main" val="20005"/>
                    </a:ext>
                  </a:extLst>
                </a:gridCol>
                <a:gridCol w="1787084">
                  <a:extLst>
                    <a:ext uri="{9D8B030D-6E8A-4147-A177-3AD203B41FA5}">
                      <a16:colId xmlns:a16="http://schemas.microsoft.com/office/drawing/2014/main" val="20006"/>
                    </a:ext>
                  </a:extLst>
                </a:gridCol>
              </a:tblGrid>
              <a:tr h="1667807">
                <a:tc>
                  <a:txBody>
                    <a:bodyPr/>
                    <a:lstStyle/>
                    <a:p>
                      <a:pPr algn="ctr">
                        <a:lnSpc>
                          <a:spcPts val="3359"/>
                        </a:lnSpc>
                        <a:defRPr/>
                      </a:pPr>
                      <a:r>
                        <a:rPr lang="en-US" sz="2399" b="1">
                          <a:solidFill>
                            <a:srgbClr val="000000"/>
                          </a:solidFill>
                          <a:latin typeface="Arial MT Pro Bold"/>
                          <a:ea typeface="Arial MT Pro Bold"/>
                          <a:cs typeface="Arial MT Pro Bold"/>
                          <a:sym typeface="Arial MT Pro Bold"/>
                        </a:rPr>
                        <a:t>Model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Arial MT Pro Bold"/>
                          <a:ea typeface="Arial MT Pro Bold"/>
                          <a:cs typeface="Arial MT Pro Bold"/>
                          <a:sym typeface="Arial MT Pro Bold"/>
                        </a:rPr>
                        <a:t>Accuracy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Arial MT Pro Bold"/>
                          <a:ea typeface="Arial MT Pro Bold"/>
                          <a:cs typeface="Arial MT Pro Bold"/>
                          <a:sym typeface="Arial MT Pro Bold"/>
                        </a:rPr>
                        <a:t>Precision (Macro)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Arial MT Pro Bold"/>
                          <a:ea typeface="Arial MT Pro Bold"/>
                          <a:cs typeface="Arial MT Pro Bold"/>
                          <a:sym typeface="Arial MT Pro Bold"/>
                        </a:rPr>
                        <a:t>Recall (Macro)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Arial MT Pro Bold"/>
                          <a:ea typeface="Arial MT Pro Bold"/>
                          <a:cs typeface="Arial MT Pro Bold"/>
                          <a:sym typeface="Arial MT Pro Bold"/>
                        </a:rPr>
                        <a:t>F1-score (Macro)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Arial MT Pro Bold"/>
                          <a:ea typeface="Arial MT Pro Bold"/>
                          <a:cs typeface="Arial MT Pro Bold"/>
                          <a:sym typeface="Arial MT Pro Bold"/>
                        </a:rPr>
                        <a:t>ROC AUC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Arial MT Pro Bold"/>
                          <a:ea typeface="Arial MT Pro Bold"/>
                          <a:cs typeface="Arial MT Pro Bold"/>
                          <a:sym typeface="Arial MT Pro Bold"/>
                        </a:rPr>
                        <a:t>PR AUC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53567">
                <a:tc>
                  <a:txBody>
                    <a:bodyPr/>
                    <a:lstStyle/>
                    <a:p>
                      <a:pPr algn="ctr">
                        <a:lnSpc>
                          <a:spcPts val="3359"/>
                        </a:lnSpc>
                        <a:defRPr/>
                      </a:pPr>
                      <a:r>
                        <a:rPr lang="en-US" sz="2399">
                          <a:solidFill>
                            <a:srgbClr val="000000"/>
                          </a:solidFill>
                          <a:latin typeface="Arial MT Pro"/>
                          <a:ea typeface="Arial MT Pro"/>
                          <a:cs typeface="Arial MT Pro"/>
                          <a:sym typeface="Arial MT Pro"/>
                        </a:rPr>
                        <a:t>Logistic Regression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0.87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0.59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0.61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0.60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0.92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-0.94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53567">
                <a:tc>
                  <a:txBody>
                    <a:bodyPr/>
                    <a:lstStyle/>
                    <a:p>
                      <a:pPr algn="ctr">
                        <a:lnSpc>
                          <a:spcPts val="3359"/>
                        </a:lnSpc>
                        <a:defRPr/>
                      </a:pPr>
                      <a:r>
                        <a:rPr lang="en-US" sz="2399">
                          <a:solidFill>
                            <a:srgbClr val="000000"/>
                          </a:solidFill>
                          <a:latin typeface="Arial MT Pro"/>
                          <a:ea typeface="Arial MT Pro"/>
                          <a:cs typeface="Arial MT Pro"/>
                          <a:sym typeface="Arial MT Pro"/>
                        </a:rPr>
                        <a:t>Decision Tree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0.83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0.57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0.60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0.57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0.76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-0.84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53567">
                <a:tc>
                  <a:txBody>
                    <a:bodyPr/>
                    <a:lstStyle/>
                    <a:p>
                      <a:pPr algn="ctr">
                        <a:lnSpc>
                          <a:spcPts val="3359"/>
                        </a:lnSpc>
                        <a:defRPr/>
                      </a:pPr>
                      <a:r>
                        <a:rPr lang="en-US" sz="2399">
                          <a:solidFill>
                            <a:srgbClr val="000000"/>
                          </a:solidFill>
                          <a:latin typeface="Arial MT Pro"/>
                          <a:ea typeface="Arial MT Pro"/>
                          <a:cs typeface="Arial MT Pro"/>
                          <a:sym typeface="Arial MT Pro"/>
                        </a:rPr>
                        <a:t>Random Forest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0.86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0.67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0.46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0.49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0.87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-0.92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283979">
                <a:tc>
                  <a:txBody>
                    <a:bodyPr/>
                    <a:lstStyle/>
                    <a:p>
                      <a:pPr algn="ctr">
                        <a:lnSpc>
                          <a:spcPts val="3359"/>
                        </a:lnSpc>
                        <a:defRPr/>
                      </a:pPr>
                      <a:r>
                        <a:rPr lang="en-US" sz="2399">
                          <a:solidFill>
                            <a:srgbClr val="000000"/>
                          </a:solidFill>
                          <a:latin typeface="Arial MT Pro"/>
                          <a:ea typeface="Arial MT Pro"/>
                          <a:cs typeface="Arial MT Pro"/>
                          <a:sym typeface="Arial MT Pro"/>
                        </a:rPr>
                        <a:t>Support Vector Machine (SVM)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0.79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0.55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0.61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0.56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0.89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Arial MT Pro"/>
                          <a:ea typeface="Arial MT Pro"/>
                          <a:cs typeface="Arial MT Pro"/>
                          <a:sym typeface="Arial MT Pro"/>
                        </a:rPr>
                        <a:t>-0.86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TextBox 3"/>
          <p:cNvSpPr txBox="1"/>
          <p:nvPr/>
        </p:nvSpPr>
        <p:spPr>
          <a:xfrm>
            <a:off x="1028700" y="914400"/>
            <a:ext cx="16422174" cy="593827"/>
          </a:xfrm>
          <a:prstGeom prst="rect">
            <a:avLst/>
          </a:prstGeom>
        </p:spPr>
        <p:txBody>
          <a:bodyPr lIns="0" tIns="0" rIns="0" bIns="0" rtlCol="0" anchor="t">
            <a:spAutoFit/>
          </a:bodyPr>
          <a:lstStyle/>
          <a:p>
            <a:pPr algn="l">
              <a:lnSpc>
                <a:spcPts val="4339"/>
              </a:lnSpc>
              <a:spcBef>
                <a:spcPct val="0"/>
              </a:spcBef>
            </a:pPr>
            <a:r>
              <a:rPr lang="en-US" sz="3199" b="1">
                <a:solidFill>
                  <a:srgbClr val="0088B6"/>
                </a:solidFill>
                <a:latin typeface="Arial MT Pro Bold"/>
                <a:ea typeface="Arial MT Pro Bold"/>
                <a:cs typeface="Arial MT Pro Bold"/>
                <a:sym typeface="Arial MT Pro Bold"/>
              </a:rPr>
              <a:t>Table 1: Model Performance Before and After Applying SMOTE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13809"/>
            <a:ext cx="10245287" cy="637489"/>
          </a:xfrm>
          <a:prstGeom prst="rect">
            <a:avLst/>
          </a:prstGeom>
        </p:spPr>
        <p:txBody>
          <a:bodyPr lIns="0" tIns="0" rIns="0" bIns="0" rtlCol="0" anchor="t">
            <a:spAutoFit/>
          </a:bodyPr>
          <a:lstStyle/>
          <a:p>
            <a:pPr algn="l">
              <a:lnSpc>
                <a:spcPts val="4610"/>
              </a:lnSpc>
              <a:spcBef>
                <a:spcPct val="0"/>
              </a:spcBef>
            </a:pPr>
            <a:r>
              <a:rPr lang="en-US" sz="3399" b="1">
                <a:solidFill>
                  <a:srgbClr val="2B4865"/>
                </a:solidFill>
                <a:latin typeface="Arial MT Pro Bold"/>
                <a:ea typeface="Arial MT Pro Bold"/>
                <a:cs typeface="Arial MT Pro Bold"/>
                <a:sym typeface="Arial MT Pro Bold"/>
              </a:rPr>
              <a:t>Model Performance Insights with SMOTE</a:t>
            </a:r>
          </a:p>
        </p:txBody>
      </p:sp>
      <p:sp>
        <p:nvSpPr>
          <p:cNvPr id="3" name="TextBox 3"/>
          <p:cNvSpPr txBox="1"/>
          <p:nvPr/>
        </p:nvSpPr>
        <p:spPr>
          <a:xfrm>
            <a:off x="1028700" y="2481693"/>
            <a:ext cx="7534275" cy="3122676"/>
          </a:xfrm>
          <a:prstGeom prst="rect">
            <a:avLst/>
          </a:prstGeom>
        </p:spPr>
        <p:txBody>
          <a:bodyPr lIns="0" tIns="0" rIns="0" bIns="0" rtlCol="0" anchor="t">
            <a:spAutoFit/>
          </a:bodyPr>
          <a:lstStyle/>
          <a:p>
            <a:pPr marL="431801" lvl="1" indent="-215900" algn="just">
              <a:lnSpc>
                <a:spcPts val="2712"/>
              </a:lnSpc>
              <a:buFont typeface="Arial"/>
              <a:buChar char="•"/>
            </a:pPr>
            <a:r>
              <a:rPr lang="en-US" sz="2000">
                <a:solidFill>
                  <a:srgbClr val="000000"/>
                </a:solidFill>
                <a:latin typeface="Arial MT Pro"/>
                <a:ea typeface="Arial MT Pro"/>
                <a:cs typeface="Arial MT Pro"/>
                <a:sym typeface="Arial MT Pro"/>
              </a:rPr>
              <a:t>Achieved the </a:t>
            </a:r>
            <a:r>
              <a:rPr lang="en-US" sz="2000" b="1">
                <a:solidFill>
                  <a:srgbClr val="000000"/>
                </a:solidFill>
                <a:latin typeface="Arial MT Pro Bold"/>
                <a:ea typeface="Arial MT Pro Bold"/>
                <a:cs typeface="Arial MT Pro Bold"/>
                <a:sym typeface="Arial MT Pro Bold"/>
              </a:rPr>
              <a:t>highest accuracy</a:t>
            </a:r>
            <a:r>
              <a:rPr lang="en-US" sz="2000">
                <a:solidFill>
                  <a:srgbClr val="000000"/>
                </a:solidFill>
                <a:latin typeface="Arial MT Pro"/>
                <a:ea typeface="Arial MT Pro"/>
                <a:cs typeface="Arial MT Pro"/>
                <a:sym typeface="Arial MT Pro"/>
              </a:rPr>
              <a:t> (86.81%) and</a:t>
            </a:r>
            <a:r>
              <a:rPr lang="en-US" sz="2000" b="1">
                <a:solidFill>
                  <a:srgbClr val="000000"/>
                </a:solidFill>
                <a:latin typeface="Arial MT Pro Bold"/>
                <a:ea typeface="Arial MT Pro Bold"/>
                <a:cs typeface="Arial MT Pro Bold"/>
                <a:sym typeface="Arial MT Pro Bold"/>
              </a:rPr>
              <a:t> strong macro F1-score</a:t>
            </a:r>
            <a:r>
              <a:rPr lang="en-US" sz="2000">
                <a:solidFill>
                  <a:srgbClr val="000000"/>
                </a:solidFill>
                <a:latin typeface="Arial MT Pro"/>
                <a:ea typeface="Arial MT Pro"/>
                <a:cs typeface="Arial MT Pro"/>
                <a:sym typeface="Arial MT Pro"/>
              </a:rPr>
              <a:t> (0.60), indicating well-rounded performance across classes.</a:t>
            </a:r>
          </a:p>
          <a:p>
            <a:pPr marL="431801" lvl="1" indent="-215900" algn="just">
              <a:lnSpc>
                <a:spcPts val="2712"/>
              </a:lnSpc>
              <a:buFont typeface="Arial"/>
              <a:buChar char="•"/>
            </a:pPr>
            <a:r>
              <a:rPr lang="en-US" sz="2000">
                <a:solidFill>
                  <a:srgbClr val="000000"/>
                </a:solidFill>
                <a:latin typeface="Arial MT Pro"/>
                <a:ea typeface="Arial MT Pro"/>
                <a:cs typeface="Arial MT Pro"/>
                <a:sym typeface="Arial MT Pro"/>
              </a:rPr>
              <a:t>Recorded </a:t>
            </a:r>
            <a:r>
              <a:rPr lang="en-US" sz="2000" b="1">
                <a:solidFill>
                  <a:srgbClr val="000000"/>
                </a:solidFill>
                <a:latin typeface="Arial MT Pro Bold"/>
                <a:ea typeface="Arial MT Pro Bold"/>
                <a:cs typeface="Arial MT Pro Bold"/>
                <a:sym typeface="Arial MT Pro Bold"/>
              </a:rPr>
              <a:t>excellent ROC AUC</a:t>
            </a:r>
            <a:r>
              <a:rPr lang="en-US" sz="2000">
                <a:solidFill>
                  <a:srgbClr val="000000"/>
                </a:solidFill>
                <a:latin typeface="Arial MT Pro"/>
                <a:ea typeface="Arial MT Pro"/>
                <a:cs typeface="Arial MT Pro"/>
                <a:sym typeface="Arial MT Pro"/>
              </a:rPr>
              <a:t> (0.9248) and </a:t>
            </a:r>
            <a:r>
              <a:rPr lang="en-US" sz="2000" b="1">
                <a:solidFill>
                  <a:srgbClr val="000000"/>
                </a:solidFill>
                <a:latin typeface="Arial MT Pro Bold"/>
                <a:ea typeface="Arial MT Pro Bold"/>
                <a:cs typeface="Arial MT Pro Bold"/>
                <a:sym typeface="Arial MT Pro Bold"/>
              </a:rPr>
              <a:t>PR AUC</a:t>
            </a:r>
            <a:r>
              <a:rPr lang="en-US" sz="2000">
                <a:solidFill>
                  <a:srgbClr val="000000"/>
                </a:solidFill>
                <a:latin typeface="Arial MT Pro"/>
                <a:ea typeface="Arial MT Pro"/>
                <a:cs typeface="Arial MT Pro"/>
                <a:sym typeface="Arial MT Pro"/>
              </a:rPr>
              <a:t> (-0.9354), </a:t>
            </a:r>
            <a:r>
              <a:rPr lang="en-US" sz="2000" u="none">
                <a:solidFill>
                  <a:srgbClr val="000000"/>
                </a:solidFill>
                <a:latin typeface="Arial MT Pro"/>
                <a:ea typeface="Arial MT Pro"/>
                <a:cs typeface="Arial MT Pro"/>
                <a:sym typeface="Arial MT Pro"/>
              </a:rPr>
              <a:t>s</a:t>
            </a:r>
            <a:r>
              <a:rPr lang="en-US" sz="2000">
                <a:solidFill>
                  <a:srgbClr val="000000"/>
                </a:solidFill>
                <a:latin typeface="Arial MT Pro"/>
                <a:ea typeface="Arial MT Pro"/>
                <a:cs typeface="Arial MT Pro"/>
                <a:sym typeface="Arial MT Pro"/>
              </a:rPr>
              <a:t>how</a:t>
            </a:r>
            <a:r>
              <a:rPr lang="en-US" sz="2000" u="none">
                <a:solidFill>
                  <a:srgbClr val="000000"/>
                </a:solidFill>
                <a:latin typeface="Arial MT Pro"/>
                <a:ea typeface="Arial MT Pro"/>
                <a:cs typeface="Arial MT Pro"/>
                <a:sym typeface="Arial MT Pro"/>
              </a:rPr>
              <a:t>in</a:t>
            </a:r>
            <a:r>
              <a:rPr lang="en-US" sz="2000">
                <a:solidFill>
                  <a:srgbClr val="000000"/>
                </a:solidFill>
                <a:latin typeface="Arial MT Pro"/>
                <a:ea typeface="Arial MT Pro"/>
                <a:cs typeface="Arial MT Pro"/>
                <a:sym typeface="Arial MT Pro"/>
              </a:rPr>
              <a:t>g</a:t>
            </a:r>
            <a:r>
              <a:rPr lang="en-US" sz="2000" u="none">
                <a:solidFill>
                  <a:srgbClr val="000000"/>
                </a:solidFill>
                <a:latin typeface="Arial MT Pro"/>
                <a:ea typeface="Arial MT Pro"/>
                <a:cs typeface="Arial MT Pro"/>
                <a:sym typeface="Arial MT Pro"/>
              </a:rPr>
              <a:t> strong </a:t>
            </a:r>
            <a:r>
              <a:rPr lang="en-US" sz="2000">
                <a:solidFill>
                  <a:srgbClr val="000000"/>
                </a:solidFill>
                <a:latin typeface="Arial MT Pro"/>
                <a:ea typeface="Arial MT Pro"/>
                <a:cs typeface="Arial MT Pro"/>
                <a:sym typeface="Arial MT Pro"/>
              </a:rPr>
              <a:t>dis</a:t>
            </a:r>
            <a:r>
              <a:rPr lang="en-US" sz="2000" u="none">
                <a:solidFill>
                  <a:srgbClr val="000000"/>
                </a:solidFill>
                <a:latin typeface="Arial MT Pro"/>
                <a:ea typeface="Arial MT Pro"/>
                <a:cs typeface="Arial MT Pro"/>
                <a:sym typeface="Arial MT Pro"/>
              </a:rPr>
              <a:t>cr</a:t>
            </a:r>
            <a:r>
              <a:rPr lang="en-US" sz="2000">
                <a:solidFill>
                  <a:srgbClr val="000000"/>
                </a:solidFill>
                <a:latin typeface="Arial MT Pro"/>
                <a:ea typeface="Arial MT Pro"/>
                <a:cs typeface="Arial MT Pro"/>
                <a:sym typeface="Arial MT Pro"/>
              </a:rPr>
              <a:t>iminati</a:t>
            </a:r>
            <a:r>
              <a:rPr lang="en-US" sz="2000" u="none">
                <a:solidFill>
                  <a:srgbClr val="000000"/>
                </a:solidFill>
                <a:latin typeface="Arial MT Pro"/>
                <a:ea typeface="Arial MT Pro"/>
                <a:cs typeface="Arial MT Pro"/>
                <a:sym typeface="Arial MT Pro"/>
              </a:rPr>
              <a:t>o</a:t>
            </a:r>
            <a:r>
              <a:rPr lang="en-US" sz="2000">
                <a:solidFill>
                  <a:srgbClr val="000000"/>
                </a:solidFill>
                <a:latin typeface="Arial MT Pro"/>
                <a:ea typeface="Arial MT Pro"/>
                <a:cs typeface="Arial MT Pro"/>
                <a:sym typeface="Arial MT Pro"/>
              </a:rPr>
              <a:t>n even in</a:t>
            </a:r>
            <a:r>
              <a:rPr lang="en-US" sz="2000" u="none">
                <a:solidFill>
                  <a:srgbClr val="000000"/>
                </a:solidFill>
                <a:latin typeface="Arial MT Pro"/>
                <a:ea typeface="Arial MT Pro"/>
                <a:cs typeface="Arial MT Pro"/>
                <a:sym typeface="Arial MT Pro"/>
              </a:rPr>
              <a:t> a</a:t>
            </a:r>
            <a:r>
              <a:rPr lang="en-US" sz="2000">
                <a:solidFill>
                  <a:srgbClr val="000000"/>
                </a:solidFill>
                <a:latin typeface="Arial MT Pro"/>
                <a:ea typeface="Arial MT Pro"/>
                <a:cs typeface="Arial MT Pro"/>
                <a:sym typeface="Arial MT Pro"/>
              </a:rPr>
              <a:t>n</a:t>
            </a:r>
            <a:r>
              <a:rPr lang="en-US" sz="2000" u="none">
                <a:solidFill>
                  <a:srgbClr val="000000"/>
                </a:solidFill>
                <a:latin typeface="Arial MT Pro"/>
                <a:ea typeface="Arial MT Pro"/>
                <a:cs typeface="Arial MT Pro"/>
                <a:sym typeface="Arial MT Pro"/>
              </a:rPr>
              <a:t> </a:t>
            </a:r>
            <a:r>
              <a:rPr lang="en-US" sz="2000">
                <a:solidFill>
                  <a:srgbClr val="000000"/>
                </a:solidFill>
                <a:latin typeface="Arial MT Pro"/>
                <a:ea typeface="Arial MT Pro"/>
                <a:cs typeface="Arial MT Pro"/>
                <a:sym typeface="Arial MT Pro"/>
              </a:rPr>
              <a:t>i</a:t>
            </a:r>
            <a:r>
              <a:rPr lang="en-US" sz="2000" u="none">
                <a:solidFill>
                  <a:srgbClr val="000000"/>
                </a:solidFill>
                <a:latin typeface="Arial MT Pro"/>
                <a:ea typeface="Arial MT Pro"/>
                <a:cs typeface="Arial MT Pro"/>
                <a:sym typeface="Arial MT Pro"/>
              </a:rPr>
              <a:t>m</a:t>
            </a:r>
            <a:r>
              <a:rPr lang="en-US" sz="2000">
                <a:solidFill>
                  <a:srgbClr val="000000"/>
                </a:solidFill>
                <a:latin typeface="Arial MT Pro"/>
                <a:ea typeface="Arial MT Pro"/>
                <a:cs typeface="Arial MT Pro"/>
                <a:sym typeface="Arial MT Pro"/>
              </a:rPr>
              <a:t>balanc</a:t>
            </a:r>
            <a:r>
              <a:rPr lang="en-US" sz="2000" u="none">
                <a:solidFill>
                  <a:srgbClr val="000000"/>
                </a:solidFill>
                <a:latin typeface="Arial MT Pro"/>
                <a:ea typeface="Arial MT Pro"/>
                <a:cs typeface="Arial MT Pro"/>
                <a:sym typeface="Arial MT Pro"/>
              </a:rPr>
              <a:t>e</a:t>
            </a:r>
            <a:r>
              <a:rPr lang="en-US" sz="2000">
                <a:solidFill>
                  <a:srgbClr val="000000"/>
                </a:solidFill>
                <a:latin typeface="Arial MT Pro"/>
                <a:ea typeface="Arial MT Pro"/>
                <a:cs typeface="Arial MT Pro"/>
                <a:sym typeface="Arial MT Pro"/>
              </a:rPr>
              <a:t>d mul</a:t>
            </a:r>
            <a:r>
              <a:rPr lang="en-US" sz="2000" u="none">
                <a:solidFill>
                  <a:srgbClr val="000000"/>
                </a:solidFill>
                <a:latin typeface="Arial MT Pro"/>
                <a:ea typeface="Arial MT Pro"/>
                <a:cs typeface="Arial MT Pro"/>
                <a:sym typeface="Arial MT Pro"/>
              </a:rPr>
              <a:t>ti</a:t>
            </a:r>
            <a:r>
              <a:rPr lang="en-US" sz="2000">
                <a:solidFill>
                  <a:srgbClr val="000000"/>
                </a:solidFill>
                <a:latin typeface="Arial MT Pro"/>
                <a:ea typeface="Arial MT Pro"/>
                <a:cs typeface="Arial MT Pro"/>
                <a:sym typeface="Arial MT Pro"/>
              </a:rPr>
              <a:t>-</a:t>
            </a:r>
            <a:r>
              <a:rPr lang="en-US" sz="2000" u="none">
                <a:solidFill>
                  <a:srgbClr val="000000"/>
                </a:solidFill>
                <a:latin typeface="Arial MT Pro"/>
                <a:ea typeface="Arial MT Pro"/>
                <a:cs typeface="Arial MT Pro"/>
                <a:sym typeface="Arial MT Pro"/>
              </a:rPr>
              <a:t>c</a:t>
            </a:r>
            <a:r>
              <a:rPr lang="en-US" sz="2000">
                <a:solidFill>
                  <a:srgbClr val="000000"/>
                </a:solidFill>
                <a:latin typeface="Arial MT Pro"/>
                <a:ea typeface="Arial MT Pro"/>
                <a:cs typeface="Arial MT Pro"/>
                <a:sym typeface="Arial MT Pro"/>
              </a:rPr>
              <a:t>las</a:t>
            </a:r>
            <a:r>
              <a:rPr lang="en-US" sz="2000" u="none">
                <a:solidFill>
                  <a:srgbClr val="000000"/>
                </a:solidFill>
                <a:latin typeface="Arial MT Pro"/>
                <a:ea typeface="Arial MT Pro"/>
                <a:cs typeface="Arial MT Pro"/>
                <a:sym typeface="Arial MT Pro"/>
              </a:rPr>
              <a:t>s</a:t>
            </a:r>
            <a:r>
              <a:rPr lang="en-US" sz="2000">
                <a:solidFill>
                  <a:srgbClr val="000000"/>
                </a:solidFill>
                <a:latin typeface="Arial MT Pro"/>
                <a:ea typeface="Arial MT Pro"/>
                <a:cs typeface="Arial MT Pro"/>
                <a:sym typeface="Arial MT Pro"/>
              </a:rPr>
              <a:t> setting.</a:t>
            </a:r>
          </a:p>
          <a:p>
            <a:pPr marL="431801" lvl="1" indent="-215900" algn="just">
              <a:lnSpc>
                <a:spcPts val="2712"/>
              </a:lnSpc>
              <a:buFont typeface="Arial"/>
              <a:buChar char="•"/>
            </a:pPr>
            <a:r>
              <a:rPr lang="en-US" sz="2000">
                <a:solidFill>
                  <a:srgbClr val="000000"/>
                </a:solidFill>
                <a:latin typeface="Arial MT Pro"/>
                <a:ea typeface="Arial MT Pro"/>
                <a:cs typeface="Arial MT Pro"/>
                <a:sym typeface="Arial MT Pro"/>
              </a:rPr>
              <a:t>Balanced precision and recall, especially effective at distinguishing between </a:t>
            </a:r>
            <a:r>
              <a:rPr lang="en-US" sz="2000" b="1">
                <a:solidFill>
                  <a:srgbClr val="000000"/>
                </a:solidFill>
                <a:latin typeface="Arial MT Pro Bold"/>
                <a:ea typeface="Arial MT Pro Bold"/>
                <a:cs typeface="Arial MT Pro Bold"/>
                <a:sym typeface="Arial MT Pro Bold"/>
              </a:rPr>
              <a:t>Unprovoked</a:t>
            </a:r>
            <a:r>
              <a:rPr lang="en-US" sz="2000">
                <a:solidFill>
                  <a:srgbClr val="000000"/>
                </a:solidFill>
                <a:latin typeface="Arial MT Pro"/>
                <a:ea typeface="Arial MT Pro"/>
                <a:cs typeface="Arial MT Pro"/>
                <a:sym typeface="Arial MT Pro"/>
              </a:rPr>
              <a:t>, Unknown, and </a:t>
            </a:r>
            <a:r>
              <a:rPr lang="en-US" sz="2000" b="1">
                <a:solidFill>
                  <a:srgbClr val="000000"/>
                </a:solidFill>
                <a:latin typeface="Arial MT Pro Bold"/>
                <a:ea typeface="Arial MT Pro Bold"/>
                <a:cs typeface="Arial MT Pro Bold"/>
                <a:sym typeface="Arial MT Pro Bold"/>
              </a:rPr>
              <a:t>Watercraft </a:t>
            </a:r>
            <a:r>
              <a:rPr lang="en-US" sz="2000">
                <a:solidFill>
                  <a:srgbClr val="000000"/>
                </a:solidFill>
                <a:latin typeface="Arial MT Pro"/>
                <a:ea typeface="Arial MT Pro"/>
                <a:cs typeface="Arial MT Pro"/>
                <a:sym typeface="Arial MT Pro"/>
              </a:rPr>
              <a:t>incidents.</a:t>
            </a:r>
          </a:p>
        </p:txBody>
      </p:sp>
      <p:sp>
        <p:nvSpPr>
          <p:cNvPr id="4" name="TextBox 4"/>
          <p:cNvSpPr txBox="1"/>
          <p:nvPr/>
        </p:nvSpPr>
        <p:spPr>
          <a:xfrm>
            <a:off x="2917217" y="1560061"/>
            <a:ext cx="3757241" cy="559681"/>
          </a:xfrm>
          <a:prstGeom prst="rect">
            <a:avLst/>
          </a:prstGeom>
        </p:spPr>
        <p:txBody>
          <a:bodyPr lIns="0" tIns="0" rIns="0" bIns="0" rtlCol="0" anchor="t">
            <a:spAutoFit/>
          </a:bodyPr>
          <a:lstStyle/>
          <a:p>
            <a:pPr algn="l">
              <a:lnSpc>
                <a:spcPts val="4068"/>
              </a:lnSpc>
              <a:spcBef>
                <a:spcPct val="0"/>
              </a:spcBef>
            </a:pPr>
            <a:r>
              <a:rPr lang="en-US" sz="3000" b="1">
                <a:solidFill>
                  <a:srgbClr val="0088B6"/>
                </a:solidFill>
                <a:latin typeface="Arial MT Pro Bold"/>
                <a:ea typeface="Arial MT Pro Bold"/>
                <a:cs typeface="Arial MT Pro Bold"/>
                <a:sym typeface="Arial MT Pro Bold"/>
              </a:rPr>
              <a:t>Logistic Regression</a:t>
            </a:r>
          </a:p>
        </p:txBody>
      </p:sp>
      <p:sp>
        <p:nvSpPr>
          <p:cNvPr id="5" name="TextBox 5"/>
          <p:cNvSpPr txBox="1"/>
          <p:nvPr/>
        </p:nvSpPr>
        <p:spPr>
          <a:xfrm>
            <a:off x="2003630" y="6109308"/>
            <a:ext cx="5584414" cy="559681"/>
          </a:xfrm>
          <a:prstGeom prst="rect">
            <a:avLst/>
          </a:prstGeom>
        </p:spPr>
        <p:txBody>
          <a:bodyPr lIns="0" tIns="0" rIns="0" bIns="0" rtlCol="0" anchor="t">
            <a:spAutoFit/>
          </a:bodyPr>
          <a:lstStyle/>
          <a:p>
            <a:pPr algn="l">
              <a:lnSpc>
                <a:spcPts val="4068"/>
              </a:lnSpc>
              <a:spcBef>
                <a:spcPct val="0"/>
              </a:spcBef>
            </a:pPr>
            <a:r>
              <a:rPr lang="en-US" sz="3000" b="1">
                <a:solidFill>
                  <a:srgbClr val="0088B6"/>
                </a:solidFill>
                <a:latin typeface="Arial MT Pro Bold"/>
                <a:ea typeface="Arial MT Pro Bold"/>
                <a:cs typeface="Arial MT Pro Bold"/>
                <a:sym typeface="Arial MT Pro Bold"/>
              </a:rPr>
              <a:t>Support Vector Machine (SVM)</a:t>
            </a:r>
          </a:p>
        </p:txBody>
      </p:sp>
      <p:sp>
        <p:nvSpPr>
          <p:cNvPr id="6" name="TextBox 6"/>
          <p:cNvSpPr txBox="1"/>
          <p:nvPr/>
        </p:nvSpPr>
        <p:spPr>
          <a:xfrm>
            <a:off x="1076195" y="6903160"/>
            <a:ext cx="7486780" cy="2779776"/>
          </a:xfrm>
          <a:prstGeom prst="rect">
            <a:avLst/>
          </a:prstGeom>
        </p:spPr>
        <p:txBody>
          <a:bodyPr lIns="0" tIns="0" rIns="0" bIns="0" rtlCol="0" anchor="t">
            <a:spAutoFit/>
          </a:bodyPr>
          <a:lstStyle/>
          <a:p>
            <a:pPr marL="431802" lvl="1" indent="-215901" algn="just">
              <a:lnSpc>
                <a:spcPts val="2712"/>
              </a:lnSpc>
              <a:buFont typeface="Arial"/>
              <a:buChar char="•"/>
            </a:pPr>
            <a:r>
              <a:rPr lang="en-US" sz="2000">
                <a:solidFill>
                  <a:srgbClr val="000000"/>
                </a:solidFill>
                <a:latin typeface="Arial MT Pro"/>
                <a:ea typeface="Arial MT Pro"/>
                <a:cs typeface="Arial MT Pro"/>
                <a:sym typeface="Arial MT Pro"/>
              </a:rPr>
              <a:t>Had the </a:t>
            </a:r>
            <a:r>
              <a:rPr lang="en-US" sz="2000" b="1">
                <a:solidFill>
                  <a:srgbClr val="000000"/>
                </a:solidFill>
                <a:latin typeface="Arial MT Pro Bold"/>
                <a:ea typeface="Arial MT Pro Bold"/>
                <a:cs typeface="Arial MT Pro Bold"/>
                <a:sym typeface="Arial MT Pro Bold"/>
              </a:rPr>
              <a:t>lowest accuracy</a:t>
            </a:r>
            <a:r>
              <a:rPr lang="en-US" sz="2000">
                <a:solidFill>
                  <a:srgbClr val="000000"/>
                </a:solidFill>
                <a:latin typeface="Arial MT Pro"/>
                <a:ea typeface="Arial MT Pro"/>
                <a:cs typeface="Arial MT Pro"/>
                <a:sym typeface="Arial MT Pro"/>
              </a:rPr>
              <a:t> (78.68%) among the four, but compensated with a </a:t>
            </a:r>
            <a:r>
              <a:rPr lang="en-US" sz="2000" b="1">
                <a:solidFill>
                  <a:srgbClr val="000000"/>
                </a:solidFill>
                <a:latin typeface="Arial MT Pro Bold"/>
                <a:ea typeface="Arial MT Pro Bold"/>
                <a:cs typeface="Arial MT Pro Bold"/>
                <a:sym typeface="Arial MT Pro Bold"/>
              </a:rPr>
              <a:t>strong PR AUC</a:t>
            </a:r>
            <a:r>
              <a:rPr lang="en-US" sz="2000">
                <a:solidFill>
                  <a:srgbClr val="000000"/>
                </a:solidFill>
                <a:latin typeface="Arial MT Pro"/>
                <a:ea typeface="Arial MT Pro"/>
                <a:cs typeface="Arial MT Pro"/>
                <a:sym typeface="Arial MT Pro"/>
              </a:rPr>
              <a:t> (-0.8559) and ROC AUC (0.8901).</a:t>
            </a:r>
          </a:p>
          <a:p>
            <a:pPr marL="431802" lvl="1" indent="-215901" algn="just">
              <a:lnSpc>
                <a:spcPts val="2712"/>
              </a:lnSpc>
              <a:buFont typeface="Arial"/>
              <a:buChar char="•"/>
            </a:pPr>
            <a:r>
              <a:rPr lang="en-US" sz="2000">
                <a:solidFill>
                  <a:srgbClr val="000000"/>
                </a:solidFill>
                <a:latin typeface="Arial MT Pro"/>
                <a:ea typeface="Arial MT Pro"/>
                <a:cs typeface="Arial MT Pro"/>
                <a:sym typeface="Arial MT Pro"/>
              </a:rPr>
              <a:t>Showed improved recall on </a:t>
            </a:r>
            <a:r>
              <a:rPr lang="en-US" sz="2000" u="none">
                <a:solidFill>
                  <a:srgbClr val="000000"/>
                </a:solidFill>
                <a:latin typeface="Arial MT Pro"/>
                <a:ea typeface="Arial MT Pro"/>
                <a:cs typeface="Arial MT Pro"/>
                <a:sym typeface="Arial MT Pro"/>
              </a:rPr>
              <a:t>minority classes</a:t>
            </a:r>
            <a:r>
              <a:rPr lang="en-US" sz="2000">
                <a:solidFill>
                  <a:srgbClr val="000000"/>
                </a:solidFill>
                <a:latin typeface="Arial MT Pro"/>
                <a:ea typeface="Arial MT Pro"/>
                <a:cs typeface="Arial MT Pro"/>
                <a:sym typeface="Arial MT Pro"/>
              </a:rPr>
              <a:t> after SMOTE, including better recognition of </a:t>
            </a:r>
            <a:r>
              <a:rPr lang="en-US" sz="2000" b="1">
                <a:solidFill>
                  <a:srgbClr val="000000"/>
                </a:solidFill>
                <a:latin typeface="Arial MT Pro Bold"/>
                <a:ea typeface="Arial MT Pro Bold"/>
                <a:cs typeface="Arial MT Pro Bold"/>
                <a:sym typeface="Arial MT Pro Bold"/>
              </a:rPr>
              <a:t>Sea Disaster</a:t>
            </a:r>
            <a:r>
              <a:rPr lang="en-US" sz="2000">
                <a:solidFill>
                  <a:srgbClr val="000000"/>
                </a:solidFill>
                <a:latin typeface="Arial MT Pro"/>
                <a:ea typeface="Arial MT Pro"/>
                <a:cs typeface="Arial MT Pro"/>
                <a:sym typeface="Arial MT Pro"/>
              </a:rPr>
              <a:t> and </a:t>
            </a:r>
            <a:r>
              <a:rPr lang="en-US" sz="2000" b="1">
                <a:solidFill>
                  <a:srgbClr val="000000"/>
                </a:solidFill>
                <a:latin typeface="Arial MT Pro Bold"/>
                <a:ea typeface="Arial MT Pro Bold"/>
                <a:cs typeface="Arial MT Pro Bold"/>
                <a:sym typeface="Arial MT Pro Bold"/>
              </a:rPr>
              <a:t>Provoked</a:t>
            </a:r>
            <a:r>
              <a:rPr lang="en-US" sz="2000">
                <a:solidFill>
                  <a:srgbClr val="000000"/>
                </a:solidFill>
                <a:latin typeface="Arial MT Pro"/>
                <a:ea typeface="Arial MT Pro"/>
                <a:cs typeface="Arial MT Pro"/>
                <a:sym typeface="Arial MT Pro"/>
              </a:rPr>
              <a:t> attacks.</a:t>
            </a:r>
          </a:p>
          <a:p>
            <a:pPr marL="431802" lvl="1" indent="-215901" algn="just">
              <a:lnSpc>
                <a:spcPts val="2712"/>
              </a:lnSpc>
              <a:buFont typeface="Arial"/>
              <a:buChar char="•"/>
            </a:pPr>
            <a:r>
              <a:rPr lang="en-US" sz="2000">
                <a:solidFill>
                  <a:srgbClr val="000000"/>
                </a:solidFill>
                <a:latin typeface="Arial MT Pro"/>
                <a:ea typeface="Arial MT Pro"/>
                <a:cs typeface="Arial MT Pro"/>
                <a:sym typeface="Arial MT Pro"/>
              </a:rPr>
              <a:t>Best used when </a:t>
            </a:r>
            <a:r>
              <a:rPr lang="en-US" sz="2000" b="1">
                <a:solidFill>
                  <a:srgbClr val="000000"/>
                </a:solidFill>
                <a:latin typeface="Arial MT Pro Bold"/>
                <a:ea typeface="Arial MT Pro Bold"/>
                <a:cs typeface="Arial MT Pro Bold"/>
                <a:sym typeface="Arial MT Pro Bold"/>
              </a:rPr>
              <a:t>minimizing false negatives</a:t>
            </a:r>
            <a:r>
              <a:rPr lang="en-US" sz="2000">
                <a:solidFill>
                  <a:srgbClr val="000000"/>
                </a:solidFill>
                <a:latin typeface="Arial MT Pro"/>
                <a:ea typeface="Arial MT Pro"/>
                <a:cs typeface="Arial MT Pro"/>
                <a:sym typeface="Arial MT Pro"/>
              </a:rPr>
              <a:t> is critical, though slightly less reliable in overall probability calibration.</a:t>
            </a:r>
          </a:p>
        </p:txBody>
      </p:sp>
      <p:sp>
        <p:nvSpPr>
          <p:cNvPr id="7" name="TextBox 7"/>
          <p:cNvSpPr txBox="1"/>
          <p:nvPr/>
        </p:nvSpPr>
        <p:spPr>
          <a:xfrm>
            <a:off x="12181277" y="6109308"/>
            <a:ext cx="2792207" cy="559681"/>
          </a:xfrm>
          <a:prstGeom prst="rect">
            <a:avLst/>
          </a:prstGeom>
        </p:spPr>
        <p:txBody>
          <a:bodyPr lIns="0" tIns="0" rIns="0" bIns="0" rtlCol="0" anchor="t">
            <a:spAutoFit/>
          </a:bodyPr>
          <a:lstStyle/>
          <a:p>
            <a:pPr algn="just">
              <a:lnSpc>
                <a:spcPts val="4068"/>
              </a:lnSpc>
              <a:spcBef>
                <a:spcPct val="0"/>
              </a:spcBef>
            </a:pPr>
            <a:r>
              <a:rPr lang="en-US" sz="3000" b="1">
                <a:solidFill>
                  <a:srgbClr val="0088B6"/>
                </a:solidFill>
                <a:latin typeface="Arial MT Pro Bold"/>
                <a:ea typeface="Arial MT Pro Bold"/>
                <a:cs typeface="Arial MT Pro Bold"/>
                <a:sym typeface="Arial MT Pro Bold"/>
              </a:rPr>
              <a:t>Random Forest</a:t>
            </a:r>
          </a:p>
        </p:txBody>
      </p:sp>
      <p:sp>
        <p:nvSpPr>
          <p:cNvPr id="8" name="TextBox 8"/>
          <p:cNvSpPr txBox="1"/>
          <p:nvPr/>
        </p:nvSpPr>
        <p:spPr>
          <a:xfrm>
            <a:off x="12338227" y="1426536"/>
            <a:ext cx="2478307" cy="559681"/>
          </a:xfrm>
          <a:prstGeom prst="rect">
            <a:avLst/>
          </a:prstGeom>
        </p:spPr>
        <p:txBody>
          <a:bodyPr lIns="0" tIns="0" rIns="0" bIns="0" rtlCol="0" anchor="t">
            <a:spAutoFit/>
          </a:bodyPr>
          <a:lstStyle/>
          <a:p>
            <a:pPr algn="just">
              <a:lnSpc>
                <a:spcPts val="4068"/>
              </a:lnSpc>
              <a:spcBef>
                <a:spcPct val="0"/>
              </a:spcBef>
            </a:pPr>
            <a:r>
              <a:rPr lang="en-US" sz="3000" b="1">
                <a:solidFill>
                  <a:srgbClr val="0088B6"/>
                </a:solidFill>
                <a:latin typeface="Arial MT Pro Bold"/>
                <a:ea typeface="Arial MT Pro Bold"/>
                <a:cs typeface="Arial MT Pro Bold"/>
                <a:sym typeface="Arial MT Pro Bold"/>
              </a:rPr>
              <a:t>Decision Tree</a:t>
            </a:r>
          </a:p>
        </p:txBody>
      </p:sp>
      <p:sp>
        <p:nvSpPr>
          <p:cNvPr id="9" name="TextBox 9"/>
          <p:cNvSpPr txBox="1"/>
          <p:nvPr/>
        </p:nvSpPr>
        <p:spPr>
          <a:xfrm>
            <a:off x="9995502" y="2363724"/>
            <a:ext cx="6849857" cy="3122676"/>
          </a:xfrm>
          <a:prstGeom prst="rect">
            <a:avLst/>
          </a:prstGeom>
        </p:spPr>
        <p:txBody>
          <a:bodyPr lIns="0" tIns="0" rIns="0" bIns="0" rtlCol="0" anchor="t">
            <a:spAutoFit/>
          </a:bodyPr>
          <a:lstStyle/>
          <a:p>
            <a:pPr marL="431802" lvl="1" indent="-215901" algn="just">
              <a:lnSpc>
                <a:spcPts val="2712"/>
              </a:lnSpc>
              <a:buFont typeface="Arial"/>
              <a:buChar char="•"/>
            </a:pPr>
            <a:r>
              <a:rPr lang="en-US" sz="2000">
                <a:solidFill>
                  <a:srgbClr val="000000"/>
                </a:solidFill>
                <a:latin typeface="Arial MT Pro"/>
                <a:ea typeface="Arial MT Pro"/>
                <a:cs typeface="Arial MT Pro"/>
                <a:sym typeface="Arial MT Pro"/>
              </a:rPr>
              <a:t>Reached an accuracy of</a:t>
            </a:r>
            <a:r>
              <a:rPr lang="en-US" sz="2000" b="1">
                <a:solidFill>
                  <a:srgbClr val="000000"/>
                </a:solidFill>
                <a:latin typeface="Arial MT Pro Bold"/>
                <a:ea typeface="Arial MT Pro Bold"/>
                <a:cs typeface="Arial MT Pro Bold"/>
                <a:sym typeface="Arial MT Pro Bold"/>
              </a:rPr>
              <a:t> 82.86%</a:t>
            </a:r>
            <a:r>
              <a:rPr lang="en-US" sz="2000">
                <a:solidFill>
                  <a:srgbClr val="000000"/>
                </a:solidFill>
                <a:latin typeface="Arial MT Pro"/>
                <a:ea typeface="Arial MT Pro"/>
                <a:cs typeface="Arial MT Pro"/>
                <a:sym typeface="Arial MT Pro"/>
              </a:rPr>
              <a:t>, slightly behind Logistic Regression,</a:t>
            </a:r>
            <a:r>
              <a:rPr lang="en-US" sz="2000" b="1">
                <a:solidFill>
                  <a:srgbClr val="000000"/>
                </a:solidFill>
                <a:latin typeface="Arial MT Pro Bold"/>
                <a:ea typeface="Arial MT Pro Bold"/>
                <a:cs typeface="Arial MT Pro Bold"/>
                <a:sym typeface="Arial MT Pro Bold"/>
              </a:rPr>
              <a:t> but with lower precision on minority classes</a:t>
            </a:r>
            <a:r>
              <a:rPr lang="en-US" sz="2000">
                <a:solidFill>
                  <a:srgbClr val="000000"/>
                </a:solidFill>
                <a:latin typeface="Arial MT Pro"/>
                <a:ea typeface="Arial MT Pro"/>
                <a:cs typeface="Arial MT Pro"/>
                <a:sym typeface="Arial MT Pro"/>
              </a:rPr>
              <a:t>.</a:t>
            </a:r>
          </a:p>
          <a:p>
            <a:pPr marL="431802" lvl="1" indent="-215901" algn="just">
              <a:lnSpc>
                <a:spcPts val="2712"/>
              </a:lnSpc>
              <a:buFont typeface="Arial"/>
              <a:buChar char="•"/>
            </a:pPr>
            <a:r>
              <a:rPr lang="en-US" sz="2000">
                <a:solidFill>
                  <a:srgbClr val="000000"/>
                </a:solidFill>
                <a:latin typeface="Arial MT Pro"/>
                <a:ea typeface="Arial MT Pro"/>
                <a:cs typeface="Arial MT Pro"/>
                <a:sym typeface="Arial MT Pro"/>
              </a:rPr>
              <a:t>Performed well on majority classes but showed </a:t>
            </a:r>
            <a:r>
              <a:rPr lang="en-US" sz="2000" b="1">
                <a:solidFill>
                  <a:srgbClr val="000000"/>
                </a:solidFill>
                <a:latin typeface="Arial MT Pro Bold"/>
                <a:ea typeface="Arial MT Pro Bold"/>
                <a:cs typeface="Arial MT Pro Bold"/>
                <a:sym typeface="Arial MT Pro Bold"/>
              </a:rPr>
              <a:t>moderate </a:t>
            </a:r>
            <a:r>
              <a:rPr lang="en-US" sz="2000" b="1" u="none">
                <a:solidFill>
                  <a:srgbClr val="000000"/>
                </a:solidFill>
                <a:latin typeface="Arial MT Pro Bold"/>
                <a:ea typeface="Arial MT Pro Bold"/>
                <a:cs typeface="Arial MT Pro Bold"/>
                <a:sym typeface="Arial MT Pro Bold"/>
              </a:rPr>
              <a:t>overfitting risk</a:t>
            </a:r>
            <a:r>
              <a:rPr lang="en-US" sz="2000" b="1">
                <a:solidFill>
                  <a:srgbClr val="000000"/>
                </a:solidFill>
                <a:latin typeface="Arial MT Pro Bold"/>
                <a:ea typeface="Arial MT Pro Bold"/>
                <a:cs typeface="Arial MT Pro Bold"/>
                <a:sym typeface="Arial MT Pro Bold"/>
              </a:rPr>
              <a:t>s</a:t>
            </a:r>
            <a:r>
              <a:rPr lang="en-US" sz="2000">
                <a:solidFill>
                  <a:srgbClr val="000000"/>
                </a:solidFill>
                <a:latin typeface="Arial MT Pro"/>
                <a:ea typeface="Arial MT Pro"/>
                <a:cs typeface="Arial MT Pro"/>
                <a:sym typeface="Arial MT Pro"/>
              </a:rPr>
              <a:t>, as evidenced by lower </a:t>
            </a:r>
            <a:r>
              <a:rPr lang="en-US" sz="2000" u="none">
                <a:solidFill>
                  <a:srgbClr val="000000"/>
                </a:solidFill>
                <a:latin typeface="Arial MT Pro"/>
                <a:ea typeface="Arial MT Pro"/>
                <a:cs typeface="Arial MT Pro"/>
                <a:sym typeface="Arial MT Pro"/>
              </a:rPr>
              <a:t>macro F1-score (0.57)</a:t>
            </a:r>
            <a:r>
              <a:rPr lang="en-US" sz="2000">
                <a:solidFill>
                  <a:srgbClr val="000000"/>
                </a:solidFill>
                <a:latin typeface="Arial MT Pro"/>
                <a:ea typeface="Arial MT Pro"/>
                <a:cs typeface="Arial MT Pro"/>
                <a:sym typeface="Arial MT Pro"/>
              </a:rPr>
              <a:t>.</a:t>
            </a:r>
          </a:p>
          <a:p>
            <a:pPr marL="431802" lvl="1" indent="-215901" algn="just">
              <a:lnSpc>
                <a:spcPts val="2712"/>
              </a:lnSpc>
              <a:buFont typeface="Arial"/>
              <a:buChar char="•"/>
            </a:pPr>
            <a:r>
              <a:rPr lang="en-US" sz="2000">
                <a:solidFill>
                  <a:srgbClr val="000000"/>
                </a:solidFill>
                <a:latin typeface="Arial MT Pro"/>
                <a:ea typeface="Arial MT Pro"/>
                <a:cs typeface="Arial MT Pro"/>
                <a:sym typeface="Arial MT Pro"/>
              </a:rPr>
              <a:t>AUC metrics (ROC AUC: 0.7646; PR AUC:</a:t>
            </a:r>
            <a:r>
              <a:rPr lang="en-US" sz="2000" u="none">
                <a:solidFill>
                  <a:srgbClr val="000000"/>
                </a:solidFill>
                <a:latin typeface="Arial MT Pro"/>
                <a:ea typeface="Arial MT Pro"/>
                <a:cs typeface="Arial MT Pro"/>
                <a:sym typeface="Arial MT Pro"/>
              </a:rPr>
              <a:t> -0.8429)</a:t>
            </a:r>
            <a:r>
              <a:rPr lang="en-US" sz="2000">
                <a:solidFill>
                  <a:srgbClr val="000000"/>
                </a:solidFill>
                <a:latin typeface="Arial MT Pro"/>
                <a:ea typeface="Arial MT Pro"/>
                <a:cs typeface="Arial MT Pro"/>
                <a:sym typeface="Arial MT Pro"/>
              </a:rPr>
              <a:t> indica</a:t>
            </a:r>
            <a:r>
              <a:rPr lang="en-US" sz="2000" u="none">
                <a:solidFill>
                  <a:srgbClr val="000000"/>
                </a:solidFill>
                <a:latin typeface="Arial MT Pro"/>
                <a:ea typeface="Arial MT Pro"/>
                <a:cs typeface="Arial MT Pro"/>
                <a:sym typeface="Arial MT Pro"/>
              </a:rPr>
              <a:t>t</a:t>
            </a:r>
            <a:r>
              <a:rPr lang="en-US" sz="2000">
                <a:solidFill>
                  <a:srgbClr val="000000"/>
                </a:solidFill>
                <a:latin typeface="Arial MT Pro"/>
                <a:ea typeface="Arial MT Pro"/>
                <a:cs typeface="Arial MT Pro"/>
                <a:sym typeface="Arial MT Pro"/>
              </a:rPr>
              <a:t>e</a:t>
            </a:r>
            <a:r>
              <a:rPr lang="en-US" sz="2000" u="none">
                <a:solidFill>
                  <a:srgbClr val="000000"/>
                </a:solidFill>
                <a:latin typeface="Arial MT Pro"/>
                <a:ea typeface="Arial MT Pro"/>
                <a:cs typeface="Arial MT Pro"/>
                <a:sym typeface="Arial MT Pro"/>
              </a:rPr>
              <a:t> i</a:t>
            </a:r>
            <a:r>
              <a:rPr lang="en-US" sz="2000">
                <a:solidFill>
                  <a:srgbClr val="000000"/>
                </a:solidFill>
                <a:latin typeface="Arial MT Pro"/>
                <a:ea typeface="Arial MT Pro"/>
                <a:cs typeface="Arial MT Pro"/>
                <a:sym typeface="Arial MT Pro"/>
              </a:rPr>
              <a:t>t wa</a:t>
            </a:r>
            <a:r>
              <a:rPr lang="en-US" sz="2000" u="none">
                <a:solidFill>
                  <a:srgbClr val="000000"/>
                </a:solidFill>
                <a:latin typeface="Arial MT Pro"/>
                <a:ea typeface="Arial MT Pro"/>
                <a:cs typeface="Arial MT Pro"/>
                <a:sym typeface="Arial MT Pro"/>
              </a:rPr>
              <a:t>s</a:t>
            </a:r>
            <a:r>
              <a:rPr lang="en-US" sz="2000">
                <a:solidFill>
                  <a:srgbClr val="000000"/>
                </a:solidFill>
                <a:latin typeface="Arial MT Pro"/>
                <a:ea typeface="Arial MT Pro"/>
                <a:cs typeface="Arial MT Pro"/>
                <a:sym typeface="Arial MT Pro"/>
              </a:rPr>
              <a:t> </a:t>
            </a:r>
            <a:r>
              <a:rPr lang="en-US" sz="2000" u="none">
                <a:solidFill>
                  <a:srgbClr val="000000"/>
                </a:solidFill>
                <a:latin typeface="Arial MT Pro"/>
                <a:ea typeface="Arial MT Pro"/>
                <a:cs typeface="Arial MT Pro"/>
                <a:sym typeface="Arial MT Pro"/>
              </a:rPr>
              <a:t>l</a:t>
            </a:r>
            <a:r>
              <a:rPr lang="en-US" sz="2000">
                <a:solidFill>
                  <a:srgbClr val="000000"/>
                </a:solidFill>
                <a:latin typeface="Arial MT Pro"/>
                <a:ea typeface="Arial MT Pro"/>
                <a:cs typeface="Arial MT Pro"/>
                <a:sym typeface="Arial MT Pro"/>
              </a:rPr>
              <a:t>e</a:t>
            </a:r>
            <a:r>
              <a:rPr lang="en-US" sz="2000" u="none">
                <a:solidFill>
                  <a:srgbClr val="000000"/>
                </a:solidFill>
                <a:latin typeface="Arial MT Pro"/>
                <a:ea typeface="Arial MT Pro"/>
                <a:cs typeface="Arial MT Pro"/>
                <a:sym typeface="Arial MT Pro"/>
              </a:rPr>
              <a:t>ss</a:t>
            </a:r>
            <a:r>
              <a:rPr lang="en-US" sz="2000">
                <a:solidFill>
                  <a:srgbClr val="000000"/>
                </a:solidFill>
                <a:latin typeface="Arial MT Pro"/>
                <a:ea typeface="Arial MT Pro"/>
                <a:cs typeface="Arial MT Pro"/>
                <a:sym typeface="Arial MT Pro"/>
              </a:rPr>
              <a:t> stable </a:t>
            </a:r>
            <a:r>
              <a:rPr lang="en-US" sz="2000" u="none">
                <a:solidFill>
                  <a:srgbClr val="000000"/>
                </a:solidFill>
                <a:latin typeface="Arial MT Pro"/>
                <a:ea typeface="Arial MT Pro"/>
                <a:cs typeface="Arial MT Pro"/>
                <a:sym typeface="Arial MT Pro"/>
              </a:rPr>
              <a:t>f</a:t>
            </a:r>
            <a:r>
              <a:rPr lang="en-US" sz="2000">
                <a:solidFill>
                  <a:srgbClr val="000000"/>
                </a:solidFill>
                <a:latin typeface="Arial MT Pro"/>
                <a:ea typeface="Arial MT Pro"/>
                <a:cs typeface="Arial MT Pro"/>
                <a:sym typeface="Arial MT Pro"/>
              </a:rPr>
              <a:t>or</a:t>
            </a:r>
            <a:r>
              <a:rPr lang="en-US" sz="2000" u="none">
                <a:solidFill>
                  <a:srgbClr val="000000"/>
                </a:solidFill>
                <a:latin typeface="Arial MT Pro"/>
                <a:ea typeface="Arial MT Pro"/>
                <a:cs typeface="Arial MT Pro"/>
                <a:sym typeface="Arial MT Pro"/>
              </a:rPr>
              <a:t> </a:t>
            </a:r>
            <a:r>
              <a:rPr lang="en-US" sz="2000">
                <a:solidFill>
                  <a:srgbClr val="000000"/>
                </a:solidFill>
                <a:latin typeface="Arial MT Pro"/>
                <a:ea typeface="Arial MT Pro"/>
                <a:cs typeface="Arial MT Pro"/>
                <a:sym typeface="Arial MT Pro"/>
              </a:rPr>
              <a:t>gene</a:t>
            </a:r>
            <a:r>
              <a:rPr lang="en-US" sz="2000" u="none">
                <a:solidFill>
                  <a:srgbClr val="000000"/>
                </a:solidFill>
                <a:latin typeface="Arial MT Pro"/>
                <a:ea typeface="Arial MT Pro"/>
                <a:cs typeface="Arial MT Pro"/>
                <a:sym typeface="Arial MT Pro"/>
              </a:rPr>
              <a:t>r</a:t>
            </a:r>
            <a:r>
              <a:rPr lang="en-US" sz="2000">
                <a:solidFill>
                  <a:srgbClr val="000000"/>
                </a:solidFill>
                <a:latin typeface="Arial MT Pro"/>
                <a:ea typeface="Arial MT Pro"/>
                <a:cs typeface="Arial MT Pro"/>
                <a:sym typeface="Arial MT Pro"/>
              </a:rPr>
              <a:t>alizati</a:t>
            </a:r>
            <a:r>
              <a:rPr lang="en-US" sz="2000" u="none">
                <a:solidFill>
                  <a:srgbClr val="000000"/>
                </a:solidFill>
                <a:latin typeface="Arial MT Pro"/>
                <a:ea typeface="Arial MT Pro"/>
                <a:cs typeface="Arial MT Pro"/>
                <a:sym typeface="Arial MT Pro"/>
              </a:rPr>
              <a:t>o</a:t>
            </a:r>
            <a:r>
              <a:rPr lang="en-US" sz="2000">
                <a:solidFill>
                  <a:srgbClr val="000000"/>
                </a:solidFill>
                <a:latin typeface="Arial MT Pro"/>
                <a:ea typeface="Arial MT Pro"/>
                <a:cs typeface="Arial MT Pro"/>
                <a:sym typeface="Arial MT Pro"/>
              </a:rPr>
              <a:t>n </a:t>
            </a:r>
            <a:r>
              <a:rPr lang="en-US" sz="2000" u="none">
                <a:solidFill>
                  <a:srgbClr val="000000"/>
                </a:solidFill>
                <a:latin typeface="Arial MT Pro"/>
                <a:ea typeface="Arial MT Pro"/>
                <a:cs typeface="Arial MT Pro"/>
                <a:sym typeface="Arial MT Pro"/>
              </a:rPr>
              <a:t>o</a:t>
            </a:r>
            <a:r>
              <a:rPr lang="en-US" sz="2000">
                <a:solidFill>
                  <a:srgbClr val="000000"/>
                </a:solidFill>
                <a:latin typeface="Arial MT Pro"/>
                <a:ea typeface="Arial MT Pro"/>
                <a:cs typeface="Arial MT Pro"/>
                <a:sym typeface="Arial MT Pro"/>
              </a:rPr>
              <a:t>n</a:t>
            </a:r>
            <a:r>
              <a:rPr lang="en-US" sz="2000" u="none">
                <a:solidFill>
                  <a:srgbClr val="000000"/>
                </a:solidFill>
                <a:latin typeface="Arial MT Pro"/>
                <a:ea typeface="Arial MT Pro"/>
                <a:cs typeface="Arial MT Pro"/>
                <a:sym typeface="Arial MT Pro"/>
              </a:rPr>
              <a:t> </a:t>
            </a:r>
            <a:r>
              <a:rPr lang="en-US" sz="2000">
                <a:solidFill>
                  <a:srgbClr val="000000"/>
                </a:solidFill>
                <a:latin typeface="Arial MT Pro"/>
                <a:ea typeface="Arial MT Pro"/>
                <a:cs typeface="Arial MT Pro"/>
                <a:sym typeface="Arial MT Pro"/>
              </a:rPr>
              <a:t>r</a:t>
            </a:r>
            <a:r>
              <a:rPr lang="en-US" sz="2000" u="none">
                <a:solidFill>
                  <a:srgbClr val="000000"/>
                </a:solidFill>
                <a:latin typeface="Arial MT Pro"/>
                <a:ea typeface="Arial MT Pro"/>
                <a:cs typeface="Arial MT Pro"/>
                <a:sym typeface="Arial MT Pro"/>
              </a:rPr>
              <a:t>a</a:t>
            </a:r>
            <a:r>
              <a:rPr lang="en-US" sz="2000">
                <a:solidFill>
                  <a:srgbClr val="000000"/>
                </a:solidFill>
                <a:latin typeface="Arial MT Pro"/>
                <a:ea typeface="Arial MT Pro"/>
                <a:cs typeface="Arial MT Pro"/>
                <a:sym typeface="Arial MT Pro"/>
              </a:rPr>
              <a:t>re incident types.</a:t>
            </a:r>
          </a:p>
        </p:txBody>
      </p:sp>
      <p:sp>
        <p:nvSpPr>
          <p:cNvPr id="10" name="AutoShape 10"/>
          <p:cNvSpPr/>
          <p:nvPr/>
        </p:nvSpPr>
        <p:spPr>
          <a:xfrm flipH="1">
            <a:off x="1076195" y="5852133"/>
            <a:ext cx="16230600" cy="0"/>
          </a:xfrm>
          <a:prstGeom prst="line">
            <a:avLst/>
          </a:prstGeom>
          <a:ln w="38100" cap="flat">
            <a:solidFill>
              <a:srgbClr val="000000"/>
            </a:solidFill>
            <a:prstDash val="solid"/>
            <a:headEnd type="none" w="sm" len="sm"/>
            <a:tailEnd type="none" w="sm" len="sm"/>
          </a:ln>
        </p:spPr>
      </p:sp>
      <p:sp>
        <p:nvSpPr>
          <p:cNvPr id="11" name="AutoShape 11"/>
          <p:cNvSpPr/>
          <p:nvPr/>
        </p:nvSpPr>
        <p:spPr>
          <a:xfrm>
            <a:off x="9144000" y="1922828"/>
            <a:ext cx="0" cy="7760109"/>
          </a:xfrm>
          <a:prstGeom prst="line">
            <a:avLst/>
          </a:prstGeom>
          <a:ln w="38100" cap="flat">
            <a:solidFill>
              <a:srgbClr val="000000"/>
            </a:solidFill>
            <a:prstDash val="solid"/>
            <a:headEnd type="none" w="sm" len="sm"/>
            <a:tailEnd type="none" w="sm" len="sm"/>
          </a:ln>
        </p:spPr>
      </p:sp>
      <p:sp>
        <p:nvSpPr>
          <p:cNvPr id="12" name="TextBox 12"/>
          <p:cNvSpPr txBox="1"/>
          <p:nvPr/>
        </p:nvSpPr>
        <p:spPr>
          <a:xfrm>
            <a:off x="9995502" y="6903160"/>
            <a:ext cx="6849857" cy="2779776"/>
          </a:xfrm>
          <a:prstGeom prst="rect">
            <a:avLst/>
          </a:prstGeom>
        </p:spPr>
        <p:txBody>
          <a:bodyPr lIns="0" tIns="0" rIns="0" bIns="0" rtlCol="0" anchor="t">
            <a:spAutoFit/>
          </a:bodyPr>
          <a:lstStyle/>
          <a:p>
            <a:pPr marL="431802" lvl="1" indent="-215901" algn="just">
              <a:lnSpc>
                <a:spcPts val="2712"/>
              </a:lnSpc>
              <a:buFont typeface="Arial"/>
              <a:buChar char="•"/>
            </a:pPr>
            <a:r>
              <a:rPr lang="en-US" sz="2000">
                <a:solidFill>
                  <a:srgbClr val="000000"/>
                </a:solidFill>
                <a:latin typeface="Arial MT Pro"/>
                <a:ea typeface="Arial MT Pro"/>
                <a:cs typeface="Arial MT Pro"/>
                <a:sym typeface="Arial MT Pro"/>
              </a:rPr>
              <a:t>Delivered strong accuracy </a:t>
            </a:r>
            <a:r>
              <a:rPr lang="en-US" sz="2000" b="1">
                <a:solidFill>
                  <a:srgbClr val="000000"/>
                </a:solidFill>
                <a:latin typeface="Arial MT Pro Bold"/>
                <a:ea typeface="Arial MT Pro Bold"/>
                <a:cs typeface="Arial MT Pro Bold"/>
                <a:sym typeface="Arial MT Pro Bold"/>
              </a:rPr>
              <a:t>(85.57%)</a:t>
            </a:r>
            <a:r>
              <a:rPr lang="en-US" sz="2000">
                <a:solidFill>
                  <a:srgbClr val="000000"/>
                </a:solidFill>
                <a:latin typeface="Arial MT Pro"/>
                <a:ea typeface="Arial MT Pro"/>
                <a:cs typeface="Arial MT Pro"/>
                <a:sym typeface="Arial MT Pro"/>
              </a:rPr>
              <a:t> and </a:t>
            </a:r>
            <a:r>
              <a:rPr lang="en-US" sz="2000" b="1">
                <a:solidFill>
                  <a:srgbClr val="000000"/>
                </a:solidFill>
                <a:latin typeface="Arial MT Pro Bold"/>
                <a:ea typeface="Arial MT Pro Bold"/>
                <a:cs typeface="Arial MT Pro Bold"/>
                <a:sym typeface="Arial MT Pro Bold"/>
              </a:rPr>
              <a:t>good PR AUC</a:t>
            </a:r>
            <a:r>
              <a:rPr lang="en-US" sz="2000">
                <a:solidFill>
                  <a:srgbClr val="000000"/>
                </a:solidFill>
                <a:latin typeface="Arial MT Pro"/>
                <a:ea typeface="Arial MT Pro"/>
                <a:cs typeface="Arial MT Pro"/>
                <a:sym typeface="Arial MT Pro"/>
              </a:rPr>
              <a:t> (-0.9216), proving to be robust in classification, especially for Unprovoked attacks.</a:t>
            </a:r>
          </a:p>
          <a:p>
            <a:pPr marL="431802" lvl="1" indent="-215901" algn="just">
              <a:lnSpc>
                <a:spcPts val="2712"/>
              </a:lnSpc>
              <a:buFont typeface="Arial"/>
              <a:buChar char="•"/>
            </a:pPr>
            <a:r>
              <a:rPr lang="en-US" sz="2000">
                <a:solidFill>
                  <a:srgbClr val="000000"/>
                </a:solidFill>
                <a:latin typeface="Arial MT Pro"/>
                <a:ea typeface="Arial MT Pro"/>
                <a:cs typeface="Arial MT Pro"/>
                <a:sym typeface="Arial MT Pro"/>
              </a:rPr>
              <a:t>Underperformed in recall for </a:t>
            </a:r>
            <a:r>
              <a:rPr lang="en-US" sz="2000" b="1">
                <a:solidFill>
                  <a:srgbClr val="000000"/>
                </a:solidFill>
                <a:latin typeface="Arial MT Pro Bold"/>
                <a:ea typeface="Arial MT Pro Bold"/>
                <a:cs typeface="Arial MT Pro Bold"/>
                <a:sym typeface="Arial MT Pro Bold"/>
              </a:rPr>
              <a:t>Provoked </a:t>
            </a:r>
            <a:r>
              <a:rPr lang="en-US" sz="2000">
                <a:solidFill>
                  <a:srgbClr val="000000"/>
                </a:solidFill>
                <a:latin typeface="Arial MT Pro"/>
                <a:ea typeface="Arial MT Pro"/>
                <a:cs typeface="Arial MT Pro"/>
                <a:sym typeface="Arial MT Pro"/>
              </a:rPr>
              <a:t>and </a:t>
            </a:r>
            <a:r>
              <a:rPr lang="en-US" sz="2000" b="1">
                <a:solidFill>
                  <a:srgbClr val="000000"/>
                </a:solidFill>
                <a:latin typeface="Arial MT Pro Bold"/>
                <a:ea typeface="Arial MT Pro Bold"/>
                <a:cs typeface="Arial MT Pro Bold"/>
                <a:sym typeface="Arial MT Pro Bold"/>
              </a:rPr>
              <a:t>Sea Disaster</a:t>
            </a:r>
            <a:r>
              <a:rPr lang="en-US" sz="2000">
                <a:solidFill>
                  <a:srgbClr val="000000"/>
                </a:solidFill>
                <a:latin typeface="Arial MT Pro"/>
                <a:ea typeface="Arial MT Pro"/>
                <a:cs typeface="Arial MT Pro"/>
                <a:sym typeface="Arial MT Pro"/>
              </a:rPr>
              <a:t> classes, suggesting bias toward maj</a:t>
            </a:r>
            <a:r>
              <a:rPr lang="en-US" sz="2000" u="none">
                <a:solidFill>
                  <a:srgbClr val="000000"/>
                </a:solidFill>
                <a:latin typeface="Arial MT Pro"/>
                <a:ea typeface="Arial MT Pro"/>
                <a:cs typeface="Arial MT Pro"/>
                <a:sym typeface="Arial MT Pro"/>
              </a:rPr>
              <a:t>ority clas</a:t>
            </a:r>
            <a:r>
              <a:rPr lang="en-US" sz="2000">
                <a:solidFill>
                  <a:srgbClr val="000000"/>
                </a:solidFill>
                <a:latin typeface="Arial MT Pro"/>
                <a:ea typeface="Arial MT Pro"/>
                <a:cs typeface="Arial MT Pro"/>
                <a:sym typeface="Arial MT Pro"/>
              </a:rPr>
              <a:t>ses despite SMOTE.</a:t>
            </a:r>
          </a:p>
          <a:p>
            <a:pPr marL="431802" lvl="1" indent="-215901" algn="just">
              <a:lnSpc>
                <a:spcPts val="2712"/>
              </a:lnSpc>
              <a:buFont typeface="Arial"/>
              <a:buChar char="•"/>
            </a:pPr>
            <a:r>
              <a:rPr lang="en-US" sz="2000">
                <a:solidFill>
                  <a:srgbClr val="000000"/>
                </a:solidFill>
                <a:latin typeface="Arial MT Pro"/>
                <a:ea typeface="Arial MT Pro"/>
                <a:cs typeface="Arial MT Pro"/>
                <a:sym typeface="Arial MT Pro"/>
              </a:rPr>
              <a:t>Slight drop in </a:t>
            </a:r>
            <a:r>
              <a:rPr lang="en-US" sz="2000" u="none">
                <a:solidFill>
                  <a:srgbClr val="000000"/>
                </a:solidFill>
                <a:latin typeface="Arial MT Pro"/>
                <a:ea typeface="Arial MT Pro"/>
                <a:cs typeface="Arial MT Pro"/>
                <a:sym typeface="Arial MT Pro"/>
              </a:rPr>
              <a:t>macro F1-score (0.</a:t>
            </a:r>
            <a:r>
              <a:rPr lang="en-US" sz="2000">
                <a:solidFill>
                  <a:srgbClr val="000000"/>
                </a:solidFill>
                <a:latin typeface="Arial MT Pro"/>
                <a:ea typeface="Arial MT Pro"/>
                <a:cs typeface="Arial MT Pro"/>
                <a:sym typeface="Arial MT Pro"/>
              </a:rPr>
              <a:t>4</a:t>
            </a:r>
            <a:r>
              <a:rPr lang="en-US" sz="2000" u="none">
                <a:solidFill>
                  <a:srgbClr val="000000"/>
                </a:solidFill>
                <a:latin typeface="Arial MT Pro"/>
                <a:ea typeface="Arial MT Pro"/>
                <a:cs typeface="Arial MT Pro"/>
                <a:sym typeface="Arial MT Pro"/>
              </a:rPr>
              <a:t>9)</a:t>
            </a:r>
            <a:r>
              <a:rPr lang="en-US" sz="2000">
                <a:solidFill>
                  <a:srgbClr val="000000"/>
                </a:solidFill>
                <a:latin typeface="Arial MT Pro"/>
                <a:ea typeface="Arial MT Pro"/>
                <a:cs typeface="Arial MT Pro"/>
                <a:sym typeface="Arial MT Pro"/>
              </a:rPr>
              <a:t> due </a:t>
            </a:r>
            <a:r>
              <a:rPr lang="en-US" sz="2000" u="none">
                <a:solidFill>
                  <a:srgbClr val="000000"/>
                </a:solidFill>
                <a:latin typeface="Arial MT Pro"/>
                <a:ea typeface="Arial MT Pro"/>
                <a:cs typeface="Arial MT Pro"/>
                <a:sym typeface="Arial MT Pro"/>
              </a:rPr>
              <a:t>to i</a:t>
            </a:r>
            <a:r>
              <a:rPr lang="en-US" sz="2000">
                <a:solidFill>
                  <a:srgbClr val="000000"/>
                </a:solidFill>
                <a:latin typeface="Arial MT Pro"/>
                <a:ea typeface="Arial MT Pro"/>
                <a:cs typeface="Arial MT Pro"/>
                <a:sym typeface="Arial MT Pro"/>
              </a:rPr>
              <a:t>t</a:t>
            </a:r>
            <a:r>
              <a:rPr lang="en-US" sz="2000" u="none">
                <a:solidFill>
                  <a:srgbClr val="000000"/>
                </a:solidFill>
                <a:latin typeface="Arial MT Pro"/>
                <a:ea typeface="Arial MT Pro"/>
                <a:cs typeface="Arial MT Pro"/>
                <a:sym typeface="Arial MT Pro"/>
              </a:rPr>
              <a:t>s</a:t>
            </a:r>
            <a:r>
              <a:rPr lang="en-US" sz="2000">
                <a:solidFill>
                  <a:srgbClr val="000000"/>
                </a:solidFill>
                <a:latin typeface="Arial MT Pro"/>
                <a:ea typeface="Arial MT Pro"/>
                <a:cs typeface="Arial MT Pro"/>
                <a:sym typeface="Arial MT Pro"/>
              </a:rPr>
              <a:t> </a:t>
            </a:r>
            <a:r>
              <a:rPr lang="en-US" sz="2000" b="1">
                <a:solidFill>
                  <a:srgbClr val="000000"/>
                </a:solidFill>
                <a:latin typeface="Arial MT Pro Bold"/>
                <a:ea typeface="Arial MT Pro Bold"/>
                <a:cs typeface="Arial MT Pro Bold"/>
                <a:sym typeface="Arial MT Pro Bold"/>
              </a:rPr>
              <a:t>con</a:t>
            </a:r>
            <a:r>
              <a:rPr lang="en-US" sz="2000" b="1" u="none">
                <a:solidFill>
                  <a:srgbClr val="000000"/>
                </a:solidFill>
                <a:latin typeface="Arial MT Pro Bold"/>
                <a:ea typeface="Arial MT Pro Bold"/>
                <a:cs typeface="Arial MT Pro Bold"/>
                <a:sym typeface="Arial MT Pro Bold"/>
              </a:rPr>
              <a:t>servative</a:t>
            </a:r>
            <a:r>
              <a:rPr lang="en-US" sz="2000" b="1">
                <a:solidFill>
                  <a:srgbClr val="000000"/>
                </a:solidFill>
                <a:latin typeface="Arial MT Pro Bold"/>
                <a:ea typeface="Arial MT Pro Bold"/>
                <a:cs typeface="Arial MT Pro Bold"/>
                <a:sym typeface="Arial MT Pro Bold"/>
              </a:rPr>
              <a:t> treatment</a:t>
            </a:r>
            <a:r>
              <a:rPr lang="en-US" sz="2000">
                <a:solidFill>
                  <a:srgbClr val="000000"/>
                </a:solidFill>
                <a:latin typeface="Arial MT Pro"/>
                <a:ea typeface="Arial MT Pro"/>
                <a:cs typeface="Arial MT Pro"/>
                <a:sym typeface="Arial MT Pro"/>
              </a:rPr>
              <a:t> of</a:t>
            </a:r>
            <a:r>
              <a:rPr lang="en-US" sz="2000" u="none">
                <a:solidFill>
                  <a:srgbClr val="000000"/>
                </a:solidFill>
                <a:latin typeface="Arial MT Pro"/>
                <a:ea typeface="Arial MT Pro"/>
                <a:cs typeface="Arial MT Pro"/>
                <a:sym typeface="Arial MT Pro"/>
              </a:rPr>
              <a:t> mi</a:t>
            </a:r>
            <a:r>
              <a:rPr lang="en-US" sz="2000">
                <a:solidFill>
                  <a:srgbClr val="000000"/>
                </a:solidFill>
                <a:latin typeface="Arial MT Pro"/>
                <a:ea typeface="Arial MT Pro"/>
                <a:cs typeface="Arial MT Pro"/>
                <a:sym typeface="Arial MT Pro"/>
              </a:rPr>
              <a:t>no</a:t>
            </a:r>
            <a:r>
              <a:rPr lang="en-US" sz="2000" u="none">
                <a:solidFill>
                  <a:srgbClr val="000000"/>
                </a:solidFill>
                <a:latin typeface="Arial MT Pro"/>
                <a:ea typeface="Arial MT Pro"/>
                <a:cs typeface="Arial MT Pro"/>
                <a:sym typeface="Arial MT Pro"/>
              </a:rPr>
              <a:t>r</a:t>
            </a:r>
            <a:r>
              <a:rPr lang="en-US" sz="2000">
                <a:solidFill>
                  <a:srgbClr val="000000"/>
                </a:solidFill>
                <a:latin typeface="Arial MT Pro"/>
                <a:ea typeface="Arial MT Pro"/>
                <a:cs typeface="Arial MT Pro"/>
                <a:sym typeface="Arial MT Pro"/>
              </a:rPr>
              <a:t>ity</a:t>
            </a:r>
            <a:r>
              <a:rPr lang="en-US" sz="2000" u="none">
                <a:solidFill>
                  <a:srgbClr val="000000"/>
                </a:solidFill>
                <a:latin typeface="Arial MT Pro"/>
                <a:ea typeface="Arial MT Pro"/>
                <a:cs typeface="Arial MT Pro"/>
                <a:sym typeface="Arial MT Pro"/>
              </a:rPr>
              <a:t> class p</a:t>
            </a:r>
            <a:r>
              <a:rPr lang="en-US" sz="2000">
                <a:solidFill>
                  <a:srgbClr val="000000"/>
                </a:solidFill>
                <a:latin typeface="Arial MT Pro"/>
                <a:ea typeface="Arial MT Pro"/>
                <a:cs typeface="Arial MT Pro"/>
                <a:sym typeface="Arial MT Pro"/>
              </a:rPr>
              <a:t>redictions.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336377"/>
            <a:ext cx="16230600" cy="5898033"/>
          </a:xfrm>
          <a:prstGeom prst="rect">
            <a:avLst/>
          </a:prstGeom>
        </p:spPr>
        <p:txBody>
          <a:bodyPr lIns="0" tIns="0" rIns="0" bIns="0" rtlCol="0" anchor="t">
            <a:spAutoFit/>
          </a:bodyPr>
          <a:lstStyle/>
          <a:p>
            <a:pPr algn="just">
              <a:lnSpc>
                <a:spcPts val="3118"/>
              </a:lnSpc>
            </a:pPr>
            <a:r>
              <a:rPr lang="en-US" sz="2299" b="1">
                <a:solidFill>
                  <a:srgbClr val="8064A2"/>
                </a:solidFill>
                <a:latin typeface="Arial MT Pro Bold"/>
                <a:ea typeface="Arial MT Pro Bold"/>
                <a:cs typeface="Arial MT Pro Bold"/>
                <a:sym typeface="Arial MT Pro Bold"/>
              </a:rPr>
              <a:t>Goal:</a:t>
            </a:r>
          </a:p>
          <a:p>
            <a:pPr algn="just">
              <a:lnSpc>
                <a:spcPts val="3118"/>
              </a:lnSpc>
            </a:pPr>
            <a:r>
              <a:rPr lang="en-US" sz="2299">
                <a:solidFill>
                  <a:srgbClr val="000000"/>
                </a:solidFill>
                <a:latin typeface="Arial MT Pro"/>
                <a:ea typeface="Arial MT Pro"/>
                <a:cs typeface="Arial MT Pro"/>
                <a:sym typeface="Arial MT Pro"/>
              </a:rPr>
              <a:t>The goal of this clust</a:t>
            </a:r>
            <a:r>
              <a:rPr lang="en-US" sz="2299" u="none">
                <a:solidFill>
                  <a:srgbClr val="000000"/>
                </a:solidFill>
                <a:latin typeface="Arial MT Pro"/>
                <a:ea typeface="Arial MT Pro"/>
                <a:cs typeface="Arial MT Pro"/>
                <a:sym typeface="Arial MT Pro"/>
              </a:rPr>
              <a:t>erin</a:t>
            </a:r>
            <a:r>
              <a:rPr lang="en-US" sz="2299">
                <a:solidFill>
                  <a:srgbClr val="000000"/>
                </a:solidFill>
                <a:latin typeface="Arial MT Pro"/>
                <a:ea typeface="Arial MT Pro"/>
                <a:cs typeface="Arial MT Pro"/>
                <a:sym typeface="Arial MT Pro"/>
              </a:rPr>
              <a:t>g mod</a:t>
            </a:r>
            <a:r>
              <a:rPr lang="en-US" sz="2299" u="none">
                <a:solidFill>
                  <a:srgbClr val="000000"/>
                </a:solidFill>
                <a:latin typeface="Arial MT Pro"/>
                <a:ea typeface="Arial MT Pro"/>
                <a:cs typeface="Arial MT Pro"/>
                <a:sym typeface="Arial MT Pro"/>
              </a:rPr>
              <a:t>el is to group sha</a:t>
            </a:r>
            <a:r>
              <a:rPr lang="en-US" sz="2299">
                <a:solidFill>
                  <a:srgbClr val="000000"/>
                </a:solidFill>
                <a:latin typeface="Arial MT Pro"/>
                <a:ea typeface="Arial MT Pro"/>
                <a:cs typeface="Arial MT Pro"/>
                <a:sym typeface="Arial MT Pro"/>
              </a:rPr>
              <a:t>rk</a:t>
            </a:r>
            <a:r>
              <a:rPr lang="en-US" sz="2299" u="none">
                <a:solidFill>
                  <a:srgbClr val="000000"/>
                </a:solidFill>
                <a:latin typeface="Arial MT Pro"/>
                <a:ea typeface="Arial MT Pro"/>
                <a:cs typeface="Arial MT Pro"/>
                <a:sym typeface="Arial MT Pro"/>
              </a:rPr>
              <a:t> at</a:t>
            </a:r>
            <a:r>
              <a:rPr lang="en-US" sz="2299">
                <a:solidFill>
                  <a:srgbClr val="000000"/>
                </a:solidFill>
                <a:latin typeface="Arial MT Pro"/>
                <a:ea typeface="Arial MT Pro"/>
                <a:cs typeface="Arial MT Pro"/>
                <a:sym typeface="Arial MT Pro"/>
              </a:rPr>
              <a:t>t</a:t>
            </a:r>
            <a:r>
              <a:rPr lang="en-US" sz="2299" u="none">
                <a:solidFill>
                  <a:srgbClr val="000000"/>
                </a:solidFill>
                <a:latin typeface="Arial MT Pro"/>
                <a:ea typeface="Arial MT Pro"/>
                <a:cs typeface="Arial MT Pro"/>
                <a:sym typeface="Arial MT Pro"/>
              </a:rPr>
              <a:t>ac</a:t>
            </a:r>
            <a:r>
              <a:rPr lang="en-US" sz="2299">
                <a:solidFill>
                  <a:srgbClr val="000000"/>
                </a:solidFill>
                <a:latin typeface="Arial MT Pro"/>
                <a:ea typeface="Arial MT Pro"/>
                <a:cs typeface="Arial MT Pro"/>
                <a:sym typeface="Arial MT Pro"/>
              </a:rPr>
              <a:t>k</a:t>
            </a:r>
            <a:r>
              <a:rPr lang="en-US" sz="2299" u="none">
                <a:solidFill>
                  <a:srgbClr val="000000"/>
                </a:solidFill>
                <a:latin typeface="Arial MT Pro"/>
                <a:ea typeface="Arial MT Pro"/>
                <a:cs typeface="Arial MT Pro"/>
                <a:sym typeface="Arial MT Pro"/>
              </a:rPr>
              <a:t> in</a:t>
            </a:r>
            <a:r>
              <a:rPr lang="en-US" sz="2299">
                <a:solidFill>
                  <a:srgbClr val="000000"/>
                </a:solidFill>
                <a:latin typeface="Arial MT Pro"/>
                <a:ea typeface="Arial MT Pro"/>
                <a:cs typeface="Arial MT Pro"/>
                <a:sym typeface="Arial MT Pro"/>
              </a:rPr>
              <a:t>ci</a:t>
            </a:r>
            <a:r>
              <a:rPr lang="en-US" sz="2299" u="none">
                <a:solidFill>
                  <a:srgbClr val="000000"/>
                </a:solidFill>
                <a:latin typeface="Arial MT Pro"/>
                <a:ea typeface="Arial MT Pro"/>
                <a:cs typeface="Arial MT Pro"/>
                <a:sym typeface="Arial MT Pro"/>
              </a:rPr>
              <a:t>de</a:t>
            </a:r>
            <a:r>
              <a:rPr lang="en-US" sz="2299">
                <a:solidFill>
                  <a:srgbClr val="000000"/>
                </a:solidFill>
                <a:latin typeface="Arial MT Pro"/>
                <a:ea typeface="Arial MT Pro"/>
                <a:cs typeface="Arial MT Pro"/>
                <a:sym typeface="Arial MT Pro"/>
              </a:rPr>
              <a:t>nts</a:t>
            </a:r>
            <a:r>
              <a:rPr lang="en-US" sz="2299" u="none">
                <a:solidFill>
                  <a:srgbClr val="000000"/>
                </a:solidFill>
                <a:latin typeface="Arial MT Pro"/>
                <a:ea typeface="Arial MT Pro"/>
                <a:cs typeface="Arial MT Pro"/>
                <a:sym typeface="Arial MT Pro"/>
              </a:rPr>
              <a:t> based on</a:t>
            </a:r>
            <a:r>
              <a:rPr lang="en-US" sz="2299">
                <a:solidFill>
                  <a:srgbClr val="000000"/>
                </a:solidFill>
                <a:latin typeface="Arial MT Pro"/>
                <a:ea typeface="Arial MT Pro"/>
                <a:cs typeface="Arial MT Pro"/>
                <a:sym typeface="Arial MT Pro"/>
              </a:rPr>
              <a:t> victim risk profiles by using attributes like age, gender, activity, and year. This is to uncover distinct patterns in how, when, and to whom shark attacks occur.</a:t>
            </a:r>
          </a:p>
          <a:p>
            <a:pPr algn="just">
              <a:lnSpc>
                <a:spcPts val="3118"/>
              </a:lnSpc>
            </a:pPr>
            <a:endParaRPr lang="en-US" sz="2299">
              <a:solidFill>
                <a:srgbClr val="000000"/>
              </a:solidFill>
              <a:latin typeface="Arial MT Pro"/>
              <a:ea typeface="Arial MT Pro"/>
              <a:cs typeface="Arial MT Pro"/>
              <a:sym typeface="Arial MT Pro"/>
            </a:endParaRPr>
          </a:p>
          <a:p>
            <a:pPr algn="just">
              <a:lnSpc>
                <a:spcPts val="3118"/>
              </a:lnSpc>
            </a:pPr>
            <a:r>
              <a:rPr lang="en-US" sz="2299" b="1">
                <a:solidFill>
                  <a:srgbClr val="8064A2"/>
                </a:solidFill>
                <a:latin typeface="Arial MT Pro Bold"/>
                <a:ea typeface="Arial MT Pro Bold"/>
                <a:cs typeface="Arial MT Pro Bold"/>
                <a:sym typeface="Arial MT Pro Bold"/>
              </a:rPr>
              <a:t>Preparation:</a:t>
            </a:r>
          </a:p>
          <a:p>
            <a:pPr marL="496566" lvl="1" indent="-248283" algn="just">
              <a:lnSpc>
                <a:spcPts val="3118"/>
              </a:lnSpc>
              <a:buAutoNum type="arabicPeriod"/>
            </a:pPr>
            <a:r>
              <a:rPr lang="en-US" sz="2299" b="1">
                <a:solidFill>
                  <a:srgbClr val="000000"/>
                </a:solidFill>
                <a:latin typeface="Arial MT Pro Bold"/>
                <a:ea typeface="Arial MT Pro Bold"/>
                <a:cs typeface="Arial MT Pro Bold"/>
                <a:sym typeface="Arial MT Pro Bold"/>
              </a:rPr>
              <a:t>Cleaned a</a:t>
            </a:r>
            <a:r>
              <a:rPr lang="en-US" sz="2299" b="1" u="none">
                <a:solidFill>
                  <a:srgbClr val="000000"/>
                </a:solidFill>
                <a:latin typeface="Arial MT Pro Bold"/>
                <a:ea typeface="Arial MT Pro Bold"/>
                <a:cs typeface="Arial MT Pro Bold"/>
                <a:sym typeface="Arial MT Pro Bold"/>
              </a:rPr>
              <a:t>n</a:t>
            </a:r>
            <a:r>
              <a:rPr lang="en-US" sz="2299" b="1">
                <a:solidFill>
                  <a:srgbClr val="000000"/>
                </a:solidFill>
                <a:latin typeface="Arial MT Pro Bold"/>
                <a:ea typeface="Arial MT Pro Bold"/>
                <a:cs typeface="Arial MT Pro Bold"/>
                <a:sym typeface="Arial MT Pro Bold"/>
              </a:rPr>
              <a:t>d st</a:t>
            </a:r>
            <a:r>
              <a:rPr lang="en-US" sz="2299" b="1" u="none">
                <a:solidFill>
                  <a:srgbClr val="000000"/>
                </a:solidFill>
                <a:latin typeface="Arial MT Pro Bold"/>
                <a:ea typeface="Arial MT Pro Bold"/>
                <a:cs typeface="Arial MT Pro Bold"/>
                <a:sym typeface="Arial MT Pro Bold"/>
              </a:rPr>
              <a:t>an</a:t>
            </a:r>
            <a:r>
              <a:rPr lang="en-US" sz="2299" b="1">
                <a:solidFill>
                  <a:srgbClr val="000000"/>
                </a:solidFill>
                <a:latin typeface="Arial MT Pro Bold"/>
                <a:ea typeface="Arial MT Pro Bold"/>
                <a:cs typeface="Arial MT Pro Bold"/>
                <a:sym typeface="Arial MT Pro Bold"/>
              </a:rPr>
              <a:t>da</a:t>
            </a:r>
            <a:r>
              <a:rPr lang="en-US" sz="2299" b="1" u="none">
                <a:solidFill>
                  <a:srgbClr val="000000"/>
                </a:solidFill>
                <a:latin typeface="Arial MT Pro Bold"/>
                <a:ea typeface="Arial MT Pro Bold"/>
                <a:cs typeface="Arial MT Pro Bold"/>
                <a:sym typeface="Arial MT Pro Bold"/>
              </a:rPr>
              <a:t>r</a:t>
            </a:r>
            <a:r>
              <a:rPr lang="en-US" sz="2299" b="1">
                <a:solidFill>
                  <a:srgbClr val="000000"/>
                </a:solidFill>
                <a:latin typeface="Arial MT Pro Bold"/>
                <a:ea typeface="Arial MT Pro Bold"/>
                <a:cs typeface="Arial MT Pro Bold"/>
                <a:sym typeface="Arial MT Pro Bold"/>
              </a:rPr>
              <a:t>diz</a:t>
            </a:r>
            <a:r>
              <a:rPr lang="en-US" sz="2299" b="1" u="none">
                <a:solidFill>
                  <a:srgbClr val="000000"/>
                </a:solidFill>
                <a:latin typeface="Arial MT Pro Bold"/>
                <a:ea typeface="Arial MT Pro Bold"/>
                <a:cs typeface="Arial MT Pro Bold"/>
                <a:sym typeface="Arial MT Pro Bold"/>
              </a:rPr>
              <a:t>e</a:t>
            </a:r>
            <a:r>
              <a:rPr lang="en-US" sz="2299" b="1">
                <a:solidFill>
                  <a:srgbClr val="000000"/>
                </a:solidFill>
                <a:latin typeface="Arial MT Pro Bold"/>
                <a:ea typeface="Arial MT Pro Bold"/>
                <a:cs typeface="Arial MT Pro Bold"/>
                <a:sym typeface="Arial MT Pro Bold"/>
              </a:rPr>
              <a:t>d</a:t>
            </a:r>
            <a:r>
              <a:rPr lang="en-US" sz="2299" b="1" u="none">
                <a:solidFill>
                  <a:srgbClr val="000000"/>
                </a:solidFill>
                <a:latin typeface="Arial MT Pro Bold"/>
                <a:ea typeface="Arial MT Pro Bold"/>
                <a:cs typeface="Arial MT Pro Bold"/>
                <a:sym typeface="Arial MT Pro Bold"/>
              </a:rPr>
              <a:t> </a:t>
            </a:r>
            <a:r>
              <a:rPr lang="en-US" sz="2299" b="1">
                <a:solidFill>
                  <a:srgbClr val="000000"/>
                </a:solidFill>
                <a:latin typeface="Arial MT Pro Bold"/>
                <a:ea typeface="Arial MT Pro Bold"/>
                <a:cs typeface="Arial MT Pro Bold"/>
                <a:sym typeface="Arial MT Pro Bold"/>
              </a:rPr>
              <a:t>the da</a:t>
            </a:r>
            <a:r>
              <a:rPr lang="en-US" sz="2299" b="1" u="none">
                <a:solidFill>
                  <a:srgbClr val="000000"/>
                </a:solidFill>
                <a:latin typeface="Arial MT Pro Bold"/>
                <a:ea typeface="Arial MT Pro Bold"/>
                <a:cs typeface="Arial MT Pro Bold"/>
                <a:sym typeface="Arial MT Pro Bold"/>
              </a:rPr>
              <a:t>ta</a:t>
            </a:r>
            <a:r>
              <a:rPr lang="en-US" sz="2299" b="1">
                <a:solidFill>
                  <a:srgbClr val="000000"/>
                </a:solidFill>
                <a:latin typeface="Arial MT Pro Bold"/>
                <a:ea typeface="Arial MT Pro Bold"/>
                <a:cs typeface="Arial MT Pro Bold"/>
                <a:sym typeface="Arial MT Pro Bold"/>
              </a:rPr>
              <a:t>set</a:t>
            </a:r>
            <a:r>
              <a:rPr lang="en-US" sz="2299">
                <a:solidFill>
                  <a:srgbClr val="000000"/>
                </a:solidFill>
                <a:latin typeface="Arial MT Pro"/>
                <a:ea typeface="Arial MT Pro"/>
                <a:cs typeface="Arial MT Pro"/>
                <a:sym typeface="Arial MT Pro"/>
              </a:rPr>
              <a:t> by co</a:t>
            </a:r>
            <a:r>
              <a:rPr lang="en-US" sz="2299" u="none">
                <a:solidFill>
                  <a:srgbClr val="000000"/>
                </a:solidFill>
                <a:latin typeface="Arial MT Pro"/>
                <a:ea typeface="Arial MT Pro"/>
                <a:cs typeface="Arial MT Pro"/>
                <a:sym typeface="Arial MT Pro"/>
              </a:rPr>
              <a:t>n</a:t>
            </a:r>
            <a:r>
              <a:rPr lang="en-US" sz="2299">
                <a:solidFill>
                  <a:srgbClr val="000000"/>
                </a:solidFill>
                <a:latin typeface="Arial MT Pro"/>
                <a:ea typeface="Arial MT Pro"/>
                <a:cs typeface="Arial MT Pro"/>
                <a:sym typeface="Arial MT Pro"/>
              </a:rPr>
              <a:t>verting Age, Ye</a:t>
            </a:r>
            <a:r>
              <a:rPr lang="en-US" sz="2299" u="none">
                <a:solidFill>
                  <a:srgbClr val="000000"/>
                </a:solidFill>
                <a:latin typeface="Arial MT Pro"/>
                <a:ea typeface="Arial MT Pro"/>
                <a:cs typeface="Arial MT Pro"/>
                <a:sym typeface="Arial MT Pro"/>
              </a:rPr>
              <a:t>ar</a:t>
            </a:r>
            <a:r>
              <a:rPr lang="en-US" sz="2299">
                <a:solidFill>
                  <a:srgbClr val="000000"/>
                </a:solidFill>
                <a:latin typeface="Arial MT Pro"/>
                <a:ea typeface="Arial MT Pro"/>
                <a:cs typeface="Arial MT Pro"/>
                <a:sym typeface="Arial MT Pro"/>
              </a:rPr>
              <a:t>, an</a:t>
            </a:r>
            <a:r>
              <a:rPr lang="en-US" sz="2299" u="none">
                <a:solidFill>
                  <a:srgbClr val="000000"/>
                </a:solidFill>
                <a:latin typeface="Arial MT Pro"/>
                <a:ea typeface="Arial MT Pro"/>
                <a:cs typeface="Arial MT Pro"/>
                <a:sym typeface="Arial MT Pro"/>
              </a:rPr>
              <a:t>d</a:t>
            </a:r>
            <a:r>
              <a:rPr lang="en-US" sz="2299">
                <a:solidFill>
                  <a:srgbClr val="000000"/>
                </a:solidFill>
                <a:latin typeface="Arial MT Pro"/>
                <a:ea typeface="Arial MT Pro"/>
                <a:cs typeface="Arial MT Pro"/>
                <a:sym typeface="Arial MT Pro"/>
              </a:rPr>
              <a:t> Fat</a:t>
            </a:r>
            <a:r>
              <a:rPr lang="en-US" sz="2299" u="none">
                <a:solidFill>
                  <a:srgbClr val="000000"/>
                </a:solidFill>
                <a:latin typeface="Arial MT Pro"/>
                <a:ea typeface="Arial MT Pro"/>
                <a:cs typeface="Arial MT Pro"/>
                <a:sym typeface="Arial MT Pro"/>
              </a:rPr>
              <a:t>al </a:t>
            </a:r>
            <a:r>
              <a:rPr lang="en-US" sz="2299">
                <a:solidFill>
                  <a:srgbClr val="000000"/>
                </a:solidFill>
                <a:latin typeface="Arial MT Pro"/>
                <a:ea typeface="Arial MT Pro"/>
                <a:cs typeface="Arial MT Pro"/>
                <a:sym typeface="Arial MT Pro"/>
              </a:rPr>
              <a:t>into numeric formats</a:t>
            </a:r>
            <a:r>
              <a:rPr lang="en-US" sz="2299" u="none">
                <a:solidFill>
                  <a:srgbClr val="000000"/>
                </a:solidFill>
                <a:latin typeface="Arial MT Pro"/>
                <a:ea typeface="Arial MT Pro"/>
                <a:cs typeface="Arial MT Pro"/>
                <a:sym typeface="Arial MT Pro"/>
              </a:rPr>
              <a:t> through </a:t>
            </a:r>
            <a:r>
              <a:rPr lang="en-US" sz="2299" u="sng">
                <a:solidFill>
                  <a:srgbClr val="000000"/>
                </a:solidFill>
                <a:latin typeface="Arial MT Pro"/>
                <a:ea typeface="Arial MT Pro"/>
                <a:cs typeface="Arial MT Pro"/>
                <a:sym typeface="Arial MT Pro"/>
              </a:rPr>
              <a:t>mapping and imputation</a:t>
            </a:r>
            <a:r>
              <a:rPr lang="en-US" sz="2299" u="none">
                <a:solidFill>
                  <a:srgbClr val="000000"/>
                </a:solidFill>
                <a:latin typeface="Arial MT Pro"/>
                <a:ea typeface="Arial MT Pro"/>
                <a:cs typeface="Arial MT Pro"/>
                <a:sym typeface="Arial MT Pro"/>
              </a:rPr>
              <a:t>. </a:t>
            </a:r>
          </a:p>
          <a:p>
            <a:pPr marL="496566" lvl="1" indent="-248283" algn="just">
              <a:lnSpc>
                <a:spcPts val="3118"/>
              </a:lnSpc>
              <a:buAutoNum type="arabicPeriod"/>
            </a:pPr>
            <a:r>
              <a:rPr lang="en-US" sz="2299" b="1">
                <a:solidFill>
                  <a:srgbClr val="000000"/>
                </a:solidFill>
                <a:latin typeface="Arial MT Pro Bold"/>
                <a:ea typeface="Arial MT Pro Bold"/>
                <a:cs typeface="Arial MT Pro Bold"/>
                <a:sym typeface="Arial MT Pro Bold"/>
              </a:rPr>
              <a:t>Selected key risk-related features:</a:t>
            </a:r>
            <a:r>
              <a:rPr lang="en-US" sz="2299">
                <a:solidFill>
                  <a:srgbClr val="000000"/>
                </a:solidFill>
                <a:latin typeface="Arial MT Pro"/>
                <a:ea typeface="Arial MT Pro"/>
                <a:cs typeface="Arial MT Pro"/>
                <a:sym typeface="Arial MT Pro"/>
              </a:rPr>
              <a:t> Sex, Age, Activity, and Year to represent victim demographics and context.</a:t>
            </a:r>
          </a:p>
          <a:p>
            <a:pPr marL="496566" lvl="1" indent="-248283" algn="just">
              <a:lnSpc>
                <a:spcPts val="3118"/>
              </a:lnSpc>
              <a:buAutoNum type="arabicPeriod"/>
            </a:pPr>
            <a:r>
              <a:rPr lang="en-US" sz="2299" b="1">
                <a:solidFill>
                  <a:srgbClr val="000000"/>
                </a:solidFill>
                <a:latin typeface="Arial MT Pro Bold"/>
                <a:ea typeface="Arial MT Pro Bold"/>
                <a:cs typeface="Arial MT Pro Bold"/>
                <a:sym typeface="Arial MT Pro Bold"/>
              </a:rPr>
              <a:t>Defined</a:t>
            </a:r>
            <a:r>
              <a:rPr lang="en-US" sz="2299" b="1" u="none">
                <a:solidFill>
                  <a:srgbClr val="000000"/>
                </a:solidFill>
                <a:latin typeface="Arial MT Pro Bold"/>
                <a:ea typeface="Arial MT Pro Bold"/>
                <a:cs typeface="Arial MT Pro Bold"/>
                <a:sym typeface="Arial MT Pro Bold"/>
              </a:rPr>
              <a:t> pr</a:t>
            </a:r>
            <a:r>
              <a:rPr lang="en-US" sz="2299" b="1">
                <a:solidFill>
                  <a:srgbClr val="000000"/>
                </a:solidFill>
                <a:latin typeface="Arial MT Pro Bold"/>
                <a:ea typeface="Arial MT Pro Bold"/>
                <a:cs typeface="Arial MT Pro Bold"/>
                <a:sym typeface="Arial MT Pro Bold"/>
              </a:rPr>
              <a:t>e</a:t>
            </a:r>
            <a:r>
              <a:rPr lang="en-US" sz="2299" b="1" u="none">
                <a:solidFill>
                  <a:srgbClr val="000000"/>
                </a:solidFill>
                <a:latin typeface="Arial MT Pro Bold"/>
                <a:ea typeface="Arial MT Pro Bold"/>
                <a:cs typeface="Arial MT Pro Bold"/>
                <a:sym typeface="Arial MT Pro Bold"/>
              </a:rPr>
              <a:t>p</a:t>
            </a:r>
            <a:r>
              <a:rPr lang="en-US" sz="2299" b="1">
                <a:solidFill>
                  <a:srgbClr val="000000"/>
                </a:solidFill>
                <a:latin typeface="Arial MT Pro Bold"/>
                <a:ea typeface="Arial MT Pro Bold"/>
                <a:cs typeface="Arial MT Pro Bold"/>
                <a:sym typeface="Arial MT Pro Bold"/>
              </a:rPr>
              <a:t>ro</a:t>
            </a:r>
            <a:r>
              <a:rPr lang="en-US" sz="2299" b="1" u="none">
                <a:solidFill>
                  <a:srgbClr val="000000"/>
                </a:solidFill>
                <a:latin typeface="Arial MT Pro Bold"/>
                <a:ea typeface="Arial MT Pro Bold"/>
                <a:cs typeface="Arial MT Pro Bold"/>
                <a:sym typeface="Arial MT Pro Bold"/>
              </a:rPr>
              <a:t>ces</a:t>
            </a:r>
            <a:r>
              <a:rPr lang="en-US" sz="2299" b="1">
                <a:solidFill>
                  <a:srgbClr val="000000"/>
                </a:solidFill>
                <a:latin typeface="Arial MT Pro Bold"/>
                <a:ea typeface="Arial MT Pro Bold"/>
                <a:cs typeface="Arial MT Pro Bold"/>
                <a:sym typeface="Arial MT Pro Bold"/>
              </a:rPr>
              <a:t>sing pipelines</a:t>
            </a:r>
            <a:r>
              <a:rPr lang="en-US" sz="2299">
                <a:solidFill>
                  <a:srgbClr val="000000"/>
                </a:solidFill>
                <a:latin typeface="Arial MT Pro"/>
                <a:ea typeface="Arial MT Pro"/>
                <a:cs typeface="Arial MT Pro"/>
                <a:sym typeface="Arial MT Pro"/>
              </a:rPr>
              <a:t> for numeric features (imputation + scaling)</a:t>
            </a:r>
            <a:r>
              <a:rPr lang="en-US" sz="2299" u="none">
                <a:solidFill>
                  <a:srgbClr val="000000"/>
                </a:solidFill>
                <a:latin typeface="Arial MT Pro"/>
                <a:ea typeface="Arial MT Pro"/>
                <a:cs typeface="Arial MT Pro"/>
                <a:sym typeface="Arial MT Pro"/>
              </a:rPr>
              <a:t> a</a:t>
            </a:r>
            <a:r>
              <a:rPr lang="en-US" sz="2299">
                <a:solidFill>
                  <a:srgbClr val="000000"/>
                </a:solidFill>
                <a:latin typeface="Arial MT Pro"/>
                <a:ea typeface="Arial MT Pro"/>
                <a:cs typeface="Arial MT Pro"/>
                <a:sym typeface="Arial MT Pro"/>
              </a:rPr>
              <a:t>nd categoric</a:t>
            </a:r>
            <a:r>
              <a:rPr lang="en-US" sz="2299" u="none">
                <a:solidFill>
                  <a:srgbClr val="000000"/>
                </a:solidFill>
                <a:latin typeface="Arial MT Pro"/>
                <a:ea typeface="Arial MT Pro"/>
                <a:cs typeface="Arial MT Pro"/>
                <a:sym typeface="Arial MT Pro"/>
              </a:rPr>
              <a:t>a</a:t>
            </a:r>
            <a:r>
              <a:rPr lang="en-US" sz="2299">
                <a:solidFill>
                  <a:srgbClr val="000000"/>
                </a:solidFill>
                <a:latin typeface="Arial MT Pro"/>
                <a:ea typeface="Arial MT Pro"/>
                <a:cs typeface="Arial MT Pro"/>
                <a:sym typeface="Arial MT Pro"/>
              </a:rPr>
              <a:t>l features (imputation + one-hot encoding).</a:t>
            </a:r>
          </a:p>
          <a:p>
            <a:pPr marL="496566" lvl="1" indent="-248283" algn="just">
              <a:lnSpc>
                <a:spcPts val="3118"/>
              </a:lnSpc>
              <a:buAutoNum type="arabicPeriod"/>
            </a:pPr>
            <a:r>
              <a:rPr lang="en-US" sz="2299">
                <a:solidFill>
                  <a:srgbClr val="000000"/>
                </a:solidFill>
                <a:latin typeface="Arial MT Pro"/>
                <a:ea typeface="Arial MT Pro"/>
                <a:cs typeface="Arial MT Pro"/>
                <a:sym typeface="Arial MT Pro"/>
              </a:rPr>
              <a:t>Used </a:t>
            </a:r>
            <a:r>
              <a:rPr lang="en-US" sz="2299" u="sng">
                <a:solidFill>
                  <a:srgbClr val="000000"/>
                </a:solidFill>
                <a:latin typeface="Arial MT Pro"/>
                <a:ea typeface="Arial MT Pro"/>
                <a:cs typeface="Arial MT Pro"/>
                <a:sym typeface="Arial MT Pro"/>
              </a:rPr>
              <a:t>ColumnTransformer</a:t>
            </a:r>
            <a:r>
              <a:rPr lang="en-US" sz="2299">
                <a:solidFill>
                  <a:srgbClr val="000000"/>
                </a:solidFill>
                <a:latin typeface="Arial MT Pro"/>
                <a:ea typeface="Arial MT Pro"/>
                <a:cs typeface="Arial MT Pro"/>
                <a:sym typeface="Arial MT Pro"/>
              </a:rPr>
              <a:t> to combine preprocessing steps into </a:t>
            </a:r>
            <a:r>
              <a:rPr lang="en-US" sz="2299" b="1">
                <a:solidFill>
                  <a:srgbClr val="000000"/>
                </a:solidFill>
                <a:latin typeface="Arial MT Pro Bold"/>
                <a:ea typeface="Arial MT Pro Bold"/>
                <a:cs typeface="Arial MT Pro Bold"/>
                <a:sym typeface="Arial MT Pro Bold"/>
              </a:rPr>
              <a:t>one unified transformation pro</a:t>
            </a:r>
            <a:r>
              <a:rPr lang="en-US" sz="2299" b="1" u="none">
                <a:solidFill>
                  <a:srgbClr val="000000"/>
                </a:solidFill>
                <a:latin typeface="Arial MT Pro Bold"/>
                <a:ea typeface="Arial MT Pro Bold"/>
                <a:cs typeface="Arial MT Pro Bold"/>
                <a:sym typeface="Arial MT Pro Bold"/>
              </a:rPr>
              <a:t>c</a:t>
            </a:r>
            <a:r>
              <a:rPr lang="en-US" sz="2299" b="1">
                <a:solidFill>
                  <a:srgbClr val="000000"/>
                </a:solidFill>
                <a:latin typeface="Arial MT Pro Bold"/>
                <a:ea typeface="Arial MT Pro Bold"/>
                <a:cs typeface="Arial MT Pro Bold"/>
                <a:sym typeface="Arial MT Pro Bold"/>
              </a:rPr>
              <a:t>ess</a:t>
            </a:r>
            <a:r>
              <a:rPr lang="en-US" sz="2299">
                <a:solidFill>
                  <a:srgbClr val="000000"/>
                </a:solidFill>
                <a:latin typeface="Arial MT Pro"/>
                <a:ea typeface="Arial MT Pro"/>
                <a:cs typeface="Arial MT Pro"/>
                <a:sym typeface="Arial MT Pro"/>
              </a:rPr>
              <a:t>.</a:t>
            </a:r>
          </a:p>
          <a:p>
            <a:pPr marL="496566" lvl="1" indent="-248283" algn="just">
              <a:lnSpc>
                <a:spcPts val="3118"/>
              </a:lnSpc>
              <a:buAutoNum type="arabicPeriod"/>
            </a:pPr>
            <a:r>
              <a:rPr lang="en-US" sz="2299" b="1">
                <a:solidFill>
                  <a:srgbClr val="000000"/>
                </a:solidFill>
                <a:latin typeface="Arial MT Pro Bold"/>
                <a:ea typeface="Arial MT Pro Bold"/>
                <a:cs typeface="Arial MT Pro Bold"/>
                <a:sym typeface="Arial MT Pro Bold"/>
              </a:rPr>
              <a:t>Tr</a:t>
            </a:r>
            <a:r>
              <a:rPr lang="en-US" sz="2299" b="1" u="none">
                <a:solidFill>
                  <a:srgbClr val="000000"/>
                </a:solidFill>
                <a:latin typeface="Arial MT Pro Bold"/>
                <a:ea typeface="Arial MT Pro Bold"/>
                <a:cs typeface="Arial MT Pro Bold"/>
                <a:sym typeface="Arial MT Pro Bold"/>
              </a:rPr>
              <a:t>a</a:t>
            </a:r>
            <a:r>
              <a:rPr lang="en-US" sz="2299" b="1">
                <a:solidFill>
                  <a:srgbClr val="000000"/>
                </a:solidFill>
                <a:latin typeface="Arial MT Pro Bold"/>
                <a:ea typeface="Arial MT Pro Bold"/>
                <a:cs typeface="Arial MT Pro Bold"/>
                <a:sym typeface="Arial MT Pro Bold"/>
              </a:rPr>
              <a:t>nsformed </a:t>
            </a:r>
            <a:r>
              <a:rPr lang="en-US" sz="2299" b="1" u="none">
                <a:solidFill>
                  <a:srgbClr val="000000"/>
                </a:solidFill>
                <a:latin typeface="Arial MT Pro Bold"/>
                <a:ea typeface="Arial MT Pro Bold"/>
                <a:cs typeface="Arial MT Pro Bold"/>
                <a:sym typeface="Arial MT Pro Bold"/>
              </a:rPr>
              <a:t>t</a:t>
            </a:r>
            <a:r>
              <a:rPr lang="en-US" sz="2299" b="1">
                <a:solidFill>
                  <a:srgbClr val="000000"/>
                </a:solidFill>
                <a:latin typeface="Arial MT Pro Bold"/>
                <a:ea typeface="Arial MT Pro Bold"/>
                <a:cs typeface="Arial MT Pro Bold"/>
                <a:sym typeface="Arial MT Pro Bold"/>
              </a:rPr>
              <a:t>h</a:t>
            </a:r>
            <a:r>
              <a:rPr lang="en-US" sz="2299" b="1" u="none">
                <a:solidFill>
                  <a:srgbClr val="000000"/>
                </a:solidFill>
                <a:latin typeface="Arial MT Pro Bold"/>
                <a:ea typeface="Arial MT Pro Bold"/>
                <a:cs typeface="Arial MT Pro Bold"/>
                <a:sym typeface="Arial MT Pro Bold"/>
              </a:rPr>
              <a:t>e </a:t>
            </a:r>
            <a:r>
              <a:rPr lang="en-US" sz="2299" b="1">
                <a:solidFill>
                  <a:srgbClr val="000000"/>
                </a:solidFill>
                <a:latin typeface="Arial MT Pro Bold"/>
                <a:ea typeface="Arial MT Pro Bold"/>
                <a:cs typeface="Arial MT Pro Bold"/>
                <a:sym typeface="Arial MT Pro Bold"/>
              </a:rPr>
              <a:t>da</a:t>
            </a:r>
            <a:r>
              <a:rPr lang="en-US" sz="2299" b="1" u="none">
                <a:solidFill>
                  <a:srgbClr val="000000"/>
                </a:solidFill>
                <a:latin typeface="Arial MT Pro Bold"/>
                <a:ea typeface="Arial MT Pro Bold"/>
                <a:cs typeface="Arial MT Pro Bold"/>
                <a:sym typeface="Arial MT Pro Bold"/>
              </a:rPr>
              <a:t>t</a:t>
            </a:r>
            <a:r>
              <a:rPr lang="en-US" sz="2299" b="1">
                <a:solidFill>
                  <a:srgbClr val="000000"/>
                </a:solidFill>
                <a:latin typeface="Arial MT Pro Bold"/>
                <a:ea typeface="Arial MT Pro Bold"/>
                <a:cs typeface="Arial MT Pro Bold"/>
                <a:sym typeface="Arial MT Pro Bold"/>
              </a:rPr>
              <a:t>aset</a:t>
            </a:r>
            <a:r>
              <a:rPr lang="en-US" sz="2299" b="1" u="none">
                <a:solidFill>
                  <a:srgbClr val="000000"/>
                </a:solidFill>
                <a:latin typeface="Arial MT Pro Bold"/>
                <a:ea typeface="Arial MT Pro Bold"/>
                <a:cs typeface="Arial MT Pro Bold"/>
                <a:sym typeface="Arial MT Pro Bold"/>
              </a:rPr>
              <a:t> in</a:t>
            </a:r>
            <a:r>
              <a:rPr lang="en-US" sz="2299" b="1">
                <a:solidFill>
                  <a:srgbClr val="000000"/>
                </a:solidFill>
                <a:latin typeface="Arial MT Pro Bold"/>
                <a:ea typeface="Arial MT Pro Bold"/>
                <a:cs typeface="Arial MT Pro Bold"/>
                <a:sym typeface="Arial MT Pro Bold"/>
              </a:rPr>
              <a:t>to a num</a:t>
            </a:r>
            <a:r>
              <a:rPr lang="en-US" sz="2299" b="1" u="none">
                <a:solidFill>
                  <a:srgbClr val="000000"/>
                </a:solidFill>
                <a:latin typeface="Arial MT Pro Bold"/>
                <a:ea typeface="Arial MT Pro Bold"/>
                <a:cs typeface="Arial MT Pro Bold"/>
                <a:sym typeface="Arial MT Pro Bold"/>
              </a:rPr>
              <a:t>eri</a:t>
            </a:r>
            <a:r>
              <a:rPr lang="en-US" sz="2299" b="1">
                <a:solidFill>
                  <a:srgbClr val="000000"/>
                </a:solidFill>
                <a:latin typeface="Arial MT Pro Bold"/>
                <a:ea typeface="Arial MT Pro Bold"/>
                <a:cs typeface="Arial MT Pro Bold"/>
                <a:sym typeface="Arial MT Pro Bold"/>
              </a:rPr>
              <a:t>c</a:t>
            </a:r>
            <a:r>
              <a:rPr lang="en-US" sz="2299" b="1" u="none">
                <a:solidFill>
                  <a:srgbClr val="000000"/>
                </a:solidFill>
                <a:latin typeface="Arial MT Pro Bold"/>
                <a:ea typeface="Arial MT Pro Bold"/>
                <a:cs typeface="Arial MT Pro Bold"/>
                <a:sym typeface="Arial MT Pro Bold"/>
              </a:rPr>
              <a:t>a</a:t>
            </a:r>
            <a:r>
              <a:rPr lang="en-US" sz="2299" b="1">
                <a:solidFill>
                  <a:srgbClr val="000000"/>
                </a:solidFill>
                <a:latin typeface="Arial MT Pro Bold"/>
                <a:ea typeface="Arial MT Pro Bold"/>
                <a:cs typeface="Arial MT Pro Bold"/>
                <a:sym typeface="Arial MT Pro Bold"/>
              </a:rPr>
              <a:t>l matrix</a:t>
            </a:r>
            <a:r>
              <a:rPr lang="en-US" sz="2299">
                <a:solidFill>
                  <a:srgbClr val="000000"/>
                </a:solidFill>
                <a:latin typeface="Arial MT Pro"/>
                <a:ea typeface="Arial MT Pro"/>
                <a:cs typeface="Arial MT Pro"/>
                <a:sym typeface="Arial MT Pro"/>
              </a:rPr>
              <a:t> ready for modeling using the defined preprocessing pipeline.</a:t>
            </a:r>
          </a:p>
          <a:p>
            <a:pPr marL="496566" lvl="1" indent="-248283" algn="just">
              <a:lnSpc>
                <a:spcPts val="3118"/>
              </a:lnSpc>
              <a:buAutoNum type="arabicPeriod"/>
            </a:pPr>
            <a:r>
              <a:rPr lang="en-US" sz="2299" b="1">
                <a:solidFill>
                  <a:srgbClr val="000000"/>
                </a:solidFill>
                <a:latin typeface="Arial MT Pro Bold"/>
                <a:ea typeface="Arial MT Pro Bold"/>
                <a:cs typeface="Arial MT Pro Bold"/>
                <a:sym typeface="Arial MT Pro Bold"/>
              </a:rPr>
              <a:t>Reduced dimensionality with PCA to 2 principal components</a:t>
            </a:r>
            <a:r>
              <a:rPr lang="en-US" sz="2299">
                <a:solidFill>
                  <a:srgbClr val="000000"/>
                </a:solidFill>
                <a:latin typeface="Arial MT Pro"/>
                <a:ea typeface="Arial MT Pro"/>
                <a:cs typeface="Arial MT Pro"/>
                <a:sym typeface="Arial MT Pro"/>
              </a:rPr>
              <a:t> to simplify the dataset for clustering and visualization.</a:t>
            </a:r>
          </a:p>
          <a:p>
            <a:pPr marL="496566" lvl="1" indent="-248283" algn="just">
              <a:lnSpc>
                <a:spcPts val="3118"/>
              </a:lnSpc>
              <a:buAutoNum type="arabicPeriod"/>
            </a:pPr>
            <a:r>
              <a:rPr lang="en-US" sz="2299" b="1">
                <a:solidFill>
                  <a:srgbClr val="000000"/>
                </a:solidFill>
                <a:latin typeface="Arial MT Pro Bold"/>
                <a:ea typeface="Arial MT Pro Bold"/>
                <a:cs typeface="Arial MT Pro Bold"/>
                <a:sym typeface="Arial MT Pro Bold"/>
              </a:rPr>
              <a:t>Applied KMeans clustering</a:t>
            </a:r>
            <a:r>
              <a:rPr lang="en-US" sz="2299">
                <a:solidFill>
                  <a:srgbClr val="000000"/>
                </a:solidFill>
                <a:latin typeface="Arial MT Pro"/>
                <a:ea typeface="Arial MT Pro"/>
                <a:cs typeface="Arial MT Pro"/>
                <a:sym typeface="Arial MT Pro"/>
              </a:rPr>
              <a:t> and evaluated cluster quality using </a:t>
            </a:r>
            <a:r>
              <a:rPr lang="en-US" sz="2299" u="sng">
                <a:solidFill>
                  <a:srgbClr val="000000"/>
                </a:solidFill>
                <a:latin typeface="Arial MT Pro"/>
                <a:ea typeface="Arial MT Pro"/>
                <a:cs typeface="Arial MT Pro"/>
                <a:sym typeface="Arial MT Pro"/>
              </a:rPr>
              <a:t>Elbow and Silhouette methods</a:t>
            </a:r>
            <a:r>
              <a:rPr lang="en-US" sz="2299">
                <a:solidFill>
                  <a:srgbClr val="000000"/>
                </a:solidFill>
                <a:latin typeface="Arial MT Pro"/>
                <a:ea typeface="Arial MT Pro"/>
                <a:cs typeface="Arial MT Pro"/>
                <a:sym typeface="Arial MT Pro"/>
              </a:rPr>
              <a:t> to determine the optimal number of clusters.</a:t>
            </a:r>
          </a:p>
        </p:txBody>
      </p:sp>
      <p:sp>
        <p:nvSpPr>
          <p:cNvPr id="3" name="Freeform 3"/>
          <p:cNvSpPr/>
          <p:nvPr/>
        </p:nvSpPr>
        <p:spPr>
          <a:xfrm>
            <a:off x="1345650" y="7367760"/>
            <a:ext cx="8163897" cy="2387940"/>
          </a:xfrm>
          <a:custGeom>
            <a:avLst/>
            <a:gdLst/>
            <a:ahLst/>
            <a:cxnLst/>
            <a:rect l="l" t="t" r="r" b="b"/>
            <a:pathLst>
              <a:path w="8163897" h="2387940">
                <a:moveTo>
                  <a:pt x="0" y="0"/>
                </a:moveTo>
                <a:lnTo>
                  <a:pt x="8163896" y="0"/>
                </a:lnTo>
                <a:lnTo>
                  <a:pt x="8163896" y="2387939"/>
                </a:lnTo>
                <a:lnTo>
                  <a:pt x="0" y="2387939"/>
                </a:lnTo>
                <a:lnTo>
                  <a:pt x="0" y="0"/>
                </a:lnTo>
                <a:close/>
              </a:path>
            </a:pathLst>
          </a:custGeom>
          <a:blipFill>
            <a:blip r:embed="rId3"/>
            <a:stretch>
              <a:fillRect/>
            </a:stretch>
          </a:blipFill>
        </p:spPr>
      </p:sp>
      <p:sp>
        <p:nvSpPr>
          <p:cNvPr id="4" name="Freeform 4"/>
          <p:cNvSpPr/>
          <p:nvPr/>
        </p:nvSpPr>
        <p:spPr>
          <a:xfrm>
            <a:off x="9873874" y="7367760"/>
            <a:ext cx="6973391" cy="2387940"/>
          </a:xfrm>
          <a:custGeom>
            <a:avLst/>
            <a:gdLst/>
            <a:ahLst/>
            <a:cxnLst/>
            <a:rect l="l" t="t" r="r" b="b"/>
            <a:pathLst>
              <a:path w="6973391" h="2387940">
                <a:moveTo>
                  <a:pt x="0" y="0"/>
                </a:moveTo>
                <a:lnTo>
                  <a:pt x="6973391" y="0"/>
                </a:lnTo>
                <a:lnTo>
                  <a:pt x="6973391" y="2387939"/>
                </a:lnTo>
                <a:lnTo>
                  <a:pt x="0" y="2387939"/>
                </a:lnTo>
                <a:lnTo>
                  <a:pt x="0" y="0"/>
                </a:lnTo>
                <a:close/>
              </a:path>
            </a:pathLst>
          </a:custGeom>
          <a:blipFill>
            <a:blip r:embed="rId4"/>
            <a:stretch>
              <a:fillRect t="-431" r="-26748" b="-431"/>
            </a:stretch>
          </a:blipFill>
        </p:spPr>
      </p:sp>
      <p:sp>
        <p:nvSpPr>
          <p:cNvPr id="5" name="TextBox 5"/>
          <p:cNvSpPr txBox="1"/>
          <p:nvPr/>
        </p:nvSpPr>
        <p:spPr>
          <a:xfrm>
            <a:off x="1028700" y="648043"/>
            <a:ext cx="13890209" cy="637489"/>
          </a:xfrm>
          <a:prstGeom prst="rect">
            <a:avLst/>
          </a:prstGeom>
        </p:spPr>
        <p:txBody>
          <a:bodyPr lIns="0" tIns="0" rIns="0" bIns="0" rtlCol="0" anchor="t">
            <a:spAutoFit/>
          </a:bodyPr>
          <a:lstStyle/>
          <a:p>
            <a:pPr algn="l">
              <a:lnSpc>
                <a:spcPts val="4610"/>
              </a:lnSpc>
              <a:spcBef>
                <a:spcPct val="0"/>
              </a:spcBef>
            </a:pPr>
            <a:r>
              <a:rPr lang="en-US" sz="3399" b="1">
                <a:solidFill>
                  <a:srgbClr val="2B4865"/>
                </a:solidFill>
                <a:latin typeface="Arial MT Pro Bold"/>
                <a:ea typeface="Arial MT Pro Bold"/>
                <a:cs typeface="Arial MT Pro Bold"/>
                <a:sym typeface="Arial MT Pro Bold"/>
              </a:rPr>
              <a:t>Clustering Modelling</a:t>
            </a:r>
          </a:p>
        </p:txBody>
      </p:sp>
      <p:sp>
        <p:nvSpPr>
          <p:cNvPr id="6" name="TextBox 6"/>
          <p:cNvSpPr txBox="1"/>
          <p:nvPr/>
        </p:nvSpPr>
        <p:spPr>
          <a:xfrm>
            <a:off x="11424369" y="7282035"/>
            <a:ext cx="3872402" cy="430682"/>
          </a:xfrm>
          <a:prstGeom prst="rect">
            <a:avLst/>
          </a:prstGeom>
        </p:spPr>
        <p:txBody>
          <a:bodyPr lIns="0" tIns="0" rIns="0" bIns="0" rtlCol="0" anchor="t">
            <a:spAutoFit/>
          </a:bodyPr>
          <a:lstStyle/>
          <a:p>
            <a:pPr algn="just">
              <a:lnSpc>
                <a:spcPts val="3118"/>
              </a:lnSpc>
            </a:pPr>
            <a:r>
              <a:rPr lang="en-US" sz="2300" i="1">
                <a:solidFill>
                  <a:srgbClr val="E89197"/>
                </a:solidFill>
                <a:latin typeface="Arial MT Pro Italics"/>
                <a:ea typeface="Arial MT Pro Italics"/>
                <a:cs typeface="Arial MT Pro Italics"/>
                <a:sym typeface="Arial MT Pro Italics"/>
              </a:rPr>
              <a:t># Applying KMeans and PCA</a:t>
            </a:r>
          </a:p>
        </p:txBody>
      </p:sp>
      <p:sp>
        <p:nvSpPr>
          <p:cNvPr id="7" name="TextBox 7"/>
          <p:cNvSpPr txBox="1"/>
          <p:nvPr/>
        </p:nvSpPr>
        <p:spPr>
          <a:xfrm>
            <a:off x="3253685" y="7282035"/>
            <a:ext cx="4347826" cy="430682"/>
          </a:xfrm>
          <a:prstGeom prst="rect">
            <a:avLst/>
          </a:prstGeom>
        </p:spPr>
        <p:txBody>
          <a:bodyPr lIns="0" tIns="0" rIns="0" bIns="0" rtlCol="0" anchor="t">
            <a:spAutoFit/>
          </a:bodyPr>
          <a:lstStyle/>
          <a:p>
            <a:pPr algn="just">
              <a:lnSpc>
                <a:spcPts val="3118"/>
              </a:lnSpc>
            </a:pPr>
            <a:r>
              <a:rPr lang="en-US" sz="2300" i="1">
                <a:solidFill>
                  <a:srgbClr val="E89197"/>
                </a:solidFill>
                <a:latin typeface="Arial MT Pro Italics"/>
                <a:ea typeface="Arial MT Pro Italics"/>
                <a:cs typeface="Arial MT Pro Italics"/>
                <a:sym typeface="Arial MT Pro Italics"/>
              </a:rPr>
              <a:t># Creating Clustering Summary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1356" y="2711299"/>
            <a:ext cx="5943310" cy="4754648"/>
          </a:xfrm>
          <a:custGeom>
            <a:avLst/>
            <a:gdLst/>
            <a:ahLst/>
            <a:cxnLst/>
            <a:rect l="l" t="t" r="r" b="b"/>
            <a:pathLst>
              <a:path w="5943310" h="4754648">
                <a:moveTo>
                  <a:pt x="0" y="0"/>
                </a:moveTo>
                <a:lnTo>
                  <a:pt x="5943310" y="0"/>
                </a:lnTo>
                <a:lnTo>
                  <a:pt x="5943310" y="4754648"/>
                </a:lnTo>
                <a:lnTo>
                  <a:pt x="0" y="4754648"/>
                </a:lnTo>
                <a:lnTo>
                  <a:pt x="0" y="0"/>
                </a:lnTo>
                <a:close/>
              </a:path>
            </a:pathLst>
          </a:custGeom>
          <a:blipFill>
            <a:blip r:embed="rId3"/>
            <a:stretch>
              <a:fillRect/>
            </a:stretch>
          </a:blipFill>
        </p:spPr>
      </p:sp>
      <p:sp>
        <p:nvSpPr>
          <p:cNvPr id="3" name="Freeform 3"/>
          <p:cNvSpPr/>
          <p:nvPr/>
        </p:nvSpPr>
        <p:spPr>
          <a:xfrm>
            <a:off x="12218052" y="2711299"/>
            <a:ext cx="5959376" cy="4864401"/>
          </a:xfrm>
          <a:custGeom>
            <a:avLst/>
            <a:gdLst/>
            <a:ahLst/>
            <a:cxnLst/>
            <a:rect l="l" t="t" r="r" b="b"/>
            <a:pathLst>
              <a:path w="5959376" h="4864401">
                <a:moveTo>
                  <a:pt x="0" y="0"/>
                </a:moveTo>
                <a:lnTo>
                  <a:pt x="5959376" y="0"/>
                </a:lnTo>
                <a:lnTo>
                  <a:pt x="5959376" y="4864402"/>
                </a:lnTo>
                <a:lnTo>
                  <a:pt x="0" y="4864402"/>
                </a:lnTo>
                <a:lnTo>
                  <a:pt x="0" y="0"/>
                </a:lnTo>
                <a:close/>
              </a:path>
            </a:pathLst>
          </a:custGeom>
          <a:blipFill>
            <a:blip r:embed="rId4"/>
            <a:stretch>
              <a:fillRect/>
            </a:stretch>
          </a:blipFill>
        </p:spPr>
      </p:sp>
      <p:sp>
        <p:nvSpPr>
          <p:cNvPr id="4" name="Freeform 4"/>
          <p:cNvSpPr/>
          <p:nvPr/>
        </p:nvSpPr>
        <p:spPr>
          <a:xfrm>
            <a:off x="6014666" y="2711299"/>
            <a:ext cx="6132030" cy="4864401"/>
          </a:xfrm>
          <a:custGeom>
            <a:avLst/>
            <a:gdLst/>
            <a:ahLst/>
            <a:cxnLst/>
            <a:rect l="l" t="t" r="r" b="b"/>
            <a:pathLst>
              <a:path w="6132030" h="4864401">
                <a:moveTo>
                  <a:pt x="0" y="0"/>
                </a:moveTo>
                <a:lnTo>
                  <a:pt x="6132030" y="0"/>
                </a:lnTo>
                <a:lnTo>
                  <a:pt x="6132030" y="4864402"/>
                </a:lnTo>
                <a:lnTo>
                  <a:pt x="0" y="4864402"/>
                </a:lnTo>
                <a:lnTo>
                  <a:pt x="0" y="0"/>
                </a:lnTo>
                <a:close/>
              </a:path>
            </a:pathLst>
          </a:custGeom>
          <a:blipFill>
            <a:blip r:embed="rId5"/>
            <a:stretch>
              <a:fillRect r="-2067"/>
            </a:stretch>
          </a:blipFill>
        </p:spPr>
      </p:sp>
      <p:sp>
        <p:nvSpPr>
          <p:cNvPr id="5" name="TextBox 5"/>
          <p:cNvSpPr txBox="1"/>
          <p:nvPr/>
        </p:nvSpPr>
        <p:spPr>
          <a:xfrm>
            <a:off x="1028700" y="1527402"/>
            <a:ext cx="16230600" cy="593827"/>
          </a:xfrm>
          <a:prstGeom prst="rect">
            <a:avLst/>
          </a:prstGeom>
        </p:spPr>
        <p:txBody>
          <a:bodyPr lIns="0" tIns="0" rIns="0" bIns="0" rtlCol="0" anchor="t">
            <a:spAutoFit/>
          </a:bodyPr>
          <a:lstStyle/>
          <a:p>
            <a:pPr algn="ctr">
              <a:lnSpc>
                <a:spcPts val="4339"/>
              </a:lnSpc>
              <a:spcBef>
                <a:spcPct val="0"/>
              </a:spcBef>
            </a:pPr>
            <a:r>
              <a:rPr lang="en-US" sz="3199" b="1">
                <a:solidFill>
                  <a:srgbClr val="0088B6"/>
                </a:solidFill>
                <a:latin typeface="Arial MT Pro Bold"/>
                <a:ea typeface="Arial MT Pro Bold"/>
                <a:cs typeface="Arial MT Pro Bold"/>
                <a:sym typeface="Arial MT Pro Bold"/>
              </a:rPr>
              <a:t>Clustering: Elbow Method, PCA, and Silhoutte Method</a:t>
            </a:r>
          </a:p>
        </p:txBody>
      </p:sp>
      <p:sp>
        <p:nvSpPr>
          <p:cNvPr id="6" name="TextBox 6"/>
          <p:cNvSpPr txBox="1"/>
          <p:nvPr/>
        </p:nvSpPr>
        <p:spPr>
          <a:xfrm>
            <a:off x="1028700" y="7810816"/>
            <a:ext cx="4704149" cy="1211727"/>
          </a:xfrm>
          <a:prstGeom prst="rect">
            <a:avLst/>
          </a:prstGeom>
        </p:spPr>
        <p:txBody>
          <a:bodyPr lIns="0" tIns="0" rIns="0" bIns="0" rtlCol="0" anchor="t">
            <a:spAutoFit/>
          </a:bodyPr>
          <a:lstStyle/>
          <a:p>
            <a:pPr algn="just">
              <a:lnSpc>
                <a:spcPts val="3118"/>
              </a:lnSpc>
            </a:pPr>
            <a:r>
              <a:rPr lang="en-US" sz="2300">
                <a:solidFill>
                  <a:srgbClr val="000000"/>
                </a:solidFill>
                <a:latin typeface="Arial MT Pro"/>
                <a:ea typeface="Arial MT Pro"/>
                <a:cs typeface="Arial MT Pro"/>
                <a:sym typeface="Arial MT Pro"/>
              </a:rPr>
              <a:t>Shows how inertia decreases</a:t>
            </a:r>
            <a:r>
              <a:rPr lang="en-US" sz="2300" u="none">
                <a:solidFill>
                  <a:srgbClr val="000000"/>
                </a:solidFill>
                <a:latin typeface="Arial MT Pro"/>
                <a:ea typeface="Arial MT Pro"/>
                <a:cs typeface="Arial MT Pro"/>
                <a:sym typeface="Arial MT Pro"/>
              </a:rPr>
              <a:t> as</a:t>
            </a:r>
            <a:r>
              <a:rPr lang="en-US" sz="2300">
                <a:solidFill>
                  <a:srgbClr val="000000"/>
                </a:solidFill>
                <a:latin typeface="Arial MT Pro"/>
                <a:ea typeface="Arial MT Pro"/>
                <a:cs typeface="Arial MT Pro"/>
                <a:sym typeface="Arial MT Pro"/>
              </a:rPr>
              <a:t> clus</a:t>
            </a:r>
            <a:r>
              <a:rPr lang="en-US" sz="2300" u="none">
                <a:solidFill>
                  <a:srgbClr val="000000"/>
                </a:solidFill>
                <a:latin typeface="Arial MT Pro"/>
                <a:ea typeface="Arial MT Pro"/>
                <a:cs typeface="Arial MT Pro"/>
                <a:sym typeface="Arial MT Pro"/>
              </a:rPr>
              <a:t>t</a:t>
            </a:r>
            <a:r>
              <a:rPr lang="en-US" sz="2300">
                <a:solidFill>
                  <a:srgbClr val="000000"/>
                </a:solidFill>
                <a:latin typeface="Arial MT Pro"/>
                <a:ea typeface="Arial MT Pro"/>
                <a:cs typeface="Arial MT Pro"/>
                <a:sym typeface="Arial MT Pro"/>
              </a:rPr>
              <a:t>ers increase, suggest</a:t>
            </a:r>
            <a:r>
              <a:rPr lang="en-US" sz="2300" u="none">
                <a:solidFill>
                  <a:srgbClr val="000000"/>
                </a:solidFill>
                <a:latin typeface="Arial MT Pro"/>
                <a:ea typeface="Arial MT Pro"/>
                <a:cs typeface="Arial MT Pro"/>
                <a:sym typeface="Arial MT Pro"/>
              </a:rPr>
              <a:t>in</a:t>
            </a:r>
            <a:r>
              <a:rPr lang="en-US" sz="2300">
                <a:solidFill>
                  <a:srgbClr val="000000"/>
                </a:solidFill>
                <a:latin typeface="Arial MT Pro"/>
                <a:ea typeface="Arial MT Pro"/>
                <a:cs typeface="Arial MT Pro"/>
                <a:sym typeface="Arial MT Pro"/>
              </a:rPr>
              <a:t>g</a:t>
            </a:r>
            <a:r>
              <a:rPr lang="en-US" sz="2300" u="none">
                <a:solidFill>
                  <a:srgbClr val="000000"/>
                </a:solidFill>
                <a:latin typeface="Arial MT Pro"/>
                <a:ea typeface="Arial MT Pro"/>
                <a:cs typeface="Arial MT Pro"/>
                <a:sym typeface="Arial MT Pro"/>
              </a:rPr>
              <a:t> tha</a:t>
            </a:r>
            <a:r>
              <a:rPr lang="en-US" sz="2300">
                <a:solidFill>
                  <a:srgbClr val="000000"/>
                </a:solidFill>
                <a:latin typeface="Arial MT Pro"/>
                <a:ea typeface="Arial MT Pro"/>
                <a:cs typeface="Arial MT Pro"/>
                <a:sym typeface="Arial MT Pro"/>
              </a:rPr>
              <a:t>t</a:t>
            </a:r>
            <a:r>
              <a:rPr lang="en-US" sz="2300" u="none">
                <a:solidFill>
                  <a:srgbClr val="000000"/>
                </a:solidFill>
                <a:latin typeface="Arial MT Pro"/>
                <a:ea typeface="Arial MT Pro"/>
                <a:cs typeface="Arial MT Pro"/>
                <a:sym typeface="Arial MT Pro"/>
              </a:rPr>
              <a:t> a</a:t>
            </a:r>
            <a:r>
              <a:rPr lang="en-US" sz="2300">
                <a:solidFill>
                  <a:srgbClr val="000000"/>
                </a:solidFill>
                <a:latin typeface="Arial MT Pro"/>
                <a:ea typeface="Arial MT Pro"/>
                <a:cs typeface="Arial MT Pro"/>
                <a:sym typeface="Arial MT Pro"/>
              </a:rPr>
              <a:t>r</a:t>
            </a:r>
            <a:r>
              <a:rPr lang="en-US" sz="2300" u="none">
                <a:solidFill>
                  <a:srgbClr val="000000"/>
                </a:solidFill>
                <a:latin typeface="Arial MT Pro"/>
                <a:ea typeface="Arial MT Pro"/>
                <a:cs typeface="Arial MT Pro"/>
                <a:sym typeface="Arial MT Pro"/>
              </a:rPr>
              <a:t>oun</a:t>
            </a:r>
            <a:r>
              <a:rPr lang="en-US" sz="2300">
                <a:solidFill>
                  <a:srgbClr val="000000"/>
                </a:solidFill>
                <a:latin typeface="Arial MT Pro"/>
                <a:ea typeface="Arial MT Pro"/>
                <a:cs typeface="Arial MT Pro"/>
                <a:sym typeface="Arial MT Pro"/>
              </a:rPr>
              <a:t>d 3 clusters might be ideal.</a:t>
            </a:r>
          </a:p>
        </p:txBody>
      </p:sp>
      <p:sp>
        <p:nvSpPr>
          <p:cNvPr id="7" name="TextBox 7"/>
          <p:cNvSpPr txBox="1"/>
          <p:nvPr/>
        </p:nvSpPr>
        <p:spPr>
          <a:xfrm>
            <a:off x="6791926" y="7810816"/>
            <a:ext cx="4704149" cy="1602257"/>
          </a:xfrm>
          <a:prstGeom prst="rect">
            <a:avLst/>
          </a:prstGeom>
        </p:spPr>
        <p:txBody>
          <a:bodyPr lIns="0" tIns="0" rIns="0" bIns="0" rtlCol="0" anchor="t">
            <a:spAutoFit/>
          </a:bodyPr>
          <a:lstStyle/>
          <a:p>
            <a:pPr algn="just">
              <a:lnSpc>
                <a:spcPts val="3118"/>
              </a:lnSpc>
            </a:pPr>
            <a:r>
              <a:rPr lang="en-US" sz="2300">
                <a:solidFill>
                  <a:srgbClr val="000000"/>
                </a:solidFill>
                <a:latin typeface="Arial MT Pro"/>
                <a:ea typeface="Arial MT Pro"/>
                <a:cs typeface="Arial MT Pro"/>
                <a:sym typeface="Arial MT Pro"/>
              </a:rPr>
              <a:t>Displays data points in a transformed sp</a:t>
            </a:r>
            <a:r>
              <a:rPr lang="en-US" sz="2300" u="none">
                <a:solidFill>
                  <a:srgbClr val="000000"/>
                </a:solidFill>
                <a:latin typeface="Arial MT Pro"/>
                <a:ea typeface="Arial MT Pro"/>
                <a:cs typeface="Arial MT Pro"/>
                <a:sym typeface="Arial MT Pro"/>
              </a:rPr>
              <a:t>ace where</a:t>
            </a:r>
            <a:r>
              <a:rPr lang="en-US" sz="2300">
                <a:solidFill>
                  <a:srgbClr val="000000"/>
                </a:solidFill>
                <a:latin typeface="Arial MT Pro"/>
                <a:ea typeface="Arial MT Pro"/>
                <a:cs typeface="Arial MT Pro"/>
                <a:sym typeface="Arial MT Pro"/>
              </a:rPr>
              <a:t> colors indicate different clusters, which helps visualize separat</a:t>
            </a:r>
            <a:r>
              <a:rPr lang="en-US" sz="2300" u="none">
                <a:solidFill>
                  <a:srgbClr val="000000"/>
                </a:solidFill>
                <a:latin typeface="Arial MT Pro"/>
                <a:ea typeface="Arial MT Pro"/>
                <a:cs typeface="Arial MT Pro"/>
                <a:sym typeface="Arial MT Pro"/>
              </a:rPr>
              <a:t>ion.</a:t>
            </a:r>
          </a:p>
        </p:txBody>
      </p:sp>
      <p:sp>
        <p:nvSpPr>
          <p:cNvPr id="8" name="TextBox 8"/>
          <p:cNvSpPr txBox="1"/>
          <p:nvPr/>
        </p:nvSpPr>
        <p:spPr>
          <a:xfrm>
            <a:off x="12845666" y="7615550"/>
            <a:ext cx="4704149" cy="1602257"/>
          </a:xfrm>
          <a:prstGeom prst="rect">
            <a:avLst/>
          </a:prstGeom>
        </p:spPr>
        <p:txBody>
          <a:bodyPr lIns="0" tIns="0" rIns="0" bIns="0" rtlCol="0" anchor="t">
            <a:spAutoFit/>
          </a:bodyPr>
          <a:lstStyle/>
          <a:p>
            <a:pPr algn="just">
              <a:lnSpc>
                <a:spcPts val="3118"/>
              </a:lnSpc>
            </a:pPr>
            <a:r>
              <a:rPr lang="en-US" sz="2300">
                <a:solidFill>
                  <a:srgbClr val="000000"/>
                </a:solidFill>
                <a:latin typeface="Arial MT Pro"/>
                <a:ea typeface="Arial MT Pro"/>
                <a:cs typeface="Arial MT Pro"/>
                <a:sym typeface="Arial MT Pro"/>
              </a:rPr>
              <a:t>Evaluates clustering qu</a:t>
            </a:r>
            <a:r>
              <a:rPr lang="en-US" sz="2300" u="none">
                <a:solidFill>
                  <a:srgbClr val="000000"/>
                </a:solidFill>
                <a:latin typeface="Arial MT Pro"/>
                <a:ea typeface="Arial MT Pro"/>
                <a:cs typeface="Arial MT Pro"/>
                <a:sym typeface="Arial MT Pro"/>
              </a:rPr>
              <a:t>a</a:t>
            </a:r>
            <a:r>
              <a:rPr lang="en-US" sz="2300">
                <a:solidFill>
                  <a:srgbClr val="000000"/>
                </a:solidFill>
                <a:latin typeface="Arial MT Pro"/>
                <a:ea typeface="Arial MT Pro"/>
                <a:cs typeface="Arial MT Pro"/>
                <a:sym typeface="Arial MT Pro"/>
              </a:rPr>
              <a:t>lity, which indicates that 2 clusters might be optimal based on the highest silhouette sc</a:t>
            </a:r>
            <a:r>
              <a:rPr lang="en-US" sz="2300" u="none">
                <a:solidFill>
                  <a:srgbClr val="000000"/>
                </a:solidFill>
                <a:latin typeface="Arial MT Pro"/>
                <a:ea typeface="Arial MT Pro"/>
                <a:cs typeface="Arial MT Pro"/>
                <a:sym typeface="Arial MT Pro"/>
              </a:rPr>
              <a:t>ore.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503804"/>
            <a:ext cx="16230600" cy="6231026"/>
          </a:xfrm>
          <a:prstGeom prst="rect">
            <a:avLst/>
          </a:prstGeom>
        </p:spPr>
        <p:txBody>
          <a:bodyPr lIns="0" tIns="0" rIns="0" bIns="0" rtlCol="0" anchor="t">
            <a:spAutoFit/>
          </a:bodyPr>
          <a:lstStyle/>
          <a:p>
            <a:pPr marL="604519" lvl="1" indent="-302260" algn="l">
              <a:lnSpc>
                <a:spcPts val="3796"/>
              </a:lnSpc>
              <a:buFont typeface="Arial"/>
              <a:buChar char="•"/>
            </a:pPr>
            <a:r>
              <a:rPr lang="en-US" sz="2799" spc="-41">
                <a:solidFill>
                  <a:srgbClr val="000000"/>
                </a:solidFill>
                <a:latin typeface="Arial MT Pro"/>
                <a:ea typeface="Arial MT Pro"/>
                <a:cs typeface="Arial MT Pro"/>
                <a:sym typeface="Arial MT Pro"/>
              </a:rPr>
              <a:t>The Elbow Method graph shows a </a:t>
            </a:r>
            <a:r>
              <a:rPr lang="en-US" sz="2799" b="1" spc="-41">
                <a:solidFill>
                  <a:srgbClr val="000000"/>
                </a:solidFill>
                <a:latin typeface="Arial MT Pro Bold"/>
                <a:ea typeface="Arial MT Pro Bold"/>
                <a:cs typeface="Arial MT Pro Bold"/>
                <a:sym typeface="Arial MT Pro Bold"/>
              </a:rPr>
              <a:t>distinct bend at K=3</a:t>
            </a:r>
            <a:r>
              <a:rPr lang="en-US" sz="2799" spc="-41">
                <a:solidFill>
                  <a:srgbClr val="000000"/>
                </a:solidFill>
                <a:latin typeface="Arial MT Pro"/>
                <a:ea typeface="Arial MT Pro"/>
                <a:cs typeface="Arial MT Pro"/>
                <a:sym typeface="Arial MT Pro"/>
              </a:rPr>
              <a:t>, with the Silhouette Scores indicating </a:t>
            </a:r>
            <a:r>
              <a:rPr lang="en-US" sz="2799" b="1" spc="-41">
                <a:solidFill>
                  <a:srgbClr val="000000"/>
                </a:solidFill>
                <a:latin typeface="Arial MT Pro Bold"/>
                <a:ea typeface="Arial MT Pro Bold"/>
                <a:cs typeface="Arial MT Pro Bold"/>
                <a:sym typeface="Arial MT Pro Bold"/>
              </a:rPr>
              <a:t>strong separation at K=2</a:t>
            </a:r>
            <a:r>
              <a:rPr lang="en-US" sz="2799" spc="-41">
                <a:solidFill>
                  <a:srgbClr val="000000"/>
                </a:solidFill>
                <a:latin typeface="Arial MT Pro"/>
                <a:ea typeface="Arial MT Pro"/>
                <a:cs typeface="Arial MT Pro"/>
                <a:sym typeface="Arial MT Pro"/>
              </a:rPr>
              <a:t> but a </a:t>
            </a:r>
            <a:r>
              <a:rPr lang="en-US" sz="2799" u="sng" spc="-41">
                <a:solidFill>
                  <a:srgbClr val="000000"/>
                </a:solidFill>
                <a:latin typeface="Arial MT Pro"/>
                <a:ea typeface="Arial MT Pro"/>
                <a:cs typeface="Arial MT Pro"/>
                <a:sym typeface="Arial MT Pro"/>
              </a:rPr>
              <a:t>reasonable balance at K=3</a:t>
            </a:r>
            <a:r>
              <a:rPr lang="en-US" sz="2799" spc="-41">
                <a:solidFill>
                  <a:srgbClr val="000000"/>
                </a:solidFill>
                <a:latin typeface="Arial MT Pro"/>
                <a:ea typeface="Arial MT Pro"/>
                <a:cs typeface="Arial MT Pro"/>
                <a:sym typeface="Arial MT Pro"/>
              </a:rPr>
              <a:t>.</a:t>
            </a:r>
          </a:p>
          <a:p>
            <a:pPr marL="604519" lvl="1" indent="-302260" algn="l">
              <a:lnSpc>
                <a:spcPts val="3796"/>
              </a:lnSpc>
              <a:buFont typeface="Arial"/>
              <a:buChar char="•"/>
            </a:pPr>
            <a:r>
              <a:rPr lang="en-US" sz="2799" spc="-41">
                <a:solidFill>
                  <a:srgbClr val="000000"/>
                </a:solidFill>
                <a:latin typeface="Arial MT Pro"/>
                <a:ea typeface="Arial MT Pro"/>
                <a:cs typeface="Arial MT Pro"/>
                <a:sym typeface="Arial MT Pro"/>
              </a:rPr>
              <a:t>The PCA visualization confirms </a:t>
            </a:r>
            <a:r>
              <a:rPr lang="en-US" sz="2799" u="sng" spc="-41">
                <a:solidFill>
                  <a:srgbClr val="000000"/>
                </a:solidFill>
                <a:latin typeface="Arial MT Pro"/>
                <a:ea typeface="Arial MT Pro"/>
                <a:cs typeface="Arial MT Pro"/>
                <a:sym typeface="Arial MT Pro"/>
              </a:rPr>
              <a:t>three clearly distinct groupings </a:t>
            </a:r>
            <a:r>
              <a:rPr lang="en-US" sz="2799" spc="-41">
                <a:solidFill>
                  <a:srgbClr val="000000"/>
                </a:solidFill>
                <a:latin typeface="Arial MT Pro"/>
                <a:ea typeface="Arial MT Pro"/>
                <a:cs typeface="Arial MT Pro"/>
                <a:sym typeface="Arial MT Pro"/>
              </a:rPr>
              <a:t>in the data (purple, yellow, and teal clusters), suggesting </a:t>
            </a:r>
            <a:r>
              <a:rPr lang="en-US" sz="2799" u="sng" spc="-41">
                <a:solidFill>
                  <a:srgbClr val="000000"/>
                </a:solidFill>
                <a:latin typeface="Arial MT Pro"/>
                <a:ea typeface="Arial MT Pro"/>
                <a:cs typeface="Arial MT Pro"/>
                <a:sym typeface="Arial MT Pro"/>
              </a:rPr>
              <a:t>3 clusters optimally balances separation quality and model simplicity</a:t>
            </a:r>
            <a:r>
              <a:rPr lang="en-US" sz="2799" spc="-41">
                <a:solidFill>
                  <a:srgbClr val="000000"/>
                </a:solidFill>
                <a:latin typeface="Arial MT Pro"/>
                <a:ea typeface="Arial MT Pro"/>
                <a:cs typeface="Arial MT Pro"/>
                <a:sym typeface="Arial MT Pro"/>
              </a:rPr>
              <a:t>.</a:t>
            </a:r>
          </a:p>
          <a:p>
            <a:pPr marL="604519" lvl="1" indent="-302260" algn="l">
              <a:lnSpc>
                <a:spcPts val="3796"/>
              </a:lnSpc>
              <a:buFont typeface="Arial"/>
              <a:buChar char="•"/>
            </a:pPr>
            <a:r>
              <a:rPr lang="en-US" sz="2799">
                <a:solidFill>
                  <a:srgbClr val="000000"/>
                </a:solidFill>
                <a:latin typeface="Arial MT Pro"/>
                <a:ea typeface="Arial MT Pro"/>
                <a:cs typeface="Arial MT Pro"/>
                <a:sym typeface="Arial MT Pro"/>
              </a:rPr>
              <a:t>The clusters show a clear separation by victim age.</a:t>
            </a:r>
          </a:p>
          <a:p>
            <a:pPr marL="1209039" lvl="2" indent="-403013" algn="l">
              <a:lnSpc>
                <a:spcPts val="3796"/>
              </a:lnSpc>
              <a:buFont typeface="Arial"/>
              <a:buChar char="⚬"/>
            </a:pPr>
            <a:r>
              <a:rPr lang="en-US" sz="2799">
                <a:solidFill>
                  <a:srgbClr val="000000"/>
                </a:solidFill>
                <a:latin typeface="Arial MT Pro"/>
                <a:ea typeface="Arial MT Pro"/>
                <a:cs typeface="Arial MT Pro"/>
                <a:sym typeface="Arial MT Pro"/>
              </a:rPr>
              <a:t>The majority of cases (5,148 incidents) fall into Cluster 0 (averaging 20.8 years old), </a:t>
            </a:r>
            <a:r>
              <a:rPr lang="en-US" sz="2799" b="1">
                <a:solidFill>
                  <a:srgbClr val="000000"/>
                </a:solidFill>
                <a:latin typeface="Arial MT Pro Bold"/>
                <a:ea typeface="Arial MT Pro Bold"/>
                <a:cs typeface="Arial MT Pro Bold"/>
                <a:sym typeface="Arial MT Pro Bold"/>
              </a:rPr>
              <a:t>representing younger victims </a:t>
            </a:r>
            <a:r>
              <a:rPr lang="en-US" sz="2799">
                <a:solidFill>
                  <a:srgbClr val="000000"/>
                </a:solidFill>
                <a:latin typeface="Arial MT Pro"/>
                <a:ea typeface="Arial MT Pro"/>
                <a:cs typeface="Arial MT Pro"/>
                <a:sym typeface="Arial MT Pro"/>
              </a:rPr>
              <a:t>from earlier decades with </a:t>
            </a:r>
            <a:r>
              <a:rPr lang="en-US" sz="2799" u="sng">
                <a:solidFill>
                  <a:srgbClr val="000000"/>
                </a:solidFill>
                <a:latin typeface="Arial MT Pro"/>
                <a:ea typeface="Arial MT Pro"/>
                <a:cs typeface="Arial MT Pro"/>
                <a:sym typeface="Arial MT Pro"/>
              </a:rPr>
              <a:t>moderate fatality rates</a:t>
            </a:r>
            <a:r>
              <a:rPr lang="en-US" sz="2799">
                <a:solidFill>
                  <a:srgbClr val="000000"/>
                </a:solidFill>
                <a:latin typeface="Arial MT Pro"/>
                <a:ea typeface="Arial MT Pro"/>
                <a:cs typeface="Arial MT Pro"/>
                <a:sym typeface="Arial MT Pro"/>
              </a:rPr>
              <a:t> (22.7%).</a:t>
            </a:r>
          </a:p>
          <a:p>
            <a:pPr marL="1209039" lvl="2" indent="-403013" algn="l">
              <a:lnSpc>
                <a:spcPts val="3796"/>
              </a:lnSpc>
              <a:buFont typeface="Arial"/>
              <a:buChar char="⚬"/>
            </a:pPr>
            <a:r>
              <a:rPr lang="en-US" sz="2799">
                <a:solidFill>
                  <a:srgbClr val="000000"/>
                </a:solidFill>
                <a:latin typeface="Arial MT Pro"/>
                <a:ea typeface="Arial MT Pro"/>
                <a:cs typeface="Arial MT Pro"/>
                <a:sym typeface="Arial MT Pro"/>
              </a:rPr>
              <a:t>Cluster 2 (943 incidents, averaging 48.5 years old) represents a newer pattern of attacks involving</a:t>
            </a:r>
            <a:r>
              <a:rPr lang="en-US" sz="2799" b="1">
                <a:solidFill>
                  <a:srgbClr val="000000"/>
                </a:solidFill>
                <a:latin typeface="Arial MT Pro Bold"/>
                <a:ea typeface="Arial MT Pro Bold"/>
                <a:cs typeface="Arial MT Pro Bold"/>
                <a:sym typeface="Arial MT Pro Bold"/>
              </a:rPr>
              <a:t> middle-aged victims</a:t>
            </a:r>
            <a:r>
              <a:rPr lang="en-US" sz="2799">
                <a:solidFill>
                  <a:srgbClr val="000000"/>
                </a:solidFill>
                <a:latin typeface="Arial MT Pro"/>
                <a:ea typeface="Arial MT Pro"/>
                <a:cs typeface="Arial MT Pro"/>
                <a:sym typeface="Arial MT Pro"/>
              </a:rPr>
              <a:t> with the </a:t>
            </a:r>
            <a:r>
              <a:rPr lang="en-US" sz="2799" u="sng">
                <a:solidFill>
                  <a:srgbClr val="000000"/>
                </a:solidFill>
                <a:latin typeface="Arial MT Pro"/>
                <a:ea typeface="Arial MT Pro"/>
                <a:cs typeface="Arial MT Pro"/>
                <a:sym typeface="Arial MT Pro"/>
              </a:rPr>
              <a:t>lowest fatality rates</a:t>
            </a:r>
            <a:r>
              <a:rPr lang="en-US" sz="2799">
                <a:solidFill>
                  <a:srgbClr val="000000"/>
                </a:solidFill>
                <a:latin typeface="Arial MT Pro"/>
                <a:ea typeface="Arial MT Pro"/>
                <a:cs typeface="Arial MT Pro"/>
                <a:sym typeface="Arial MT Pro"/>
              </a:rPr>
              <a:t> (18.7%), possibly reflecting changes in recreational water activities or improved medical responses in recent decades.</a:t>
            </a:r>
          </a:p>
          <a:p>
            <a:pPr marL="1209039" lvl="2" indent="-403013" algn="l">
              <a:lnSpc>
                <a:spcPts val="3796"/>
              </a:lnSpc>
              <a:buFont typeface="Arial"/>
              <a:buChar char="⚬"/>
            </a:pPr>
            <a:r>
              <a:rPr lang="en-US" sz="2799">
                <a:solidFill>
                  <a:srgbClr val="000000"/>
                </a:solidFill>
                <a:latin typeface="Arial MT Pro"/>
                <a:ea typeface="Arial MT Pro"/>
                <a:cs typeface="Arial MT Pro"/>
                <a:sym typeface="Arial MT Pro"/>
              </a:rPr>
              <a:t>The small but concerning Cluster 1 (118 incidents, averaging 23.3 years old) shows</a:t>
            </a:r>
            <a:r>
              <a:rPr lang="en-US" sz="2799" b="1">
                <a:solidFill>
                  <a:srgbClr val="000000"/>
                </a:solidFill>
                <a:latin typeface="Arial MT Pro Bold"/>
                <a:ea typeface="Arial MT Pro Bold"/>
                <a:cs typeface="Arial MT Pro Bold"/>
                <a:sym typeface="Arial MT Pro Bold"/>
              </a:rPr>
              <a:t> anomalous characteristics</a:t>
            </a:r>
            <a:r>
              <a:rPr lang="en-US" sz="2799">
                <a:solidFill>
                  <a:srgbClr val="000000"/>
                </a:solidFill>
                <a:latin typeface="Arial MT Pro"/>
                <a:ea typeface="Arial MT Pro"/>
                <a:cs typeface="Arial MT Pro"/>
                <a:sym typeface="Arial MT Pro"/>
              </a:rPr>
              <a:t> with its extremely low year values (0.04) and nearly 50% fatality rate (47.5%).</a:t>
            </a:r>
          </a:p>
        </p:txBody>
      </p:sp>
      <p:sp>
        <p:nvSpPr>
          <p:cNvPr id="3" name="Freeform 3"/>
          <p:cNvSpPr/>
          <p:nvPr/>
        </p:nvSpPr>
        <p:spPr>
          <a:xfrm>
            <a:off x="3950039" y="606370"/>
            <a:ext cx="10387921" cy="1958536"/>
          </a:xfrm>
          <a:custGeom>
            <a:avLst/>
            <a:gdLst/>
            <a:ahLst/>
            <a:cxnLst/>
            <a:rect l="l" t="t" r="r" b="b"/>
            <a:pathLst>
              <a:path w="10387921" h="1958536">
                <a:moveTo>
                  <a:pt x="0" y="0"/>
                </a:moveTo>
                <a:lnTo>
                  <a:pt x="10387922" y="0"/>
                </a:lnTo>
                <a:lnTo>
                  <a:pt x="10387922" y="1958536"/>
                </a:lnTo>
                <a:lnTo>
                  <a:pt x="0" y="1958536"/>
                </a:lnTo>
                <a:lnTo>
                  <a:pt x="0" y="0"/>
                </a:lnTo>
                <a:close/>
              </a:path>
            </a:pathLst>
          </a:custGeom>
          <a:blipFill>
            <a:blip r:embed="rId3"/>
            <a:stretch>
              <a:fillRect/>
            </a:stretch>
          </a:blipFill>
        </p:spPr>
      </p:sp>
      <p:sp>
        <p:nvSpPr>
          <p:cNvPr id="4" name="TextBox 4"/>
          <p:cNvSpPr txBox="1"/>
          <p:nvPr/>
        </p:nvSpPr>
        <p:spPr>
          <a:xfrm>
            <a:off x="1028700" y="2860016"/>
            <a:ext cx="16422174" cy="593827"/>
          </a:xfrm>
          <a:prstGeom prst="rect">
            <a:avLst/>
          </a:prstGeom>
        </p:spPr>
        <p:txBody>
          <a:bodyPr lIns="0" tIns="0" rIns="0" bIns="0" rtlCol="0" anchor="t">
            <a:spAutoFit/>
          </a:bodyPr>
          <a:lstStyle/>
          <a:p>
            <a:pPr algn="l">
              <a:lnSpc>
                <a:spcPts val="4339"/>
              </a:lnSpc>
              <a:spcBef>
                <a:spcPct val="0"/>
              </a:spcBef>
            </a:pPr>
            <a:r>
              <a:rPr lang="en-US" sz="3199" b="1">
                <a:solidFill>
                  <a:srgbClr val="2B4865"/>
                </a:solidFill>
                <a:latin typeface="Arial MT Pro Bold"/>
                <a:ea typeface="Arial MT Pro Bold"/>
                <a:cs typeface="Arial MT Pro Bold"/>
                <a:sym typeface="Arial MT Pro Bold"/>
              </a:rPr>
              <a:t>Insights from the Clustering Model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32913" y="2125341"/>
            <a:ext cx="11622239" cy="6610148"/>
          </a:xfrm>
          <a:custGeom>
            <a:avLst/>
            <a:gdLst/>
            <a:ahLst/>
            <a:cxnLst/>
            <a:rect l="l" t="t" r="r" b="b"/>
            <a:pathLst>
              <a:path w="11622239" h="6610148">
                <a:moveTo>
                  <a:pt x="0" y="0"/>
                </a:moveTo>
                <a:lnTo>
                  <a:pt x="11622238" y="0"/>
                </a:lnTo>
                <a:lnTo>
                  <a:pt x="11622238" y="6610148"/>
                </a:lnTo>
                <a:lnTo>
                  <a:pt x="0" y="6610148"/>
                </a:lnTo>
                <a:lnTo>
                  <a:pt x="0" y="0"/>
                </a:lnTo>
                <a:close/>
              </a:path>
            </a:pathLst>
          </a:custGeom>
          <a:blipFill>
            <a:blip r:embed="rId3"/>
            <a:stretch>
              <a:fillRect/>
            </a:stretch>
          </a:blipFill>
        </p:spPr>
      </p:sp>
      <p:sp>
        <p:nvSpPr>
          <p:cNvPr id="3" name="TextBox 3"/>
          <p:cNvSpPr txBox="1"/>
          <p:nvPr/>
        </p:nvSpPr>
        <p:spPr>
          <a:xfrm>
            <a:off x="932913" y="444398"/>
            <a:ext cx="16326387" cy="1073663"/>
          </a:xfrm>
          <a:prstGeom prst="rect">
            <a:avLst/>
          </a:prstGeom>
        </p:spPr>
        <p:txBody>
          <a:bodyPr lIns="0" tIns="0" rIns="0" bIns="0" rtlCol="0" anchor="t">
            <a:spAutoFit/>
          </a:bodyPr>
          <a:lstStyle/>
          <a:p>
            <a:pPr algn="l">
              <a:lnSpc>
                <a:spcPts val="4111"/>
              </a:lnSpc>
              <a:spcBef>
                <a:spcPct val="0"/>
              </a:spcBef>
            </a:pPr>
            <a:r>
              <a:rPr lang="en-US" sz="3032" b="1">
                <a:solidFill>
                  <a:srgbClr val="2B4865"/>
                </a:solidFill>
                <a:latin typeface="Arial MT Pro Bold"/>
                <a:ea typeface="Arial MT Pro Bold"/>
                <a:cs typeface="Arial MT Pro Bold"/>
                <a:sym typeface="Arial MT Pro Bold"/>
              </a:rPr>
              <a:t>Time Series Analysis: </a:t>
            </a:r>
            <a:r>
              <a:rPr lang="en-US" sz="3032">
                <a:solidFill>
                  <a:srgbClr val="2B4865"/>
                </a:solidFill>
                <a:latin typeface="Arial MT Pro"/>
                <a:ea typeface="Arial MT Pro"/>
                <a:cs typeface="Arial MT Pro"/>
                <a:sym typeface="Arial MT Pro"/>
              </a:rPr>
              <a:t>Are fatal shark attacks increasing or decreasing over time, and what to expect in the succeeding years?</a:t>
            </a:r>
          </a:p>
        </p:txBody>
      </p:sp>
      <p:sp>
        <p:nvSpPr>
          <p:cNvPr id="4" name="TextBox 4"/>
          <p:cNvSpPr txBox="1"/>
          <p:nvPr/>
        </p:nvSpPr>
        <p:spPr>
          <a:xfrm>
            <a:off x="12555151" y="2056410"/>
            <a:ext cx="4704149" cy="6679079"/>
          </a:xfrm>
          <a:prstGeom prst="rect">
            <a:avLst/>
          </a:prstGeom>
        </p:spPr>
        <p:txBody>
          <a:bodyPr lIns="0" tIns="0" rIns="0" bIns="0" rtlCol="0" anchor="t">
            <a:spAutoFit/>
          </a:bodyPr>
          <a:lstStyle/>
          <a:p>
            <a:pPr marL="496571" lvl="1" indent="-248285" algn="just">
              <a:lnSpc>
                <a:spcPts val="3118"/>
              </a:lnSpc>
              <a:buFont typeface="Arial"/>
              <a:buChar char="•"/>
            </a:pPr>
            <a:r>
              <a:rPr lang="en-US" sz="2300">
                <a:solidFill>
                  <a:srgbClr val="000000"/>
                </a:solidFill>
                <a:latin typeface="Arial MT Pro"/>
                <a:ea typeface="Arial MT Pro"/>
                <a:cs typeface="Arial MT Pro"/>
                <a:sym typeface="Arial MT Pro"/>
              </a:rPr>
              <a:t>There is evidence that fatal shark attacks have </a:t>
            </a:r>
            <a:r>
              <a:rPr lang="en-US" sz="2300" b="1">
                <a:solidFill>
                  <a:srgbClr val="000000"/>
                </a:solidFill>
                <a:latin typeface="Arial MT Pro Bold"/>
                <a:ea typeface="Arial MT Pro Bold"/>
                <a:cs typeface="Arial MT Pro Bold"/>
                <a:sym typeface="Arial MT Pro Bold"/>
              </a:rPr>
              <a:t>generally increased over the long term</a:t>
            </a:r>
            <a:r>
              <a:rPr lang="en-US" sz="2300">
                <a:solidFill>
                  <a:srgbClr val="000000"/>
                </a:solidFill>
                <a:latin typeface="Arial MT Pro"/>
                <a:ea typeface="Arial MT Pro"/>
                <a:cs typeface="Arial MT Pro"/>
                <a:sym typeface="Arial MT Pro"/>
              </a:rPr>
              <a:t>, particularly from the early 1800s to the mid-20</a:t>
            </a:r>
            <a:r>
              <a:rPr lang="en-US" sz="2300" u="none">
                <a:solidFill>
                  <a:srgbClr val="000000"/>
                </a:solidFill>
                <a:latin typeface="Arial MT Pro"/>
                <a:ea typeface="Arial MT Pro"/>
                <a:cs typeface="Arial MT Pro"/>
                <a:sym typeface="Arial MT Pro"/>
              </a:rPr>
              <a:t>t</a:t>
            </a:r>
            <a:r>
              <a:rPr lang="en-US" sz="2300">
                <a:solidFill>
                  <a:srgbClr val="000000"/>
                </a:solidFill>
                <a:latin typeface="Arial MT Pro"/>
                <a:ea typeface="Arial MT Pro"/>
                <a:cs typeface="Arial MT Pro"/>
                <a:sym typeface="Arial MT Pro"/>
              </a:rPr>
              <a:t>h c</a:t>
            </a:r>
            <a:r>
              <a:rPr lang="en-US" sz="2300" u="none">
                <a:solidFill>
                  <a:srgbClr val="000000"/>
                </a:solidFill>
                <a:latin typeface="Arial MT Pro"/>
                <a:ea typeface="Arial MT Pro"/>
                <a:cs typeface="Arial MT Pro"/>
                <a:sym typeface="Arial MT Pro"/>
              </a:rPr>
              <a:t>ent</a:t>
            </a:r>
            <a:r>
              <a:rPr lang="en-US" sz="2300">
                <a:solidFill>
                  <a:srgbClr val="000000"/>
                </a:solidFill>
                <a:latin typeface="Arial MT Pro"/>
                <a:ea typeface="Arial MT Pro"/>
                <a:cs typeface="Arial MT Pro"/>
                <a:sym typeface="Arial MT Pro"/>
              </a:rPr>
              <a:t>ur</a:t>
            </a:r>
            <a:r>
              <a:rPr lang="en-US" sz="2300" u="none">
                <a:solidFill>
                  <a:srgbClr val="000000"/>
                </a:solidFill>
                <a:latin typeface="Arial MT Pro"/>
                <a:ea typeface="Arial MT Pro"/>
                <a:cs typeface="Arial MT Pro"/>
                <a:sym typeface="Arial MT Pro"/>
              </a:rPr>
              <a:t>y</a:t>
            </a:r>
            <a:r>
              <a:rPr lang="en-US" sz="2300">
                <a:solidFill>
                  <a:srgbClr val="000000"/>
                </a:solidFill>
                <a:latin typeface="Arial MT Pro"/>
                <a:ea typeface="Arial MT Pro"/>
                <a:cs typeface="Arial MT Pro"/>
                <a:sym typeface="Arial MT Pro"/>
              </a:rPr>
              <a:t>.</a:t>
            </a:r>
            <a:r>
              <a:rPr lang="en-US" sz="2300" u="none">
                <a:solidFill>
                  <a:srgbClr val="000000"/>
                </a:solidFill>
                <a:latin typeface="Arial MT Pro"/>
                <a:ea typeface="Arial MT Pro"/>
                <a:cs typeface="Arial MT Pro"/>
                <a:sym typeface="Arial MT Pro"/>
              </a:rPr>
              <a:t> </a:t>
            </a:r>
            <a:r>
              <a:rPr lang="en-US" sz="2300">
                <a:solidFill>
                  <a:srgbClr val="000000"/>
                </a:solidFill>
                <a:latin typeface="Arial MT Pro"/>
                <a:ea typeface="Arial MT Pro"/>
                <a:cs typeface="Arial MT Pro"/>
                <a:sym typeface="Arial MT Pro"/>
              </a:rPr>
              <a:t>Thi</a:t>
            </a:r>
            <a:r>
              <a:rPr lang="en-US" sz="2300" u="none">
                <a:solidFill>
                  <a:srgbClr val="000000"/>
                </a:solidFill>
                <a:latin typeface="Arial MT Pro"/>
                <a:ea typeface="Arial MT Pro"/>
                <a:cs typeface="Arial MT Pro"/>
                <a:sym typeface="Arial MT Pro"/>
              </a:rPr>
              <a:t>s</a:t>
            </a:r>
            <a:r>
              <a:rPr lang="en-US" sz="2300">
                <a:solidFill>
                  <a:srgbClr val="000000"/>
                </a:solidFill>
                <a:latin typeface="Arial MT Pro"/>
                <a:ea typeface="Arial MT Pro"/>
                <a:cs typeface="Arial MT Pro"/>
                <a:sym typeface="Arial MT Pro"/>
              </a:rPr>
              <a:t> could be due </a:t>
            </a:r>
            <a:r>
              <a:rPr lang="en-US" sz="2300" u="none">
                <a:solidFill>
                  <a:srgbClr val="000000"/>
                </a:solidFill>
                <a:latin typeface="Arial MT Pro"/>
                <a:ea typeface="Arial MT Pro"/>
                <a:cs typeface="Arial MT Pro"/>
                <a:sym typeface="Arial MT Pro"/>
              </a:rPr>
              <a:t>t</a:t>
            </a:r>
            <a:r>
              <a:rPr lang="en-US" sz="2300">
                <a:solidFill>
                  <a:srgbClr val="000000"/>
                </a:solidFill>
                <a:latin typeface="Arial MT Pro"/>
                <a:ea typeface="Arial MT Pro"/>
                <a:cs typeface="Arial MT Pro"/>
                <a:sym typeface="Arial MT Pro"/>
              </a:rPr>
              <a:t>o g</a:t>
            </a:r>
            <a:r>
              <a:rPr lang="en-US" sz="2300" u="none">
                <a:solidFill>
                  <a:srgbClr val="000000"/>
                </a:solidFill>
                <a:latin typeface="Arial MT Pro"/>
                <a:ea typeface="Arial MT Pro"/>
                <a:cs typeface="Arial MT Pro"/>
                <a:sym typeface="Arial MT Pro"/>
              </a:rPr>
              <a:t>ro</a:t>
            </a:r>
            <a:r>
              <a:rPr lang="en-US" sz="2300">
                <a:solidFill>
                  <a:srgbClr val="000000"/>
                </a:solidFill>
                <a:latin typeface="Arial MT Pro"/>
                <a:ea typeface="Arial MT Pro"/>
                <a:cs typeface="Arial MT Pro"/>
                <a:sym typeface="Arial MT Pro"/>
              </a:rPr>
              <a:t>wi</a:t>
            </a:r>
            <a:r>
              <a:rPr lang="en-US" sz="2300" u="none">
                <a:solidFill>
                  <a:srgbClr val="000000"/>
                </a:solidFill>
                <a:latin typeface="Arial MT Pro"/>
                <a:ea typeface="Arial MT Pro"/>
                <a:cs typeface="Arial MT Pro"/>
                <a:sym typeface="Arial MT Pro"/>
              </a:rPr>
              <a:t>ng </a:t>
            </a:r>
            <a:r>
              <a:rPr lang="en-US" sz="2300">
                <a:solidFill>
                  <a:srgbClr val="000000"/>
                </a:solidFill>
                <a:latin typeface="Arial MT Pro"/>
                <a:ea typeface="Arial MT Pro"/>
                <a:cs typeface="Arial MT Pro"/>
                <a:sym typeface="Arial MT Pro"/>
              </a:rPr>
              <a:t>human </a:t>
            </a:r>
            <a:r>
              <a:rPr lang="en-US" sz="2300" u="none">
                <a:solidFill>
                  <a:srgbClr val="000000"/>
                </a:solidFill>
                <a:latin typeface="Arial MT Pro"/>
                <a:ea typeface="Arial MT Pro"/>
                <a:cs typeface="Arial MT Pro"/>
                <a:sym typeface="Arial MT Pro"/>
              </a:rPr>
              <a:t>ac</a:t>
            </a:r>
            <a:r>
              <a:rPr lang="en-US" sz="2300">
                <a:solidFill>
                  <a:srgbClr val="000000"/>
                </a:solidFill>
                <a:latin typeface="Arial MT Pro"/>
                <a:ea typeface="Arial MT Pro"/>
                <a:cs typeface="Arial MT Pro"/>
                <a:sym typeface="Arial MT Pro"/>
              </a:rPr>
              <a:t>tivity in</a:t>
            </a:r>
            <a:r>
              <a:rPr lang="en-US" sz="2300" u="none">
                <a:solidFill>
                  <a:srgbClr val="000000"/>
                </a:solidFill>
                <a:latin typeface="Arial MT Pro"/>
                <a:ea typeface="Arial MT Pro"/>
                <a:cs typeface="Arial MT Pro"/>
                <a:sym typeface="Arial MT Pro"/>
              </a:rPr>
              <a:t> </a:t>
            </a:r>
            <a:r>
              <a:rPr lang="en-US" sz="2300">
                <a:solidFill>
                  <a:srgbClr val="000000"/>
                </a:solidFill>
                <a:latin typeface="Arial MT Pro"/>
                <a:ea typeface="Arial MT Pro"/>
                <a:cs typeface="Arial MT Pro"/>
                <a:sym typeface="Arial MT Pro"/>
              </a:rPr>
              <a:t>m</a:t>
            </a:r>
            <a:r>
              <a:rPr lang="en-US" sz="2300" u="none">
                <a:solidFill>
                  <a:srgbClr val="000000"/>
                </a:solidFill>
                <a:latin typeface="Arial MT Pro"/>
                <a:ea typeface="Arial MT Pro"/>
                <a:cs typeface="Arial MT Pro"/>
                <a:sym typeface="Arial MT Pro"/>
              </a:rPr>
              <a:t>a</a:t>
            </a:r>
            <a:r>
              <a:rPr lang="en-US" sz="2300">
                <a:solidFill>
                  <a:srgbClr val="000000"/>
                </a:solidFill>
                <a:latin typeface="Arial MT Pro"/>
                <a:ea typeface="Arial MT Pro"/>
                <a:cs typeface="Arial MT Pro"/>
                <a:sym typeface="Arial MT Pro"/>
              </a:rPr>
              <a:t>rine</a:t>
            </a:r>
            <a:r>
              <a:rPr lang="en-US" sz="2300" u="none">
                <a:solidFill>
                  <a:srgbClr val="000000"/>
                </a:solidFill>
                <a:latin typeface="Arial MT Pro"/>
                <a:ea typeface="Arial MT Pro"/>
                <a:cs typeface="Arial MT Pro"/>
                <a:sym typeface="Arial MT Pro"/>
              </a:rPr>
              <a:t> </a:t>
            </a:r>
            <a:r>
              <a:rPr lang="en-US" sz="2300">
                <a:solidFill>
                  <a:srgbClr val="000000"/>
                </a:solidFill>
                <a:latin typeface="Arial MT Pro"/>
                <a:ea typeface="Arial MT Pro"/>
                <a:cs typeface="Arial MT Pro"/>
                <a:sym typeface="Arial MT Pro"/>
              </a:rPr>
              <a:t>environ</a:t>
            </a:r>
            <a:r>
              <a:rPr lang="en-US" sz="2300" u="none">
                <a:solidFill>
                  <a:srgbClr val="000000"/>
                </a:solidFill>
                <a:latin typeface="Arial MT Pro"/>
                <a:ea typeface="Arial MT Pro"/>
                <a:cs typeface="Arial MT Pro"/>
                <a:sym typeface="Arial MT Pro"/>
              </a:rPr>
              <a:t>me</a:t>
            </a:r>
            <a:r>
              <a:rPr lang="en-US" sz="2300">
                <a:solidFill>
                  <a:srgbClr val="000000"/>
                </a:solidFill>
                <a:latin typeface="Arial MT Pro"/>
                <a:ea typeface="Arial MT Pro"/>
                <a:cs typeface="Arial MT Pro"/>
                <a:sym typeface="Arial MT Pro"/>
              </a:rPr>
              <a:t>n</a:t>
            </a:r>
            <a:r>
              <a:rPr lang="en-US" sz="2300" u="none">
                <a:solidFill>
                  <a:srgbClr val="000000"/>
                </a:solidFill>
                <a:latin typeface="Arial MT Pro"/>
                <a:ea typeface="Arial MT Pro"/>
                <a:cs typeface="Arial MT Pro"/>
                <a:sym typeface="Arial MT Pro"/>
              </a:rPr>
              <a:t>t</a:t>
            </a:r>
            <a:r>
              <a:rPr lang="en-US" sz="2300">
                <a:solidFill>
                  <a:srgbClr val="000000"/>
                </a:solidFill>
                <a:latin typeface="Arial MT Pro"/>
                <a:ea typeface="Arial MT Pro"/>
                <a:cs typeface="Arial MT Pro"/>
                <a:sym typeface="Arial MT Pro"/>
              </a:rPr>
              <a:t>s, and environmental factors. </a:t>
            </a:r>
          </a:p>
          <a:p>
            <a:pPr marL="496571" lvl="1" indent="-248285" algn="just">
              <a:lnSpc>
                <a:spcPts val="3118"/>
              </a:lnSpc>
              <a:buFont typeface="Arial"/>
              <a:buChar char="•"/>
            </a:pPr>
            <a:r>
              <a:rPr lang="en-US" sz="2300">
                <a:solidFill>
                  <a:srgbClr val="000000"/>
                </a:solidFill>
                <a:latin typeface="Arial MT Pro"/>
                <a:ea typeface="Arial MT Pro"/>
                <a:cs typeface="Arial MT Pro"/>
                <a:sym typeface="Arial MT Pro"/>
              </a:rPr>
              <a:t>However, in the more recent decades, the smoothed trend suggests a </a:t>
            </a:r>
            <a:r>
              <a:rPr lang="en-US" sz="2300" u="sng">
                <a:solidFill>
                  <a:srgbClr val="000000"/>
                </a:solidFill>
                <a:latin typeface="Arial MT Pro"/>
                <a:ea typeface="Arial MT Pro"/>
                <a:cs typeface="Arial MT Pro"/>
                <a:sym typeface="Arial MT Pro"/>
              </a:rPr>
              <a:t>relative stabilization rather than a continuous increase</a:t>
            </a:r>
            <a:r>
              <a:rPr lang="en-US" sz="2300">
                <a:solidFill>
                  <a:srgbClr val="000000"/>
                </a:solidFill>
                <a:latin typeface="Arial MT Pro"/>
                <a:ea typeface="Arial MT Pro"/>
                <a:cs typeface="Arial MT Pro"/>
                <a:sym typeface="Arial MT Pro"/>
              </a:rPr>
              <a:t>. </a:t>
            </a:r>
          </a:p>
          <a:p>
            <a:pPr marL="496571" lvl="1" indent="-248285" algn="just">
              <a:lnSpc>
                <a:spcPts val="3118"/>
              </a:lnSpc>
              <a:buFont typeface="Arial"/>
              <a:buChar char="•"/>
            </a:pPr>
            <a:r>
              <a:rPr lang="en-US" sz="2300">
                <a:solidFill>
                  <a:srgbClr val="000000"/>
                </a:solidFill>
                <a:latin typeface="Arial MT Pro"/>
                <a:ea typeface="Arial MT Pro"/>
                <a:cs typeface="Arial MT Pro"/>
                <a:sym typeface="Arial MT Pro"/>
              </a:rPr>
              <a:t>Peaks do occur in certain years (</a:t>
            </a:r>
            <a:r>
              <a:rPr lang="en-US" sz="2300" b="1">
                <a:solidFill>
                  <a:srgbClr val="000000"/>
                </a:solidFill>
                <a:latin typeface="Arial MT Pro Bold"/>
                <a:ea typeface="Arial MT Pro Bold"/>
                <a:cs typeface="Arial MT Pro Bold"/>
                <a:sym typeface="Arial MT Pro Bold"/>
              </a:rPr>
              <a:t>e.g., 1959 and 2023</a:t>
            </a:r>
            <a:r>
              <a:rPr lang="en-US" sz="2300">
                <a:solidFill>
                  <a:srgbClr val="000000"/>
                </a:solidFill>
                <a:latin typeface="Arial MT Pro"/>
                <a:ea typeface="Arial MT Pro"/>
                <a:cs typeface="Arial MT Pro"/>
                <a:sym typeface="Arial MT Pro"/>
              </a:rPr>
              <a:t>), but they don't represent a consistent upward trend year after year.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67515" y="5167767"/>
            <a:ext cx="6088911" cy="3713804"/>
          </a:xfrm>
          <a:custGeom>
            <a:avLst/>
            <a:gdLst/>
            <a:ahLst/>
            <a:cxnLst/>
            <a:rect l="l" t="t" r="r" b="b"/>
            <a:pathLst>
              <a:path w="6088911" h="3713804">
                <a:moveTo>
                  <a:pt x="0" y="0"/>
                </a:moveTo>
                <a:lnTo>
                  <a:pt x="6088910" y="0"/>
                </a:lnTo>
                <a:lnTo>
                  <a:pt x="6088910" y="3713803"/>
                </a:lnTo>
                <a:lnTo>
                  <a:pt x="0" y="3713803"/>
                </a:lnTo>
                <a:lnTo>
                  <a:pt x="0" y="0"/>
                </a:lnTo>
                <a:close/>
              </a:path>
            </a:pathLst>
          </a:custGeom>
          <a:blipFill>
            <a:blip r:embed="rId3"/>
            <a:stretch>
              <a:fillRect/>
            </a:stretch>
          </a:blipFill>
        </p:spPr>
      </p:sp>
      <p:sp>
        <p:nvSpPr>
          <p:cNvPr id="3" name="TextBox 3"/>
          <p:cNvSpPr txBox="1"/>
          <p:nvPr/>
        </p:nvSpPr>
        <p:spPr>
          <a:xfrm>
            <a:off x="1028700" y="1323003"/>
            <a:ext cx="16230600" cy="3556635"/>
          </a:xfrm>
          <a:prstGeom prst="rect">
            <a:avLst/>
          </a:prstGeom>
        </p:spPr>
        <p:txBody>
          <a:bodyPr lIns="0" tIns="0" rIns="0" bIns="0" rtlCol="0" anchor="t">
            <a:spAutoFit/>
          </a:bodyPr>
          <a:lstStyle/>
          <a:p>
            <a:pPr marL="582928" lvl="1" indent="-291464" algn="just">
              <a:lnSpc>
                <a:spcPts val="3509"/>
              </a:lnSpc>
              <a:buFont typeface="Arial"/>
              <a:buChar char="•"/>
            </a:pPr>
            <a:r>
              <a:rPr lang="en-US" sz="2699" b="1">
                <a:solidFill>
                  <a:srgbClr val="000000"/>
                </a:solidFill>
                <a:latin typeface="Arial MT Pro Bold"/>
                <a:ea typeface="Arial MT Pro Bold"/>
                <a:cs typeface="Arial MT Pro Bold"/>
                <a:sym typeface="Arial MT Pro Bold"/>
              </a:rPr>
              <a:t>Data was filtered</a:t>
            </a:r>
            <a:r>
              <a:rPr lang="en-US" sz="2699">
                <a:solidFill>
                  <a:srgbClr val="000000"/>
                </a:solidFill>
                <a:latin typeface="Arial MT Pro"/>
                <a:ea typeface="Arial MT Pro"/>
                <a:cs typeface="Arial MT Pro"/>
                <a:sym typeface="Arial MT Pro"/>
              </a:rPr>
              <a:t> to include only records from the year 2015 o</a:t>
            </a:r>
            <a:r>
              <a:rPr lang="en-US" sz="2699" u="none">
                <a:solidFill>
                  <a:srgbClr val="000000"/>
                </a:solidFill>
                <a:latin typeface="Arial MT Pro"/>
                <a:ea typeface="Arial MT Pro"/>
                <a:cs typeface="Arial MT Pro"/>
                <a:sym typeface="Arial MT Pro"/>
              </a:rPr>
              <a:t>nwa</a:t>
            </a:r>
            <a:r>
              <a:rPr lang="en-US" sz="2699">
                <a:solidFill>
                  <a:srgbClr val="000000"/>
                </a:solidFill>
                <a:latin typeface="Arial MT Pro"/>
                <a:ea typeface="Arial MT Pro"/>
                <a:cs typeface="Arial MT Pro"/>
                <a:sym typeface="Arial MT Pro"/>
              </a:rPr>
              <a:t>rd, nar</a:t>
            </a:r>
            <a:r>
              <a:rPr lang="en-US" sz="2699" u="none">
                <a:solidFill>
                  <a:srgbClr val="000000"/>
                </a:solidFill>
                <a:latin typeface="Arial MT Pro"/>
                <a:ea typeface="Arial MT Pro"/>
                <a:cs typeface="Arial MT Pro"/>
                <a:sym typeface="Arial MT Pro"/>
              </a:rPr>
              <a:t>ro</a:t>
            </a:r>
            <a:r>
              <a:rPr lang="en-US" sz="2699">
                <a:solidFill>
                  <a:srgbClr val="000000"/>
                </a:solidFill>
                <a:latin typeface="Arial MT Pro"/>
                <a:ea typeface="Arial MT Pro"/>
                <a:cs typeface="Arial MT Pro"/>
                <a:sym typeface="Arial MT Pro"/>
              </a:rPr>
              <a:t>wi</a:t>
            </a:r>
            <a:r>
              <a:rPr lang="en-US" sz="2699" u="none">
                <a:solidFill>
                  <a:srgbClr val="000000"/>
                </a:solidFill>
                <a:latin typeface="Arial MT Pro"/>
                <a:ea typeface="Arial MT Pro"/>
                <a:cs typeface="Arial MT Pro"/>
                <a:sym typeface="Arial MT Pro"/>
              </a:rPr>
              <a:t>ng t</a:t>
            </a:r>
            <a:r>
              <a:rPr lang="en-US" sz="2699">
                <a:solidFill>
                  <a:srgbClr val="000000"/>
                </a:solidFill>
                <a:latin typeface="Arial MT Pro"/>
                <a:ea typeface="Arial MT Pro"/>
                <a:cs typeface="Arial MT Pro"/>
                <a:sym typeface="Arial MT Pro"/>
              </a:rPr>
              <a:t>he</a:t>
            </a:r>
            <a:r>
              <a:rPr lang="en-US" sz="2699" u="none">
                <a:solidFill>
                  <a:srgbClr val="000000"/>
                </a:solidFill>
                <a:latin typeface="Arial MT Pro"/>
                <a:ea typeface="Arial MT Pro"/>
                <a:cs typeface="Arial MT Pro"/>
                <a:sym typeface="Arial MT Pro"/>
              </a:rPr>
              <a:t> </a:t>
            </a:r>
            <a:r>
              <a:rPr lang="en-US" sz="2699">
                <a:solidFill>
                  <a:srgbClr val="000000"/>
                </a:solidFill>
                <a:latin typeface="Arial MT Pro"/>
                <a:ea typeface="Arial MT Pro"/>
                <a:cs typeface="Arial MT Pro"/>
                <a:sym typeface="Arial MT Pro"/>
              </a:rPr>
              <a:t>analysis to recent trends. G</a:t>
            </a:r>
            <a:r>
              <a:rPr lang="en-US" sz="2699" u="none">
                <a:solidFill>
                  <a:srgbClr val="000000"/>
                </a:solidFill>
                <a:latin typeface="Arial MT Pro"/>
                <a:ea typeface="Arial MT Pro"/>
                <a:cs typeface="Arial MT Pro"/>
                <a:sym typeface="Arial MT Pro"/>
              </a:rPr>
              <a:t>r</a:t>
            </a:r>
            <a:r>
              <a:rPr lang="en-US" sz="2699">
                <a:solidFill>
                  <a:srgbClr val="000000"/>
                </a:solidFill>
                <a:latin typeface="Arial MT Pro"/>
                <a:ea typeface="Arial MT Pro"/>
                <a:cs typeface="Arial MT Pro"/>
                <a:sym typeface="Arial MT Pro"/>
              </a:rPr>
              <a:t>oup</a:t>
            </a:r>
            <a:r>
              <a:rPr lang="en-US" sz="2699" u="none">
                <a:solidFill>
                  <a:srgbClr val="000000"/>
                </a:solidFill>
                <a:latin typeface="Arial MT Pro"/>
                <a:ea typeface="Arial MT Pro"/>
                <a:cs typeface="Arial MT Pro"/>
                <a:sym typeface="Arial MT Pro"/>
              </a:rPr>
              <a:t>i</a:t>
            </a:r>
            <a:r>
              <a:rPr lang="en-US" sz="2699">
                <a:solidFill>
                  <a:srgbClr val="000000"/>
                </a:solidFill>
                <a:latin typeface="Arial MT Pro"/>
                <a:ea typeface="Arial MT Pro"/>
                <a:cs typeface="Arial MT Pro"/>
                <a:sym typeface="Arial MT Pro"/>
              </a:rPr>
              <a:t>ng</a:t>
            </a:r>
            <a:r>
              <a:rPr lang="en-US" sz="2699" u="none">
                <a:solidFill>
                  <a:srgbClr val="000000"/>
                </a:solidFill>
                <a:latin typeface="Arial MT Pro"/>
                <a:ea typeface="Arial MT Pro"/>
                <a:cs typeface="Arial MT Pro"/>
                <a:sym typeface="Arial MT Pro"/>
              </a:rPr>
              <a:t> b</a:t>
            </a:r>
            <a:r>
              <a:rPr lang="en-US" sz="2699">
                <a:solidFill>
                  <a:srgbClr val="000000"/>
                </a:solidFill>
                <a:latin typeface="Arial MT Pro"/>
                <a:ea typeface="Arial MT Pro"/>
                <a:cs typeface="Arial MT Pro"/>
                <a:sym typeface="Arial MT Pro"/>
              </a:rPr>
              <a:t>y</a:t>
            </a:r>
            <a:r>
              <a:rPr lang="en-US" sz="2699" u="none">
                <a:solidFill>
                  <a:srgbClr val="000000"/>
                </a:solidFill>
                <a:latin typeface="Arial MT Pro"/>
                <a:ea typeface="Arial MT Pro"/>
                <a:cs typeface="Arial MT Pro"/>
                <a:sym typeface="Arial MT Pro"/>
              </a:rPr>
              <a:t> </a:t>
            </a:r>
            <a:r>
              <a:rPr lang="en-US" sz="2699">
                <a:solidFill>
                  <a:srgbClr val="000000"/>
                </a:solidFill>
                <a:latin typeface="Arial MT Pro"/>
                <a:ea typeface="Arial MT Pro"/>
                <a:cs typeface="Arial MT Pro"/>
                <a:sym typeface="Arial MT Pro"/>
              </a:rPr>
              <a:t>Y</a:t>
            </a:r>
            <a:r>
              <a:rPr lang="en-US" sz="2699" u="none">
                <a:solidFill>
                  <a:srgbClr val="000000"/>
                </a:solidFill>
                <a:latin typeface="Arial MT Pro"/>
                <a:ea typeface="Arial MT Pro"/>
                <a:cs typeface="Arial MT Pro"/>
                <a:sym typeface="Arial MT Pro"/>
              </a:rPr>
              <a:t>e</a:t>
            </a:r>
            <a:r>
              <a:rPr lang="en-US" sz="2699">
                <a:solidFill>
                  <a:srgbClr val="000000"/>
                </a:solidFill>
                <a:latin typeface="Arial MT Pro"/>
                <a:ea typeface="Arial MT Pro"/>
                <a:cs typeface="Arial MT Pro"/>
                <a:sym typeface="Arial MT Pro"/>
              </a:rPr>
              <a:t>a</a:t>
            </a:r>
            <a:r>
              <a:rPr lang="en-US" sz="2699" u="none">
                <a:solidFill>
                  <a:srgbClr val="000000"/>
                </a:solidFill>
                <a:latin typeface="Arial MT Pro"/>
                <a:ea typeface="Arial MT Pro"/>
                <a:cs typeface="Arial MT Pro"/>
                <a:sym typeface="Arial MT Pro"/>
              </a:rPr>
              <a:t>r a</a:t>
            </a:r>
            <a:r>
              <a:rPr lang="en-US" sz="2699">
                <a:solidFill>
                  <a:srgbClr val="000000"/>
                </a:solidFill>
                <a:latin typeface="Arial MT Pro"/>
                <a:ea typeface="Arial MT Pro"/>
                <a:cs typeface="Arial MT Pro"/>
                <a:sym typeface="Arial MT Pro"/>
              </a:rPr>
              <a:t>ll</a:t>
            </a:r>
            <a:r>
              <a:rPr lang="en-US" sz="2699" u="none">
                <a:solidFill>
                  <a:srgbClr val="000000"/>
                </a:solidFill>
                <a:latin typeface="Arial MT Pro"/>
                <a:ea typeface="Arial MT Pro"/>
                <a:cs typeface="Arial MT Pro"/>
                <a:sym typeface="Arial MT Pro"/>
              </a:rPr>
              <a:t>o</a:t>
            </a:r>
            <a:r>
              <a:rPr lang="en-US" sz="2699">
                <a:solidFill>
                  <a:srgbClr val="000000"/>
                </a:solidFill>
                <a:latin typeface="Arial MT Pro"/>
                <a:ea typeface="Arial MT Pro"/>
                <a:cs typeface="Arial MT Pro"/>
                <a:sym typeface="Arial MT Pro"/>
              </a:rPr>
              <a:t>w</a:t>
            </a:r>
            <a:r>
              <a:rPr lang="en-US" sz="2699" u="none">
                <a:solidFill>
                  <a:srgbClr val="000000"/>
                </a:solidFill>
                <a:latin typeface="Arial MT Pro"/>
                <a:ea typeface="Arial MT Pro"/>
                <a:cs typeface="Arial MT Pro"/>
                <a:sym typeface="Arial MT Pro"/>
              </a:rPr>
              <a:t>e</a:t>
            </a:r>
            <a:r>
              <a:rPr lang="en-US" sz="2699">
                <a:solidFill>
                  <a:srgbClr val="000000"/>
                </a:solidFill>
                <a:latin typeface="Arial MT Pro"/>
                <a:ea typeface="Arial MT Pro"/>
                <a:cs typeface="Arial MT Pro"/>
                <a:sym typeface="Arial MT Pro"/>
              </a:rPr>
              <a:t>d for counting the number of shark attacks per year.</a:t>
            </a:r>
          </a:p>
          <a:p>
            <a:pPr marL="582928" lvl="1" indent="-291464" algn="just">
              <a:lnSpc>
                <a:spcPts val="3509"/>
              </a:lnSpc>
              <a:buFont typeface="Arial"/>
              <a:buChar char="•"/>
            </a:pPr>
            <a:r>
              <a:rPr lang="en-US" sz="2699" u="sng">
                <a:solidFill>
                  <a:srgbClr val="000000"/>
                </a:solidFill>
                <a:latin typeface="Arial MT Pro"/>
                <a:ea typeface="Arial MT Pro"/>
                <a:cs typeface="Arial MT Pro"/>
                <a:sym typeface="Arial MT Pro"/>
              </a:rPr>
              <a:t>To assess if the time series is stationary</a:t>
            </a:r>
            <a:r>
              <a:rPr lang="en-US" sz="2699">
                <a:solidFill>
                  <a:srgbClr val="000000"/>
                </a:solidFill>
                <a:latin typeface="Arial MT Pro"/>
                <a:ea typeface="Arial MT Pro"/>
                <a:cs typeface="Arial MT Pro"/>
                <a:sym typeface="Arial MT Pro"/>
              </a:rPr>
              <a:t>, the </a:t>
            </a:r>
            <a:r>
              <a:rPr lang="en-US" sz="2699" b="1">
                <a:solidFill>
                  <a:srgbClr val="000000"/>
                </a:solidFill>
                <a:latin typeface="Arial MT Pro Bold"/>
                <a:ea typeface="Arial MT Pro Bold"/>
                <a:cs typeface="Arial MT Pro Bold"/>
                <a:sym typeface="Arial MT Pro Bold"/>
              </a:rPr>
              <a:t>Augmented Dickey-Fuller (ADF)</a:t>
            </a:r>
            <a:r>
              <a:rPr lang="en-US" sz="2699">
                <a:solidFill>
                  <a:srgbClr val="000000"/>
                </a:solidFill>
                <a:latin typeface="Arial MT Pro"/>
                <a:ea typeface="Arial MT Pro"/>
                <a:cs typeface="Arial MT Pro"/>
                <a:sym typeface="Arial MT Pro"/>
              </a:rPr>
              <a:t> test was applied to the data. Non-stationary data were differenced (</a:t>
            </a:r>
            <a:r>
              <a:rPr lang="en-US" sz="2699" b="1">
                <a:solidFill>
                  <a:srgbClr val="000000"/>
                </a:solidFill>
                <a:latin typeface="Arial MT Pro Bold"/>
                <a:ea typeface="Arial MT Pro Bold"/>
                <a:cs typeface="Arial MT Pro Bold"/>
                <a:sym typeface="Arial MT Pro Bold"/>
              </a:rPr>
              <a:t>first and second differencing</a:t>
            </a:r>
            <a:r>
              <a:rPr lang="en-US" sz="2699">
                <a:solidFill>
                  <a:srgbClr val="000000"/>
                </a:solidFill>
                <a:latin typeface="Arial MT Pro"/>
                <a:ea typeface="Arial MT Pro"/>
                <a:cs typeface="Arial MT Pro"/>
                <a:sym typeface="Arial MT Pro"/>
              </a:rPr>
              <a:t>) until stationarity was achieved.</a:t>
            </a:r>
          </a:p>
          <a:p>
            <a:pPr marL="582928" lvl="1" indent="-291464" algn="just">
              <a:lnSpc>
                <a:spcPts val="3509"/>
              </a:lnSpc>
              <a:buFont typeface="Arial"/>
              <a:buChar char="•"/>
            </a:pPr>
            <a:r>
              <a:rPr lang="en-US" sz="2699">
                <a:solidFill>
                  <a:srgbClr val="000000"/>
                </a:solidFill>
                <a:latin typeface="Arial MT Pro"/>
                <a:ea typeface="Arial MT Pro"/>
                <a:cs typeface="Arial MT Pro"/>
                <a:sym typeface="Arial MT Pro"/>
              </a:rPr>
              <a:t>After achieving stationarity,</a:t>
            </a:r>
            <a:r>
              <a:rPr lang="en-US" sz="2699" b="1">
                <a:solidFill>
                  <a:srgbClr val="000000"/>
                </a:solidFill>
                <a:latin typeface="Arial MT Pro Bold"/>
                <a:ea typeface="Arial MT Pro Bold"/>
                <a:cs typeface="Arial MT Pro Bold"/>
                <a:sym typeface="Arial MT Pro Bold"/>
              </a:rPr>
              <a:t> the ARIMA model was fitted to the differenced series</a:t>
            </a:r>
            <a:r>
              <a:rPr lang="en-US" sz="2699">
                <a:solidFill>
                  <a:srgbClr val="000000"/>
                </a:solidFill>
                <a:latin typeface="Arial MT Pro"/>
                <a:ea typeface="Arial MT Pro"/>
                <a:cs typeface="Arial MT Pro"/>
                <a:sym typeface="Arial MT Pro"/>
              </a:rPr>
              <a:t>. This model used historical patterns to forecast shark attack numbers for the next five years, complete with confidence intervals.</a:t>
            </a:r>
          </a:p>
        </p:txBody>
      </p:sp>
      <p:sp>
        <p:nvSpPr>
          <p:cNvPr id="4" name="TextBox 4"/>
          <p:cNvSpPr txBox="1"/>
          <p:nvPr/>
        </p:nvSpPr>
        <p:spPr>
          <a:xfrm>
            <a:off x="932913" y="444398"/>
            <a:ext cx="16326387" cy="559180"/>
          </a:xfrm>
          <a:prstGeom prst="rect">
            <a:avLst/>
          </a:prstGeom>
        </p:spPr>
        <p:txBody>
          <a:bodyPr lIns="0" tIns="0" rIns="0" bIns="0" rtlCol="0" anchor="t">
            <a:spAutoFit/>
          </a:bodyPr>
          <a:lstStyle/>
          <a:p>
            <a:pPr algn="l">
              <a:lnSpc>
                <a:spcPts val="4111"/>
              </a:lnSpc>
              <a:spcBef>
                <a:spcPct val="0"/>
              </a:spcBef>
            </a:pPr>
            <a:r>
              <a:rPr lang="en-US" sz="3032" b="1">
                <a:solidFill>
                  <a:srgbClr val="2B4865"/>
                </a:solidFill>
                <a:latin typeface="Arial MT Pro Bold"/>
                <a:ea typeface="Arial MT Pro Bold"/>
                <a:cs typeface="Arial MT Pro Bold"/>
                <a:sym typeface="Arial MT Pro Bold"/>
              </a:rPr>
              <a:t>Data Preparation for Shark Attack Forecasting</a:t>
            </a:r>
          </a:p>
        </p:txBody>
      </p:sp>
      <p:sp>
        <p:nvSpPr>
          <p:cNvPr id="5" name="TextBox 5"/>
          <p:cNvSpPr txBox="1"/>
          <p:nvPr/>
        </p:nvSpPr>
        <p:spPr>
          <a:xfrm>
            <a:off x="8115661" y="5203488"/>
            <a:ext cx="9143639" cy="3556635"/>
          </a:xfrm>
          <a:prstGeom prst="rect">
            <a:avLst/>
          </a:prstGeom>
        </p:spPr>
        <p:txBody>
          <a:bodyPr lIns="0" tIns="0" rIns="0" bIns="0" rtlCol="0" anchor="t">
            <a:spAutoFit/>
          </a:bodyPr>
          <a:lstStyle/>
          <a:p>
            <a:pPr marL="582928" lvl="1" indent="-291464" algn="just">
              <a:lnSpc>
                <a:spcPts val="3509"/>
              </a:lnSpc>
              <a:buFont typeface="Arial"/>
              <a:buChar char="•"/>
            </a:pPr>
            <a:r>
              <a:rPr lang="en-US" sz="2699" u="sng">
                <a:solidFill>
                  <a:srgbClr val="000000"/>
                </a:solidFill>
                <a:latin typeface="Arial MT Pro"/>
                <a:ea typeface="Arial MT Pro"/>
                <a:cs typeface="Arial MT Pro"/>
                <a:sym typeface="Arial MT Pro"/>
              </a:rPr>
              <a:t>Initially, the series is not stationar</a:t>
            </a:r>
            <a:r>
              <a:rPr lang="en-US" sz="2699">
                <a:solidFill>
                  <a:srgbClr val="000000"/>
                </a:solidFill>
                <a:latin typeface="Arial MT Pro"/>
                <a:ea typeface="Arial MT Pro"/>
                <a:cs typeface="Arial MT Pro"/>
                <a:sym typeface="Arial MT Pro"/>
              </a:rPr>
              <a:t>y, indicated by the high p-value (&gt;0.05). </a:t>
            </a:r>
            <a:r>
              <a:rPr lang="en-US" sz="2699" b="1">
                <a:solidFill>
                  <a:srgbClr val="000000"/>
                </a:solidFill>
                <a:latin typeface="Arial MT Pro Bold"/>
                <a:ea typeface="Arial MT Pro Bold"/>
                <a:cs typeface="Arial MT Pro Bold"/>
                <a:sym typeface="Arial MT Pro Bold"/>
              </a:rPr>
              <a:t>This required differencing</a:t>
            </a:r>
            <a:r>
              <a:rPr lang="en-US" sz="2699">
                <a:solidFill>
                  <a:srgbClr val="000000"/>
                </a:solidFill>
                <a:latin typeface="Arial MT Pro"/>
                <a:ea typeface="Arial MT Pro"/>
                <a:cs typeface="Arial MT Pro"/>
                <a:sym typeface="Arial MT Pro"/>
              </a:rPr>
              <a:t>.</a:t>
            </a:r>
          </a:p>
          <a:p>
            <a:pPr marL="582928" lvl="1" indent="-291464" algn="just">
              <a:lnSpc>
                <a:spcPts val="3509"/>
              </a:lnSpc>
              <a:buFont typeface="Arial"/>
              <a:buChar char="•"/>
            </a:pPr>
            <a:r>
              <a:rPr lang="en-US" sz="2699">
                <a:solidFill>
                  <a:srgbClr val="000000"/>
                </a:solidFill>
                <a:latin typeface="Arial MT Pro"/>
                <a:ea typeface="Arial MT Pro"/>
                <a:cs typeface="Arial MT Pro"/>
                <a:sym typeface="Arial MT Pro"/>
              </a:rPr>
              <a:t>However, the </a:t>
            </a:r>
            <a:r>
              <a:rPr lang="en-US" sz="2699" u="sng">
                <a:solidFill>
                  <a:srgbClr val="000000"/>
                </a:solidFill>
                <a:latin typeface="Arial MT Pro"/>
                <a:ea typeface="Arial MT Pro"/>
                <a:cs typeface="Arial MT Pro"/>
                <a:sym typeface="Arial MT Pro"/>
              </a:rPr>
              <a:t>first differencing reduced variability</a:t>
            </a:r>
            <a:r>
              <a:rPr lang="en-US" sz="2699">
                <a:solidFill>
                  <a:srgbClr val="000000"/>
                </a:solidFill>
                <a:latin typeface="Arial MT Pro"/>
                <a:ea typeface="Arial MT Pro"/>
                <a:cs typeface="Arial MT Pro"/>
                <a:sym typeface="Arial MT Pro"/>
              </a:rPr>
              <a:t>, but still not stationary.</a:t>
            </a:r>
          </a:p>
          <a:p>
            <a:pPr marL="582928" lvl="1" indent="-291464" algn="just">
              <a:lnSpc>
                <a:spcPts val="3509"/>
              </a:lnSpc>
              <a:buFont typeface="Arial"/>
              <a:buChar char="•"/>
            </a:pPr>
            <a:r>
              <a:rPr lang="en-US" sz="2699" b="1">
                <a:solidFill>
                  <a:srgbClr val="000000"/>
                </a:solidFill>
                <a:latin typeface="Arial MT Pro Bold"/>
                <a:ea typeface="Arial MT Pro Bold"/>
                <a:cs typeface="Arial MT Pro Bold"/>
                <a:sym typeface="Arial MT Pro Bold"/>
              </a:rPr>
              <a:t>At second differencing, it achieved stationary</a:t>
            </a:r>
            <a:r>
              <a:rPr lang="en-US" sz="2699">
                <a:solidFill>
                  <a:srgbClr val="000000"/>
                </a:solidFill>
                <a:latin typeface="Arial MT Pro"/>
                <a:ea typeface="Arial MT Pro"/>
                <a:cs typeface="Arial MT Pro"/>
                <a:sym typeface="Arial MT Pro"/>
              </a:rPr>
              <a:t>. This is confirmed by a significantly low p-value (~0.00000365). This indicates the transformed series is suitable for modeling</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690832"/>
            <a:ext cx="10593757" cy="6952153"/>
          </a:xfrm>
          <a:custGeom>
            <a:avLst/>
            <a:gdLst/>
            <a:ahLst/>
            <a:cxnLst/>
            <a:rect l="l" t="t" r="r" b="b"/>
            <a:pathLst>
              <a:path w="10593757" h="6952153">
                <a:moveTo>
                  <a:pt x="0" y="0"/>
                </a:moveTo>
                <a:lnTo>
                  <a:pt x="10593757" y="0"/>
                </a:lnTo>
                <a:lnTo>
                  <a:pt x="10593757" y="6952153"/>
                </a:lnTo>
                <a:lnTo>
                  <a:pt x="0" y="6952153"/>
                </a:lnTo>
                <a:lnTo>
                  <a:pt x="0" y="0"/>
                </a:lnTo>
                <a:close/>
              </a:path>
            </a:pathLst>
          </a:custGeom>
          <a:blipFill>
            <a:blip r:embed="rId3"/>
            <a:stretch>
              <a:fillRect/>
            </a:stretch>
          </a:blipFill>
        </p:spPr>
      </p:sp>
      <p:sp>
        <p:nvSpPr>
          <p:cNvPr id="3" name="TextBox 3"/>
          <p:cNvSpPr txBox="1"/>
          <p:nvPr/>
        </p:nvSpPr>
        <p:spPr>
          <a:xfrm>
            <a:off x="1028700" y="696722"/>
            <a:ext cx="16326387" cy="559180"/>
          </a:xfrm>
          <a:prstGeom prst="rect">
            <a:avLst/>
          </a:prstGeom>
        </p:spPr>
        <p:txBody>
          <a:bodyPr lIns="0" tIns="0" rIns="0" bIns="0" rtlCol="0" anchor="t">
            <a:spAutoFit/>
          </a:bodyPr>
          <a:lstStyle/>
          <a:p>
            <a:pPr algn="l">
              <a:lnSpc>
                <a:spcPts val="4111"/>
              </a:lnSpc>
              <a:spcBef>
                <a:spcPct val="0"/>
              </a:spcBef>
            </a:pPr>
            <a:r>
              <a:rPr lang="en-US" sz="3032" b="1">
                <a:solidFill>
                  <a:srgbClr val="2B4865"/>
                </a:solidFill>
                <a:latin typeface="Arial MT Pro Bold"/>
                <a:ea typeface="Arial MT Pro Bold"/>
                <a:cs typeface="Arial MT Pro Bold"/>
                <a:sym typeface="Arial MT Pro Bold"/>
              </a:rPr>
              <a:t>Shark Attack Trends and Forecast for Future Years</a:t>
            </a:r>
          </a:p>
        </p:txBody>
      </p:sp>
      <p:sp>
        <p:nvSpPr>
          <p:cNvPr id="4" name="TextBox 4"/>
          <p:cNvSpPr txBox="1"/>
          <p:nvPr/>
        </p:nvSpPr>
        <p:spPr>
          <a:xfrm>
            <a:off x="11622457" y="1567815"/>
            <a:ext cx="5636843" cy="7075170"/>
          </a:xfrm>
          <a:prstGeom prst="rect">
            <a:avLst/>
          </a:prstGeom>
        </p:spPr>
        <p:txBody>
          <a:bodyPr lIns="0" tIns="0" rIns="0" bIns="0" rtlCol="0" anchor="t">
            <a:spAutoFit/>
          </a:bodyPr>
          <a:lstStyle/>
          <a:p>
            <a:pPr marL="518160" lvl="1" indent="-259080" algn="just">
              <a:lnSpc>
                <a:spcPts val="3120"/>
              </a:lnSpc>
              <a:buFont typeface="Arial"/>
              <a:buChar char="•"/>
            </a:pPr>
            <a:r>
              <a:rPr lang="en-US" sz="2400">
                <a:solidFill>
                  <a:srgbClr val="000000"/>
                </a:solidFill>
                <a:latin typeface="Arial MT Pro"/>
                <a:ea typeface="Arial MT Pro"/>
                <a:cs typeface="Arial MT Pro"/>
                <a:sym typeface="Arial MT Pro"/>
              </a:rPr>
              <a:t> The year 2015 stands out with the </a:t>
            </a:r>
            <a:r>
              <a:rPr lang="en-US" sz="2400" b="1">
                <a:solidFill>
                  <a:srgbClr val="000000"/>
                </a:solidFill>
                <a:latin typeface="Arial MT Pro Bold"/>
                <a:ea typeface="Arial MT Pro Bold"/>
                <a:cs typeface="Arial MT Pro Bold"/>
                <a:sym typeface="Arial MT Pro Bold"/>
              </a:rPr>
              <a:t>highest number of shark attacks</a:t>
            </a:r>
            <a:r>
              <a:rPr lang="en-US" sz="2400">
                <a:solidFill>
                  <a:srgbClr val="000000"/>
                </a:solidFill>
                <a:latin typeface="Arial MT Pro"/>
                <a:ea typeface="Arial MT Pro"/>
                <a:cs typeface="Arial MT Pro"/>
                <a:sym typeface="Arial MT Pro"/>
              </a:rPr>
              <a:t>, approximately 150.</a:t>
            </a:r>
          </a:p>
          <a:p>
            <a:pPr marL="518160" lvl="1" indent="-259080" algn="just">
              <a:lnSpc>
                <a:spcPts val="3120"/>
              </a:lnSpc>
              <a:buFont typeface="Arial"/>
              <a:buChar char="•"/>
            </a:pPr>
            <a:r>
              <a:rPr lang="en-US" sz="2400">
                <a:solidFill>
                  <a:srgbClr val="000000"/>
                </a:solidFill>
                <a:latin typeface="Arial MT Pro"/>
                <a:ea typeface="Arial MT Pro"/>
                <a:cs typeface="Arial MT Pro"/>
                <a:sym typeface="Arial MT Pro"/>
              </a:rPr>
              <a:t>From 2015 onward, there is a </a:t>
            </a:r>
            <a:r>
              <a:rPr lang="en-US" sz="2400" b="1">
                <a:solidFill>
                  <a:srgbClr val="000000"/>
                </a:solidFill>
                <a:latin typeface="Arial MT Pro Bold"/>
                <a:ea typeface="Arial MT Pro Bold"/>
                <a:cs typeface="Arial MT Pro Bold"/>
                <a:sym typeface="Arial MT Pro Bold"/>
              </a:rPr>
              <a:t>visible downward trend</a:t>
            </a:r>
            <a:r>
              <a:rPr lang="en-US" sz="2400">
                <a:solidFill>
                  <a:srgbClr val="000000"/>
                </a:solidFill>
                <a:latin typeface="Arial MT Pro"/>
                <a:ea typeface="Arial MT Pro"/>
                <a:cs typeface="Arial MT Pro"/>
                <a:sym typeface="Arial MT Pro"/>
              </a:rPr>
              <a:t> in shark attack incidents. By 2024, the number of attacks appears to </a:t>
            </a:r>
            <a:r>
              <a:rPr lang="en-US" sz="2400" u="sng">
                <a:solidFill>
                  <a:srgbClr val="000000"/>
                </a:solidFill>
                <a:latin typeface="Arial MT Pro"/>
                <a:ea typeface="Arial MT Pro"/>
                <a:cs typeface="Arial MT Pro"/>
                <a:sym typeface="Arial MT Pro"/>
              </a:rPr>
              <a:t>stabilize at a significantly lower level</a:t>
            </a:r>
            <a:r>
              <a:rPr lang="en-US" sz="2400">
                <a:solidFill>
                  <a:srgbClr val="000000"/>
                </a:solidFill>
                <a:latin typeface="Arial MT Pro"/>
                <a:ea typeface="Arial MT Pro"/>
                <a:cs typeface="Arial MT Pro"/>
                <a:sym typeface="Arial MT Pro"/>
              </a:rPr>
              <a:t> (around 25 attacks per year), showing a consistent reduction over the decade.</a:t>
            </a:r>
          </a:p>
          <a:p>
            <a:pPr marL="518160" lvl="1" indent="-259080" algn="just">
              <a:lnSpc>
                <a:spcPts val="3120"/>
              </a:lnSpc>
              <a:buFont typeface="Arial"/>
              <a:buChar char="•"/>
            </a:pPr>
            <a:r>
              <a:rPr lang="en-US" sz="2400">
                <a:solidFill>
                  <a:srgbClr val="000000"/>
                </a:solidFill>
                <a:latin typeface="Arial MT Pro"/>
                <a:ea typeface="Arial MT Pro"/>
                <a:cs typeface="Arial MT Pro"/>
                <a:sym typeface="Arial MT Pro"/>
              </a:rPr>
              <a:t>The forecast predicts shark attacks to </a:t>
            </a:r>
            <a:r>
              <a:rPr lang="en-US" sz="2400" b="1">
                <a:solidFill>
                  <a:srgbClr val="000000"/>
                </a:solidFill>
                <a:latin typeface="Arial MT Pro Bold"/>
                <a:ea typeface="Arial MT Pro Bold"/>
                <a:cs typeface="Arial MT Pro Bold"/>
                <a:sym typeface="Arial MT Pro Bold"/>
              </a:rPr>
              <a:t>stay stable at around 25 annually</a:t>
            </a:r>
            <a:r>
              <a:rPr lang="en-US" sz="2400">
                <a:solidFill>
                  <a:srgbClr val="000000"/>
                </a:solidFill>
                <a:latin typeface="Arial MT Pro"/>
                <a:ea typeface="Arial MT Pro"/>
                <a:cs typeface="Arial MT Pro"/>
                <a:sym typeface="Arial MT Pro"/>
              </a:rPr>
              <a:t>, with </a:t>
            </a:r>
            <a:r>
              <a:rPr lang="en-US" sz="2400" u="sng">
                <a:solidFill>
                  <a:srgbClr val="000000"/>
                </a:solidFill>
                <a:latin typeface="Arial MT Pro"/>
                <a:ea typeface="Arial MT Pro"/>
                <a:cs typeface="Arial MT Pro"/>
                <a:sym typeface="Arial MT Pro"/>
              </a:rPr>
              <a:t>no immediate trend change</a:t>
            </a:r>
            <a:r>
              <a:rPr lang="en-US" sz="2400">
                <a:solidFill>
                  <a:srgbClr val="000000"/>
                </a:solidFill>
                <a:latin typeface="Arial MT Pro"/>
                <a:ea typeface="Arial MT Pro"/>
                <a:cs typeface="Arial MT Pro"/>
                <a:sym typeface="Arial MT Pro"/>
              </a:rPr>
              <a:t>. However, widening confidence intervals suggest future numbers </a:t>
            </a:r>
            <a:r>
              <a:rPr lang="en-US" sz="2400" b="1">
                <a:solidFill>
                  <a:srgbClr val="000000"/>
                </a:solidFill>
                <a:latin typeface="Arial MT Pro Bold"/>
                <a:ea typeface="Arial MT Pro Bold"/>
                <a:cs typeface="Arial MT Pro Bold"/>
                <a:sym typeface="Arial MT Pro Bold"/>
              </a:rPr>
              <a:t>could range from 25 to 75 attacks per year</a:t>
            </a:r>
            <a:r>
              <a:rPr lang="en-US" sz="2400">
                <a:solidFill>
                  <a:srgbClr val="000000"/>
                </a:solidFill>
                <a:latin typeface="Arial MT Pro"/>
                <a:ea typeface="Arial MT Pro"/>
                <a:cs typeface="Arial MT Pro"/>
                <a:sym typeface="Arial MT Pro"/>
              </a:rPr>
              <a:t>, indicating growing uncertainty.</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021357" y="904875"/>
            <a:ext cx="10245287" cy="637489"/>
          </a:xfrm>
          <a:prstGeom prst="rect">
            <a:avLst/>
          </a:prstGeom>
        </p:spPr>
        <p:txBody>
          <a:bodyPr lIns="0" tIns="0" rIns="0" bIns="0" rtlCol="0" anchor="t">
            <a:spAutoFit/>
          </a:bodyPr>
          <a:lstStyle/>
          <a:p>
            <a:pPr algn="ctr">
              <a:lnSpc>
                <a:spcPts val="4610"/>
              </a:lnSpc>
              <a:spcBef>
                <a:spcPct val="0"/>
              </a:spcBef>
            </a:pPr>
            <a:r>
              <a:rPr lang="en-US" sz="3399" b="1">
                <a:solidFill>
                  <a:srgbClr val="2B4865"/>
                </a:solidFill>
                <a:latin typeface="Arial MT Pro Bold"/>
                <a:ea typeface="Arial MT Pro Bold"/>
                <a:cs typeface="Arial MT Pro Bold"/>
                <a:sym typeface="Arial MT Pro Bold"/>
              </a:rPr>
              <a:t>Overall Review of the Investigation</a:t>
            </a:r>
          </a:p>
        </p:txBody>
      </p:sp>
      <p:sp>
        <p:nvSpPr>
          <p:cNvPr id="3" name="TextBox 3"/>
          <p:cNvSpPr txBox="1"/>
          <p:nvPr/>
        </p:nvSpPr>
        <p:spPr>
          <a:xfrm>
            <a:off x="1028700" y="2264757"/>
            <a:ext cx="16230600" cy="5662236"/>
          </a:xfrm>
          <a:prstGeom prst="rect">
            <a:avLst/>
          </a:prstGeom>
        </p:spPr>
        <p:txBody>
          <a:bodyPr lIns="0" tIns="0" rIns="0" bIns="0" rtlCol="0" anchor="t">
            <a:spAutoFit/>
          </a:bodyPr>
          <a:lstStyle/>
          <a:p>
            <a:pPr algn="just">
              <a:lnSpc>
                <a:spcPts val="3730"/>
              </a:lnSpc>
            </a:pPr>
            <a:r>
              <a:rPr lang="en-US" sz="2869">
                <a:solidFill>
                  <a:srgbClr val="000000"/>
                </a:solidFill>
                <a:latin typeface="Arial MT Pro"/>
                <a:ea typeface="Arial MT Pro"/>
                <a:cs typeface="Arial MT Pro"/>
                <a:sym typeface="Arial MT Pro"/>
              </a:rPr>
              <a:t>The investigation provided a comprehensive analysis of shark attack incidents using the Global Shark Attack datset, starting with thorough data cleaning and exploration to uncover key patterns in victim demographics, attack types, and geographical distribution. Visualizations such as bar charts, heatmaps, and maps effectively highlighted trends and supported understanding. In the modeling pha</a:t>
            </a:r>
            <a:r>
              <a:rPr lang="en-US" sz="2869" u="none">
                <a:solidFill>
                  <a:srgbClr val="000000"/>
                </a:solidFill>
                <a:latin typeface="Arial MT Pro"/>
                <a:ea typeface="Arial MT Pro"/>
                <a:cs typeface="Arial MT Pro"/>
                <a:sym typeface="Arial MT Pro"/>
              </a:rPr>
              <a:t>se, various machine learning classifiers such as Logistic Regression, Decision Tree,</a:t>
            </a:r>
            <a:r>
              <a:rPr lang="en-US" sz="2869">
                <a:solidFill>
                  <a:srgbClr val="000000"/>
                </a:solidFill>
                <a:latin typeface="Arial MT Pro"/>
                <a:ea typeface="Arial MT Pro"/>
                <a:cs typeface="Arial MT Pro"/>
                <a:sym typeface="Arial MT Pro"/>
              </a:rPr>
              <a:t> Random Forest, and SVM, were applied alongside resampling techniques like SMOTE and ADASYN to address class imbalance. While the models performed well in predicting common attack types like "Unprovoked," they struggled with u</a:t>
            </a:r>
            <a:r>
              <a:rPr lang="en-US" sz="2869" u="none">
                <a:solidFill>
                  <a:srgbClr val="000000"/>
                </a:solidFill>
                <a:latin typeface="Arial MT Pro"/>
                <a:ea typeface="Arial MT Pro"/>
                <a:cs typeface="Arial MT Pro"/>
                <a:sym typeface="Arial MT Pro"/>
              </a:rPr>
              <a:t>nderrepresented classes such as "Questionable"</a:t>
            </a:r>
            <a:r>
              <a:rPr lang="en-US" sz="2869">
                <a:solidFill>
                  <a:srgbClr val="000000"/>
                </a:solidFill>
                <a:latin typeface="Arial MT Pro"/>
                <a:ea typeface="Arial MT Pro"/>
                <a:cs typeface="Arial MT Pro"/>
                <a:sym typeface="Arial MT Pro"/>
              </a:rPr>
              <a:t> and "Sea Disaster," limiting overall generalizability. Nonetheless, the use of metrics like confusion matrices, ROC curves, and PR AUC scores ensured a detailed evaluation of model performance, and the knowledge gained is valuable for improving safety awareness, marine risk analysis, and data-driven conservation efforts.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88843"/>
            <a:ext cx="7081258" cy="1117763"/>
            <a:chOff x="0" y="0"/>
            <a:chExt cx="9441677" cy="1490351"/>
          </a:xfrm>
        </p:grpSpPr>
        <p:sp>
          <p:nvSpPr>
            <p:cNvPr id="3" name="Freeform 3"/>
            <p:cNvSpPr/>
            <p:nvPr/>
          </p:nvSpPr>
          <p:spPr>
            <a:xfrm>
              <a:off x="0" y="0"/>
              <a:ext cx="9441677" cy="1490351"/>
            </a:xfrm>
            <a:custGeom>
              <a:avLst/>
              <a:gdLst/>
              <a:ahLst/>
              <a:cxnLst/>
              <a:rect l="l" t="t" r="r" b="b"/>
              <a:pathLst>
                <a:path w="9441677" h="1490351">
                  <a:moveTo>
                    <a:pt x="0" y="0"/>
                  </a:moveTo>
                  <a:lnTo>
                    <a:pt x="9441677" y="0"/>
                  </a:lnTo>
                  <a:lnTo>
                    <a:pt x="9441677" y="1490351"/>
                  </a:lnTo>
                  <a:lnTo>
                    <a:pt x="0" y="1490351"/>
                  </a:lnTo>
                  <a:close/>
                </a:path>
              </a:pathLst>
            </a:custGeom>
          </p:spPr>
        </p:sp>
        <p:sp>
          <p:nvSpPr>
            <p:cNvPr id="4" name="TextBox 4"/>
            <p:cNvSpPr txBox="1"/>
            <p:nvPr/>
          </p:nvSpPr>
          <p:spPr>
            <a:xfrm>
              <a:off x="0" y="-114300"/>
              <a:ext cx="9441677"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Evaluation</a:t>
              </a:r>
            </a:p>
          </p:txBody>
        </p:sp>
      </p:grpSp>
      <p:sp>
        <p:nvSpPr>
          <p:cNvPr id="5" name="TextBox 5"/>
          <p:cNvSpPr txBox="1"/>
          <p:nvPr/>
        </p:nvSpPr>
        <p:spPr>
          <a:xfrm>
            <a:off x="4831040" y="467068"/>
            <a:ext cx="9047545" cy="637489"/>
          </a:xfrm>
          <a:prstGeom prst="rect">
            <a:avLst/>
          </a:prstGeom>
        </p:spPr>
        <p:txBody>
          <a:bodyPr lIns="0" tIns="0" rIns="0" bIns="0" rtlCol="0" anchor="t">
            <a:spAutoFit/>
          </a:bodyPr>
          <a:lstStyle/>
          <a:p>
            <a:pPr algn="l">
              <a:lnSpc>
                <a:spcPts val="4610"/>
              </a:lnSpc>
              <a:spcBef>
                <a:spcPct val="0"/>
              </a:spcBef>
            </a:pPr>
            <a:r>
              <a:rPr lang="en-US" sz="3399" b="1">
                <a:solidFill>
                  <a:srgbClr val="2B4865"/>
                </a:solidFill>
                <a:latin typeface="Arial MT Pro Bold"/>
                <a:ea typeface="Arial MT Pro Bold"/>
                <a:cs typeface="Arial MT Pro Bold"/>
                <a:sym typeface="Arial MT Pro Bold"/>
              </a:rPr>
              <a:t>Data Preparation and Manipulation Methods</a:t>
            </a:r>
          </a:p>
        </p:txBody>
      </p:sp>
      <p:sp>
        <p:nvSpPr>
          <p:cNvPr id="6" name="TextBox 6"/>
          <p:cNvSpPr txBox="1"/>
          <p:nvPr/>
        </p:nvSpPr>
        <p:spPr>
          <a:xfrm>
            <a:off x="1028700" y="2206988"/>
            <a:ext cx="7604679" cy="7653020"/>
          </a:xfrm>
          <a:prstGeom prst="rect">
            <a:avLst/>
          </a:prstGeom>
        </p:spPr>
        <p:txBody>
          <a:bodyPr lIns="0" tIns="0" rIns="0" bIns="0" rtlCol="0" anchor="t">
            <a:spAutoFit/>
          </a:bodyPr>
          <a:lstStyle/>
          <a:p>
            <a:pPr algn="just">
              <a:lnSpc>
                <a:spcPts val="2469"/>
              </a:lnSpc>
            </a:pPr>
            <a:r>
              <a:rPr lang="en-US" sz="1899">
                <a:solidFill>
                  <a:srgbClr val="000000"/>
                </a:solidFill>
                <a:latin typeface="Arial MT Pro"/>
                <a:ea typeface="Arial MT Pro"/>
                <a:cs typeface="Arial MT Pro"/>
                <a:sym typeface="Arial MT Pro"/>
              </a:rPr>
              <a:t>One of </a:t>
            </a:r>
            <a:r>
              <a:rPr lang="en-US" sz="1899" u="none">
                <a:solidFill>
                  <a:srgbClr val="000000"/>
                </a:solidFill>
                <a:latin typeface="Arial MT Pro"/>
                <a:ea typeface="Arial MT Pro"/>
                <a:cs typeface="Arial MT Pro"/>
                <a:sym typeface="Arial MT Pro"/>
              </a:rPr>
              <a:t>th</a:t>
            </a:r>
            <a:r>
              <a:rPr lang="en-US" sz="1899">
                <a:solidFill>
                  <a:srgbClr val="000000"/>
                </a:solidFill>
                <a:latin typeface="Arial MT Pro"/>
                <a:ea typeface="Arial MT Pro"/>
                <a:cs typeface="Arial MT Pro"/>
                <a:sym typeface="Arial MT Pro"/>
              </a:rPr>
              <a:t>e</a:t>
            </a:r>
            <a:r>
              <a:rPr lang="en-US" sz="1899" u="none">
                <a:solidFill>
                  <a:srgbClr val="000000"/>
                </a:solidFill>
                <a:latin typeface="Arial MT Pro"/>
                <a:ea typeface="Arial MT Pro"/>
                <a:cs typeface="Arial MT Pro"/>
                <a:sym typeface="Arial MT Pro"/>
              </a:rPr>
              <a:t> </a:t>
            </a:r>
            <a:r>
              <a:rPr lang="en-US" sz="1899">
                <a:solidFill>
                  <a:srgbClr val="000000"/>
                </a:solidFill>
                <a:latin typeface="Arial MT Pro"/>
                <a:ea typeface="Arial MT Pro"/>
                <a:cs typeface="Arial MT Pro"/>
                <a:sym typeface="Arial MT Pro"/>
              </a:rPr>
              <a:t>main strengths of data preparation is the </a:t>
            </a:r>
            <a:r>
              <a:rPr lang="en-US" sz="1899" b="1">
                <a:solidFill>
                  <a:srgbClr val="000000"/>
                </a:solidFill>
                <a:latin typeface="Arial MT Pro Bold"/>
                <a:ea typeface="Arial MT Pro Bold"/>
                <a:cs typeface="Arial MT Pro Bold"/>
                <a:sym typeface="Arial MT Pro Bold"/>
              </a:rPr>
              <a:t>removal of unnecessary columns</a:t>
            </a:r>
            <a:r>
              <a:rPr lang="en-US" sz="1899">
                <a:solidFill>
                  <a:srgbClr val="000000"/>
                </a:solidFill>
                <a:latin typeface="Arial MT Pro"/>
                <a:ea typeface="Arial MT Pro"/>
                <a:cs typeface="Arial MT Pro"/>
                <a:sym typeface="Arial MT Pro"/>
              </a:rPr>
              <a:t>, which reduces clutter and highlights relevant information (Kumar, 2025). Filling missing values in categorical columns with "Unknown" keeps the dataset complete for analysis and maintains its integrity.</a:t>
            </a:r>
          </a:p>
          <a:p>
            <a:pPr algn="just">
              <a:lnSpc>
                <a:spcPts val="2469"/>
              </a:lnSpc>
            </a:pPr>
            <a:endParaRPr lang="en-US" sz="1899">
              <a:solidFill>
                <a:srgbClr val="000000"/>
              </a:solidFill>
              <a:latin typeface="Arial MT Pro"/>
              <a:ea typeface="Arial MT Pro"/>
              <a:cs typeface="Arial MT Pro"/>
              <a:sym typeface="Arial MT Pro"/>
            </a:endParaRPr>
          </a:p>
          <a:p>
            <a:pPr algn="just">
              <a:lnSpc>
                <a:spcPts val="2469"/>
              </a:lnSpc>
            </a:pPr>
            <a:r>
              <a:rPr lang="en-US" sz="1899" b="1">
                <a:solidFill>
                  <a:srgbClr val="000000"/>
                </a:solidFill>
                <a:latin typeface="Arial MT Pro Bold"/>
                <a:ea typeface="Arial MT Pro Bold"/>
                <a:cs typeface="Arial MT Pro Bold"/>
                <a:sym typeface="Arial MT Pro Bold"/>
              </a:rPr>
              <a:t>Standardizing columns</a:t>
            </a:r>
            <a:r>
              <a:rPr lang="en-US" sz="1899">
                <a:solidFill>
                  <a:srgbClr val="000000"/>
                </a:solidFill>
                <a:latin typeface="Arial MT Pro"/>
                <a:ea typeface="Arial MT Pro"/>
                <a:cs typeface="Arial MT Pro"/>
                <a:sym typeface="Arial MT Pro"/>
              </a:rPr>
              <a:t> ensures consistent formats for variables like 'Sex' and 'Fatal' (e.g., 'M', 'F', 'Y', 'N'), which enhances data uniformity. Additionally, data type conversion boosts processing efficiency.</a:t>
            </a:r>
          </a:p>
          <a:p>
            <a:pPr algn="just">
              <a:lnSpc>
                <a:spcPts val="2469"/>
              </a:lnSpc>
            </a:pPr>
            <a:endParaRPr lang="en-US" sz="1899">
              <a:solidFill>
                <a:srgbClr val="000000"/>
              </a:solidFill>
              <a:latin typeface="Arial MT Pro"/>
              <a:ea typeface="Arial MT Pro"/>
              <a:cs typeface="Arial MT Pro"/>
              <a:sym typeface="Arial MT Pro"/>
            </a:endParaRPr>
          </a:p>
          <a:p>
            <a:pPr algn="just">
              <a:lnSpc>
                <a:spcPts val="2469"/>
              </a:lnSpc>
            </a:pPr>
            <a:r>
              <a:rPr lang="en-US" sz="1899">
                <a:solidFill>
                  <a:srgbClr val="000000"/>
                </a:solidFill>
                <a:latin typeface="Arial MT Pro"/>
                <a:ea typeface="Arial MT Pro"/>
                <a:cs typeface="Arial MT Pro"/>
                <a:sym typeface="Arial MT Pro"/>
              </a:rPr>
              <a:t>In terms of transformation, using </a:t>
            </a:r>
            <a:r>
              <a:rPr lang="en-US" sz="1899" b="1">
                <a:solidFill>
                  <a:srgbClr val="000000"/>
                </a:solidFill>
                <a:latin typeface="Arial MT Pro Bold"/>
                <a:ea typeface="Arial MT Pro Bold"/>
                <a:cs typeface="Arial MT Pro Bold"/>
                <a:sym typeface="Arial MT Pro Bold"/>
              </a:rPr>
              <a:t>categorical encoding methods</a:t>
            </a:r>
            <a:r>
              <a:rPr lang="en-US" sz="1899">
                <a:solidFill>
                  <a:srgbClr val="000000"/>
                </a:solidFill>
                <a:latin typeface="Arial MT Pro"/>
                <a:ea typeface="Arial MT Pro"/>
                <a:cs typeface="Arial MT Pro"/>
                <a:sym typeface="Arial MT Pro"/>
              </a:rPr>
              <a:t> like OneHotEncoder effectively represents non-numeric data, which is vital for machine learning (Pykes, 2025). </a:t>
            </a:r>
            <a:r>
              <a:rPr lang="en-US" sz="1899" b="1">
                <a:solidFill>
                  <a:srgbClr val="000000"/>
                </a:solidFill>
                <a:latin typeface="Arial MT Pro Bold"/>
                <a:ea typeface="Arial MT Pro Bold"/>
                <a:cs typeface="Arial MT Pro Bold"/>
                <a:sym typeface="Arial MT Pro Bold"/>
              </a:rPr>
              <a:t>Feature engineering</a:t>
            </a:r>
            <a:r>
              <a:rPr lang="en-US" sz="1899">
                <a:solidFill>
                  <a:srgbClr val="000000"/>
                </a:solidFill>
                <a:latin typeface="Arial MT Pro"/>
                <a:ea typeface="Arial MT Pro"/>
                <a:cs typeface="Arial MT Pro"/>
                <a:sym typeface="Arial MT Pro"/>
              </a:rPr>
              <a:t>, such as creating new columns for shark species, adds specific information for deeper analysis.</a:t>
            </a:r>
          </a:p>
          <a:p>
            <a:pPr algn="just">
              <a:lnSpc>
                <a:spcPts val="2469"/>
              </a:lnSpc>
            </a:pPr>
            <a:endParaRPr lang="en-US" sz="1899">
              <a:solidFill>
                <a:srgbClr val="000000"/>
              </a:solidFill>
              <a:latin typeface="Arial MT Pro"/>
              <a:ea typeface="Arial MT Pro"/>
              <a:cs typeface="Arial MT Pro"/>
              <a:sym typeface="Arial MT Pro"/>
            </a:endParaRPr>
          </a:p>
          <a:p>
            <a:pPr algn="just">
              <a:lnSpc>
                <a:spcPts val="2469"/>
              </a:lnSpc>
            </a:pPr>
            <a:r>
              <a:rPr lang="en-US" sz="1899">
                <a:solidFill>
                  <a:srgbClr val="000000"/>
                </a:solidFill>
                <a:latin typeface="Arial MT Pro"/>
                <a:ea typeface="Arial MT Pro"/>
                <a:cs typeface="Arial MT Pro"/>
                <a:sym typeface="Arial MT Pro"/>
              </a:rPr>
              <a:t>The </a:t>
            </a:r>
            <a:r>
              <a:rPr lang="en-US" sz="1899" b="1">
                <a:solidFill>
                  <a:srgbClr val="000000"/>
                </a:solidFill>
                <a:latin typeface="Arial MT Pro Bold"/>
                <a:ea typeface="Arial MT Pro Bold"/>
                <a:cs typeface="Arial MT Pro Bold"/>
                <a:sym typeface="Arial MT Pro Bold"/>
              </a:rPr>
              <a:t>use of visualization techniques, </a:t>
            </a:r>
            <a:r>
              <a:rPr lang="en-US" sz="1899">
                <a:solidFill>
                  <a:srgbClr val="000000"/>
                </a:solidFill>
                <a:latin typeface="Arial MT Pro"/>
                <a:ea typeface="Arial MT Pro"/>
                <a:cs typeface="Arial MT Pro"/>
                <a:sym typeface="Arial MT Pro"/>
              </a:rPr>
              <a:t>including bar charts, scatter plots, and choropleth maps, provides clear insights, making it easier to spot trends and patterns.</a:t>
            </a:r>
          </a:p>
          <a:p>
            <a:pPr algn="just">
              <a:lnSpc>
                <a:spcPts val="2469"/>
              </a:lnSpc>
            </a:pPr>
            <a:endParaRPr lang="en-US" sz="1899">
              <a:solidFill>
                <a:srgbClr val="000000"/>
              </a:solidFill>
              <a:latin typeface="Arial MT Pro"/>
              <a:ea typeface="Arial MT Pro"/>
              <a:cs typeface="Arial MT Pro"/>
              <a:sym typeface="Arial MT Pro"/>
            </a:endParaRPr>
          </a:p>
          <a:p>
            <a:pPr algn="just">
              <a:lnSpc>
                <a:spcPts val="2469"/>
              </a:lnSpc>
            </a:pPr>
            <a:r>
              <a:rPr lang="en-US" sz="1899">
                <a:solidFill>
                  <a:srgbClr val="000000"/>
                </a:solidFill>
                <a:latin typeface="Arial MT Pro"/>
                <a:ea typeface="Arial MT Pro"/>
                <a:cs typeface="Arial MT Pro"/>
                <a:sym typeface="Arial MT Pro"/>
              </a:rPr>
              <a:t>For machine learning, achieving a </a:t>
            </a:r>
            <a:r>
              <a:rPr lang="en-US" sz="1899" b="1">
                <a:solidFill>
                  <a:srgbClr val="000000"/>
                </a:solidFill>
                <a:latin typeface="Arial MT Pro Bold"/>
                <a:ea typeface="Arial MT Pro Bold"/>
                <a:cs typeface="Arial MT Pro Bold"/>
                <a:sym typeface="Arial MT Pro Bold"/>
              </a:rPr>
              <a:t>balanced class distribution</a:t>
            </a:r>
            <a:r>
              <a:rPr lang="en-US" sz="1899">
                <a:solidFill>
                  <a:srgbClr val="000000"/>
                </a:solidFill>
                <a:latin typeface="Arial MT Pro"/>
                <a:ea typeface="Arial MT Pro"/>
                <a:cs typeface="Arial MT Pro"/>
                <a:sym typeface="Arial MT Pro"/>
              </a:rPr>
              <a:t> through techniques like SMOTE is essential for improving model performance. Moreover, integrating preprocessing steps into a </a:t>
            </a:r>
            <a:r>
              <a:rPr lang="en-US" sz="1899" b="1">
                <a:solidFill>
                  <a:srgbClr val="000000"/>
                </a:solidFill>
                <a:latin typeface="Arial MT Pro Bold"/>
                <a:ea typeface="Arial MT Pro Bold"/>
                <a:cs typeface="Arial MT Pro Bold"/>
                <a:sym typeface="Arial MT Pro Bold"/>
              </a:rPr>
              <a:t>pipeline </a:t>
            </a:r>
            <a:r>
              <a:rPr lang="en-US" sz="1899">
                <a:solidFill>
                  <a:srgbClr val="000000"/>
                </a:solidFill>
                <a:latin typeface="Arial MT Pro"/>
                <a:ea typeface="Arial MT Pro"/>
                <a:cs typeface="Arial MT Pro"/>
                <a:sym typeface="Arial MT Pro"/>
              </a:rPr>
              <a:t>streamlines the workflow, which facilitates easier management and reproducibility.</a:t>
            </a:r>
          </a:p>
        </p:txBody>
      </p:sp>
      <p:sp>
        <p:nvSpPr>
          <p:cNvPr id="7" name="TextBox 7"/>
          <p:cNvSpPr txBox="1"/>
          <p:nvPr/>
        </p:nvSpPr>
        <p:spPr>
          <a:xfrm>
            <a:off x="3508533" y="1330330"/>
            <a:ext cx="2645013" cy="593827"/>
          </a:xfrm>
          <a:prstGeom prst="rect">
            <a:avLst/>
          </a:prstGeom>
        </p:spPr>
        <p:txBody>
          <a:bodyPr lIns="0" tIns="0" rIns="0" bIns="0" rtlCol="0" anchor="t">
            <a:spAutoFit/>
          </a:bodyPr>
          <a:lstStyle/>
          <a:p>
            <a:pPr algn="ctr">
              <a:lnSpc>
                <a:spcPts val="4339"/>
              </a:lnSpc>
              <a:spcBef>
                <a:spcPct val="0"/>
              </a:spcBef>
            </a:pPr>
            <a:r>
              <a:rPr lang="en-US" sz="3200" b="1">
                <a:solidFill>
                  <a:srgbClr val="8064A2"/>
                </a:solidFill>
                <a:latin typeface="Arial MT Pro Bold"/>
                <a:ea typeface="Arial MT Pro Bold"/>
                <a:cs typeface="Arial MT Pro Bold"/>
                <a:sym typeface="Arial MT Pro Bold"/>
              </a:rPr>
              <a:t>Strengths</a:t>
            </a:r>
          </a:p>
        </p:txBody>
      </p:sp>
      <p:sp>
        <p:nvSpPr>
          <p:cNvPr id="8" name="AutoShape 8"/>
          <p:cNvSpPr/>
          <p:nvPr/>
        </p:nvSpPr>
        <p:spPr>
          <a:xfrm flipH="1">
            <a:off x="9105900" y="1406697"/>
            <a:ext cx="38100" cy="7990669"/>
          </a:xfrm>
          <a:prstGeom prst="line">
            <a:avLst/>
          </a:prstGeom>
          <a:ln w="38100" cap="flat">
            <a:solidFill>
              <a:srgbClr val="000000"/>
            </a:solidFill>
            <a:prstDash val="solid"/>
            <a:headEnd type="none" w="sm" len="sm"/>
            <a:tailEnd type="none" w="sm" len="sm"/>
          </a:ln>
        </p:spPr>
      </p:sp>
      <p:sp>
        <p:nvSpPr>
          <p:cNvPr id="9" name="TextBox 9"/>
          <p:cNvSpPr txBox="1"/>
          <p:nvPr/>
        </p:nvSpPr>
        <p:spPr>
          <a:xfrm>
            <a:off x="9654621" y="2206988"/>
            <a:ext cx="7604679" cy="4605020"/>
          </a:xfrm>
          <a:prstGeom prst="rect">
            <a:avLst/>
          </a:prstGeom>
        </p:spPr>
        <p:txBody>
          <a:bodyPr lIns="0" tIns="0" rIns="0" bIns="0" rtlCol="0" anchor="t">
            <a:spAutoFit/>
          </a:bodyPr>
          <a:lstStyle/>
          <a:p>
            <a:pPr algn="just">
              <a:lnSpc>
                <a:spcPts val="2469"/>
              </a:lnSpc>
            </a:pPr>
            <a:r>
              <a:rPr lang="en-US" sz="1899">
                <a:solidFill>
                  <a:srgbClr val="000000"/>
                </a:solidFill>
                <a:latin typeface="Arial MT Pro"/>
                <a:ea typeface="Arial MT Pro"/>
                <a:cs typeface="Arial MT Pro"/>
                <a:sym typeface="Arial MT Pro"/>
              </a:rPr>
              <a:t>Despite </a:t>
            </a:r>
            <a:r>
              <a:rPr lang="en-US" sz="1899" u="none">
                <a:solidFill>
                  <a:srgbClr val="000000"/>
                </a:solidFill>
                <a:latin typeface="Arial MT Pro"/>
                <a:ea typeface="Arial MT Pro"/>
                <a:cs typeface="Arial MT Pro"/>
                <a:sym typeface="Arial MT Pro"/>
              </a:rPr>
              <a:t>th</a:t>
            </a:r>
            <a:r>
              <a:rPr lang="en-US" sz="1899">
                <a:solidFill>
                  <a:srgbClr val="000000"/>
                </a:solidFill>
                <a:latin typeface="Arial MT Pro"/>
                <a:ea typeface="Arial MT Pro"/>
                <a:cs typeface="Arial MT Pro"/>
                <a:sym typeface="Arial MT Pro"/>
              </a:rPr>
              <a:t>e strengths, there are notable weaknesses in data preparation and manipulation methods. A major concern is the</a:t>
            </a:r>
            <a:r>
              <a:rPr lang="en-US" sz="1899" b="1">
                <a:solidFill>
                  <a:srgbClr val="000000"/>
                </a:solidFill>
                <a:latin typeface="Arial MT Pro Bold"/>
                <a:ea typeface="Arial MT Pro Bold"/>
                <a:cs typeface="Arial MT Pro Bold"/>
                <a:sym typeface="Arial MT Pro Bold"/>
              </a:rPr>
              <a:t> loss of information</a:t>
            </a:r>
            <a:r>
              <a:rPr lang="en-US" sz="1899">
                <a:solidFill>
                  <a:srgbClr val="000000"/>
                </a:solidFill>
                <a:latin typeface="Arial MT Pro"/>
                <a:ea typeface="Arial MT Pro"/>
                <a:cs typeface="Arial MT Pro"/>
                <a:sym typeface="Arial MT Pro"/>
              </a:rPr>
              <a:t> when filling missing values with "Unknown," which can obscure valuable insights, especially if the missing data is not random, potentially skewing results. Additionally, there is a </a:t>
            </a:r>
            <a:r>
              <a:rPr lang="en-US" sz="1899" b="1">
                <a:solidFill>
                  <a:srgbClr val="000000"/>
                </a:solidFill>
                <a:latin typeface="Arial MT Pro Bold"/>
                <a:ea typeface="Arial MT Pro Bold"/>
                <a:cs typeface="Arial MT Pro Bold"/>
                <a:sym typeface="Arial MT Pro Bold"/>
              </a:rPr>
              <a:t>risk of bias in standardization</a:t>
            </a:r>
            <a:r>
              <a:rPr lang="en-US" sz="1899">
                <a:solidFill>
                  <a:srgbClr val="000000"/>
                </a:solidFill>
                <a:latin typeface="Arial MT Pro"/>
                <a:ea typeface="Arial MT Pro"/>
                <a:cs typeface="Arial MT Pro"/>
                <a:sym typeface="Arial MT Pro"/>
              </a:rPr>
              <a:t>, as this process may overlook cultural differences in naming conventions, which affects analysis accuracy.</a:t>
            </a:r>
          </a:p>
          <a:p>
            <a:pPr algn="just">
              <a:lnSpc>
                <a:spcPts val="2469"/>
              </a:lnSpc>
            </a:pPr>
            <a:endParaRPr lang="en-US" sz="1899">
              <a:solidFill>
                <a:srgbClr val="000000"/>
              </a:solidFill>
              <a:latin typeface="Arial MT Pro"/>
              <a:ea typeface="Arial MT Pro"/>
              <a:cs typeface="Arial MT Pro"/>
              <a:sym typeface="Arial MT Pro"/>
            </a:endParaRPr>
          </a:p>
          <a:p>
            <a:pPr algn="just">
              <a:lnSpc>
                <a:spcPts val="2469"/>
              </a:lnSpc>
            </a:pPr>
            <a:r>
              <a:rPr lang="en-US" sz="1899">
                <a:solidFill>
                  <a:srgbClr val="000000"/>
                </a:solidFill>
                <a:latin typeface="Arial MT Pro"/>
                <a:ea typeface="Arial MT Pro"/>
                <a:cs typeface="Arial MT Pro"/>
                <a:sym typeface="Arial MT Pro"/>
              </a:rPr>
              <a:t>While removing non-standard values improves data quality, it can also exclude relevant cases that might provide insights into rare incidents. The </a:t>
            </a:r>
            <a:r>
              <a:rPr lang="en-US" sz="1899" b="1">
                <a:solidFill>
                  <a:srgbClr val="000000"/>
                </a:solidFill>
                <a:latin typeface="Arial MT Pro Bold"/>
                <a:ea typeface="Arial MT Pro Bold"/>
                <a:cs typeface="Arial MT Pro Bold"/>
                <a:sym typeface="Arial MT Pro Bold"/>
              </a:rPr>
              <a:t>complexity of transformation processes</a:t>
            </a:r>
            <a:r>
              <a:rPr lang="en-US" sz="1899">
                <a:solidFill>
                  <a:srgbClr val="000000"/>
                </a:solidFill>
                <a:latin typeface="Arial MT Pro"/>
                <a:ea typeface="Arial MT Pro"/>
                <a:cs typeface="Arial MT Pro"/>
                <a:sym typeface="Arial MT Pro"/>
              </a:rPr>
              <a:t> can lead to errors if not managed carefully, particularly when using regular expressions to extract information (DataCalculus, 2025). Finally, reliance on</a:t>
            </a:r>
            <a:r>
              <a:rPr lang="en-US" sz="1899" b="1">
                <a:solidFill>
                  <a:srgbClr val="000000"/>
                </a:solidFill>
                <a:latin typeface="Arial MT Pro Bold"/>
                <a:ea typeface="Arial MT Pro Bold"/>
                <a:cs typeface="Arial MT Pro Bold"/>
                <a:sym typeface="Arial MT Pro Bold"/>
              </a:rPr>
              <a:t> resampling techniques</a:t>
            </a:r>
            <a:r>
              <a:rPr lang="en-US" sz="1899">
                <a:solidFill>
                  <a:srgbClr val="000000"/>
                </a:solidFill>
                <a:latin typeface="Arial MT Pro"/>
                <a:ea typeface="Arial MT Pro"/>
                <a:cs typeface="Arial MT Pro"/>
                <a:sym typeface="Arial MT Pro"/>
              </a:rPr>
              <a:t> can introduce noise or artifacts, making models less generalizable (Wang et al., 2024)</a:t>
            </a:r>
          </a:p>
        </p:txBody>
      </p:sp>
      <p:sp>
        <p:nvSpPr>
          <p:cNvPr id="10" name="TextBox 10"/>
          <p:cNvSpPr txBox="1"/>
          <p:nvPr/>
        </p:nvSpPr>
        <p:spPr>
          <a:xfrm>
            <a:off x="12134454" y="1330330"/>
            <a:ext cx="2645013" cy="593827"/>
          </a:xfrm>
          <a:prstGeom prst="rect">
            <a:avLst/>
          </a:prstGeom>
        </p:spPr>
        <p:txBody>
          <a:bodyPr lIns="0" tIns="0" rIns="0" bIns="0" rtlCol="0" anchor="t">
            <a:spAutoFit/>
          </a:bodyPr>
          <a:lstStyle/>
          <a:p>
            <a:pPr algn="ctr">
              <a:lnSpc>
                <a:spcPts val="4339"/>
              </a:lnSpc>
              <a:spcBef>
                <a:spcPct val="0"/>
              </a:spcBef>
            </a:pPr>
            <a:r>
              <a:rPr lang="en-US" sz="3200" b="1">
                <a:solidFill>
                  <a:srgbClr val="8064A2"/>
                </a:solidFill>
                <a:latin typeface="Arial MT Pro Bold"/>
                <a:ea typeface="Arial MT Pro Bold"/>
                <a:cs typeface="Arial MT Pro Bold"/>
                <a:sym typeface="Arial MT Pro Bold"/>
              </a:rPr>
              <a:t>Weaknesses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20228" y="467068"/>
            <a:ext cx="9047545" cy="637489"/>
          </a:xfrm>
          <a:prstGeom prst="rect">
            <a:avLst/>
          </a:prstGeom>
        </p:spPr>
        <p:txBody>
          <a:bodyPr lIns="0" tIns="0" rIns="0" bIns="0" rtlCol="0" anchor="t">
            <a:spAutoFit/>
          </a:bodyPr>
          <a:lstStyle/>
          <a:p>
            <a:pPr algn="ctr">
              <a:lnSpc>
                <a:spcPts val="4610"/>
              </a:lnSpc>
              <a:spcBef>
                <a:spcPct val="0"/>
              </a:spcBef>
            </a:pPr>
            <a:r>
              <a:rPr lang="en-US" sz="3399" b="1">
                <a:solidFill>
                  <a:srgbClr val="2B4865"/>
                </a:solidFill>
                <a:latin typeface="Arial MT Pro Bold"/>
                <a:ea typeface="Arial MT Pro Bold"/>
                <a:cs typeface="Arial MT Pro Bold"/>
                <a:sym typeface="Arial MT Pro Bold"/>
              </a:rPr>
              <a:t>Tools Selection</a:t>
            </a:r>
          </a:p>
        </p:txBody>
      </p:sp>
      <p:sp>
        <p:nvSpPr>
          <p:cNvPr id="3" name="TextBox 3"/>
          <p:cNvSpPr txBox="1"/>
          <p:nvPr/>
        </p:nvSpPr>
        <p:spPr>
          <a:xfrm>
            <a:off x="1028700" y="2206898"/>
            <a:ext cx="7604679" cy="7711440"/>
          </a:xfrm>
          <a:prstGeom prst="rect">
            <a:avLst/>
          </a:prstGeom>
        </p:spPr>
        <p:txBody>
          <a:bodyPr lIns="0" tIns="0" rIns="0" bIns="0" rtlCol="0" anchor="t">
            <a:spAutoFit/>
          </a:bodyPr>
          <a:lstStyle/>
          <a:p>
            <a:pPr algn="just">
              <a:lnSpc>
                <a:spcPts val="2340"/>
              </a:lnSpc>
            </a:pPr>
            <a:r>
              <a:rPr lang="en-US" sz="1800" b="1">
                <a:solidFill>
                  <a:srgbClr val="000000"/>
                </a:solidFill>
                <a:latin typeface="Arial MT Pro Bold"/>
                <a:ea typeface="Arial MT Pro Bold"/>
                <a:cs typeface="Arial MT Pro Bold"/>
                <a:sym typeface="Arial MT Pro Bold"/>
              </a:rPr>
              <a:t>Python libraries</a:t>
            </a:r>
            <a:r>
              <a:rPr lang="en-US" sz="1800">
                <a:solidFill>
                  <a:srgbClr val="000000"/>
                </a:solidFill>
                <a:latin typeface="Arial MT Pro"/>
                <a:ea typeface="Arial MT Pro"/>
                <a:cs typeface="Arial MT Pro"/>
                <a:sym typeface="Arial MT Pro"/>
              </a:rPr>
              <a:t> like pandas, numpy, matplotlib, seaborn, and plotly provide strong functionalities for data manipulation and visualization. </a:t>
            </a:r>
            <a:r>
              <a:rPr lang="en-US" sz="1800" b="1">
                <a:solidFill>
                  <a:srgbClr val="000000"/>
                </a:solidFill>
                <a:latin typeface="Arial MT Pro Bold"/>
                <a:ea typeface="Arial MT Pro Bold"/>
                <a:cs typeface="Arial MT Pro Bold"/>
                <a:sym typeface="Arial MT Pro Bold"/>
              </a:rPr>
              <a:t>Machine learning libraries</a:t>
            </a:r>
            <a:r>
              <a:rPr lang="en-US" sz="1800">
                <a:solidFill>
                  <a:srgbClr val="000000"/>
                </a:solidFill>
                <a:latin typeface="Arial MT Pro"/>
                <a:ea typeface="Arial MT Pro"/>
                <a:cs typeface="Arial MT Pro"/>
                <a:sym typeface="Arial MT Pro"/>
              </a:rPr>
              <a:t> like Sklearn, xgboost, and imblearn help build effective predictive models while addressing class imbalances through techniques like SMOTE for oversampling (Brownlee, 2020). </a:t>
            </a:r>
            <a:r>
              <a:rPr lang="en-US" sz="1800" b="1">
                <a:solidFill>
                  <a:srgbClr val="000000"/>
                </a:solidFill>
                <a:latin typeface="Arial MT Pro Bold"/>
                <a:ea typeface="Arial MT Pro Bold"/>
                <a:cs typeface="Arial MT Pro Bold"/>
                <a:sym typeface="Arial MT Pro Bold"/>
              </a:rPr>
              <a:t>Geospatial tools</a:t>
            </a:r>
            <a:r>
              <a:rPr lang="en-US" sz="1800">
                <a:solidFill>
                  <a:srgbClr val="000000"/>
                </a:solidFill>
                <a:latin typeface="Arial MT Pro"/>
                <a:ea typeface="Arial MT Pro"/>
                <a:cs typeface="Arial MT Pro"/>
                <a:sym typeface="Arial MT Pro"/>
              </a:rPr>
              <a:t> like geopandas and folium are well-suited for mapping and visualizing shark attack locations, with folium's HeatMap plugin effectively showing clustered data (Papareddy and Gotsman, 2025).</a:t>
            </a:r>
          </a:p>
          <a:p>
            <a:pPr algn="just">
              <a:lnSpc>
                <a:spcPts val="2340"/>
              </a:lnSpc>
            </a:pPr>
            <a:endParaRPr lang="en-US" sz="1800">
              <a:solidFill>
                <a:srgbClr val="000000"/>
              </a:solidFill>
              <a:latin typeface="Arial MT Pro"/>
              <a:ea typeface="Arial MT Pro"/>
              <a:cs typeface="Arial MT Pro"/>
              <a:sym typeface="Arial MT Pro"/>
            </a:endParaRPr>
          </a:p>
          <a:p>
            <a:pPr algn="just">
              <a:lnSpc>
                <a:spcPts val="2340"/>
              </a:lnSpc>
            </a:pPr>
            <a:r>
              <a:rPr lang="en-US" sz="1800" b="1">
                <a:solidFill>
                  <a:srgbClr val="000000"/>
                </a:solidFill>
                <a:latin typeface="Arial MT Pro Bold"/>
                <a:ea typeface="Arial MT Pro Bold"/>
                <a:cs typeface="Arial MT Pro Bold"/>
                <a:sym typeface="Arial MT Pro Bold"/>
              </a:rPr>
              <a:t>For data preprocessing</a:t>
            </a:r>
            <a:r>
              <a:rPr lang="en-US" sz="1800">
                <a:solidFill>
                  <a:srgbClr val="000000"/>
                </a:solidFill>
                <a:latin typeface="Arial MT Pro"/>
                <a:ea typeface="Arial MT Pro"/>
                <a:cs typeface="Arial MT Pro"/>
                <a:sym typeface="Arial MT Pro"/>
              </a:rPr>
              <a:t>, tools like SimpleImputer, StandardScaler, and OneHotEncoder ensure data consistency and readiness for analysis. The cleaning methods applied to both categorical and numeric features effectively manage missing values and standardize formats (Stack Overflow, 2020; Solanki, 2020).</a:t>
            </a:r>
          </a:p>
          <a:p>
            <a:pPr algn="just">
              <a:lnSpc>
                <a:spcPts val="2340"/>
              </a:lnSpc>
            </a:pPr>
            <a:endParaRPr lang="en-US" sz="1800">
              <a:solidFill>
                <a:srgbClr val="000000"/>
              </a:solidFill>
              <a:latin typeface="Arial MT Pro"/>
              <a:ea typeface="Arial MT Pro"/>
              <a:cs typeface="Arial MT Pro"/>
              <a:sym typeface="Arial MT Pro"/>
            </a:endParaRPr>
          </a:p>
          <a:p>
            <a:pPr algn="just">
              <a:lnSpc>
                <a:spcPts val="2340"/>
              </a:lnSpc>
            </a:pPr>
            <a:r>
              <a:rPr lang="en-US" sz="1800">
                <a:solidFill>
                  <a:srgbClr val="000000"/>
                </a:solidFill>
                <a:latin typeface="Arial MT Pro"/>
                <a:ea typeface="Arial MT Pro"/>
                <a:cs typeface="Arial MT Pro"/>
                <a:sym typeface="Arial MT Pro"/>
              </a:rPr>
              <a:t>The combination of </a:t>
            </a:r>
            <a:r>
              <a:rPr lang="en-US" sz="1800" b="1">
                <a:solidFill>
                  <a:srgbClr val="000000"/>
                </a:solidFill>
                <a:latin typeface="Arial MT Pro Bold"/>
                <a:ea typeface="Arial MT Pro Bold"/>
                <a:cs typeface="Arial MT Pro Bold"/>
                <a:sym typeface="Arial MT Pro Bold"/>
              </a:rPr>
              <a:t>KMeans clustering and PCA</a:t>
            </a:r>
            <a:r>
              <a:rPr lang="en-US" sz="1800">
                <a:solidFill>
                  <a:srgbClr val="000000"/>
                </a:solidFill>
                <a:latin typeface="Arial MT Pro"/>
                <a:ea typeface="Arial MT Pro"/>
                <a:cs typeface="Arial MT Pro"/>
                <a:sym typeface="Arial MT Pro"/>
              </a:rPr>
              <a:t> provides valuable insights into risk profiles based on factors like age and activity. The elbow and silhouette methods help determine the best number of clusters (GeeksforGeeks, 2019). Additionally, </a:t>
            </a:r>
            <a:r>
              <a:rPr lang="en-US" sz="1800" b="1">
                <a:solidFill>
                  <a:srgbClr val="000000"/>
                </a:solidFill>
                <a:latin typeface="Arial MT Pro Bold"/>
                <a:ea typeface="Arial MT Pro Bold"/>
                <a:cs typeface="Arial MT Pro Bold"/>
                <a:sym typeface="Arial MT Pro Bold"/>
              </a:rPr>
              <a:t>time-series analysis</a:t>
            </a:r>
            <a:r>
              <a:rPr lang="en-US" sz="1800">
                <a:solidFill>
                  <a:srgbClr val="000000"/>
                </a:solidFill>
                <a:latin typeface="Arial MT Pro"/>
                <a:ea typeface="Arial MT Pro"/>
                <a:cs typeface="Arial MT Pro"/>
                <a:sym typeface="Arial MT Pro"/>
              </a:rPr>
              <a:t> using ARIMA and the Savitzky-Golay filter aids in identifying trends and forecasting shark attack patterns.</a:t>
            </a:r>
          </a:p>
          <a:p>
            <a:pPr algn="just">
              <a:lnSpc>
                <a:spcPts val="2340"/>
              </a:lnSpc>
            </a:pPr>
            <a:endParaRPr lang="en-US" sz="1800">
              <a:solidFill>
                <a:srgbClr val="000000"/>
              </a:solidFill>
              <a:latin typeface="Arial MT Pro"/>
              <a:ea typeface="Arial MT Pro"/>
              <a:cs typeface="Arial MT Pro"/>
              <a:sym typeface="Arial MT Pro"/>
            </a:endParaRPr>
          </a:p>
          <a:p>
            <a:pPr algn="just">
              <a:lnSpc>
                <a:spcPts val="2340"/>
              </a:lnSpc>
            </a:pPr>
            <a:r>
              <a:rPr lang="en-US" sz="1800" b="1">
                <a:solidFill>
                  <a:srgbClr val="000000"/>
                </a:solidFill>
                <a:latin typeface="Arial MT Pro Bold"/>
                <a:ea typeface="Arial MT Pro Bold"/>
                <a:cs typeface="Arial MT Pro Bold"/>
                <a:sym typeface="Arial MT Pro Bold"/>
              </a:rPr>
              <a:t>Custom and interactive visualizations</a:t>
            </a:r>
            <a:r>
              <a:rPr lang="en-US" sz="1800">
                <a:solidFill>
                  <a:srgbClr val="000000"/>
                </a:solidFill>
                <a:latin typeface="Arial MT Pro"/>
                <a:ea typeface="Arial MT Pro"/>
                <a:cs typeface="Arial MT Pro"/>
                <a:sym typeface="Arial MT Pro"/>
              </a:rPr>
              <a:t> are designed to be engaging and informative, such as bar charts for gender distribution and fatality rates, along with choropleth maps showing incidents by country.</a:t>
            </a:r>
          </a:p>
          <a:p>
            <a:pPr algn="just">
              <a:lnSpc>
                <a:spcPts val="2340"/>
              </a:lnSpc>
            </a:pPr>
            <a:endParaRPr lang="en-US" sz="1800">
              <a:solidFill>
                <a:srgbClr val="000000"/>
              </a:solidFill>
              <a:latin typeface="Arial MT Pro"/>
              <a:ea typeface="Arial MT Pro"/>
              <a:cs typeface="Arial MT Pro"/>
              <a:sym typeface="Arial MT Pro"/>
            </a:endParaRPr>
          </a:p>
        </p:txBody>
      </p:sp>
      <p:sp>
        <p:nvSpPr>
          <p:cNvPr id="4" name="TextBox 4"/>
          <p:cNvSpPr txBox="1"/>
          <p:nvPr/>
        </p:nvSpPr>
        <p:spPr>
          <a:xfrm>
            <a:off x="3508533" y="1330239"/>
            <a:ext cx="2645013" cy="593827"/>
          </a:xfrm>
          <a:prstGeom prst="rect">
            <a:avLst/>
          </a:prstGeom>
        </p:spPr>
        <p:txBody>
          <a:bodyPr lIns="0" tIns="0" rIns="0" bIns="0" rtlCol="0" anchor="t">
            <a:spAutoFit/>
          </a:bodyPr>
          <a:lstStyle/>
          <a:p>
            <a:pPr algn="ctr">
              <a:lnSpc>
                <a:spcPts val="4339"/>
              </a:lnSpc>
              <a:spcBef>
                <a:spcPct val="0"/>
              </a:spcBef>
            </a:pPr>
            <a:r>
              <a:rPr lang="en-US" sz="3200" b="1">
                <a:solidFill>
                  <a:srgbClr val="8064A2"/>
                </a:solidFill>
                <a:latin typeface="Arial MT Pro Bold"/>
                <a:ea typeface="Arial MT Pro Bold"/>
                <a:cs typeface="Arial MT Pro Bold"/>
                <a:sym typeface="Arial MT Pro Bold"/>
              </a:rPr>
              <a:t>Strengths</a:t>
            </a:r>
          </a:p>
        </p:txBody>
      </p:sp>
      <p:sp>
        <p:nvSpPr>
          <p:cNvPr id="5" name="AutoShape 5"/>
          <p:cNvSpPr/>
          <p:nvPr/>
        </p:nvSpPr>
        <p:spPr>
          <a:xfrm flipH="1">
            <a:off x="9105900" y="1406607"/>
            <a:ext cx="38100" cy="7990669"/>
          </a:xfrm>
          <a:prstGeom prst="line">
            <a:avLst/>
          </a:prstGeom>
          <a:ln w="38100" cap="flat">
            <a:solidFill>
              <a:srgbClr val="000000"/>
            </a:solidFill>
            <a:prstDash val="solid"/>
            <a:headEnd type="none" w="sm" len="sm"/>
            <a:tailEnd type="none" w="sm" len="sm"/>
          </a:ln>
        </p:spPr>
      </p:sp>
      <p:sp>
        <p:nvSpPr>
          <p:cNvPr id="6" name="TextBox 6"/>
          <p:cNvSpPr txBox="1"/>
          <p:nvPr/>
        </p:nvSpPr>
        <p:spPr>
          <a:xfrm>
            <a:off x="9620250" y="2206898"/>
            <a:ext cx="7639050" cy="6530340"/>
          </a:xfrm>
          <a:prstGeom prst="rect">
            <a:avLst/>
          </a:prstGeom>
        </p:spPr>
        <p:txBody>
          <a:bodyPr lIns="0" tIns="0" rIns="0" bIns="0" rtlCol="0" anchor="t">
            <a:spAutoFit/>
          </a:bodyPr>
          <a:lstStyle/>
          <a:p>
            <a:pPr algn="just">
              <a:lnSpc>
                <a:spcPts val="2340"/>
              </a:lnSpc>
            </a:pPr>
            <a:r>
              <a:rPr lang="en-US" sz="1800">
                <a:solidFill>
                  <a:srgbClr val="000000"/>
                </a:solidFill>
                <a:latin typeface="Arial MT Pro"/>
                <a:ea typeface="Arial MT Pro"/>
                <a:cs typeface="Arial MT Pro"/>
                <a:sym typeface="Arial MT Pro"/>
              </a:rPr>
              <a:t>The complexity in setup for certain tools, such as </a:t>
            </a:r>
            <a:r>
              <a:rPr lang="en-US" sz="1800" b="1">
                <a:solidFill>
                  <a:srgbClr val="000000"/>
                </a:solidFill>
                <a:latin typeface="Arial MT Pro Bold"/>
                <a:ea typeface="Arial MT Pro Bold"/>
                <a:cs typeface="Arial MT Pro Bold"/>
                <a:sym typeface="Arial MT Pro Bold"/>
              </a:rPr>
              <a:t>ARIMA</a:t>
            </a:r>
            <a:r>
              <a:rPr lang="en-US" sz="1800">
                <a:solidFill>
                  <a:srgbClr val="000000"/>
                </a:solidFill>
                <a:latin typeface="Arial MT Pro"/>
                <a:ea typeface="Arial MT Pro"/>
                <a:cs typeface="Arial MT Pro"/>
                <a:sym typeface="Arial MT Pro"/>
              </a:rPr>
              <a:t>, requires meticulous tuning and a deep understanding of parameters, which can pose challenges in optimizing accuracy and interpretability (Hayes, 2024). Additionally, the integration of geospatial tools like </a:t>
            </a:r>
            <a:r>
              <a:rPr lang="en-US" sz="1800" b="1">
                <a:solidFill>
                  <a:srgbClr val="000000"/>
                </a:solidFill>
                <a:latin typeface="Arial MT Pro Bold"/>
                <a:ea typeface="Arial MT Pro Bold"/>
                <a:cs typeface="Arial MT Pro Bold"/>
                <a:sym typeface="Arial MT Pro Bold"/>
              </a:rPr>
              <a:t>geopandas and folium</a:t>
            </a:r>
            <a:r>
              <a:rPr lang="en-US" sz="1800">
                <a:solidFill>
                  <a:srgbClr val="000000"/>
                </a:solidFill>
                <a:latin typeface="Arial MT Pro"/>
                <a:ea typeface="Arial MT Pro"/>
                <a:cs typeface="Arial MT Pro"/>
                <a:sym typeface="Arial MT Pro"/>
              </a:rPr>
              <a:t> with non-spatial data may have limited compatibility or necessitated additional preprocessing steps.</a:t>
            </a:r>
          </a:p>
          <a:p>
            <a:pPr algn="just">
              <a:lnSpc>
                <a:spcPts val="2340"/>
              </a:lnSpc>
            </a:pPr>
            <a:endParaRPr lang="en-US" sz="1800">
              <a:solidFill>
                <a:srgbClr val="000000"/>
              </a:solidFill>
              <a:latin typeface="Arial MT Pro"/>
              <a:ea typeface="Arial MT Pro"/>
              <a:cs typeface="Arial MT Pro"/>
              <a:sym typeface="Arial MT Pro"/>
            </a:endParaRPr>
          </a:p>
          <a:p>
            <a:pPr algn="just">
              <a:lnSpc>
                <a:spcPts val="2340"/>
              </a:lnSpc>
            </a:pPr>
            <a:r>
              <a:rPr lang="en-US" sz="1800">
                <a:solidFill>
                  <a:srgbClr val="000000"/>
                </a:solidFill>
                <a:latin typeface="Arial MT Pro"/>
                <a:ea typeface="Arial MT Pro"/>
                <a:cs typeface="Arial MT Pro"/>
                <a:sym typeface="Arial MT Pro"/>
              </a:rPr>
              <a:t>Classification models lies in their struggle to consistently perform well on minority classes like </a:t>
            </a:r>
            <a:r>
              <a:rPr lang="en-US" sz="1800" i="1">
                <a:solidFill>
                  <a:srgbClr val="000000"/>
                </a:solidFill>
                <a:latin typeface="Arial MT Pro Italics"/>
                <a:ea typeface="Arial MT Pro Italics"/>
                <a:cs typeface="Arial MT Pro Italics"/>
                <a:sym typeface="Arial MT Pro Italics"/>
              </a:rPr>
              <a:t>Questionable </a:t>
            </a:r>
            <a:r>
              <a:rPr lang="en-US" sz="1800">
                <a:solidFill>
                  <a:srgbClr val="000000"/>
                </a:solidFill>
                <a:latin typeface="Arial MT Pro"/>
                <a:ea typeface="Arial MT Pro"/>
                <a:cs typeface="Arial MT Pro"/>
                <a:sym typeface="Arial MT Pro"/>
              </a:rPr>
              <a:t>and </a:t>
            </a:r>
            <a:r>
              <a:rPr lang="en-US" sz="1800" i="1">
                <a:solidFill>
                  <a:srgbClr val="000000"/>
                </a:solidFill>
                <a:latin typeface="Arial MT Pro Italics"/>
                <a:ea typeface="Arial MT Pro Italics"/>
                <a:cs typeface="Arial MT Pro Italics"/>
                <a:sym typeface="Arial MT Pro Italics"/>
              </a:rPr>
              <a:t>Sea Disaster,</a:t>
            </a:r>
            <a:r>
              <a:rPr lang="en-US" sz="1800">
                <a:solidFill>
                  <a:srgbClr val="000000"/>
                </a:solidFill>
                <a:latin typeface="Arial MT Pro"/>
                <a:ea typeface="Arial MT Pro"/>
                <a:cs typeface="Arial MT Pro"/>
                <a:sym typeface="Arial MT Pro"/>
              </a:rPr>
              <a:t> even with SMOTE applied. While models like Logistic Regression and Random Forest showed strong overall accuracy and AUC scores, </a:t>
            </a:r>
            <a:r>
              <a:rPr lang="en-US" sz="1800" b="1">
                <a:solidFill>
                  <a:srgbClr val="000000"/>
                </a:solidFill>
                <a:latin typeface="Arial MT Pro Bold"/>
                <a:ea typeface="Arial MT Pro Bold"/>
                <a:cs typeface="Arial MT Pro Bold"/>
                <a:sym typeface="Arial MT Pro Bold"/>
              </a:rPr>
              <a:t>they tended to favor majority classes</a:t>
            </a:r>
            <a:r>
              <a:rPr lang="en-US" sz="1800">
                <a:solidFill>
                  <a:srgbClr val="000000"/>
                </a:solidFill>
                <a:latin typeface="Arial MT Pro"/>
                <a:ea typeface="Arial MT Pro"/>
                <a:cs typeface="Arial MT Pro"/>
                <a:sym typeface="Arial MT Pro"/>
              </a:rPr>
              <a:t>, leading to lower recall for rare incidents. Decision Trees risk overfitting and instability (GeeksforGeeks, 2024), while SVMs, despite improved recall for minority classes, had lower overall accuracy and longer training times.</a:t>
            </a:r>
          </a:p>
          <a:p>
            <a:pPr algn="just">
              <a:lnSpc>
                <a:spcPts val="2340"/>
              </a:lnSpc>
            </a:pPr>
            <a:r>
              <a:rPr lang="en-US" sz="1800">
                <a:solidFill>
                  <a:srgbClr val="000000"/>
                </a:solidFill>
                <a:latin typeface="Arial MT Pro"/>
                <a:ea typeface="Arial MT Pro"/>
                <a:cs typeface="Arial MT Pro"/>
                <a:sym typeface="Arial MT Pro"/>
              </a:rPr>
              <a:t> </a:t>
            </a:r>
          </a:p>
          <a:p>
            <a:pPr algn="just">
              <a:lnSpc>
                <a:spcPts val="2340"/>
              </a:lnSpc>
            </a:pPr>
            <a:r>
              <a:rPr lang="en-US" sz="1800">
                <a:solidFill>
                  <a:srgbClr val="000000"/>
                </a:solidFill>
                <a:latin typeface="Arial MT Pro"/>
                <a:ea typeface="Arial MT Pro"/>
                <a:cs typeface="Arial MT Pro"/>
                <a:sym typeface="Arial MT Pro"/>
              </a:rPr>
              <a:t>While the visualizations are informative, some may appear </a:t>
            </a:r>
            <a:r>
              <a:rPr lang="en-US" sz="1800" b="1">
                <a:solidFill>
                  <a:srgbClr val="000000"/>
                </a:solidFill>
                <a:latin typeface="Arial MT Pro Bold"/>
                <a:ea typeface="Arial MT Pro Bold"/>
                <a:cs typeface="Arial MT Pro Bold"/>
                <a:sym typeface="Arial MT Pro Bold"/>
              </a:rPr>
              <a:t>overly technical to non-technical audiences</a:t>
            </a:r>
            <a:r>
              <a:rPr lang="en-US" sz="1800">
                <a:solidFill>
                  <a:srgbClr val="000000"/>
                </a:solidFill>
                <a:latin typeface="Arial MT Pro"/>
                <a:ea typeface="Arial MT Pro"/>
                <a:cs typeface="Arial MT Pro"/>
                <a:sym typeface="Arial MT Pro"/>
              </a:rPr>
              <a:t>. For example, PCA clustering or ARIMA forecasts may require clearer explanations, particularly regarding confidence intervals and annotations, to ensure comprehension among those unfamiliar with statistical concepts (DataScienceBase, 2025).</a:t>
            </a:r>
          </a:p>
          <a:p>
            <a:pPr algn="just">
              <a:lnSpc>
                <a:spcPts val="2340"/>
              </a:lnSpc>
            </a:pPr>
            <a:endParaRPr lang="en-US" sz="1800">
              <a:solidFill>
                <a:srgbClr val="000000"/>
              </a:solidFill>
              <a:latin typeface="Arial MT Pro"/>
              <a:ea typeface="Arial MT Pro"/>
              <a:cs typeface="Arial MT Pro"/>
              <a:sym typeface="Arial MT Pro"/>
            </a:endParaRPr>
          </a:p>
        </p:txBody>
      </p:sp>
      <p:sp>
        <p:nvSpPr>
          <p:cNvPr id="7" name="TextBox 7"/>
          <p:cNvSpPr txBox="1"/>
          <p:nvPr/>
        </p:nvSpPr>
        <p:spPr>
          <a:xfrm>
            <a:off x="12134454" y="1330239"/>
            <a:ext cx="2645013" cy="593827"/>
          </a:xfrm>
          <a:prstGeom prst="rect">
            <a:avLst/>
          </a:prstGeom>
        </p:spPr>
        <p:txBody>
          <a:bodyPr lIns="0" tIns="0" rIns="0" bIns="0" rtlCol="0" anchor="t">
            <a:spAutoFit/>
          </a:bodyPr>
          <a:lstStyle/>
          <a:p>
            <a:pPr algn="ctr">
              <a:lnSpc>
                <a:spcPts val="4339"/>
              </a:lnSpc>
              <a:spcBef>
                <a:spcPct val="0"/>
              </a:spcBef>
            </a:pPr>
            <a:r>
              <a:rPr lang="en-US" sz="3200" b="1">
                <a:solidFill>
                  <a:srgbClr val="8064A2"/>
                </a:solidFill>
                <a:latin typeface="Arial MT Pro Bold"/>
                <a:ea typeface="Arial MT Pro Bold"/>
                <a:cs typeface="Arial MT Pro Bold"/>
                <a:sym typeface="Arial MT Pro Bold"/>
              </a:rPr>
              <a:t>Weaknesses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04875"/>
            <a:ext cx="9047545" cy="637489"/>
          </a:xfrm>
          <a:prstGeom prst="rect">
            <a:avLst/>
          </a:prstGeom>
        </p:spPr>
        <p:txBody>
          <a:bodyPr lIns="0" tIns="0" rIns="0" bIns="0" rtlCol="0" anchor="t">
            <a:spAutoFit/>
          </a:bodyPr>
          <a:lstStyle/>
          <a:p>
            <a:pPr algn="ctr">
              <a:lnSpc>
                <a:spcPts val="4610"/>
              </a:lnSpc>
              <a:spcBef>
                <a:spcPct val="0"/>
              </a:spcBef>
            </a:pPr>
            <a:r>
              <a:rPr lang="en-US" sz="3399" b="1">
                <a:solidFill>
                  <a:srgbClr val="2B4865"/>
                </a:solidFill>
                <a:latin typeface="Arial MT Pro Bold"/>
                <a:ea typeface="Arial MT Pro Bold"/>
                <a:cs typeface="Arial MT Pro Bold"/>
                <a:sym typeface="Arial MT Pro Bold"/>
              </a:rPr>
              <a:t>Impact of Data Derived on Decision-Making</a:t>
            </a:r>
          </a:p>
        </p:txBody>
      </p:sp>
      <p:sp>
        <p:nvSpPr>
          <p:cNvPr id="3" name="TextBox 3"/>
          <p:cNvSpPr txBox="1"/>
          <p:nvPr/>
        </p:nvSpPr>
        <p:spPr>
          <a:xfrm>
            <a:off x="1028700" y="1637310"/>
            <a:ext cx="9047545" cy="593827"/>
          </a:xfrm>
          <a:prstGeom prst="rect">
            <a:avLst/>
          </a:prstGeom>
        </p:spPr>
        <p:txBody>
          <a:bodyPr lIns="0" tIns="0" rIns="0" bIns="0" rtlCol="0" anchor="t">
            <a:spAutoFit/>
          </a:bodyPr>
          <a:lstStyle/>
          <a:p>
            <a:pPr algn="l">
              <a:lnSpc>
                <a:spcPts val="4339"/>
              </a:lnSpc>
              <a:spcBef>
                <a:spcPct val="0"/>
              </a:spcBef>
            </a:pPr>
            <a:r>
              <a:rPr lang="en-US" sz="3200" b="1">
                <a:solidFill>
                  <a:srgbClr val="8064A2"/>
                </a:solidFill>
                <a:latin typeface="Arial MT Pro Bold"/>
                <a:ea typeface="Arial MT Pro Bold"/>
                <a:cs typeface="Arial MT Pro Bold"/>
                <a:sym typeface="Arial MT Pro Bold"/>
              </a:rPr>
              <a:t>Shark Attack Analysis</a:t>
            </a:r>
          </a:p>
        </p:txBody>
      </p:sp>
      <p:sp>
        <p:nvSpPr>
          <p:cNvPr id="4" name="TextBox 4"/>
          <p:cNvSpPr txBox="1"/>
          <p:nvPr/>
        </p:nvSpPr>
        <p:spPr>
          <a:xfrm>
            <a:off x="1028700" y="2307336"/>
            <a:ext cx="16230600" cy="7092677"/>
          </a:xfrm>
          <a:prstGeom prst="rect">
            <a:avLst/>
          </a:prstGeom>
        </p:spPr>
        <p:txBody>
          <a:bodyPr lIns="0" tIns="0" rIns="0" bIns="0" rtlCol="0" anchor="t">
            <a:spAutoFit/>
          </a:bodyPr>
          <a:lstStyle/>
          <a:p>
            <a:pPr marL="574936" lvl="1" indent="-287468" algn="just">
              <a:lnSpc>
                <a:spcPts val="4047"/>
              </a:lnSpc>
              <a:buFont typeface="Arial"/>
              <a:buChar char="•"/>
            </a:pPr>
            <a:r>
              <a:rPr lang="en-US" sz="2662">
                <a:solidFill>
                  <a:srgbClr val="000000"/>
                </a:solidFill>
                <a:latin typeface="Arial MT Pro"/>
                <a:ea typeface="Arial MT Pro"/>
                <a:cs typeface="Arial MT Pro"/>
                <a:sym typeface="Arial MT Pro"/>
              </a:rPr>
              <a:t>This data isn’t just about sharks it’s about who gets attacked, where, why, and how to stop it. These insights</a:t>
            </a:r>
            <a:r>
              <a:rPr lang="en-US" sz="2662" b="1">
                <a:solidFill>
                  <a:srgbClr val="000000"/>
                </a:solidFill>
                <a:latin typeface="Arial MT Pro Bold"/>
                <a:ea typeface="Arial MT Pro Bold"/>
                <a:cs typeface="Arial MT Pro Bold"/>
                <a:sym typeface="Arial MT Pro Bold"/>
              </a:rPr>
              <a:t> empower public education, improve emergency response, influence policy, and ultimately save lives without demonizing sharks</a:t>
            </a:r>
            <a:r>
              <a:rPr lang="en-US" sz="2662">
                <a:solidFill>
                  <a:srgbClr val="000000"/>
                </a:solidFill>
                <a:latin typeface="Arial MT Pro"/>
                <a:ea typeface="Arial MT Pro"/>
                <a:cs typeface="Arial MT Pro"/>
                <a:sym typeface="Arial MT Pro"/>
              </a:rPr>
              <a:t>.</a:t>
            </a:r>
          </a:p>
          <a:p>
            <a:pPr marL="574936" lvl="1" indent="-287468" algn="just">
              <a:lnSpc>
                <a:spcPts val="4047"/>
              </a:lnSpc>
              <a:buFont typeface="Arial"/>
              <a:buChar char="•"/>
            </a:pPr>
            <a:r>
              <a:rPr lang="en-US" sz="2662">
                <a:solidFill>
                  <a:srgbClr val="000000"/>
                </a:solidFill>
                <a:latin typeface="Arial MT Pro"/>
                <a:ea typeface="Arial MT Pro"/>
                <a:cs typeface="Arial MT Pro"/>
                <a:sym typeface="Arial MT Pro"/>
              </a:rPr>
              <a:t>The majority of victims are young males, particularly those aged 15 to 25, most commonly involved in high-risk activities. This trend highlights that </a:t>
            </a:r>
            <a:r>
              <a:rPr lang="en-US" sz="2662" b="1">
                <a:solidFill>
                  <a:srgbClr val="000000"/>
                </a:solidFill>
                <a:latin typeface="Arial MT Pro Bold"/>
                <a:ea typeface="Arial MT Pro Bold"/>
                <a:cs typeface="Arial MT Pro Bold"/>
                <a:sym typeface="Arial MT Pro Bold"/>
              </a:rPr>
              <a:t>young males are the most vulnerable group </a:t>
            </a:r>
            <a:r>
              <a:rPr lang="en-US" sz="2662">
                <a:solidFill>
                  <a:srgbClr val="000000"/>
                </a:solidFill>
                <a:latin typeface="Arial MT Pro"/>
                <a:ea typeface="Arial MT Pro"/>
                <a:cs typeface="Arial MT Pro"/>
                <a:sym typeface="Arial MT Pro"/>
              </a:rPr>
              <a:t>(Florida Museum, 2025). Safety campaigns should specifically target this demographic, particularly in high-risk water sports. </a:t>
            </a:r>
          </a:p>
          <a:p>
            <a:pPr marL="574936" lvl="1" indent="-287468" algn="just">
              <a:lnSpc>
                <a:spcPts val="4047"/>
              </a:lnSpc>
              <a:buFont typeface="Arial"/>
              <a:buChar char="•"/>
            </a:pPr>
            <a:r>
              <a:rPr lang="en-US" sz="2662">
                <a:solidFill>
                  <a:srgbClr val="000000"/>
                </a:solidFill>
                <a:latin typeface="Arial MT Pro"/>
                <a:ea typeface="Arial MT Pro"/>
                <a:cs typeface="Arial MT Pro"/>
                <a:sym typeface="Arial MT Pro"/>
              </a:rPr>
              <a:t>Surf schools, beach resorts, and adventure sports centers should </a:t>
            </a:r>
            <a:r>
              <a:rPr lang="en-US" sz="2662" b="1">
                <a:solidFill>
                  <a:srgbClr val="000000"/>
                </a:solidFill>
                <a:latin typeface="Arial MT Pro Bold"/>
                <a:ea typeface="Arial MT Pro Bold"/>
                <a:cs typeface="Arial MT Pro Bold"/>
                <a:sym typeface="Arial MT Pro Bold"/>
              </a:rPr>
              <a:t>include risk-awareness education</a:t>
            </a:r>
            <a:r>
              <a:rPr lang="en-US" sz="2662">
                <a:solidFill>
                  <a:srgbClr val="000000"/>
                </a:solidFill>
                <a:latin typeface="Arial MT Pro"/>
                <a:ea typeface="Arial MT Pro"/>
                <a:cs typeface="Arial MT Pro"/>
                <a:sym typeface="Arial MT Pro"/>
              </a:rPr>
              <a:t>, especially around shark behavior and high-risk zones.</a:t>
            </a:r>
          </a:p>
          <a:p>
            <a:pPr marL="574936" lvl="1" indent="-287468" algn="just">
              <a:lnSpc>
                <a:spcPts val="4047"/>
              </a:lnSpc>
              <a:buFont typeface="Arial"/>
              <a:buChar char="•"/>
            </a:pPr>
            <a:r>
              <a:rPr lang="en-US" sz="2662">
                <a:solidFill>
                  <a:srgbClr val="000000"/>
                </a:solidFill>
                <a:latin typeface="Arial MT Pro"/>
                <a:ea typeface="Arial MT Pro"/>
                <a:cs typeface="Arial MT Pro"/>
                <a:sym typeface="Arial MT Pro"/>
              </a:rPr>
              <a:t>Since unprovoked attacks dominate, </a:t>
            </a:r>
            <a:r>
              <a:rPr lang="en-US" sz="2662" u="sng">
                <a:solidFill>
                  <a:srgbClr val="000000"/>
                </a:solidFill>
                <a:latin typeface="Arial MT Pro"/>
                <a:ea typeface="Arial MT Pro"/>
                <a:cs typeface="Arial MT Pro"/>
                <a:sym typeface="Arial MT Pro"/>
              </a:rPr>
              <a:t>people must learn</a:t>
            </a:r>
            <a:r>
              <a:rPr lang="en-US" sz="2662">
                <a:solidFill>
                  <a:srgbClr val="000000"/>
                </a:solidFill>
                <a:latin typeface="Arial MT Pro"/>
                <a:ea typeface="Arial MT Pro"/>
                <a:cs typeface="Arial MT Pro"/>
                <a:sym typeface="Arial MT Pro"/>
              </a:rPr>
              <a:t> (McGuire, 2024):</a:t>
            </a:r>
          </a:p>
          <a:p>
            <a:pPr marL="1149872" lvl="2" indent="-383291" algn="just">
              <a:lnSpc>
                <a:spcPts val="4047"/>
              </a:lnSpc>
              <a:buFont typeface="Arial"/>
              <a:buChar char="⚬"/>
            </a:pPr>
            <a:r>
              <a:rPr lang="en-US" sz="2662">
                <a:solidFill>
                  <a:srgbClr val="000000"/>
                </a:solidFill>
                <a:latin typeface="Arial MT Pro"/>
                <a:ea typeface="Arial MT Pro"/>
                <a:cs typeface="Arial MT Pro"/>
                <a:sym typeface="Arial MT Pro"/>
              </a:rPr>
              <a:t>Not to wear shiny objects.</a:t>
            </a:r>
          </a:p>
          <a:p>
            <a:pPr marL="1149872" lvl="2" indent="-383291" algn="just">
              <a:lnSpc>
                <a:spcPts val="4047"/>
              </a:lnSpc>
              <a:buFont typeface="Arial"/>
              <a:buChar char="⚬"/>
            </a:pPr>
            <a:r>
              <a:rPr lang="en-US" sz="2662">
                <a:solidFill>
                  <a:srgbClr val="000000"/>
                </a:solidFill>
                <a:latin typeface="Arial MT Pro"/>
                <a:ea typeface="Arial MT Pro"/>
                <a:cs typeface="Arial MT Pro"/>
                <a:sym typeface="Arial MT Pro"/>
              </a:rPr>
              <a:t>Avoid swimming at dawn/dusk (when sharks hunt).</a:t>
            </a:r>
          </a:p>
          <a:p>
            <a:pPr marL="1149872" lvl="2" indent="-383291" algn="just">
              <a:lnSpc>
                <a:spcPts val="4047"/>
              </a:lnSpc>
              <a:buFont typeface="Arial"/>
              <a:buChar char="⚬"/>
            </a:pPr>
            <a:r>
              <a:rPr lang="en-US" sz="2662">
                <a:solidFill>
                  <a:srgbClr val="000000"/>
                </a:solidFill>
                <a:latin typeface="Arial MT Pro"/>
                <a:ea typeface="Arial MT Pro"/>
                <a:cs typeface="Arial MT Pro"/>
                <a:sym typeface="Arial MT Pro"/>
              </a:rPr>
              <a:t>Stay out of the water with open wounds.</a:t>
            </a:r>
          </a:p>
          <a:p>
            <a:pPr marL="1149872" lvl="2" indent="-383291" algn="just">
              <a:lnSpc>
                <a:spcPts val="4047"/>
              </a:lnSpc>
              <a:buFont typeface="Arial"/>
              <a:buChar char="⚬"/>
            </a:pPr>
            <a:r>
              <a:rPr lang="en-US" sz="2662">
                <a:solidFill>
                  <a:srgbClr val="000000"/>
                </a:solidFill>
                <a:latin typeface="Arial MT Pro"/>
                <a:ea typeface="Arial MT Pro"/>
                <a:cs typeface="Arial MT Pro"/>
                <a:sym typeface="Arial MT Pro"/>
              </a:rPr>
              <a:t>Avoid erratic movements or excessive splashing.</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04875"/>
            <a:ext cx="9047545" cy="637489"/>
          </a:xfrm>
          <a:prstGeom prst="rect">
            <a:avLst/>
          </a:prstGeom>
        </p:spPr>
        <p:txBody>
          <a:bodyPr lIns="0" tIns="0" rIns="0" bIns="0" rtlCol="0" anchor="t">
            <a:spAutoFit/>
          </a:bodyPr>
          <a:lstStyle/>
          <a:p>
            <a:pPr algn="ctr">
              <a:lnSpc>
                <a:spcPts val="4610"/>
              </a:lnSpc>
              <a:spcBef>
                <a:spcPct val="0"/>
              </a:spcBef>
            </a:pPr>
            <a:r>
              <a:rPr lang="en-US" sz="3399" b="1">
                <a:solidFill>
                  <a:srgbClr val="2B4865"/>
                </a:solidFill>
                <a:latin typeface="Arial MT Pro Bold"/>
                <a:ea typeface="Arial MT Pro Bold"/>
                <a:cs typeface="Arial MT Pro Bold"/>
                <a:sym typeface="Arial MT Pro Bold"/>
              </a:rPr>
              <a:t>Impact of Data Derived on Decision-Making</a:t>
            </a:r>
          </a:p>
        </p:txBody>
      </p:sp>
      <p:sp>
        <p:nvSpPr>
          <p:cNvPr id="3" name="TextBox 3"/>
          <p:cNvSpPr txBox="1"/>
          <p:nvPr/>
        </p:nvSpPr>
        <p:spPr>
          <a:xfrm>
            <a:off x="1028700" y="1637310"/>
            <a:ext cx="9047545" cy="593827"/>
          </a:xfrm>
          <a:prstGeom prst="rect">
            <a:avLst/>
          </a:prstGeom>
        </p:spPr>
        <p:txBody>
          <a:bodyPr lIns="0" tIns="0" rIns="0" bIns="0" rtlCol="0" anchor="t">
            <a:spAutoFit/>
          </a:bodyPr>
          <a:lstStyle/>
          <a:p>
            <a:pPr algn="l">
              <a:lnSpc>
                <a:spcPts val="4339"/>
              </a:lnSpc>
              <a:spcBef>
                <a:spcPct val="0"/>
              </a:spcBef>
            </a:pPr>
            <a:r>
              <a:rPr lang="en-US" sz="3200" b="1">
                <a:solidFill>
                  <a:srgbClr val="8064A2"/>
                </a:solidFill>
                <a:latin typeface="Arial MT Pro Bold"/>
                <a:ea typeface="Arial MT Pro Bold"/>
                <a:cs typeface="Arial MT Pro Bold"/>
                <a:sym typeface="Arial MT Pro Bold"/>
              </a:rPr>
              <a:t>Shark Attack Analysis</a:t>
            </a:r>
          </a:p>
        </p:txBody>
      </p:sp>
      <p:sp>
        <p:nvSpPr>
          <p:cNvPr id="4" name="TextBox 4"/>
          <p:cNvSpPr txBox="1"/>
          <p:nvPr/>
        </p:nvSpPr>
        <p:spPr>
          <a:xfrm>
            <a:off x="1028700" y="2307336"/>
            <a:ext cx="16230600" cy="6718212"/>
          </a:xfrm>
          <a:prstGeom prst="rect">
            <a:avLst/>
          </a:prstGeom>
        </p:spPr>
        <p:txBody>
          <a:bodyPr lIns="0" tIns="0" rIns="0" bIns="0" rtlCol="0" anchor="t">
            <a:spAutoFit/>
          </a:bodyPr>
          <a:lstStyle/>
          <a:p>
            <a:pPr marL="596103" lvl="1" indent="-298051" algn="just">
              <a:lnSpc>
                <a:spcPts val="4113"/>
              </a:lnSpc>
              <a:buFont typeface="Arial"/>
              <a:buChar char="•"/>
            </a:pPr>
            <a:r>
              <a:rPr lang="en-US" sz="2761">
                <a:solidFill>
                  <a:srgbClr val="000000"/>
                </a:solidFill>
                <a:latin typeface="Arial MT Pro"/>
                <a:ea typeface="Arial MT Pro"/>
                <a:cs typeface="Arial MT Pro"/>
                <a:sym typeface="Arial MT Pro"/>
              </a:rPr>
              <a:t>On geographic perspective, countries like </a:t>
            </a:r>
            <a:r>
              <a:rPr lang="en-US" sz="2761" b="1">
                <a:solidFill>
                  <a:srgbClr val="000000"/>
                </a:solidFill>
                <a:latin typeface="Arial MT Pro Bold"/>
                <a:ea typeface="Arial MT Pro Bold"/>
                <a:cs typeface="Arial MT Pro Bold"/>
                <a:sym typeface="Arial MT Pro Bold"/>
              </a:rPr>
              <a:t>Australia and South Africa need more aggressive shark safety strategies</a:t>
            </a:r>
            <a:r>
              <a:rPr lang="en-US" sz="2761">
                <a:solidFill>
                  <a:srgbClr val="000000"/>
                </a:solidFill>
                <a:latin typeface="Arial MT Pro"/>
                <a:ea typeface="Arial MT Pro"/>
                <a:cs typeface="Arial MT Pro"/>
                <a:sym typeface="Arial MT Pro"/>
              </a:rPr>
              <a:t> than the U.S., where fatality rates are lower despite more encounters. </a:t>
            </a:r>
            <a:r>
              <a:rPr lang="en-US" sz="2761" u="sng">
                <a:solidFill>
                  <a:srgbClr val="000000"/>
                </a:solidFill>
                <a:latin typeface="Arial MT Pro"/>
                <a:ea typeface="Arial MT Pro"/>
                <a:cs typeface="Arial MT Pro"/>
                <a:sym typeface="Arial MT Pro"/>
              </a:rPr>
              <a:t>Governments could invest in</a:t>
            </a:r>
            <a:r>
              <a:rPr lang="en-US" sz="2761">
                <a:solidFill>
                  <a:srgbClr val="000000"/>
                </a:solidFill>
                <a:latin typeface="Arial MT Pro"/>
                <a:ea typeface="Arial MT Pro"/>
                <a:cs typeface="Arial MT Pro"/>
                <a:sym typeface="Arial MT Pro"/>
              </a:rPr>
              <a:t> (Queensland Goverment, 2022; Shark Smart, 2016):</a:t>
            </a:r>
          </a:p>
          <a:p>
            <a:pPr marL="1192205" lvl="2" indent="-397402" algn="just">
              <a:lnSpc>
                <a:spcPts val="4113"/>
              </a:lnSpc>
              <a:buFont typeface="Arial"/>
              <a:buChar char="⚬"/>
            </a:pPr>
            <a:r>
              <a:rPr lang="en-US" sz="2761">
                <a:solidFill>
                  <a:srgbClr val="000000"/>
                </a:solidFill>
                <a:latin typeface="Arial MT Pro"/>
                <a:ea typeface="Arial MT Pro"/>
                <a:cs typeface="Arial MT Pro"/>
                <a:sym typeface="Arial MT Pro"/>
              </a:rPr>
              <a:t>Shark detection technologies (e.g., drones, sonar buoys).</a:t>
            </a:r>
          </a:p>
          <a:p>
            <a:pPr marL="1192205" lvl="2" indent="-397402" algn="just">
              <a:lnSpc>
                <a:spcPts val="4113"/>
              </a:lnSpc>
              <a:buFont typeface="Arial"/>
              <a:buChar char="⚬"/>
            </a:pPr>
            <a:r>
              <a:rPr lang="en-US" sz="2761">
                <a:solidFill>
                  <a:srgbClr val="000000"/>
                </a:solidFill>
                <a:latin typeface="Arial MT Pro"/>
                <a:ea typeface="Arial MT Pro"/>
                <a:cs typeface="Arial MT Pro"/>
                <a:sym typeface="Arial MT Pro"/>
              </a:rPr>
              <a:t>Beach signage and flag systems.</a:t>
            </a:r>
          </a:p>
          <a:p>
            <a:pPr marL="1192205" lvl="2" indent="-397402" algn="just">
              <a:lnSpc>
                <a:spcPts val="4113"/>
              </a:lnSpc>
              <a:buFont typeface="Arial"/>
              <a:buChar char="⚬"/>
            </a:pPr>
            <a:r>
              <a:rPr lang="en-US" sz="2761">
                <a:solidFill>
                  <a:srgbClr val="000000"/>
                </a:solidFill>
                <a:latin typeface="Arial MT Pro"/>
                <a:ea typeface="Arial MT Pro"/>
                <a:cs typeface="Arial MT Pro"/>
                <a:sym typeface="Arial MT Pro"/>
              </a:rPr>
              <a:t>Lifeguard training specifically for shark emergencies.</a:t>
            </a:r>
          </a:p>
          <a:p>
            <a:pPr marL="596103" lvl="1" indent="-298051" algn="just">
              <a:lnSpc>
                <a:spcPts val="4113"/>
              </a:lnSpc>
              <a:buFont typeface="Arial"/>
              <a:buChar char="•"/>
            </a:pPr>
            <a:r>
              <a:rPr lang="en-US" sz="2761" b="1">
                <a:solidFill>
                  <a:srgbClr val="000000"/>
                </a:solidFill>
                <a:latin typeface="Arial MT Pro Bold"/>
                <a:ea typeface="Arial MT Pro Bold"/>
                <a:cs typeface="Arial MT Pro Bold"/>
                <a:sym typeface="Arial MT Pro Bold"/>
              </a:rPr>
              <a:t>Fishing-related activities</a:t>
            </a:r>
            <a:r>
              <a:rPr lang="en-US" sz="2761">
                <a:solidFill>
                  <a:srgbClr val="000000"/>
                </a:solidFill>
                <a:latin typeface="Arial MT Pro"/>
                <a:ea typeface="Arial MT Pro"/>
                <a:cs typeface="Arial MT Pro"/>
                <a:sym typeface="Arial MT Pro"/>
              </a:rPr>
              <a:t> are a huge chunk of provoked attacks. Policies should:</a:t>
            </a:r>
          </a:p>
          <a:p>
            <a:pPr marL="1192205" lvl="2" indent="-397402" algn="just">
              <a:lnSpc>
                <a:spcPts val="4113"/>
              </a:lnSpc>
              <a:buFont typeface="Arial"/>
              <a:buChar char="⚬"/>
            </a:pPr>
            <a:r>
              <a:rPr lang="en-US" sz="2761">
                <a:solidFill>
                  <a:srgbClr val="000000"/>
                </a:solidFill>
                <a:latin typeface="Arial MT Pro"/>
                <a:ea typeface="Arial MT Pro"/>
                <a:cs typeface="Arial MT Pro"/>
                <a:sym typeface="Arial MT Pro"/>
              </a:rPr>
              <a:t>Regulate how and where fishing can occur (especially near popular beaches).</a:t>
            </a:r>
          </a:p>
          <a:p>
            <a:pPr marL="1192205" lvl="2" indent="-397402" algn="just">
              <a:lnSpc>
                <a:spcPts val="4113"/>
              </a:lnSpc>
              <a:buFont typeface="Arial"/>
              <a:buChar char="⚬"/>
            </a:pPr>
            <a:r>
              <a:rPr lang="en-US" sz="2761">
                <a:solidFill>
                  <a:srgbClr val="000000"/>
                </a:solidFill>
                <a:latin typeface="Arial MT Pro"/>
                <a:ea typeface="Arial MT Pro"/>
                <a:cs typeface="Arial MT Pro"/>
                <a:sym typeface="Arial MT Pro"/>
              </a:rPr>
              <a:t>Educate fishers about handling bait and caught fish safely.</a:t>
            </a:r>
          </a:p>
          <a:p>
            <a:pPr marL="596103" lvl="1" indent="-298051" algn="just">
              <a:lnSpc>
                <a:spcPts val="4113"/>
              </a:lnSpc>
              <a:buFont typeface="Arial"/>
              <a:buChar char="•"/>
            </a:pPr>
            <a:r>
              <a:rPr lang="en-US" sz="2761">
                <a:solidFill>
                  <a:srgbClr val="000000"/>
                </a:solidFill>
                <a:latin typeface="Arial MT Pro"/>
                <a:ea typeface="Arial MT Pro"/>
                <a:cs typeface="Arial MT Pro"/>
                <a:sym typeface="Arial MT Pro"/>
              </a:rPr>
              <a:t>Understanding which shark species pose the most risk (e.g., White, Tiger, Bull) </a:t>
            </a:r>
            <a:r>
              <a:rPr lang="en-US" sz="2761" b="1">
                <a:solidFill>
                  <a:srgbClr val="000000"/>
                </a:solidFill>
                <a:latin typeface="Arial MT Pro Bold"/>
                <a:ea typeface="Arial MT Pro Bold"/>
                <a:cs typeface="Arial MT Pro Bold"/>
                <a:sym typeface="Arial MT Pro Bold"/>
              </a:rPr>
              <a:t>helps balance marine conservation with public safety</a:t>
            </a:r>
            <a:r>
              <a:rPr lang="en-US" sz="2761">
                <a:solidFill>
                  <a:srgbClr val="000000"/>
                </a:solidFill>
                <a:latin typeface="Arial MT Pro"/>
                <a:ea typeface="Arial MT Pro"/>
                <a:cs typeface="Arial MT Pro"/>
                <a:sym typeface="Arial MT Pro"/>
              </a:rPr>
              <a:t>.</a:t>
            </a:r>
          </a:p>
          <a:p>
            <a:pPr marL="596103" lvl="1" indent="-298051" algn="just">
              <a:lnSpc>
                <a:spcPts val="4113"/>
              </a:lnSpc>
              <a:buFont typeface="Arial"/>
              <a:buChar char="•"/>
            </a:pPr>
            <a:r>
              <a:rPr lang="en-US" sz="2761">
                <a:solidFill>
                  <a:srgbClr val="000000"/>
                </a:solidFill>
                <a:latin typeface="Arial MT Pro"/>
                <a:ea typeface="Arial MT Pro"/>
                <a:cs typeface="Arial MT Pro"/>
                <a:sym typeface="Arial MT Pro"/>
              </a:rPr>
              <a:t>Conservation strategies can redirect human-shark interactions, </a:t>
            </a:r>
            <a:r>
              <a:rPr lang="en-US" sz="2761" u="sng">
                <a:solidFill>
                  <a:srgbClr val="000000"/>
                </a:solidFill>
                <a:latin typeface="Arial MT Pro"/>
                <a:ea typeface="Arial MT Pro"/>
                <a:cs typeface="Arial MT Pro"/>
                <a:sym typeface="Arial MT Pro"/>
              </a:rPr>
              <a:t>like avoiding fishing in mating/birthing zones of high-risk species</a:t>
            </a:r>
            <a:r>
              <a:rPr lang="en-US" sz="2761">
                <a:solidFill>
                  <a:srgbClr val="000000"/>
                </a:solidFill>
                <a:latin typeface="Arial MT Pro"/>
                <a:ea typeface="Arial MT Pro"/>
                <a:cs typeface="Arial MT Pro"/>
                <a:sym typeface="Arial MT Pro"/>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04875"/>
            <a:ext cx="9047545" cy="637489"/>
          </a:xfrm>
          <a:prstGeom prst="rect">
            <a:avLst/>
          </a:prstGeom>
        </p:spPr>
        <p:txBody>
          <a:bodyPr lIns="0" tIns="0" rIns="0" bIns="0" rtlCol="0" anchor="t">
            <a:spAutoFit/>
          </a:bodyPr>
          <a:lstStyle/>
          <a:p>
            <a:pPr algn="ctr">
              <a:lnSpc>
                <a:spcPts val="4610"/>
              </a:lnSpc>
              <a:spcBef>
                <a:spcPct val="0"/>
              </a:spcBef>
            </a:pPr>
            <a:r>
              <a:rPr lang="en-US" sz="3399" b="1">
                <a:solidFill>
                  <a:srgbClr val="2B4865"/>
                </a:solidFill>
                <a:latin typeface="Arial MT Pro Bold"/>
                <a:ea typeface="Arial MT Pro Bold"/>
                <a:cs typeface="Arial MT Pro Bold"/>
                <a:sym typeface="Arial MT Pro Bold"/>
              </a:rPr>
              <a:t>Impact of Data Derived on Decision-Making</a:t>
            </a:r>
          </a:p>
        </p:txBody>
      </p:sp>
      <p:sp>
        <p:nvSpPr>
          <p:cNvPr id="3" name="TextBox 3"/>
          <p:cNvSpPr txBox="1"/>
          <p:nvPr/>
        </p:nvSpPr>
        <p:spPr>
          <a:xfrm>
            <a:off x="1028700" y="1637310"/>
            <a:ext cx="9047545" cy="593827"/>
          </a:xfrm>
          <a:prstGeom prst="rect">
            <a:avLst/>
          </a:prstGeom>
        </p:spPr>
        <p:txBody>
          <a:bodyPr lIns="0" tIns="0" rIns="0" bIns="0" rtlCol="0" anchor="t">
            <a:spAutoFit/>
          </a:bodyPr>
          <a:lstStyle/>
          <a:p>
            <a:pPr algn="l">
              <a:lnSpc>
                <a:spcPts val="4339"/>
              </a:lnSpc>
              <a:spcBef>
                <a:spcPct val="0"/>
              </a:spcBef>
            </a:pPr>
            <a:r>
              <a:rPr lang="en-US" sz="3200" b="1">
                <a:solidFill>
                  <a:srgbClr val="8064A2"/>
                </a:solidFill>
                <a:latin typeface="Arial MT Pro Bold"/>
                <a:ea typeface="Arial MT Pro Bold"/>
                <a:cs typeface="Arial MT Pro Bold"/>
                <a:sym typeface="Arial MT Pro Bold"/>
              </a:rPr>
              <a:t>Predictive Modelling</a:t>
            </a:r>
          </a:p>
        </p:txBody>
      </p:sp>
      <p:sp>
        <p:nvSpPr>
          <p:cNvPr id="4" name="TextBox 4"/>
          <p:cNvSpPr txBox="1"/>
          <p:nvPr/>
        </p:nvSpPr>
        <p:spPr>
          <a:xfrm>
            <a:off x="1028700" y="2288286"/>
            <a:ext cx="16230600" cy="7197497"/>
          </a:xfrm>
          <a:prstGeom prst="rect">
            <a:avLst/>
          </a:prstGeom>
        </p:spPr>
        <p:txBody>
          <a:bodyPr lIns="0" tIns="0" rIns="0" bIns="0" rtlCol="0" anchor="t">
            <a:spAutoFit/>
          </a:bodyPr>
          <a:lstStyle/>
          <a:p>
            <a:pPr marL="596103" lvl="1" indent="-298051" algn="just">
              <a:lnSpc>
                <a:spcPts val="4390"/>
              </a:lnSpc>
              <a:buFont typeface="Arial"/>
              <a:buChar char="•"/>
            </a:pPr>
            <a:r>
              <a:rPr lang="en-US" sz="2761">
                <a:solidFill>
                  <a:srgbClr val="000000"/>
                </a:solidFill>
                <a:latin typeface="Arial MT Pro"/>
                <a:ea typeface="Arial MT Pro"/>
                <a:cs typeface="Arial MT Pro"/>
                <a:sym typeface="Arial MT Pro"/>
              </a:rPr>
              <a:t>Models like </a:t>
            </a:r>
            <a:r>
              <a:rPr lang="en-US" sz="2761" u="sng">
                <a:solidFill>
                  <a:srgbClr val="000000"/>
                </a:solidFill>
                <a:latin typeface="Arial MT Pro"/>
                <a:ea typeface="Arial MT Pro"/>
                <a:cs typeface="Arial MT Pro"/>
                <a:sym typeface="Arial MT Pro"/>
              </a:rPr>
              <a:t>Logistic Regression and Random Forest</a:t>
            </a:r>
            <a:r>
              <a:rPr lang="en-US" sz="2761">
                <a:solidFill>
                  <a:srgbClr val="000000"/>
                </a:solidFill>
                <a:latin typeface="Arial MT Pro"/>
                <a:ea typeface="Arial MT Pro"/>
                <a:cs typeface="Arial MT Pro"/>
                <a:sym typeface="Arial MT Pro"/>
              </a:rPr>
              <a:t> help</a:t>
            </a:r>
            <a:r>
              <a:rPr lang="en-US" sz="2761" b="1">
                <a:solidFill>
                  <a:srgbClr val="000000"/>
                </a:solidFill>
                <a:latin typeface="Arial MT Pro Bold"/>
                <a:ea typeface="Arial MT Pro Bold"/>
                <a:cs typeface="Arial MT Pro Bold"/>
                <a:sym typeface="Arial MT Pro Bold"/>
              </a:rPr>
              <a:t> identify high-risk situations where shark attacks are more likely</a:t>
            </a:r>
            <a:r>
              <a:rPr lang="en-US" sz="2761">
                <a:solidFill>
                  <a:srgbClr val="000000"/>
                </a:solidFill>
                <a:latin typeface="Arial MT Pro"/>
                <a:ea typeface="Arial MT Pro"/>
                <a:cs typeface="Arial MT Pro"/>
                <a:sym typeface="Arial MT Pro"/>
              </a:rPr>
              <a:t>.  Authorities can use these insights to </a:t>
            </a:r>
            <a:r>
              <a:rPr lang="en-US" sz="2761" b="1">
                <a:solidFill>
                  <a:srgbClr val="000000"/>
                </a:solidFill>
                <a:latin typeface="Arial MT Pro Bold"/>
                <a:ea typeface="Arial MT Pro Bold"/>
                <a:cs typeface="Arial MT Pro Bold"/>
                <a:sym typeface="Arial MT Pro Bold"/>
              </a:rPr>
              <a:t>issue targeted warnings </a:t>
            </a:r>
            <a:r>
              <a:rPr lang="en-US" sz="2761">
                <a:solidFill>
                  <a:srgbClr val="000000"/>
                </a:solidFill>
                <a:latin typeface="Arial MT Pro"/>
                <a:ea typeface="Arial MT Pro"/>
                <a:cs typeface="Arial MT Pro"/>
                <a:sym typeface="Arial MT Pro"/>
              </a:rPr>
              <a:t>for surfers, swimmers, or divers based on real-time inputs.</a:t>
            </a:r>
          </a:p>
          <a:p>
            <a:pPr marL="596103" lvl="1" indent="-298051" algn="just">
              <a:lnSpc>
                <a:spcPts val="4390"/>
              </a:lnSpc>
              <a:buFont typeface="Arial"/>
              <a:buChar char="•"/>
            </a:pPr>
            <a:r>
              <a:rPr lang="en-US" sz="2761">
                <a:solidFill>
                  <a:srgbClr val="000000"/>
                </a:solidFill>
                <a:latin typeface="Arial MT Pro"/>
                <a:ea typeface="Arial MT Pro"/>
                <a:cs typeface="Arial MT Pro"/>
                <a:sym typeface="Arial MT Pro"/>
              </a:rPr>
              <a:t>Predictive accuracy from models like </a:t>
            </a:r>
            <a:r>
              <a:rPr lang="en-US" sz="2761" u="sng">
                <a:solidFill>
                  <a:srgbClr val="000000"/>
                </a:solidFill>
                <a:latin typeface="Arial MT Pro"/>
                <a:ea typeface="Arial MT Pro"/>
                <a:cs typeface="Arial MT Pro"/>
                <a:sym typeface="Arial MT Pro"/>
              </a:rPr>
              <a:t>SVM and Decision Tree </a:t>
            </a:r>
            <a:r>
              <a:rPr lang="en-US" sz="2761">
                <a:solidFill>
                  <a:srgbClr val="000000"/>
                </a:solidFill>
                <a:latin typeface="Arial MT Pro"/>
                <a:ea typeface="Arial MT Pro"/>
                <a:cs typeface="Arial MT Pro"/>
                <a:sym typeface="Arial MT Pro"/>
              </a:rPr>
              <a:t>can </a:t>
            </a:r>
            <a:r>
              <a:rPr lang="en-US" sz="2761" b="1">
                <a:solidFill>
                  <a:srgbClr val="000000"/>
                </a:solidFill>
                <a:latin typeface="Arial MT Pro Bold"/>
                <a:ea typeface="Arial MT Pro Bold"/>
                <a:cs typeface="Arial MT Pro Bold"/>
                <a:sym typeface="Arial MT Pro Bold"/>
              </a:rPr>
              <a:t>inform which beaches need more patrols or first-aid stations</a:t>
            </a:r>
            <a:r>
              <a:rPr lang="en-US" sz="2761">
                <a:solidFill>
                  <a:srgbClr val="000000"/>
                </a:solidFill>
                <a:latin typeface="Arial MT Pro"/>
                <a:ea typeface="Arial MT Pro"/>
                <a:cs typeface="Arial MT Pro"/>
                <a:sym typeface="Arial MT Pro"/>
              </a:rPr>
              <a:t> during peak seasons or certain weather conditions.</a:t>
            </a:r>
          </a:p>
          <a:p>
            <a:pPr marL="596103" lvl="1" indent="-298051" algn="just">
              <a:lnSpc>
                <a:spcPts val="4390"/>
              </a:lnSpc>
              <a:buFont typeface="Arial"/>
              <a:buChar char="•"/>
            </a:pPr>
            <a:r>
              <a:rPr lang="en-US" sz="2761">
                <a:solidFill>
                  <a:srgbClr val="000000"/>
                </a:solidFill>
                <a:latin typeface="Arial MT Pro"/>
                <a:ea typeface="Arial MT Pro"/>
                <a:cs typeface="Arial MT Pro"/>
                <a:sym typeface="Arial MT Pro"/>
              </a:rPr>
              <a:t>Identifying areas or species with higher fatality associations (like White Sharks) </a:t>
            </a:r>
            <a:r>
              <a:rPr lang="en-US" sz="2761" b="1">
                <a:solidFill>
                  <a:srgbClr val="000000"/>
                </a:solidFill>
                <a:latin typeface="Arial MT Pro Bold"/>
                <a:ea typeface="Arial MT Pro Bold"/>
                <a:cs typeface="Arial MT Pro Bold"/>
                <a:sym typeface="Arial MT Pro Bold"/>
              </a:rPr>
              <a:t>helps prioritize conservation zones and balance safety with ecological protection</a:t>
            </a:r>
            <a:r>
              <a:rPr lang="en-US" sz="2761">
                <a:solidFill>
                  <a:srgbClr val="000000"/>
                </a:solidFill>
                <a:latin typeface="Arial MT Pro"/>
                <a:ea typeface="Arial MT Pro"/>
                <a:cs typeface="Arial MT Pro"/>
                <a:sym typeface="Arial MT Pro"/>
              </a:rPr>
              <a:t>.</a:t>
            </a:r>
          </a:p>
          <a:p>
            <a:pPr marL="596103" lvl="1" indent="-298051" algn="just">
              <a:lnSpc>
                <a:spcPts val="4390"/>
              </a:lnSpc>
              <a:buFont typeface="Arial"/>
              <a:buChar char="•"/>
            </a:pPr>
            <a:r>
              <a:rPr lang="en-US" sz="2761">
                <a:solidFill>
                  <a:srgbClr val="000000"/>
                </a:solidFill>
                <a:latin typeface="Arial MT Pro"/>
                <a:ea typeface="Arial MT Pro"/>
                <a:cs typeface="Arial MT Pro"/>
                <a:sym typeface="Arial MT Pro"/>
              </a:rPr>
              <a:t>Classifying attacks as </a:t>
            </a:r>
            <a:r>
              <a:rPr lang="en-US" sz="2761" i="1">
                <a:solidFill>
                  <a:srgbClr val="000000"/>
                </a:solidFill>
                <a:latin typeface="Arial MT Pro Italics"/>
                <a:ea typeface="Arial MT Pro Italics"/>
                <a:cs typeface="Arial MT Pro Italics"/>
                <a:sym typeface="Arial MT Pro Italics"/>
              </a:rPr>
              <a:t>Unprovoked, Provoked, or Sea Disaster</a:t>
            </a:r>
            <a:r>
              <a:rPr lang="en-US" sz="2761">
                <a:solidFill>
                  <a:srgbClr val="000000"/>
                </a:solidFill>
                <a:latin typeface="Arial MT Pro"/>
                <a:ea typeface="Arial MT Pro"/>
                <a:cs typeface="Arial MT Pro"/>
                <a:sym typeface="Arial MT Pro"/>
              </a:rPr>
              <a:t> helps craft tailored public awareness campaigns.</a:t>
            </a:r>
          </a:p>
          <a:p>
            <a:pPr marL="596103" lvl="1" indent="-298051" algn="just">
              <a:lnSpc>
                <a:spcPts val="4390"/>
              </a:lnSpc>
              <a:buFont typeface="Arial"/>
              <a:buChar char="•"/>
            </a:pPr>
            <a:r>
              <a:rPr lang="en-US" sz="2761">
                <a:solidFill>
                  <a:srgbClr val="000000"/>
                </a:solidFill>
                <a:latin typeface="Arial MT Pro"/>
                <a:ea typeface="Arial MT Pro"/>
                <a:cs typeface="Arial MT Pro"/>
                <a:sym typeface="Arial MT Pro"/>
              </a:rPr>
              <a:t>Accurate classification helps </a:t>
            </a:r>
            <a:r>
              <a:rPr lang="en-US" sz="2761" b="1">
                <a:solidFill>
                  <a:srgbClr val="000000"/>
                </a:solidFill>
                <a:latin typeface="Arial MT Pro Bold"/>
                <a:ea typeface="Arial MT Pro Bold"/>
                <a:cs typeface="Arial MT Pro Bold"/>
                <a:sym typeface="Arial MT Pro Bold"/>
              </a:rPr>
              <a:t>standardize data</a:t>
            </a:r>
            <a:r>
              <a:rPr lang="en-US" sz="2761">
                <a:solidFill>
                  <a:srgbClr val="000000"/>
                </a:solidFill>
                <a:latin typeface="Arial MT Pro"/>
                <a:ea typeface="Arial MT Pro"/>
                <a:cs typeface="Arial MT Pro"/>
                <a:sym typeface="Arial MT Pro"/>
              </a:rPr>
              <a:t> in global shark attack databases, improving long-term studies and marine ecosystem tracking.</a:t>
            </a:r>
          </a:p>
          <a:p>
            <a:pPr marL="596103" lvl="1" indent="-298051" algn="just">
              <a:lnSpc>
                <a:spcPts val="4390"/>
              </a:lnSpc>
              <a:buFont typeface="Arial"/>
              <a:buChar char="•"/>
            </a:pPr>
            <a:r>
              <a:rPr lang="en-US" sz="2761">
                <a:solidFill>
                  <a:srgbClr val="000000"/>
                </a:solidFill>
                <a:latin typeface="Arial MT Pro"/>
                <a:ea typeface="Arial MT Pro"/>
                <a:cs typeface="Arial MT Pro"/>
                <a:sym typeface="Arial MT Pro"/>
              </a:rPr>
              <a:t>Clustering &amp; PCA help in </a:t>
            </a:r>
            <a:r>
              <a:rPr lang="en-US" sz="2761" b="1">
                <a:solidFill>
                  <a:srgbClr val="000000"/>
                </a:solidFill>
                <a:latin typeface="Arial MT Pro Bold"/>
                <a:ea typeface="Arial MT Pro Bold"/>
                <a:cs typeface="Arial MT Pro Bold"/>
                <a:sym typeface="Arial MT Pro Bold"/>
              </a:rPr>
              <a:t>profiling victims</a:t>
            </a:r>
            <a:r>
              <a:rPr lang="en-US" sz="2761">
                <a:solidFill>
                  <a:srgbClr val="000000"/>
                </a:solidFill>
                <a:latin typeface="Arial MT Pro"/>
                <a:ea typeface="Arial MT Pro"/>
                <a:cs typeface="Arial MT Pro"/>
                <a:sym typeface="Arial MT Pro"/>
              </a:rPr>
              <a:t>, and </a:t>
            </a:r>
            <a:r>
              <a:rPr lang="en-US" sz="2761" b="1">
                <a:solidFill>
                  <a:srgbClr val="000000"/>
                </a:solidFill>
                <a:latin typeface="Arial MT Pro Bold"/>
                <a:ea typeface="Arial MT Pro Bold"/>
                <a:cs typeface="Arial MT Pro Bold"/>
                <a:sym typeface="Arial MT Pro Bold"/>
              </a:rPr>
              <a:t>segmenting safety strategies</a:t>
            </a:r>
            <a:r>
              <a:rPr lang="en-US" sz="2761">
                <a:solidFill>
                  <a:srgbClr val="000000"/>
                </a:solidFill>
                <a:latin typeface="Arial MT Pro"/>
                <a:ea typeface="Arial MT Pro"/>
                <a:cs typeface="Arial MT Pro"/>
                <a:sym typeface="Arial MT Pro"/>
              </a:rPr>
              <a:t> by age and behavior.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04875"/>
            <a:ext cx="9047545" cy="637489"/>
          </a:xfrm>
          <a:prstGeom prst="rect">
            <a:avLst/>
          </a:prstGeom>
        </p:spPr>
        <p:txBody>
          <a:bodyPr lIns="0" tIns="0" rIns="0" bIns="0" rtlCol="0" anchor="t">
            <a:spAutoFit/>
          </a:bodyPr>
          <a:lstStyle/>
          <a:p>
            <a:pPr algn="ctr">
              <a:lnSpc>
                <a:spcPts val="4610"/>
              </a:lnSpc>
              <a:spcBef>
                <a:spcPct val="0"/>
              </a:spcBef>
            </a:pPr>
            <a:r>
              <a:rPr lang="en-US" sz="3399" b="1">
                <a:solidFill>
                  <a:srgbClr val="2B4865"/>
                </a:solidFill>
                <a:latin typeface="Arial MT Pro Bold"/>
                <a:ea typeface="Arial MT Pro Bold"/>
                <a:cs typeface="Arial MT Pro Bold"/>
                <a:sym typeface="Arial MT Pro Bold"/>
              </a:rPr>
              <a:t>Impact of Data Derived on Decision-Making</a:t>
            </a:r>
          </a:p>
        </p:txBody>
      </p:sp>
      <p:sp>
        <p:nvSpPr>
          <p:cNvPr id="3" name="TextBox 3"/>
          <p:cNvSpPr txBox="1"/>
          <p:nvPr/>
        </p:nvSpPr>
        <p:spPr>
          <a:xfrm>
            <a:off x="1028700" y="1637310"/>
            <a:ext cx="9047545" cy="593827"/>
          </a:xfrm>
          <a:prstGeom prst="rect">
            <a:avLst/>
          </a:prstGeom>
        </p:spPr>
        <p:txBody>
          <a:bodyPr lIns="0" tIns="0" rIns="0" bIns="0" rtlCol="0" anchor="t">
            <a:spAutoFit/>
          </a:bodyPr>
          <a:lstStyle/>
          <a:p>
            <a:pPr algn="l">
              <a:lnSpc>
                <a:spcPts val="4339"/>
              </a:lnSpc>
              <a:spcBef>
                <a:spcPct val="0"/>
              </a:spcBef>
            </a:pPr>
            <a:r>
              <a:rPr lang="en-US" sz="3200" b="1">
                <a:solidFill>
                  <a:srgbClr val="8064A2"/>
                </a:solidFill>
                <a:latin typeface="Arial MT Pro Bold"/>
                <a:ea typeface="Arial MT Pro Bold"/>
                <a:cs typeface="Arial MT Pro Bold"/>
                <a:sym typeface="Arial MT Pro Bold"/>
              </a:rPr>
              <a:t>Time Series Analysis</a:t>
            </a:r>
          </a:p>
        </p:txBody>
      </p:sp>
      <p:sp>
        <p:nvSpPr>
          <p:cNvPr id="4" name="TextBox 4"/>
          <p:cNvSpPr txBox="1"/>
          <p:nvPr/>
        </p:nvSpPr>
        <p:spPr>
          <a:xfrm>
            <a:off x="1028700" y="2288286"/>
            <a:ext cx="16230600" cy="6537854"/>
          </a:xfrm>
          <a:prstGeom prst="rect">
            <a:avLst/>
          </a:prstGeom>
        </p:spPr>
        <p:txBody>
          <a:bodyPr lIns="0" tIns="0" rIns="0" bIns="0" rtlCol="0" anchor="t">
            <a:spAutoFit/>
          </a:bodyPr>
          <a:lstStyle/>
          <a:p>
            <a:pPr marL="595669" lvl="1" indent="-297834" algn="just">
              <a:lnSpc>
                <a:spcPts val="4331"/>
              </a:lnSpc>
              <a:buFont typeface="Arial"/>
              <a:buChar char="•"/>
            </a:pPr>
            <a:r>
              <a:rPr lang="en-US" sz="2759">
                <a:solidFill>
                  <a:srgbClr val="000000"/>
                </a:solidFill>
                <a:latin typeface="Arial MT Pro"/>
                <a:ea typeface="Arial MT Pro"/>
                <a:cs typeface="Arial MT Pro"/>
                <a:sym typeface="Arial MT Pro"/>
              </a:rPr>
              <a:t>Time-series analysis shows a </a:t>
            </a:r>
            <a:r>
              <a:rPr lang="en-US" sz="2759" b="1">
                <a:solidFill>
                  <a:srgbClr val="000000"/>
                </a:solidFill>
                <a:latin typeface="Arial MT Pro Bold"/>
                <a:ea typeface="Arial MT Pro Bold"/>
                <a:cs typeface="Arial MT Pro Bold"/>
                <a:sym typeface="Arial MT Pro Bold"/>
              </a:rPr>
              <a:t>downward trend</a:t>
            </a:r>
            <a:r>
              <a:rPr lang="en-US" sz="2759">
                <a:solidFill>
                  <a:srgbClr val="000000"/>
                </a:solidFill>
                <a:latin typeface="Arial MT Pro"/>
                <a:ea typeface="Arial MT Pro"/>
                <a:cs typeface="Arial MT Pro"/>
                <a:sym typeface="Arial MT Pro"/>
              </a:rPr>
              <a:t> in shark attacks, which is encouraging. This data is supported by the International Shark Attack File (ISAF) wherein the shark bites worldwide have the lowest number in 30 years (Florida Museum, 2024). </a:t>
            </a:r>
          </a:p>
          <a:p>
            <a:pPr marL="595669" lvl="1" indent="-297834" algn="just">
              <a:lnSpc>
                <a:spcPts val="4331"/>
              </a:lnSpc>
              <a:buFont typeface="Arial"/>
              <a:buChar char="•"/>
            </a:pPr>
            <a:r>
              <a:rPr lang="en-US" sz="2759">
                <a:solidFill>
                  <a:srgbClr val="000000"/>
                </a:solidFill>
                <a:latin typeface="Arial MT Pro"/>
                <a:ea typeface="Arial MT Pro"/>
                <a:cs typeface="Arial MT Pro"/>
                <a:sym typeface="Arial MT Pro"/>
              </a:rPr>
              <a:t>Authorities can </a:t>
            </a:r>
            <a:r>
              <a:rPr lang="en-US" sz="2759" b="1">
                <a:solidFill>
                  <a:srgbClr val="000000"/>
                </a:solidFill>
                <a:latin typeface="Arial MT Pro Bold"/>
                <a:ea typeface="Arial MT Pro Bold"/>
                <a:cs typeface="Arial MT Pro Bold"/>
                <a:sym typeface="Arial MT Pro Bold"/>
              </a:rPr>
              <a:t>de-prioritize large-scale emergency preparations unless future anomalies occur</a:t>
            </a:r>
            <a:r>
              <a:rPr lang="en-US" sz="2759">
                <a:solidFill>
                  <a:srgbClr val="000000"/>
                </a:solidFill>
                <a:latin typeface="Arial MT Pro"/>
                <a:ea typeface="Arial MT Pro"/>
                <a:cs typeface="Arial MT Pro"/>
                <a:sym typeface="Arial MT Pro"/>
              </a:rPr>
              <a:t>, 25 incidents/year might not justify excessive budgets unless the confidence interval spikes.</a:t>
            </a:r>
          </a:p>
          <a:p>
            <a:pPr marL="595669" lvl="1" indent="-297834" algn="just">
              <a:lnSpc>
                <a:spcPts val="4331"/>
              </a:lnSpc>
              <a:buFont typeface="Arial"/>
              <a:buChar char="•"/>
            </a:pPr>
            <a:r>
              <a:rPr lang="en-US" sz="2759">
                <a:solidFill>
                  <a:srgbClr val="000000"/>
                </a:solidFill>
                <a:latin typeface="Arial MT Pro"/>
                <a:ea typeface="Arial MT Pro"/>
                <a:cs typeface="Arial MT Pro"/>
                <a:sym typeface="Arial MT Pro"/>
              </a:rPr>
              <a:t>However, since there's uncertainty, </a:t>
            </a:r>
            <a:r>
              <a:rPr lang="en-US" sz="2759" b="1">
                <a:solidFill>
                  <a:srgbClr val="000000"/>
                </a:solidFill>
                <a:latin typeface="Arial MT Pro Bold"/>
                <a:ea typeface="Arial MT Pro Bold"/>
                <a:cs typeface="Arial MT Pro Bold"/>
                <a:sym typeface="Arial MT Pro Bold"/>
              </a:rPr>
              <a:t>authorities should not become complacent</a:t>
            </a:r>
            <a:r>
              <a:rPr lang="en-US" sz="2759">
                <a:solidFill>
                  <a:srgbClr val="000000"/>
                </a:solidFill>
                <a:latin typeface="Arial MT Pro"/>
                <a:ea typeface="Arial MT Pro"/>
                <a:cs typeface="Arial MT Pro"/>
                <a:sym typeface="Arial MT Pro"/>
              </a:rPr>
              <a:t>. </a:t>
            </a:r>
            <a:r>
              <a:rPr lang="en-US" sz="2759" b="1">
                <a:solidFill>
                  <a:srgbClr val="000000"/>
                </a:solidFill>
                <a:latin typeface="Arial MT Pro Bold"/>
                <a:ea typeface="Arial MT Pro Bold"/>
                <a:cs typeface="Arial MT Pro Bold"/>
                <a:sym typeface="Arial MT Pro Bold"/>
              </a:rPr>
              <a:t>Agile risk-response systems</a:t>
            </a:r>
            <a:r>
              <a:rPr lang="en-US" sz="2759">
                <a:solidFill>
                  <a:srgbClr val="000000"/>
                </a:solidFill>
                <a:latin typeface="Arial MT Pro"/>
                <a:ea typeface="Arial MT Pro"/>
                <a:cs typeface="Arial MT Pro"/>
                <a:sym typeface="Arial MT Pro"/>
              </a:rPr>
              <a:t> should still be in place, especially for coastal tourism areas.</a:t>
            </a:r>
          </a:p>
          <a:p>
            <a:pPr marL="595669" lvl="1" indent="-297834" algn="just">
              <a:lnSpc>
                <a:spcPts val="4331"/>
              </a:lnSpc>
              <a:buFont typeface="Arial"/>
              <a:buChar char="•"/>
            </a:pPr>
            <a:r>
              <a:rPr lang="en-US" sz="2759">
                <a:solidFill>
                  <a:srgbClr val="000000"/>
                </a:solidFill>
                <a:latin typeface="Arial MT Pro"/>
                <a:ea typeface="Arial MT Pro"/>
                <a:cs typeface="Arial MT Pro"/>
                <a:sym typeface="Arial MT Pro"/>
              </a:rPr>
              <a:t>Researchers might </a:t>
            </a:r>
            <a:r>
              <a:rPr lang="en-US" sz="2759" b="1">
                <a:solidFill>
                  <a:srgbClr val="000000"/>
                </a:solidFill>
                <a:latin typeface="Arial MT Pro Bold"/>
                <a:ea typeface="Arial MT Pro Bold"/>
                <a:cs typeface="Arial MT Pro Bold"/>
                <a:sym typeface="Arial MT Pro Bold"/>
              </a:rPr>
              <a:t>explore ecological reasons behind the drop, </a:t>
            </a:r>
            <a:r>
              <a:rPr lang="en-US" sz="2759">
                <a:solidFill>
                  <a:srgbClr val="000000"/>
                </a:solidFill>
                <a:latin typeface="Arial MT Pro"/>
                <a:ea typeface="Arial MT Pro"/>
                <a:cs typeface="Arial MT Pro"/>
                <a:sym typeface="Arial MT Pro"/>
              </a:rPr>
              <a:t>which can wider the implications for marine biodiversity, such as (Enviroliteracy, 2025; Megafauna, 2017; Kluger, 2023):</a:t>
            </a:r>
          </a:p>
          <a:p>
            <a:pPr marL="1191337" lvl="2" indent="-397112" algn="just">
              <a:lnSpc>
                <a:spcPts val="4331"/>
              </a:lnSpc>
              <a:buFont typeface="Arial"/>
              <a:buChar char="⚬"/>
            </a:pPr>
            <a:r>
              <a:rPr lang="en-US" sz="2759">
                <a:solidFill>
                  <a:srgbClr val="000000"/>
                </a:solidFill>
                <a:latin typeface="Arial MT Pro"/>
                <a:ea typeface="Arial MT Pro"/>
                <a:cs typeface="Arial MT Pro"/>
                <a:sym typeface="Arial MT Pro"/>
              </a:rPr>
              <a:t>Decline in shark population </a:t>
            </a:r>
          </a:p>
          <a:p>
            <a:pPr marL="1191337" lvl="2" indent="-397112" algn="just">
              <a:lnSpc>
                <a:spcPts val="4331"/>
              </a:lnSpc>
              <a:buFont typeface="Arial"/>
              <a:buChar char="⚬"/>
            </a:pPr>
            <a:r>
              <a:rPr lang="en-US" sz="2759">
                <a:solidFill>
                  <a:srgbClr val="000000"/>
                </a:solidFill>
                <a:latin typeface="Arial MT Pro"/>
                <a:ea typeface="Arial MT Pro"/>
                <a:cs typeface="Arial MT Pro"/>
                <a:sym typeface="Arial MT Pro"/>
              </a:rPr>
              <a:t>Habitat loss</a:t>
            </a:r>
          </a:p>
          <a:p>
            <a:pPr marL="1191337" lvl="2" indent="-397112" algn="just">
              <a:lnSpc>
                <a:spcPts val="4331"/>
              </a:lnSpc>
              <a:buFont typeface="Arial"/>
              <a:buChar char="⚬"/>
            </a:pPr>
            <a:r>
              <a:rPr lang="en-US" sz="2759">
                <a:solidFill>
                  <a:srgbClr val="000000"/>
                </a:solidFill>
                <a:latin typeface="Arial MT Pro"/>
                <a:ea typeface="Arial MT Pro"/>
                <a:cs typeface="Arial MT Pro"/>
                <a:sym typeface="Arial MT Pro"/>
              </a:rPr>
              <a:t>Climate change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514350" y="2834961"/>
          <a:ext cx="17259300" cy="7181850"/>
        </p:xfrm>
        <a:graphic>
          <a:graphicData uri="http://schemas.openxmlformats.org/drawingml/2006/table">
            <a:tbl>
              <a:tblPr/>
              <a:tblGrid>
                <a:gridCol w="3691439">
                  <a:extLst>
                    <a:ext uri="{9D8B030D-6E8A-4147-A177-3AD203B41FA5}">
                      <a16:colId xmlns:a16="http://schemas.microsoft.com/office/drawing/2014/main" val="20000"/>
                    </a:ext>
                  </a:extLst>
                </a:gridCol>
                <a:gridCol w="3773942">
                  <a:extLst>
                    <a:ext uri="{9D8B030D-6E8A-4147-A177-3AD203B41FA5}">
                      <a16:colId xmlns:a16="http://schemas.microsoft.com/office/drawing/2014/main" val="20001"/>
                    </a:ext>
                  </a:extLst>
                </a:gridCol>
                <a:gridCol w="9793920">
                  <a:extLst>
                    <a:ext uri="{9D8B030D-6E8A-4147-A177-3AD203B41FA5}">
                      <a16:colId xmlns:a16="http://schemas.microsoft.com/office/drawing/2014/main" val="20002"/>
                    </a:ext>
                  </a:extLst>
                </a:gridCol>
              </a:tblGrid>
              <a:tr h="689458">
                <a:tc>
                  <a:txBody>
                    <a:bodyPr/>
                    <a:lstStyle/>
                    <a:p>
                      <a:pPr algn="ctr">
                        <a:lnSpc>
                          <a:spcPts val="1959"/>
                        </a:lnSpc>
                        <a:defRPr/>
                      </a:pPr>
                      <a:r>
                        <a:rPr lang="en-US" sz="1399" b="1">
                          <a:solidFill>
                            <a:srgbClr val="000000"/>
                          </a:solidFill>
                          <a:latin typeface="Arial MT Pro Bold"/>
                          <a:ea typeface="Arial MT Pro Bold"/>
                          <a:cs typeface="Arial MT Pro Bold"/>
                          <a:sym typeface="Arial MT Pro Bold"/>
                        </a:rPr>
                        <a:t>SRI Business Need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9"/>
                        </a:lnSpc>
                        <a:defRPr/>
                      </a:pPr>
                      <a:r>
                        <a:rPr lang="en-US" sz="1399" b="1">
                          <a:solidFill>
                            <a:srgbClr val="000000"/>
                          </a:solidFill>
                          <a:latin typeface="Arial MT Pro Bold"/>
                          <a:ea typeface="Arial MT Pro Bold"/>
                          <a:cs typeface="Arial MT Pro Bold"/>
                          <a:sym typeface="Arial MT Pro Bold"/>
                        </a:rPr>
                        <a:t>Tool Used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9"/>
                        </a:lnSpc>
                        <a:defRPr/>
                      </a:pPr>
                      <a:r>
                        <a:rPr lang="en-US" sz="1399" b="1">
                          <a:solidFill>
                            <a:srgbClr val="000000"/>
                          </a:solidFill>
                          <a:latin typeface="Arial MT Pro Bold"/>
                          <a:ea typeface="Arial MT Pro Bold"/>
                          <a:cs typeface="Arial MT Pro Bold"/>
                          <a:sym typeface="Arial MT Pro Bold"/>
                        </a:rPr>
                        <a:t>How it Addresses the Need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34312">
                <a:tc>
                  <a:txBody>
                    <a:bodyPr/>
                    <a:lstStyle/>
                    <a:p>
                      <a:pPr algn="just">
                        <a:lnSpc>
                          <a:spcPts val="1959"/>
                        </a:lnSpc>
                        <a:defRPr/>
                      </a:pPr>
                      <a:r>
                        <a:rPr lang="en-US" sz="1399">
                          <a:solidFill>
                            <a:srgbClr val="000000"/>
                          </a:solidFill>
                          <a:latin typeface="Arial MT Pro"/>
                          <a:ea typeface="Arial MT Pro"/>
                          <a:cs typeface="Arial MT Pro"/>
                          <a:sym typeface="Arial MT Pro"/>
                        </a:rPr>
                        <a:t>Evidence-based policy and research for shark conservation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Arial MT Pro"/>
                          <a:ea typeface="Arial MT Pro"/>
                          <a:cs typeface="Arial MT Pro"/>
                          <a:sym typeface="Arial MT Pro"/>
                        </a:rPr>
                        <a:t>ML models (Logistic Regression, Random Forest), ARIMA, Clustering (KMeans)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1959"/>
                        </a:lnSpc>
                        <a:defRPr/>
                      </a:pPr>
                      <a:r>
                        <a:rPr lang="en-US" sz="1399">
                          <a:solidFill>
                            <a:srgbClr val="000000"/>
                          </a:solidFill>
                          <a:latin typeface="Arial MT Pro"/>
                          <a:ea typeface="Arial MT Pro"/>
                          <a:cs typeface="Arial MT Pro"/>
                          <a:sym typeface="Arial MT Pro"/>
                        </a:rPr>
                        <a:t>ML models allow for the prediction of shark attack trends, identifying environmental and demographic risk factors. ARIMA and statistical time series can analyze seasonal patterns and impacts of climate change on shark populations (Valenti, 2023). Additionally, clustering have been utilized to identify regions with higher vulnerability to shark attacks. For instance, clustering analyses have revealed that coastal areas with high population densities and recreational activities are more prone to such incidents (elsayedibraheem, 2024).</a:t>
                      </a:r>
                      <a:endParaRPr lang="en-US" sz="1100"/>
                    </a:p>
                    <a:p>
                      <a:pPr algn="just">
                        <a:lnSpc>
                          <a:spcPts val="1959"/>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36370">
                <a:tc>
                  <a:txBody>
                    <a:bodyPr/>
                    <a:lstStyle/>
                    <a:p>
                      <a:pPr algn="just">
                        <a:lnSpc>
                          <a:spcPts val="1959"/>
                        </a:lnSpc>
                        <a:defRPr/>
                      </a:pPr>
                      <a:r>
                        <a:rPr lang="en-US" sz="1399">
                          <a:solidFill>
                            <a:srgbClr val="000000"/>
                          </a:solidFill>
                          <a:latin typeface="Arial MT Pro"/>
                          <a:ea typeface="Arial MT Pro"/>
                          <a:cs typeface="Arial MT Pro"/>
                          <a:sym typeface="Arial MT Pro"/>
                        </a:rPr>
                        <a:t>Public education and myth-busting about sharks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Arial MT Pro"/>
                          <a:ea typeface="Arial MT Pro"/>
                          <a:cs typeface="Arial MT Pro"/>
                          <a:sym typeface="Arial MT Pro"/>
                        </a:rPr>
                        <a:t>Data visualization (Plotly, Folium), Demographic EDA (Pandas, Matplotlib)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1959"/>
                        </a:lnSpc>
                        <a:defRPr/>
                      </a:pPr>
                      <a:r>
                        <a:rPr lang="en-US" sz="1399">
                          <a:solidFill>
                            <a:srgbClr val="000000"/>
                          </a:solidFill>
                          <a:latin typeface="Arial MT Pro"/>
                          <a:ea typeface="Arial MT Pro"/>
                          <a:cs typeface="Arial MT Pro"/>
                          <a:sym typeface="Arial MT Pro"/>
                        </a:rPr>
                        <a:t>Interactive visualizations break down complex shark data into simple graphics, dispelling myths and misconceptions. By using demographic analysis, the public can gain a deeper understanding of sharks’ role in the ecosystem and the necessity of their conservation.</a:t>
                      </a:r>
                      <a:endParaRPr lang="en-US" sz="1100"/>
                    </a:p>
                    <a:p>
                      <a:pPr algn="just">
                        <a:lnSpc>
                          <a:spcPts val="1959"/>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36370">
                <a:tc>
                  <a:txBody>
                    <a:bodyPr/>
                    <a:lstStyle/>
                    <a:p>
                      <a:pPr algn="just">
                        <a:lnSpc>
                          <a:spcPts val="1959"/>
                        </a:lnSpc>
                        <a:defRPr/>
                      </a:pPr>
                      <a:r>
                        <a:rPr lang="en-US" sz="1399">
                          <a:solidFill>
                            <a:srgbClr val="000000"/>
                          </a:solidFill>
                          <a:latin typeface="Arial MT Pro"/>
                          <a:ea typeface="Arial MT Pro"/>
                          <a:cs typeface="Arial MT Pro"/>
                          <a:sym typeface="Arial MT Pro"/>
                        </a:rPr>
                        <a:t>Legislative advocacy for shark protections through factual, peer-reviewed data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Arial MT Pro"/>
                          <a:ea typeface="Arial MT Pro"/>
                          <a:cs typeface="Arial MT Pro"/>
                          <a:sym typeface="Arial MT Pro"/>
                        </a:rPr>
                        <a:t>Statistical modeling (e.g., Regression Analysis), Time series (ARIMA, SARIMA)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1959"/>
                        </a:lnSpc>
                        <a:defRPr/>
                      </a:pPr>
                      <a:r>
                        <a:rPr lang="en-US" sz="1399">
                          <a:solidFill>
                            <a:srgbClr val="000000"/>
                          </a:solidFill>
                          <a:latin typeface="Arial MT Pro"/>
                          <a:ea typeface="Arial MT Pro"/>
                          <a:cs typeface="Arial MT Pro"/>
                          <a:sym typeface="Arial MT Pro"/>
                        </a:rPr>
                        <a:t>Statistical and time series models, particularly ARIMA, generate credible, data-driven insights that inform legislative bodies, helping to justify shark protection policies based on observed trends and patterns of shark decline, including the effects of illegal fishing and climate change (Dimri, Ahmad and Sharif, 2020).</a:t>
                      </a:r>
                      <a:endParaRPr lang="en-US" sz="1100"/>
                    </a:p>
                    <a:p>
                      <a:pPr algn="just">
                        <a:lnSpc>
                          <a:spcPts val="1959"/>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685341">
                <a:tc>
                  <a:txBody>
                    <a:bodyPr/>
                    <a:lstStyle/>
                    <a:p>
                      <a:pPr algn="l">
                        <a:lnSpc>
                          <a:spcPts val="1959"/>
                        </a:lnSpc>
                        <a:defRPr/>
                      </a:pPr>
                      <a:r>
                        <a:rPr lang="en-US" sz="1399">
                          <a:solidFill>
                            <a:srgbClr val="000000"/>
                          </a:solidFill>
                          <a:latin typeface="Arial MT Pro"/>
                          <a:ea typeface="Arial MT Pro"/>
                          <a:cs typeface="Arial MT Pro"/>
                          <a:sym typeface="Arial MT Pro"/>
                        </a:rPr>
                        <a:t>Global conservation and field education outreach through data-driven profiling and regional analysis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1959"/>
                        </a:lnSpc>
                        <a:defRPr/>
                      </a:pPr>
                      <a:r>
                        <a:rPr lang="en-US" sz="1399">
                          <a:solidFill>
                            <a:srgbClr val="000000"/>
                          </a:solidFill>
                          <a:latin typeface="Arial MT Pro"/>
                          <a:ea typeface="Arial MT Pro"/>
                          <a:cs typeface="Arial MT Pro"/>
                          <a:sym typeface="Arial MT Pro"/>
                        </a:rPr>
                        <a:t>Unsupervised learning (KMeans, PCA), Profiling (Cluster Analysis, Demographic Analysis), Choropleth map</a:t>
                      </a:r>
                      <a:endParaRPr lang="en-US" sz="1100"/>
                    </a:p>
                    <a:p>
                      <a:pPr algn="just">
                        <a:lnSpc>
                          <a:spcPts val="1959"/>
                        </a:lnSpc>
                      </a:pPr>
                      <a:endParaRPr lang="en-US" sz="1100"/>
                    </a:p>
                    <a:p>
                      <a:pPr algn="just">
                        <a:lnSpc>
                          <a:spcPts val="1959"/>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just">
                        <a:lnSpc>
                          <a:spcPts val="1959"/>
                        </a:lnSpc>
                        <a:defRPr/>
                      </a:pPr>
                      <a:r>
                        <a:rPr lang="en-US" sz="1399">
                          <a:solidFill>
                            <a:srgbClr val="000000"/>
                          </a:solidFill>
                          <a:latin typeface="Arial MT Pro"/>
                          <a:ea typeface="Arial MT Pro"/>
                          <a:cs typeface="Arial MT Pro"/>
                          <a:sym typeface="Arial MT Pro"/>
                        </a:rPr>
                        <a:t>Unsupervised learning methods and profiling reveal regional risk factors, victim demographics, and behavior patterns, assisting field teams in designing targeted educational campaigns. This data helps to highlight regions with the highest need for conservation efforts, based on real-world data.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TextBox 3"/>
          <p:cNvSpPr txBox="1"/>
          <p:nvPr/>
        </p:nvSpPr>
        <p:spPr>
          <a:xfrm>
            <a:off x="1028700" y="391211"/>
            <a:ext cx="10190774" cy="637489"/>
          </a:xfrm>
          <a:prstGeom prst="rect">
            <a:avLst/>
          </a:prstGeom>
        </p:spPr>
        <p:txBody>
          <a:bodyPr lIns="0" tIns="0" rIns="0" bIns="0" rtlCol="0" anchor="t">
            <a:spAutoFit/>
          </a:bodyPr>
          <a:lstStyle/>
          <a:p>
            <a:pPr algn="ctr">
              <a:lnSpc>
                <a:spcPts val="4610"/>
              </a:lnSpc>
              <a:spcBef>
                <a:spcPct val="0"/>
              </a:spcBef>
            </a:pPr>
            <a:r>
              <a:rPr lang="en-US" sz="3399" b="1">
                <a:solidFill>
                  <a:srgbClr val="2B4865"/>
                </a:solidFill>
                <a:latin typeface="Arial MT Pro Bold"/>
                <a:ea typeface="Arial MT Pro Bold"/>
                <a:cs typeface="Arial MT Pro Bold"/>
                <a:sym typeface="Arial MT Pro Bold"/>
              </a:rPr>
              <a:t>Evaluation of Tools Used in Organisational Policy</a:t>
            </a:r>
          </a:p>
        </p:txBody>
      </p:sp>
      <p:sp>
        <p:nvSpPr>
          <p:cNvPr id="4" name="TextBox 4"/>
          <p:cNvSpPr txBox="1"/>
          <p:nvPr/>
        </p:nvSpPr>
        <p:spPr>
          <a:xfrm>
            <a:off x="1028700" y="1206418"/>
            <a:ext cx="16230600" cy="1411605"/>
          </a:xfrm>
          <a:prstGeom prst="rect">
            <a:avLst/>
          </a:prstGeom>
        </p:spPr>
        <p:txBody>
          <a:bodyPr lIns="0" tIns="0" rIns="0" bIns="0" rtlCol="0" anchor="t">
            <a:spAutoFit/>
          </a:bodyPr>
          <a:lstStyle/>
          <a:p>
            <a:pPr algn="just">
              <a:lnSpc>
                <a:spcPts val="2730"/>
              </a:lnSpc>
            </a:pPr>
            <a:r>
              <a:rPr lang="en-US" sz="2100">
                <a:solidFill>
                  <a:srgbClr val="000000"/>
                </a:solidFill>
                <a:latin typeface="Arial MT Pro"/>
                <a:ea typeface="Arial MT Pro"/>
                <a:cs typeface="Arial MT Pro"/>
                <a:sym typeface="Arial MT Pro"/>
              </a:rPr>
              <a:t>The </a:t>
            </a:r>
            <a:r>
              <a:rPr lang="en-US" sz="2100" b="1">
                <a:solidFill>
                  <a:srgbClr val="000000"/>
                </a:solidFill>
                <a:latin typeface="Arial MT Pro Bold"/>
                <a:ea typeface="Arial MT Pro Bold"/>
                <a:cs typeface="Arial MT Pro Bold"/>
                <a:sym typeface="Arial MT Pro Bold"/>
              </a:rPr>
              <a:t>Shark Research Institute (SRI</a:t>
            </a:r>
            <a:r>
              <a:rPr lang="en-US" sz="2100">
                <a:solidFill>
                  <a:srgbClr val="000000"/>
                </a:solidFill>
                <a:latin typeface="Arial MT Pro"/>
                <a:ea typeface="Arial MT Pro"/>
                <a:cs typeface="Arial MT Pro"/>
                <a:sym typeface="Arial MT Pro"/>
              </a:rPr>
              <a:t>) is a global nonprofit organization dedicated to the protection, education, and conservation of sharks through rigorous, science-based research. Its mission emphasizes the use of credible data to guide public understanding, inform legislation, and support sustainable marine ecosystems. In alignment with this mission, the shark attack analysis project leverages data science tools to uncover patterns in shark-related incidents and predict potential</a:t>
            </a:r>
            <a:r>
              <a:rPr lang="en-US" sz="2100" b="1">
                <a:solidFill>
                  <a:srgbClr val="000000"/>
                </a:solidFill>
                <a:latin typeface="Arial MT Pro Bold"/>
                <a:ea typeface="Arial MT Pro Bold"/>
                <a:cs typeface="Arial MT Pro Bold"/>
                <a:sym typeface="Arial MT Pro Bold"/>
              </a:rPr>
              <a:t> </a:t>
            </a:r>
            <a:r>
              <a:rPr lang="en-US" sz="2100">
                <a:solidFill>
                  <a:srgbClr val="000000"/>
                </a:solidFill>
                <a:latin typeface="Arial MT Pro"/>
                <a:ea typeface="Arial MT Pro"/>
                <a:cs typeface="Arial MT Pro"/>
                <a:sym typeface="Arial MT Pro"/>
              </a:rPr>
              <a:t>risks based on demographic and environmental factors.</a:t>
            </a:r>
          </a:p>
        </p:txBody>
      </p:sp>
      <p:sp>
        <p:nvSpPr>
          <p:cNvPr id="5" name="TextBox 5"/>
          <p:cNvSpPr txBox="1"/>
          <p:nvPr/>
        </p:nvSpPr>
        <p:spPr>
          <a:xfrm>
            <a:off x="14127094" y="2551348"/>
            <a:ext cx="3132206" cy="283613"/>
          </a:xfrm>
          <a:prstGeom prst="rect">
            <a:avLst/>
          </a:prstGeom>
        </p:spPr>
        <p:txBody>
          <a:bodyPr lIns="0" tIns="0" rIns="0" bIns="0" rtlCol="0" anchor="t">
            <a:spAutoFit/>
          </a:bodyPr>
          <a:lstStyle/>
          <a:p>
            <a:pPr algn="r">
              <a:lnSpc>
                <a:spcPts val="2022"/>
              </a:lnSpc>
              <a:spcBef>
                <a:spcPct val="0"/>
              </a:spcBef>
            </a:pPr>
            <a:r>
              <a:rPr lang="en-US" sz="1444" i="1">
                <a:solidFill>
                  <a:srgbClr val="000000"/>
                </a:solidFill>
                <a:latin typeface="Arial MT Pro Italics"/>
                <a:ea typeface="Arial MT Pro Italics"/>
                <a:cs typeface="Arial MT Pro Italics"/>
                <a:sym typeface="Arial MT Pro Italics"/>
              </a:rPr>
              <a:t>(Shark Research Institute, 2025)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36938"/>
            <a:ext cx="16878300" cy="555089"/>
            <a:chOff x="0" y="0"/>
            <a:chExt cx="22504400" cy="740119"/>
          </a:xfrm>
        </p:grpSpPr>
        <p:sp>
          <p:nvSpPr>
            <p:cNvPr id="3" name="Freeform 3"/>
            <p:cNvSpPr/>
            <p:nvPr/>
          </p:nvSpPr>
          <p:spPr>
            <a:xfrm>
              <a:off x="0" y="0"/>
              <a:ext cx="22504400" cy="740119"/>
            </a:xfrm>
            <a:custGeom>
              <a:avLst/>
              <a:gdLst/>
              <a:ahLst/>
              <a:cxnLst/>
              <a:rect l="l" t="t" r="r" b="b"/>
              <a:pathLst>
                <a:path w="22504400" h="740119">
                  <a:moveTo>
                    <a:pt x="0" y="0"/>
                  </a:moveTo>
                  <a:lnTo>
                    <a:pt x="22504400" y="0"/>
                  </a:lnTo>
                  <a:lnTo>
                    <a:pt x="22504400" y="740119"/>
                  </a:lnTo>
                  <a:lnTo>
                    <a:pt x="0" y="740119"/>
                  </a:lnTo>
                  <a:close/>
                </a:path>
              </a:pathLst>
            </a:custGeom>
          </p:spPr>
        </p:sp>
        <p:sp>
          <p:nvSpPr>
            <p:cNvPr id="4" name="TextBox 4"/>
            <p:cNvSpPr txBox="1"/>
            <p:nvPr/>
          </p:nvSpPr>
          <p:spPr>
            <a:xfrm>
              <a:off x="0" y="-123825"/>
              <a:ext cx="22504400" cy="863944"/>
            </a:xfrm>
            <a:prstGeom prst="rect">
              <a:avLst/>
            </a:prstGeom>
          </p:spPr>
          <p:txBody>
            <a:bodyPr lIns="0" tIns="0" rIns="0" bIns="0" rtlCol="0" anchor="t"/>
            <a:lstStyle/>
            <a:p>
              <a:pPr algn="just">
                <a:lnSpc>
                  <a:spcPts val="4284"/>
                </a:lnSpc>
              </a:pPr>
              <a:r>
                <a:rPr lang="en-US" sz="2999" b="1">
                  <a:solidFill>
                    <a:srgbClr val="2B4865"/>
                  </a:solidFill>
                  <a:latin typeface="Arial MT Pro Bold"/>
                  <a:ea typeface="Arial MT Pro Bold"/>
                  <a:cs typeface="Arial MT Pro Bold"/>
                  <a:sym typeface="Arial MT Pro Bold"/>
                </a:rPr>
                <a:t>Recommended Improvements for the Analytical Model</a:t>
              </a:r>
            </a:p>
          </p:txBody>
        </p:sp>
      </p:grpSp>
      <p:grpSp>
        <p:nvGrpSpPr>
          <p:cNvPr id="5" name="Group 5"/>
          <p:cNvGrpSpPr/>
          <p:nvPr/>
        </p:nvGrpSpPr>
        <p:grpSpPr>
          <a:xfrm>
            <a:off x="1028700" y="1019175"/>
            <a:ext cx="7081258" cy="1117763"/>
            <a:chOff x="0" y="0"/>
            <a:chExt cx="9441677" cy="1490351"/>
          </a:xfrm>
        </p:grpSpPr>
        <p:sp>
          <p:nvSpPr>
            <p:cNvPr id="6" name="Freeform 6"/>
            <p:cNvSpPr/>
            <p:nvPr/>
          </p:nvSpPr>
          <p:spPr>
            <a:xfrm>
              <a:off x="0" y="0"/>
              <a:ext cx="9441677" cy="1490351"/>
            </a:xfrm>
            <a:custGeom>
              <a:avLst/>
              <a:gdLst/>
              <a:ahLst/>
              <a:cxnLst/>
              <a:rect l="l" t="t" r="r" b="b"/>
              <a:pathLst>
                <a:path w="9441677" h="1490351">
                  <a:moveTo>
                    <a:pt x="0" y="0"/>
                  </a:moveTo>
                  <a:lnTo>
                    <a:pt x="9441677" y="0"/>
                  </a:lnTo>
                  <a:lnTo>
                    <a:pt x="9441677" y="1490351"/>
                  </a:lnTo>
                  <a:lnTo>
                    <a:pt x="0" y="1490351"/>
                  </a:lnTo>
                  <a:close/>
                </a:path>
              </a:pathLst>
            </a:custGeom>
          </p:spPr>
        </p:sp>
        <p:sp>
          <p:nvSpPr>
            <p:cNvPr id="7" name="TextBox 7"/>
            <p:cNvSpPr txBox="1"/>
            <p:nvPr/>
          </p:nvSpPr>
          <p:spPr>
            <a:xfrm>
              <a:off x="0" y="-114300"/>
              <a:ext cx="9441677"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Recommendation</a:t>
              </a:r>
            </a:p>
          </p:txBody>
        </p:sp>
      </p:grpSp>
      <p:sp>
        <p:nvSpPr>
          <p:cNvPr id="8" name="TextBox 8"/>
          <p:cNvSpPr txBox="1"/>
          <p:nvPr/>
        </p:nvSpPr>
        <p:spPr>
          <a:xfrm>
            <a:off x="1028700" y="2625353"/>
            <a:ext cx="16230600" cy="2934335"/>
          </a:xfrm>
          <a:prstGeom prst="rect">
            <a:avLst/>
          </a:prstGeom>
        </p:spPr>
        <p:txBody>
          <a:bodyPr lIns="0" tIns="0" rIns="0" bIns="0" rtlCol="0" anchor="t">
            <a:spAutoFit/>
          </a:bodyPr>
          <a:lstStyle/>
          <a:p>
            <a:pPr marL="474979" lvl="1" indent="-237490" algn="just">
              <a:lnSpc>
                <a:spcPts val="2859"/>
              </a:lnSpc>
              <a:buAutoNum type="arabicPeriod"/>
            </a:pPr>
            <a:r>
              <a:rPr lang="en-US" sz="2199" b="1">
                <a:solidFill>
                  <a:srgbClr val="000000"/>
                </a:solidFill>
                <a:latin typeface="Arial MT Pro Bold"/>
                <a:ea typeface="Arial MT Pro Bold"/>
                <a:cs typeface="Arial MT Pro Bold"/>
                <a:sym typeface="Arial MT Pro Bold"/>
              </a:rPr>
              <a:t>Implement advanced imputation techniques</a:t>
            </a:r>
            <a:r>
              <a:rPr lang="en-US" sz="2199">
                <a:solidFill>
                  <a:srgbClr val="000000"/>
                </a:solidFill>
                <a:latin typeface="Arial MT Pro"/>
                <a:ea typeface="Arial MT Pro"/>
                <a:cs typeface="Arial MT Pro"/>
                <a:sym typeface="Arial MT Pro"/>
              </a:rPr>
              <a:t> such as KNN (K-Nearest Neighbors) imputation for numeric data, which considers the similarity between records, or use model-based imputations like regression for categorical values.</a:t>
            </a:r>
          </a:p>
          <a:p>
            <a:pPr marL="474979" lvl="1" indent="-237490" algn="just">
              <a:lnSpc>
                <a:spcPts val="2859"/>
              </a:lnSpc>
              <a:buAutoNum type="arabicPeriod"/>
            </a:pPr>
            <a:r>
              <a:rPr lang="en-US" sz="2199">
                <a:solidFill>
                  <a:srgbClr val="000000"/>
                </a:solidFill>
                <a:latin typeface="Arial MT Pro"/>
                <a:ea typeface="Arial MT Pro"/>
                <a:cs typeface="Arial MT Pro"/>
                <a:sym typeface="Arial MT Pro"/>
              </a:rPr>
              <a:t>Beyond traditional models like Logistic Regression and Random Forest, consider using more complex models such as </a:t>
            </a:r>
            <a:r>
              <a:rPr lang="en-US" sz="2199" b="1">
                <a:solidFill>
                  <a:srgbClr val="000000"/>
                </a:solidFill>
                <a:latin typeface="Arial MT Pro Bold"/>
                <a:ea typeface="Arial MT Pro Bold"/>
                <a:cs typeface="Arial MT Pro Bold"/>
                <a:sym typeface="Arial MT Pro Bold"/>
              </a:rPr>
              <a:t>Gradient Boosting Machines (GBM) or ensemble methods</a:t>
            </a:r>
            <a:r>
              <a:rPr lang="en-US" sz="2199">
                <a:solidFill>
                  <a:srgbClr val="000000"/>
                </a:solidFill>
                <a:latin typeface="Arial MT Pro"/>
                <a:ea typeface="Arial MT Pro"/>
                <a:cs typeface="Arial MT Pro"/>
                <a:sym typeface="Arial MT Pro"/>
              </a:rPr>
              <a:t> that combine multiple models to improve predictive performance.</a:t>
            </a:r>
          </a:p>
          <a:p>
            <a:pPr marL="474979" lvl="1" indent="-237490" algn="just">
              <a:lnSpc>
                <a:spcPts val="2859"/>
              </a:lnSpc>
              <a:buAutoNum type="arabicPeriod"/>
            </a:pPr>
            <a:r>
              <a:rPr lang="en-US" sz="2199" b="1">
                <a:solidFill>
                  <a:srgbClr val="000000"/>
                </a:solidFill>
                <a:latin typeface="Arial MT Pro Bold"/>
                <a:ea typeface="Arial MT Pro Bold"/>
                <a:cs typeface="Arial MT Pro Bold"/>
                <a:sym typeface="Arial MT Pro Bold"/>
              </a:rPr>
              <a:t>Introduce derived features</a:t>
            </a:r>
            <a:r>
              <a:rPr lang="en-US" sz="2199">
                <a:solidFill>
                  <a:srgbClr val="000000"/>
                </a:solidFill>
                <a:latin typeface="Arial MT Pro"/>
                <a:ea typeface="Arial MT Pro"/>
                <a:cs typeface="Arial MT Pro"/>
                <a:sym typeface="Arial MT Pro"/>
              </a:rPr>
              <a:t> such as "Distance from Coastline" (for geospatial clustering) or "Time of Day Categorization" (for improved temporal patterns). This could help reveal underlying trends or predictors of shark-related incidents.</a:t>
            </a:r>
          </a:p>
          <a:p>
            <a:pPr algn="just">
              <a:lnSpc>
                <a:spcPts val="2859"/>
              </a:lnSpc>
            </a:pPr>
            <a:endParaRPr lang="en-US" sz="2199">
              <a:solidFill>
                <a:srgbClr val="000000"/>
              </a:solidFill>
              <a:latin typeface="Arial MT Pro"/>
              <a:ea typeface="Arial MT Pro"/>
              <a:cs typeface="Arial MT Pro"/>
              <a:sym typeface="Arial MT Pro"/>
            </a:endParaRPr>
          </a:p>
          <a:p>
            <a:pPr algn="just">
              <a:lnSpc>
                <a:spcPts val="2859"/>
              </a:lnSpc>
            </a:pPr>
            <a:endParaRPr lang="en-US" sz="2199">
              <a:solidFill>
                <a:srgbClr val="000000"/>
              </a:solidFill>
              <a:latin typeface="Arial MT Pro"/>
              <a:ea typeface="Arial MT Pro"/>
              <a:cs typeface="Arial MT Pro"/>
              <a:sym typeface="Arial MT Pro"/>
            </a:endParaRPr>
          </a:p>
        </p:txBody>
      </p:sp>
      <p:grpSp>
        <p:nvGrpSpPr>
          <p:cNvPr id="9" name="Group 9"/>
          <p:cNvGrpSpPr/>
          <p:nvPr/>
        </p:nvGrpSpPr>
        <p:grpSpPr>
          <a:xfrm>
            <a:off x="1028700" y="5004598"/>
            <a:ext cx="16878300" cy="555089"/>
            <a:chOff x="0" y="0"/>
            <a:chExt cx="22504400" cy="740119"/>
          </a:xfrm>
        </p:grpSpPr>
        <p:sp>
          <p:nvSpPr>
            <p:cNvPr id="10" name="Freeform 10"/>
            <p:cNvSpPr/>
            <p:nvPr/>
          </p:nvSpPr>
          <p:spPr>
            <a:xfrm>
              <a:off x="0" y="0"/>
              <a:ext cx="22504400" cy="740119"/>
            </a:xfrm>
            <a:custGeom>
              <a:avLst/>
              <a:gdLst/>
              <a:ahLst/>
              <a:cxnLst/>
              <a:rect l="l" t="t" r="r" b="b"/>
              <a:pathLst>
                <a:path w="22504400" h="740119">
                  <a:moveTo>
                    <a:pt x="0" y="0"/>
                  </a:moveTo>
                  <a:lnTo>
                    <a:pt x="22504400" y="0"/>
                  </a:lnTo>
                  <a:lnTo>
                    <a:pt x="22504400" y="740119"/>
                  </a:lnTo>
                  <a:lnTo>
                    <a:pt x="0" y="740119"/>
                  </a:lnTo>
                  <a:close/>
                </a:path>
              </a:pathLst>
            </a:custGeom>
          </p:spPr>
        </p:sp>
        <p:sp>
          <p:nvSpPr>
            <p:cNvPr id="11" name="TextBox 11"/>
            <p:cNvSpPr txBox="1"/>
            <p:nvPr/>
          </p:nvSpPr>
          <p:spPr>
            <a:xfrm>
              <a:off x="0" y="-123825"/>
              <a:ext cx="22504400" cy="863944"/>
            </a:xfrm>
            <a:prstGeom prst="rect">
              <a:avLst/>
            </a:prstGeom>
          </p:spPr>
          <p:txBody>
            <a:bodyPr lIns="0" tIns="0" rIns="0" bIns="0" rtlCol="0" anchor="t"/>
            <a:lstStyle/>
            <a:p>
              <a:pPr algn="just">
                <a:lnSpc>
                  <a:spcPts val="4284"/>
                </a:lnSpc>
              </a:pPr>
              <a:r>
                <a:rPr lang="en-US" sz="2999" b="1">
                  <a:solidFill>
                    <a:srgbClr val="2B4865"/>
                  </a:solidFill>
                  <a:latin typeface="Arial MT Pro Bold"/>
                  <a:ea typeface="Arial MT Pro Bold"/>
                  <a:cs typeface="Arial MT Pro Bold"/>
                  <a:sym typeface="Arial MT Pro Bold"/>
                </a:rPr>
                <a:t>Enhancing Performance and Addressing Model Limits</a:t>
              </a:r>
            </a:p>
          </p:txBody>
        </p:sp>
      </p:grpSp>
      <p:sp>
        <p:nvSpPr>
          <p:cNvPr id="12" name="TextBox 12"/>
          <p:cNvSpPr txBox="1"/>
          <p:nvPr/>
        </p:nvSpPr>
        <p:spPr>
          <a:xfrm>
            <a:off x="1028700" y="5600065"/>
            <a:ext cx="16230600" cy="3658235"/>
          </a:xfrm>
          <a:prstGeom prst="rect">
            <a:avLst/>
          </a:prstGeom>
        </p:spPr>
        <p:txBody>
          <a:bodyPr lIns="0" tIns="0" rIns="0" bIns="0" rtlCol="0" anchor="t">
            <a:spAutoFit/>
          </a:bodyPr>
          <a:lstStyle/>
          <a:p>
            <a:pPr algn="just">
              <a:lnSpc>
                <a:spcPts val="2859"/>
              </a:lnSpc>
            </a:pPr>
            <a:r>
              <a:rPr lang="en-US" sz="2199" b="1">
                <a:solidFill>
                  <a:srgbClr val="8064A2"/>
                </a:solidFill>
                <a:latin typeface="Arial MT Pro Bold"/>
                <a:ea typeface="Arial MT Pro Bold"/>
                <a:cs typeface="Arial MT Pro Bold"/>
                <a:sym typeface="Arial MT Pro Bold"/>
              </a:rPr>
              <a:t>Performance Improvement: </a:t>
            </a:r>
          </a:p>
          <a:p>
            <a:pPr marL="474979" lvl="1" indent="-237490" algn="just">
              <a:lnSpc>
                <a:spcPts val="2859"/>
              </a:lnSpc>
              <a:buAutoNum type="arabicPeriod"/>
            </a:pPr>
            <a:r>
              <a:rPr lang="en-US" sz="2199" b="1">
                <a:solidFill>
                  <a:srgbClr val="000000"/>
                </a:solidFill>
                <a:latin typeface="Arial MT Pro Bold"/>
                <a:ea typeface="Arial MT Pro Bold"/>
                <a:cs typeface="Arial MT Pro Bold"/>
                <a:sym typeface="Arial MT Pro Bold"/>
              </a:rPr>
              <a:t>Implement k-fold cross-validation</a:t>
            </a:r>
            <a:r>
              <a:rPr lang="en-US" sz="2199">
                <a:solidFill>
                  <a:srgbClr val="000000"/>
                </a:solidFill>
                <a:latin typeface="Arial MT Pro"/>
                <a:ea typeface="Arial MT Pro"/>
                <a:cs typeface="Arial MT Pro"/>
                <a:sym typeface="Arial MT Pro"/>
              </a:rPr>
              <a:t> to ensure that the model's performance is robust and not overly fitted to the training data. This will provide a better estimate of the model's generalization to unseen data</a:t>
            </a:r>
          </a:p>
          <a:p>
            <a:pPr marL="474979" lvl="1" indent="-237490" algn="just">
              <a:lnSpc>
                <a:spcPts val="2859"/>
              </a:lnSpc>
              <a:buAutoNum type="arabicPeriod"/>
            </a:pPr>
            <a:r>
              <a:rPr lang="en-US" sz="2199">
                <a:solidFill>
                  <a:srgbClr val="000000"/>
                </a:solidFill>
                <a:latin typeface="Arial MT Pro"/>
                <a:ea typeface="Arial MT Pro"/>
                <a:cs typeface="Arial MT Pro"/>
                <a:sym typeface="Arial MT Pro"/>
              </a:rPr>
              <a:t>Use techniques like </a:t>
            </a:r>
            <a:r>
              <a:rPr lang="en-US" sz="2199" b="1">
                <a:solidFill>
                  <a:srgbClr val="000000"/>
                </a:solidFill>
                <a:latin typeface="Arial MT Pro Bold"/>
                <a:ea typeface="Arial MT Pro Bold"/>
                <a:cs typeface="Arial MT Pro Bold"/>
                <a:sym typeface="Arial MT Pro Bold"/>
              </a:rPr>
              <a:t>Recursive Feature Elimination (RFE) or Lasso regression</a:t>
            </a:r>
            <a:r>
              <a:rPr lang="en-US" sz="2199">
                <a:solidFill>
                  <a:srgbClr val="000000"/>
                </a:solidFill>
                <a:latin typeface="Arial MT Pro"/>
                <a:ea typeface="Arial MT Pro"/>
                <a:cs typeface="Arial MT Pro"/>
                <a:sym typeface="Arial MT Pro"/>
              </a:rPr>
              <a:t> to identify and retain only the most significant features, which can reduce model complexity and improve performance.</a:t>
            </a:r>
          </a:p>
          <a:p>
            <a:pPr algn="just">
              <a:lnSpc>
                <a:spcPts val="2859"/>
              </a:lnSpc>
            </a:pPr>
            <a:r>
              <a:rPr lang="en-US" sz="2199" b="1">
                <a:solidFill>
                  <a:srgbClr val="8064A2"/>
                </a:solidFill>
                <a:latin typeface="Arial MT Pro Bold"/>
                <a:ea typeface="Arial MT Pro Bold"/>
                <a:cs typeface="Arial MT Pro Bold"/>
                <a:sym typeface="Arial MT Pro Bold"/>
              </a:rPr>
              <a:t>Addressing Model Limitations: </a:t>
            </a:r>
          </a:p>
          <a:p>
            <a:pPr marL="474979" lvl="1" indent="-237490" algn="just">
              <a:lnSpc>
                <a:spcPts val="2859"/>
              </a:lnSpc>
              <a:buAutoNum type="arabicPeriod"/>
            </a:pPr>
            <a:r>
              <a:rPr lang="en-US" sz="2199">
                <a:solidFill>
                  <a:srgbClr val="000000"/>
                </a:solidFill>
                <a:latin typeface="Arial MT Pro"/>
                <a:ea typeface="Arial MT Pro"/>
                <a:cs typeface="Arial MT Pro"/>
                <a:sym typeface="Arial MT Pro"/>
              </a:rPr>
              <a:t>Incorporate model interpretability tools like </a:t>
            </a:r>
            <a:r>
              <a:rPr lang="en-US" sz="2199" b="1">
                <a:solidFill>
                  <a:srgbClr val="000000"/>
                </a:solidFill>
                <a:latin typeface="Arial MT Pro Bold"/>
                <a:ea typeface="Arial MT Pro Bold"/>
                <a:cs typeface="Arial MT Pro Bold"/>
                <a:sym typeface="Arial MT Pro Bold"/>
              </a:rPr>
              <a:t>SHAP </a:t>
            </a:r>
            <a:r>
              <a:rPr lang="en-US" sz="2199">
                <a:solidFill>
                  <a:srgbClr val="000000"/>
                </a:solidFill>
                <a:latin typeface="Arial MT Pro"/>
                <a:ea typeface="Arial MT Pro"/>
                <a:cs typeface="Arial MT Pro"/>
                <a:sym typeface="Arial MT Pro"/>
              </a:rPr>
              <a:t>to understand the model's decision-making process better. This can help in identifying biases and improving the model's trustworthiness in real-world applications.</a:t>
            </a:r>
          </a:p>
          <a:p>
            <a:pPr marL="474979" lvl="1" indent="-237490" algn="just">
              <a:lnSpc>
                <a:spcPts val="2859"/>
              </a:lnSpc>
              <a:buAutoNum type="arabicPeriod"/>
            </a:pPr>
            <a:r>
              <a:rPr lang="en-US" sz="2199">
                <a:solidFill>
                  <a:srgbClr val="000000"/>
                </a:solidFill>
                <a:latin typeface="Arial MT Pro"/>
                <a:ea typeface="Arial MT Pro"/>
                <a:cs typeface="Arial MT Pro"/>
                <a:sym typeface="Arial MT Pro"/>
              </a:rPr>
              <a:t>For tree-based models, apply</a:t>
            </a:r>
            <a:r>
              <a:rPr lang="en-US" sz="2199" b="1">
                <a:solidFill>
                  <a:srgbClr val="000000"/>
                </a:solidFill>
                <a:latin typeface="Arial MT Pro Bold"/>
                <a:ea typeface="Arial MT Pro Bold"/>
                <a:cs typeface="Arial MT Pro Bold"/>
                <a:sym typeface="Arial MT Pro Bold"/>
              </a:rPr>
              <a:t> pruning techniques </a:t>
            </a:r>
            <a:r>
              <a:rPr lang="en-US" sz="2199">
                <a:solidFill>
                  <a:srgbClr val="000000"/>
                </a:solidFill>
                <a:latin typeface="Arial MT Pro"/>
                <a:ea typeface="Arial MT Pro"/>
                <a:cs typeface="Arial MT Pro"/>
                <a:sym typeface="Arial MT Pro"/>
              </a:rPr>
              <a:t>to reduce the size of the trees and prevent overfitting. This can help in simplifying the model while retaining its predictive power.</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19175"/>
            <a:ext cx="11552507" cy="1117763"/>
            <a:chOff x="0" y="0"/>
            <a:chExt cx="15403343" cy="1490351"/>
          </a:xfrm>
        </p:grpSpPr>
        <p:sp>
          <p:nvSpPr>
            <p:cNvPr id="3" name="Freeform 3"/>
            <p:cNvSpPr/>
            <p:nvPr/>
          </p:nvSpPr>
          <p:spPr>
            <a:xfrm>
              <a:off x="0" y="0"/>
              <a:ext cx="15403342" cy="1490351"/>
            </a:xfrm>
            <a:custGeom>
              <a:avLst/>
              <a:gdLst/>
              <a:ahLst/>
              <a:cxnLst/>
              <a:rect l="l" t="t" r="r" b="b"/>
              <a:pathLst>
                <a:path w="15403342" h="1490351">
                  <a:moveTo>
                    <a:pt x="0" y="0"/>
                  </a:moveTo>
                  <a:lnTo>
                    <a:pt x="15403342" y="0"/>
                  </a:lnTo>
                  <a:lnTo>
                    <a:pt x="15403342" y="1490351"/>
                  </a:lnTo>
                  <a:lnTo>
                    <a:pt x="0" y="1490351"/>
                  </a:lnTo>
                  <a:close/>
                </a:path>
              </a:pathLst>
            </a:custGeom>
          </p:spPr>
        </p:sp>
        <p:sp>
          <p:nvSpPr>
            <p:cNvPr id="4" name="TextBox 4"/>
            <p:cNvSpPr txBox="1"/>
            <p:nvPr/>
          </p:nvSpPr>
          <p:spPr>
            <a:xfrm>
              <a:off x="0" y="-114300"/>
              <a:ext cx="15403343"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Comparison to Other Works</a:t>
              </a:r>
            </a:p>
          </p:txBody>
        </p:sp>
      </p:grpSp>
      <p:sp>
        <p:nvSpPr>
          <p:cNvPr id="5" name="TextBox 5"/>
          <p:cNvSpPr txBox="1"/>
          <p:nvPr/>
        </p:nvSpPr>
        <p:spPr>
          <a:xfrm>
            <a:off x="1375544" y="3036775"/>
            <a:ext cx="7234214" cy="6221525"/>
          </a:xfrm>
          <a:prstGeom prst="rect">
            <a:avLst/>
          </a:prstGeom>
        </p:spPr>
        <p:txBody>
          <a:bodyPr lIns="0" tIns="0" rIns="0" bIns="0" rtlCol="0" anchor="t">
            <a:spAutoFit/>
          </a:bodyPr>
          <a:lstStyle/>
          <a:p>
            <a:pPr algn="just">
              <a:lnSpc>
                <a:spcPts val="2444"/>
              </a:lnSpc>
            </a:pPr>
            <a:r>
              <a:rPr lang="en-US" sz="1880">
                <a:solidFill>
                  <a:srgbClr val="000000"/>
                </a:solidFill>
                <a:latin typeface="Arial MT Pro"/>
                <a:ea typeface="Arial MT Pro"/>
                <a:cs typeface="Arial MT Pro"/>
                <a:sym typeface="Arial MT Pro"/>
              </a:rPr>
              <a:t>In my analysis of shark attacks using the same dataset, I applied a more comprehensive and refined approach. I dropped irrelevant columns, thoroughly cleaned key variables like Country, Sex, Fatal, and Species, handled missing values systematically, removed invalid regions, and standardized species names. I properly addressed duplicates and created clear victim profiles by age and gender, identifying high-risk activities such as surfing and swimming. My species analysis included a detailed fatality breakdown, supported by clean, well-labeled visualizations, including a polished world map. I implemented four classification models (Logistic Regression, Decision Tree, Random Forest, SVM), tested six resampling techniques (e.g., SMOTE, ADASYN), and carefully interpreted ROC AUC, PR AUC, and confusion matrix results, highlighting the challenges of minority class performance and the limitations of PR AUC. I emphasized the real-world implications of the findings, particularly in safety and conservation. Additionally, I used PCA and KMeans clustering for victim profiling and conducted ARIMA forecasting on fatal attacks with clear visuals, connecting insights to practical prevention strategies.</a:t>
            </a:r>
          </a:p>
          <a:p>
            <a:pPr algn="just">
              <a:lnSpc>
                <a:spcPts val="2444"/>
              </a:lnSpc>
            </a:pPr>
            <a:endParaRPr lang="en-US" sz="1880">
              <a:solidFill>
                <a:srgbClr val="000000"/>
              </a:solidFill>
              <a:latin typeface="Arial MT Pro"/>
              <a:ea typeface="Arial MT Pro"/>
              <a:cs typeface="Arial MT Pro"/>
              <a:sym typeface="Arial MT Pro"/>
            </a:endParaRPr>
          </a:p>
        </p:txBody>
      </p:sp>
      <p:sp>
        <p:nvSpPr>
          <p:cNvPr id="6" name="TextBox 6"/>
          <p:cNvSpPr txBox="1"/>
          <p:nvPr/>
        </p:nvSpPr>
        <p:spPr>
          <a:xfrm>
            <a:off x="3180349" y="2261974"/>
            <a:ext cx="3624604" cy="593827"/>
          </a:xfrm>
          <a:prstGeom prst="rect">
            <a:avLst/>
          </a:prstGeom>
        </p:spPr>
        <p:txBody>
          <a:bodyPr lIns="0" tIns="0" rIns="0" bIns="0" rtlCol="0" anchor="t">
            <a:spAutoFit/>
          </a:bodyPr>
          <a:lstStyle/>
          <a:p>
            <a:pPr algn="ctr">
              <a:lnSpc>
                <a:spcPts val="4339"/>
              </a:lnSpc>
              <a:spcBef>
                <a:spcPct val="0"/>
              </a:spcBef>
            </a:pPr>
            <a:r>
              <a:rPr lang="en-US" sz="3200" b="1">
                <a:solidFill>
                  <a:srgbClr val="8064A2"/>
                </a:solidFill>
                <a:latin typeface="Arial MT Pro Bold"/>
                <a:ea typeface="Arial MT Pro Bold"/>
                <a:cs typeface="Arial MT Pro Bold"/>
                <a:sym typeface="Arial MT Pro Bold"/>
              </a:rPr>
              <a:t>My Notebook</a:t>
            </a:r>
          </a:p>
        </p:txBody>
      </p:sp>
      <p:sp>
        <p:nvSpPr>
          <p:cNvPr id="7" name="AutoShape 7"/>
          <p:cNvSpPr/>
          <p:nvPr/>
        </p:nvSpPr>
        <p:spPr>
          <a:xfrm>
            <a:off x="9144000" y="2136938"/>
            <a:ext cx="0" cy="7121362"/>
          </a:xfrm>
          <a:prstGeom prst="line">
            <a:avLst/>
          </a:prstGeom>
          <a:ln w="38100" cap="flat">
            <a:solidFill>
              <a:srgbClr val="000000"/>
            </a:solidFill>
            <a:prstDash val="solid"/>
            <a:headEnd type="none" w="sm" len="sm"/>
            <a:tailEnd type="none" w="sm" len="sm"/>
          </a:ln>
        </p:spPr>
      </p:sp>
      <p:sp>
        <p:nvSpPr>
          <p:cNvPr id="8" name="TextBox 8"/>
          <p:cNvSpPr txBox="1"/>
          <p:nvPr/>
        </p:nvSpPr>
        <p:spPr>
          <a:xfrm>
            <a:off x="9753600" y="3036775"/>
            <a:ext cx="7234214" cy="4674460"/>
          </a:xfrm>
          <a:prstGeom prst="rect">
            <a:avLst/>
          </a:prstGeom>
        </p:spPr>
        <p:txBody>
          <a:bodyPr lIns="0" tIns="0" rIns="0" bIns="0" rtlCol="0" anchor="t">
            <a:spAutoFit/>
          </a:bodyPr>
          <a:lstStyle/>
          <a:p>
            <a:pPr algn="just">
              <a:lnSpc>
                <a:spcPts val="2444"/>
              </a:lnSpc>
            </a:pPr>
            <a:r>
              <a:rPr lang="en-US" sz="1880">
                <a:solidFill>
                  <a:srgbClr val="000000"/>
                </a:solidFill>
                <a:latin typeface="Arial MT Pro"/>
                <a:ea typeface="Arial MT Pro"/>
                <a:cs typeface="Arial MT Pro"/>
                <a:sym typeface="Arial MT Pro"/>
              </a:rPr>
              <a:t>In contrast, the other notebook also dropped unnecessary columns and cleaned variables like Sex, Fatal, and Country, but with less depth, particularly in filtering out vague regions and standardizing species names. While duplicates were addressed and victim profiling by age and gender was included, the species analysis lacked a detailed fatality breakdown. Their visualizations were less polished, with a less refined world map and occasional clarity issues. Although they used the same classification models and resampling techniques, their evaluation focused more on overall accuracy and ROC AUC, with limited attention to the PR AUC limitations and minority class challenges. The analysis placed less emphasis on real-world application, and while they performed PCA with KMeans and basic ARIMA forecasting, the visuals were less developed and lacked strong connections to public safety or conservation strategies.</a:t>
            </a:r>
          </a:p>
        </p:txBody>
      </p:sp>
      <p:sp>
        <p:nvSpPr>
          <p:cNvPr id="9" name="TextBox 9"/>
          <p:cNvSpPr txBox="1"/>
          <p:nvPr/>
        </p:nvSpPr>
        <p:spPr>
          <a:xfrm>
            <a:off x="11563350" y="2261368"/>
            <a:ext cx="3624604" cy="593827"/>
          </a:xfrm>
          <a:prstGeom prst="rect">
            <a:avLst/>
          </a:prstGeom>
        </p:spPr>
        <p:txBody>
          <a:bodyPr lIns="0" tIns="0" rIns="0" bIns="0" rtlCol="0" anchor="t">
            <a:spAutoFit/>
          </a:bodyPr>
          <a:lstStyle/>
          <a:p>
            <a:pPr algn="ctr">
              <a:lnSpc>
                <a:spcPts val="4339"/>
              </a:lnSpc>
              <a:spcBef>
                <a:spcPct val="0"/>
              </a:spcBef>
            </a:pPr>
            <a:r>
              <a:rPr lang="en-US" sz="3200" b="1">
                <a:solidFill>
                  <a:srgbClr val="8064A2"/>
                </a:solidFill>
                <a:latin typeface="Arial MT Pro Bold"/>
                <a:ea typeface="Arial MT Pro Bold"/>
                <a:cs typeface="Arial MT Pro Bold"/>
                <a:sym typeface="Arial MT Pro Bold"/>
              </a:rPr>
              <a:t>Enzer’s Notebook</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p:cNvGrpSpPr/>
          <p:nvPr/>
        </p:nvGrpSpPr>
        <p:grpSpPr>
          <a:xfrm>
            <a:off x="9986572" y="700907"/>
            <a:ext cx="6293511" cy="861194"/>
            <a:chOff x="0" y="0"/>
            <a:chExt cx="8391348" cy="1148259"/>
          </a:xfrm>
        </p:grpSpPr>
        <p:sp>
          <p:nvSpPr>
            <p:cNvPr id="5" name="Freeform 5"/>
            <p:cNvSpPr/>
            <p:nvPr/>
          </p:nvSpPr>
          <p:spPr>
            <a:xfrm>
              <a:off x="0" y="0"/>
              <a:ext cx="8391348" cy="1148259"/>
            </a:xfrm>
            <a:custGeom>
              <a:avLst/>
              <a:gdLst/>
              <a:ahLst/>
              <a:cxnLst/>
              <a:rect l="l" t="t" r="r" b="b"/>
              <a:pathLst>
                <a:path w="8391348" h="1148259">
                  <a:moveTo>
                    <a:pt x="0" y="0"/>
                  </a:moveTo>
                  <a:lnTo>
                    <a:pt x="8391348" y="0"/>
                  </a:lnTo>
                  <a:lnTo>
                    <a:pt x="8391348" y="1148259"/>
                  </a:lnTo>
                  <a:lnTo>
                    <a:pt x="0" y="1148259"/>
                  </a:lnTo>
                  <a:close/>
                </a:path>
              </a:pathLst>
            </a:custGeom>
          </p:spPr>
        </p:sp>
        <p:sp>
          <p:nvSpPr>
            <p:cNvPr id="6" name="TextBox 6"/>
            <p:cNvSpPr txBox="1"/>
            <p:nvPr/>
          </p:nvSpPr>
          <p:spPr>
            <a:xfrm>
              <a:off x="0" y="-114300"/>
              <a:ext cx="8391348" cy="1262559"/>
            </a:xfrm>
            <a:prstGeom prst="rect">
              <a:avLst/>
            </a:prstGeom>
          </p:spPr>
          <p:txBody>
            <a:bodyPr lIns="0" tIns="0" rIns="0" bIns="0" rtlCol="0" anchor="b"/>
            <a:lstStyle/>
            <a:p>
              <a:pPr algn="l">
                <a:lnSpc>
                  <a:spcPts val="6100"/>
                </a:lnSpc>
              </a:pPr>
              <a:r>
                <a:rPr lang="en-US" sz="4499" b="1">
                  <a:solidFill>
                    <a:srgbClr val="000000"/>
                  </a:solidFill>
                  <a:latin typeface="Poppins Bold"/>
                  <a:ea typeface="Poppins Bold"/>
                  <a:cs typeface="Poppins Bold"/>
                  <a:sym typeface="Poppins Bold"/>
                </a:rPr>
                <a:t>Data Specialist Roles</a:t>
              </a:r>
            </a:p>
          </p:txBody>
        </p:sp>
      </p:grpSp>
      <p:grpSp>
        <p:nvGrpSpPr>
          <p:cNvPr id="7" name="Group 7"/>
          <p:cNvGrpSpPr/>
          <p:nvPr/>
        </p:nvGrpSpPr>
        <p:grpSpPr>
          <a:xfrm>
            <a:off x="484447" y="831228"/>
            <a:ext cx="8613284" cy="8613283"/>
            <a:chOff x="0" y="0"/>
            <a:chExt cx="11484379" cy="11484377"/>
          </a:xfrm>
        </p:grpSpPr>
        <p:sp>
          <p:nvSpPr>
            <p:cNvPr id="8" name="Freeform 8"/>
            <p:cNvSpPr/>
            <p:nvPr/>
          </p:nvSpPr>
          <p:spPr>
            <a:xfrm>
              <a:off x="0" y="0"/>
              <a:ext cx="11484356" cy="11484356"/>
            </a:xfrm>
            <a:custGeom>
              <a:avLst/>
              <a:gdLst/>
              <a:ahLst/>
              <a:cxnLst/>
              <a:rect l="l" t="t" r="r" b="b"/>
              <a:pathLst>
                <a:path w="11484356" h="11484356">
                  <a:moveTo>
                    <a:pt x="0" y="5742178"/>
                  </a:moveTo>
                  <a:cubicBezTo>
                    <a:pt x="0" y="2570861"/>
                    <a:pt x="2570861" y="0"/>
                    <a:pt x="5742178" y="0"/>
                  </a:cubicBezTo>
                  <a:cubicBezTo>
                    <a:pt x="8913495" y="0"/>
                    <a:pt x="11484356" y="2570861"/>
                    <a:pt x="11484356" y="5742178"/>
                  </a:cubicBezTo>
                  <a:cubicBezTo>
                    <a:pt x="11484356" y="8913495"/>
                    <a:pt x="8913495" y="11484356"/>
                    <a:pt x="5742178" y="11484356"/>
                  </a:cubicBezTo>
                  <a:cubicBezTo>
                    <a:pt x="2570862" y="11484356"/>
                    <a:pt x="0" y="8913495"/>
                    <a:pt x="0" y="5742178"/>
                  </a:cubicBezTo>
                  <a:close/>
                </a:path>
              </a:pathLst>
            </a:custGeom>
            <a:gradFill rotWithShape="1">
              <a:gsLst>
                <a:gs pos="0">
                  <a:srgbClr val="4F81BD">
                    <a:alpha val="100000"/>
                  </a:srgbClr>
                </a:gs>
                <a:gs pos="100000">
                  <a:srgbClr val="C0504D">
                    <a:alpha val="100000"/>
                  </a:srgbClr>
                </a:gs>
              </a:gsLst>
              <a:lin ang="2700000"/>
            </a:gradFill>
          </p:spPr>
        </p:sp>
      </p:grpSp>
      <p:sp>
        <p:nvSpPr>
          <p:cNvPr id="9" name="Freeform 9" descr="Close-up of documents and charts"/>
          <p:cNvSpPr/>
          <p:nvPr/>
        </p:nvSpPr>
        <p:spPr>
          <a:xfrm>
            <a:off x="758127" y="831226"/>
            <a:ext cx="8613283" cy="8613284"/>
          </a:xfrm>
          <a:custGeom>
            <a:avLst/>
            <a:gdLst/>
            <a:ahLst/>
            <a:cxnLst/>
            <a:rect l="l" t="t" r="r" b="b"/>
            <a:pathLst>
              <a:path w="8613283" h="8613284">
                <a:moveTo>
                  <a:pt x="0" y="0"/>
                </a:moveTo>
                <a:lnTo>
                  <a:pt x="8613283" y="0"/>
                </a:lnTo>
                <a:lnTo>
                  <a:pt x="8613283" y="8613284"/>
                </a:lnTo>
                <a:lnTo>
                  <a:pt x="0" y="8613284"/>
                </a:lnTo>
                <a:lnTo>
                  <a:pt x="0" y="0"/>
                </a:lnTo>
                <a:close/>
              </a:path>
            </a:pathLst>
          </a:custGeom>
          <a:blipFill>
            <a:blip r:embed="rId3"/>
            <a:stretch>
              <a:fillRect l="-40135" r="-9921" b="1"/>
            </a:stretch>
          </a:blipFill>
        </p:spPr>
      </p:sp>
      <p:grpSp>
        <p:nvGrpSpPr>
          <p:cNvPr id="10" name="Group 10"/>
          <p:cNvGrpSpPr/>
          <p:nvPr/>
        </p:nvGrpSpPr>
        <p:grpSpPr>
          <a:xfrm>
            <a:off x="1507434" y="1055518"/>
            <a:ext cx="257272" cy="257273"/>
            <a:chOff x="0" y="0"/>
            <a:chExt cx="343029" cy="343031"/>
          </a:xfrm>
        </p:grpSpPr>
        <p:sp>
          <p:nvSpPr>
            <p:cNvPr id="11" name="Freeform 11"/>
            <p:cNvSpPr/>
            <p:nvPr/>
          </p:nvSpPr>
          <p:spPr>
            <a:xfrm>
              <a:off x="0" y="0"/>
              <a:ext cx="342900" cy="343027"/>
            </a:xfrm>
            <a:custGeom>
              <a:avLst/>
              <a:gdLst/>
              <a:ahLst/>
              <a:cxnLst/>
              <a:rect l="l" t="t" r="r" b="b"/>
              <a:pathLst>
                <a:path w="342900" h="343027">
                  <a:moveTo>
                    <a:pt x="319786" y="148209"/>
                  </a:moveTo>
                  <a:lnTo>
                    <a:pt x="194818" y="148209"/>
                  </a:lnTo>
                  <a:lnTo>
                    <a:pt x="194818" y="23241"/>
                  </a:lnTo>
                  <a:cubicBezTo>
                    <a:pt x="194818" y="10414"/>
                    <a:pt x="184404" y="0"/>
                    <a:pt x="171577" y="0"/>
                  </a:cubicBezTo>
                  <a:cubicBezTo>
                    <a:pt x="158750" y="0"/>
                    <a:pt x="148336" y="10414"/>
                    <a:pt x="148336" y="23241"/>
                  </a:cubicBezTo>
                  <a:lnTo>
                    <a:pt x="148336" y="148209"/>
                  </a:lnTo>
                  <a:lnTo>
                    <a:pt x="23241" y="148209"/>
                  </a:lnTo>
                  <a:cubicBezTo>
                    <a:pt x="10414" y="148209"/>
                    <a:pt x="0" y="158623"/>
                    <a:pt x="0" y="171577"/>
                  </a:cubicBezTo>
                  <a:cubicBezTo>
                    <a:pt x="0" y="184531"/>
                    <a:pt x="10414" y="194818"/>
                    <a:pt x="23241" y="194818"/>
                  </a:cubicBezTo>
                  <a:lnTo>
                    <a:pt x="148209" y="194818"/>
                  </a:lnTo>
                  <a:lnTo>
                    <a:pt x="148209" y="319786"/>
                  </a:lnTo>
                  <a:cubicBezTo>
                    <a:pt x="148209" y="332613"/>
                    <a:pt x="158623" y="343027"/>
                    <a:pt x="171450" y="343027"/>
                  </a:cubicBezTo>
                  <a:cubicBezTo>
                    <a:pt x="184277" y="343027"/>
                    <a:pt x="194691" y="332613"/>
                    <a:pt x="194691" y="319786"/>
                  </a:cubicBezTo>
                  <a:lnTo>
                    <a:pt x="194691" y="194818"/>
                  </a:lnTo>
                  <a:lnTo>
                    <a:pt x="319659" y="194818"/>
                  </a:lnTo>
                  <a:cubicBezTo>
                    <a:pt x="332486" y="194818"/>
                    <a:pt x="342900" y="184404"/>
                    <a:pt x="342900" y="171577"/>
                  </a:cubicBezTo>
                  <a:cubicBezTo>
                    <a:pt x="342900" y="158750"/>
                    <a:pt x="332486" y="148336"/>
                    <a:pt x="319659" y="148336"/>
                  </a:cubicBezTo>
                  <a:close/>
                </a:path>
              </a:pathLst>
            </a:custGeom>
            <a:solidFill>
              <a:srgbClr val="4F81BD"/>
            </a:solidFill>
          </p:spPr>
        </p:sp>
      </p:grpSp>
      <p:grpSp>
        <p:nvGrpSpPr>
          <p:cNvPr id="12" name="Group 12"/>
          <p:cNvGrpSpPr/>
          <p:nvPr/>
        </p:nvGrpSpPr>
        <p:grpSpPr>
          <a:xfrm>
            <a:off x="634129" y="2344044"/>
            <a:ext cx="236318" cy="236317"/>
            <a:chOff x="0" y="0"/>
            <a:chExt cx="315091" cy="315089"/>
          </a:xfrm>
        </p:grpSpPr>
        <p:sp>
          <p:nvSpPr>
            <p:cNvPr id="13" name="Freeform 13"/>
            <p:cNvSpPr/>
            <p:nvPr/>
          </p:nvSpPr>
          <p:spPr>
            <a:xfrm>
              <a:off x="0" y="0"/>
              <a:ext cx="315214" cy="315087"/>
            </a:xfrm>
            <a:custGeom>
              <a:avLst/>
              <a:gdLst/>
              <a:ahLst/>
              <a:cxnLst/>
              <a:rect l="l" t="t" r="r" b="b"/>
              <a:pathLst>
                <a:path w="315214" h="315087">
                  <a:moveTo>
                    <a:pt x="157607" y="46609"/>
                  </a:moveTo>
                  <a:cubicBezTo>
                    <a:pt x="218948" y="46609"/>
                    <a:pt x="268605" y="96266"/>
                    <a:pt x="268605" y="157607"/>
                  </a:cubicBezTo>
                  <a:cubicBezTo>
                    <a:pt x="268605" y="218948"/>
                    <a:pt x="218948" y="268605"/>
                    <a:pt x="157607" y="268605"/>
                  </a:cubicBezTo>
                  <a:cubicBezTo>
                    <a:pt x="96266" y="268605"/>
                    <a:pt x="46609" y="218948"/>
                    <a:pt x="46609" y="157607"/>
                  </a:cubicBezTo>
                  <a:cubicBezTo>
                    <a:pt x="46609" y="96266"/>
                    <a:pt x="96266" y="46736"/>
                    <a:pt x="157607" y="46609"/>
                  </a:cubicBezTo>
                  <a:moveTo>
                    <a:pt x="157607" y="0"/>
                  </a:moveTo>
                  <a:cubicBezTo>
                    <a:pt x="70485" y="0"/>
                    <a:pt x="0" y="70485"/>
                    <a:pt x="0" y="157607"/>
                  </a:cubicBezTo>
                  <a:cubicBezTo>
                    <a:pt x="0" y="244729"/>
                    <a:pt x="70485" y="315087"/>
                    <a:pt x="157607" y="315087"/>
                  </a:cubicBezTo>
                  <a:cubicBezTo>
                    <a:pt x="244729" y="315087"/>
                    <a:pt x="315214" y="244602"/>
                    <a:pt x="315214" y="157480"/>
                  </a:cubicBezTo>
                  <a:cubicBezTo>
                    <a:pt x="315214" y="70358"/>
                    <a:pt x="244602" y="0"/>
                    <a:pt x="157607" y="0"/>
                  </a:cubicBezTo>
                  <a:close/>
                </a:path>
              </a:pathLst>
            </a:custGeom>
            <a:solidFill>
              <a:srgbClr val="4F81BD"/>
            </a:solidFill>
          </p:spPr>
        </p:sp>
      </p:grpSp>
      <p:grpSp>
        <p:nvGrpSpPr>
          <p:cNvPr id="14" name="Group 14"/>
          <p:cNvGrpSpPr/>
          <p:nvPr/>
        </p:nvGrpSpPr>
        <p:grpSpPr>
          <a:xfrm>
            <a:off x="9986572" y="1638300"/>
            <a:ext cx="7118975" cy="7011772"/>
            <a:chOff x="0" y="0"/>
            <a:chExt cx="9491967" cy="9349029"/>
          </a:xfrm>
        </p:grpSpPr>
        <p:sp>
          <p:nvSpPr>
            <p:cNvPr id="15" name="Freeform 15"/>
            <p:cNvSpPr/>
            <p:nvPr/>
          </p:nvSpPr>
          <p:spPr>
            <a:xfrm>
              <a:off x="0" y="0"/>
              <a:ext cx="9491966" cy="9349029"/>
            </a:xfrm>
            <a:custGeom>
              <a:avLst/>
              <a:gdLst/>
              <a:ahLst/>
              <a:cxnLst/>
              <a:rect l="l" t="t" r="r" b="b"/>
              <a:pathLst>
                <a:path w="9491966" h="9349029">
                  <a:moveTo>
                    <a:pt x="0" y="0"/>
                  </a:moveTo>
                  <a:lnTo>
                    <a:pt x="9491966" y="0"/>
                  </a:lnTo>
                  <a:lnTo>
                    <a:pt x="9491966" y="9349029"/>
                  </a:lnTo>
                  <a:lnTo>
                    <a:pt x="0" y="9349029"/>
                  </a:lnTo>
                  <a:close/>
                </a:path>
              </a:pathLst>
            </a:custGeom>
          </p:spPr>
        </p:sp>
        <p:sp>
          <p:nvSpPr>
            <p:cNvPr id="16" name="TextBox 16"/>
            <p:cNvSpPr txBox="1"/>
            <p:nvPr/>
          </p:nvSpPr>
          <p:spPr>
            <a:xfrm>
              <a:off x="0" y="-114300"/>
              <a:ext cx="9491967" cy="9463329"/>
            </a:xfrm>
            <a:prstGeom prst="rect">
              <a:avLst/>
            </a:prstGeom>
          </p:spPr>
          <p:txBody>
            <a:bodyPr lIns="0" tIns="0" rIns="0" bIns="0" rtlCol="0" anchor="t"/>
            <a:lstStyle/>
            <a:p>
              <a:pPr marL="561339" lvl="1" indent="-280669" algn="just">
                <a:lnSpc>
                  <a:spcPts val="3710"/>
                </a:lnSpc>
                <a:buFont typeface="Arial"/>
                <a:buChar char="•"/>
              </a:pPr>
              <a:r>
                <a:rPr lang="en-US" sz="2599" b="1">
                  <a:solidFill>
                    <a:srgbClr val="000000"/>
                  </a:solidFill>
                  <a:latin typeface="Arial MT Pro Bold"/>
                  <a:ea typeface="Arial MT Pro Bold"/>
                  <a:cs typeface="Arial MT Pro Bold"/>
                  <a:sym typeface="Arial MT Pro Bold"/>
                </a:rPr>
                <a:t>Data Analyst:</a:t>
              </a:r>
              <a:r>
                <a:rPr lang="en-US" sz="2599">
                  <a:solidFill>
                    <a:srgbClr val="000000"/>
                  </a:solidFill>
                  <a:latin typeface="Arial MT Pro"/>
                  <a:ea typeface="Arial MT Pro"/>
                  <a:cs typeface="Arial MT Pro"/>
                  <a:sym typeface="Arial MT Pro"/>
                </a:rPr>
                <a:t> A data specialist is responsible for thoroughly analysing clients' data to identify trends, issues, or opportunities.</a:t>
              </a:r>
            </a:p>
            <a:p>
              <a:pPr marL="561339" lvl="1" indent="-280669" algn="just">
                <a:lnSpc>
                  <a:spcPts val="3710"/>
                </a:lnSpc>
                <a:buFont typeface="Arial"/>
                <a:buChar char="•"/>
              </a:pPr>
              <a:r>
                <a:rPr lang="en-US" sz="2599" b="1">
                  <a:solidFill>
                    <a:srgbClr val="000000"/>
                  </a:solidFill>
                  <a:latin typeface="Arial MT Pro Bold"/>
                  <a:ea typeface="Arial MT Pro Bold"/>
                  <a:cs typeface="Arial MT Pro Bold"/>
                  <a:sym typeface="Arial MT Pro Bold"/>
                </a:rPr>
                <a:t>Data Conversion Specialist:  </a:t>
              </a:r>
              <a:r>
                <a:rPr lang="en-US" sz="2599">
                  <a:solidFill>
                    <a:srgbClr val="000000"/>
                  </a:solidFill>
                  <a:latin typeface="Arial MT Pro"/>
                  <a:ea typeface="Arial MT Pro"/>
                  <a:cs typeface="Arial MT Pro"/>
                  <a:sym typeface="Arial MT Pro"/>
                </a:rPr>
                <a:t>They manage the conversion of hard copy data into digital formats, ensuring the accuracy and validity of this transfer.</a:t>
              </a:r>
            </a:p>
            <a:p>
              <a:pPr marL="561339" lvl="1" indent="-280669" algn="just">
                <a:lnSpc>
                  <a:spcPts val="3710"/>
                </a:lnSpc>
                <a:buFont typeface="Arial"/>
                <a:buChar char="•"/>
              </a:pPr>
              <a:r>
                <a:rPr lang="en-US" sz="2599" b="1">
                  <a:solidFill>
                    <a:srgbClr val="000000"/>
                  </a:solidFill>
                  <a:latin typeface="Arial MT Pro Bold"/>
                  <a:ea typeface="Arial MT Pro Bold"/>
                  <a:cs typeface="Arial MT Pro Bold"/>
                  <a:sym typeface="Arial MT Pro Bold"/>
                </a:rPr>
                <a:t>Data Storage and Systems Expert: </a:t>
              </a:r>
              <a:r>
                <a:rPr lang="en-US" sz="2599">
                  <a:solidFill>
                    <a:srgbClr val="000000"/>
                  </a:solidFill>
                  <a:latin typeface="Arial MT Pro"/>
                  <a:ea typeface="Arial MT Pro"/>
                  <a:cs typeface="Arial MT Pro"/>
                  <a:sym typeface="Arial MT Pro"/>
                </a:rPr>
                <a:t>Data specialists design and maintain secure data storage systems, ensuring they are capable of handling large amounts of data efficiently.</a:t>
              </a:r>
            </a:p>
            <a:p>
              <a:pPr marL="561339" lvl="1" indent="-280669" algn="just">
                <a:lnSpc>
                  <a:spcPts val="3710"/>
                </a:lnSpc>
                <a:buFont typeface="Arial"/>
                <a:buChar char="•"/>
              </a:pPr>
              <a:r>
                <a:rPr lang="en-US" sz="2599" b="1">
                  <a:solidFill>
                    <a:srgbClr val="000000"/>
                  </a:solidFill>
                  <a:latin typeface="Arial MT Pro Bold"/>
                  <a:ea typeface="Arial MT Pro Bold"/>
                  <a:cs typeface="Arial MT Pro Bold"/>
                  <a:sym typeface="Arial MT Pro Bold"/>
                </a:rPr>
                <a:t>Data Trainer: </a:t>
              </a:r>
              <a:r>
                <a:rPr lang="en-US" sz="2599">
                  <a:solidFill>
                    <a:srgbClr val="000000"/>
                  </a:solidFill>
                  <a:latin typeface="Arial MT Pro"/>
                  <a:ea typeface="Arial MT Pro"/>
                  <a:cs typeface="Arial MT Pro"/>
                  <a:sym typeface="Arial MT Pro"/>
                </a:rPr>
                <a:t>They are responsible for training staff on how to use data storage and retrieval systems.</a:t>
              </a:r>
            </a:p>
          </p:txBody>
        </p:sp>
      </p:grpSp>
      <p:grpSp>
        <p:nvGrpSpPr>
          <p:cNvPr id="17" name="Group 17"/>
          <p:cNvGrpSpPr/>
          <p:nvPr/>
        </p:nvGrpSpPr>
        <p:grpSpPr>
          <a:xfrm>
            <a:off x="8181223" y="8662623"/>
            <a:ext cx="168639" cy="168639"/>
            <a:chOff x="0" y="0"/>
            <a:chExt cx="224852" cy="224852"/>
          </a:xfrm>
        </p:grpSpPr>
        <p:sp>
          <p:nvSpPr>
            <p:cNvPr id="18" name="Freeform 18"/>
            <p:cNvSpPr/>
            <p:nvPr/>
          </p:nvSpPr>
          <p:spPr>
            <a:xfrm>
              <a:off x="0" y="0"/>
              <a:ext cx="224790" cy="224790"/>
            </a:xfrm>
            <a:custGeom>
              <a:avLst/>
              <a:gdLst/>
              <a:ahLst/>
              <a:cxnLst/>
              <a:rect l="l" t="t" r="r" b="b"/>
              <a:pathLst>
                <a:path w="224790" h="224790">
                  <a:moveTo>
                    <a:pt x="224790" y="112395"/>
                  </a:moveTo>
                  <a:cubicBezTo>
                    <a:pt x="224790" y="174498"/>
                    <a:pt x="174498" y="224790"/>
                    <a:pt x="112395" y="224790"/>
                  </a:cubicBezTo>
                  <a:cubicBezTo>
                    <a:pt x="50292" y="224790"/>
                    <a:pt x="0" y="174498"/>
                    <a:pt x="0" y="112395"/>
                  </a:cubicBezTo>
                  <a:cubicBezTo>
                    <a:pt x="0" y="50292"/>
                    <a:pt x="50292" y="0"/>
                    <a:pt x="112395" y="0"/>
                  </a:cubicBezTo>
                  <a:cubicBezTo>
                    <a:pt x="174498" y="0"/>
                    <a:pt x="224790" y="50292"/>
                    <a:pt x="224790" y="112395"/>
                  </a:cubicBezTo>
                  <a:close/>
                </a:path>
              </a:pathLst>
            </a:custGeom>
            <a:solidFill>
              <a:srgbClr val="4F81BD"/>
            </a:solidFill>
          </p:spPr>
        </p:sp>
      </p:grpSp>
      <p:sp>
        <p:nvSpPr>
          <p:cNvPr id="19" name="AutoShape 19"/>
          <p:cNvSpPr/>
          <p:nvPr/>
        </p:nvSpPr>
        <p:spPr>
          <a:xfrm rot="5382119">
            <a:off x="14937464" y="7848429"/>
            <a:ext cx="4883558" cy="0"/>
          </a:xfrm>
          <a:prstGeom prst="line">
            <a:avLst/>
          </a:prstGeom>
          <a:ln w="19050" cap="rnd">
            <a:solidFill>
              <a:srgbClr val="4F81BD"/>
            </a:solidFill>
            <a:prstDash val="solid"/>
            <a:headEnd type="none" w="sm" len="sm"/>
            <a:tailEnd type="none" w="sm" len="sm"/>
          </a:ln>
        </p:spPr>
      </p:sp>
      <p:sp>
        <p:nvSpPr>
          <p:cNvPr id="20" name="TextBox 20"/>
          <p:cNvSpPr txBox="1"/>
          <p:nvPr/>
        </p:nvSpPr>
        <p:spPr>
          <a:xfrm>
            <a:off x="9986572" y="9579122"/>
            <a:ext cx="696612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(Peters, 2020)</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p:cNvGrpSpPr/>
          <p:nvPr/>
        </p:nvGrpSpPr>
        <p:grpSpPr>
          <a:xfrm>
            <a:off x="9986572" y="700907"/>
            <a:ext cx="7118975" cy="1889288"/>
            <a:chOff x="0" y="0"/>
            <a:chExt cx="9491967" cy="2519051"/>
          </a:xfrm>
        </p:grpSpPr>
        <p:sp>
          <p:nvSpPr>
            <p:cNvPr id="5" name="Freeform 5"/>
            <p:cNvSpPr/>
            <p:nvPr/>
          </p:nvSpPr>
          <p:spPr>
            <a:xfrm>
              <a:off x="0" y="0"/>
              <a:ext cx="9491967" cy="2519051"/>
            </a:xfrm>
            <a:custGeom>
              <a:avLst/>
              <a:gdLst/>
              <a:ahLst/>
              <a:cxnLst/>
              <a:rect l="l" t="t" r="r" b="b"/>
              <a:pathLst>
                <a:path w="9491967" h="2519051">
                  <a:moveTo>
                    <a:pt x="0" y="0"/>
                  </a:moveTo>
                  <a:lnTo>
                    <a:pt x="9491967" y="0"/>
                  </a:lnTo>
                  <a:lnTo>
                    <a:pt x="9491967" y="2519051"/>
                  </a:lnTo>
                  <a:lnTo>
                    <a:pt x="0" y="2519051"/>
                  </a:lnTo>
                  <a:close/>
                </a:path>
              </a:pathLst>
            </a:custGeom>
          </p:spPr>
        </p:sp>
        <p:sp>
          <p:nvSpPr>
            <p:cNvPr id="6" name="TextBox 6"/>
            <p:cNvSpPr txBox="1"/>
            <p:nvPr/>
          </p:nvSpPr>
          <p:spPr>
            <a:xfrm>
              <a:off x="0" y="-114300"/>
              <a:ext cx="9491967" cy="2633351"/>
            </a:xfrm>
            <a:prstGeom prst="rect">
              <a:avLst/>
            </a:prstGeom>
          </p:spPr>
          <p:txBody>
            <a:bodyPr lIns="0" tIns="0" rIns="0" bIns="0" rtlCol="0" anchor="b"/>
            <a:lstStyle/>
            <a:p>
              <a:pPr algn="l">
                <a:lnSpc>
                  <a:spcPts val="6100"/>
                </a:lnSpc>
              </a:pPr>
              <a:r>
                <a:rPr lang="en-US" sz="4499" b="1">
                  <a:solidFill>
                    <a:srgbClr val="000000"/>
                  </a:solidFill>
                  <a:latin typeface="Poppins Bold"/>
                  <a:ea typeface="Poppins Bold"/>
                  <a:cs typeface="Poppins Bold"/>
                  <a:sym typeface="Poppins Bold"/>
                </a:rPr>
                <a:t>Data Specialist Responsibilities</a:t>
              </a:r>
            </a:p>
          </p:txBody>
        </p:sp>
      </p:grpSp>
      <p:grpSp>
        <p:nvGrpSpPr>
          <p:cNvPr id="7" name="Group 7"/>
          <p:cNvGrpSpPr/>
          <p:nvPr/>
        </p:nvGrpSpPr>
        <p:grpSpPr>
          <a:xfrm>
            <a:off x="484447" y="831228"/>
            <a:ext cx="8613284" cy="8613283"/>
            <a:chOff x="0" y="0"/>
            <a:chExt cx="11484379" cy="11484377"/>
          </a:xfrm>
        </p:grpSpPr>
        <p:sp>
          <p:nvSpPr>
            <p:cNvPr id="8" name="Freeform 8"/>
            <p:cNvSpPr/>
            <p:nvPr/>
          </p:nvSpPr>
          <p:spPr>
            <a:xfrm>
              <a:off x="0" y="0"/>
              <a:ext cx="11484356" cy="11484356"/>
            </a:xfrm>
            <a:custGeom>
              <a:avLst/>
              <a:gdLst/>
              <a:ahLst/>
              <a:cxnLst/>
              <a:rect l="l" t="t" r="r" b="b"/>
              <a:pathLst>
                <a:path w="11484356" h="11484356">
                  <a:moveTo>
                    <a:pt x="0" y="5742178"/>
                  </a:moveTo>
                  <a:cubicBezTo>
                    <a:pt x="0" y="2570861"/>
                    <a:pt x="2570861" y="0"/>
                    <a:pt x="5742178" y="0"/>
                  </a:cubicBezTo>
                  <a:cubicBezTo>
                    <a:pt x="8913495" y="0"/>
                    <a:pt x="11484356" y="2570861"/>
                    <a:pt x="11484356" y="5742178"/>
                  </a:cubicBezTo>
                  <a:cubicBezTo>
                    <a:pt x="11484356" y="8913495"/>
                    <a:pt x="8913495" y="11484356"/>
                    <a:pt x="5742178" y="11484356"/>
                  </a:cubicBezTo>
                  <a:cubicBezTo>
                    <a:pt x="2570862" y="11484356"/>
                    <a:pt x="0" y="8913495"/>
                    <a:pt x="0" y="5742178"/>
                  </a:cubicBezTo>
                  <a:close/>
                </a:path>
              </a:pathLst>
            </a:custGeom>
            <a:gradFill rotWithShape="1">
              <a:gsLst>
                <a:gs pos="0">
                  <a:srgbClr val="4F81BD">
                    <a:alpha val="100000"/>
                  </a:srgbClr>
                </a:gs>
                <a:gs pos="100000">
                  <a:srgbClr val="C0504D">
                    <a:alpha val="100000"/>
                  </a:srgbClr>
                </a:gs>
              </a:gsLst>
              <a:lin ang="2700000"/>
            </a:gradFill>
          </p:spPr>
        </p:sp>
      </p:grpSp>
      <p:sp>
        <p:nvSpPr>
          <p:cNvPr id="9" name="Freeform 9" descr="Close-up of documents and charts"/>
          <p:cNvSpPr/>
          <p:nvPr/>
        </p:nvSpPr>
        <p:spPr>
          <a:xfrm>
            <a:off x="758127" y="831226"/>
            <a:ext cx="8613283" cy="8613284"/>
          </a:xfrm>
          <a:custGeom>
            <a:avLst/>
            <a:gdLst/>
            <a:ahLst/>
            <a:cxnLst/>
            <a:rect l="l" t="t" r="r" b="b"/>
            <a:pathLst>
              <a:path w="8613283" h="8613284">
                <a:moveTo>
                  <a:pt x="0" y="0"/>
                </a:moveTo>
                <a:lnTo>
                  <a:pt x="8613283" y="0"/>
                </a:lnTo>
                <a:lnTo>
                  <a:pt x="8613283" y="8613284"/>
                </a:lnTo>
                <a:lnTo>
                  <a:pt x="0" y="8613284"/>
                </a:lnTo>
                <a:lnTo>
                  <a:pt x="0" y="0"/>
                </a:lnTo>
                <a:close/>
              </a:path>
            </a:pathLst>
          </a:custGeom>
          <a:blipFill>
            <a:blip r:embed="rId3"/>
            <a:stretch>
              <a:fillRect l="-40135" r="-9921" b="1"/>
            </a:stretch>
          </a:blipFill>
        </p:spPr>
      </p:sp>
      <p:grpSp>
        <p:nvGrpSpPr>
          <p:cNvPr id="10" name="Group 10"/>
          <p:cNvGrpSpPr/>
          <p:nvPr/>
        </p:nvGrpSpPr>
        <p:grpSpPr>
          <a:xfrm>
            <a:off x="1507434" y="1055518"/>
            <a:ext cx="257272" cy="257273"/>
            <a:chOff x="0" y="0"/>
            <a:chExt cx="343029" cy="343031"/>
          </a:xfrm>
        </p:grpSpPr>
        <p:sp>
          <p:nvSpPr>
            <p:cNvPr id="11" name="Freeform 11"/>
            <p:cNvSpPr/>
            <p:nvPr/>
          </p:nvSpPr>
          <p:spPr>
            <a:xfrm>
              <a:off x="0" y="0"/>
              <a:ext cx="342900" cy="343027"/>
            </a:xfrm>
            <a:custGeom>
              <a:avLst/>
              <a:gdLst/>
              <a:ahLst/>
              <a:cxnLst/>
              <a:rect l="l" t="t" r="r" b="b"/>
              <a:pathLst>
                <a:path w="342900" h="343027">
                  <a:moveTo>
                    <a:pt x="319786" y="148209"/>
                  </a:moveTo>
                  <a:lnTo>
                    <a:pt x="194818" y="148209"/>
                  </a:lnTo>
                  <a:lnTo>
                    <a:pt x="194818" y="23241"/>
                  </a:lnTo>
                  <a:cubicBezTo>
                    <a:pt x="194818" y="10414"/>
                    <a:pt x="184404" y="0"/>
                    <a:pt x="171577" y="0"/>
                  </a:cubicBezTo>
                  <a:cubicBezTo>
                    <a:pt x="158750" y="0"/>
                    <a:pt x="148336" y="10414"/>
                    <a:pt x="148336" y="23241"/>
                  </a:cubicBezTo>
                  <a:lnTo>
                    <a:pt x="148336" y="148209"/>
                  </a:lnTo>
                  <a:lnTo>
                    <a:pt x="23241" y="148209"/>
                  </a:lnTo>
                  <a:cubicBezTo>
                    <a:pt x="10414" y="148209"/>
                    <a:pt x="0" y="158623"/>
                    <a:pt x="0" y="171577"/>
                  </a:cubicBezTo>
                  <a:cubicBezTo>
                    <a:pt x="0" y="184531"/>
                    <a:pt x="10414" y="194818"/>
                    <a:pt x="23241" y="194818"/>
                  </a:cubicBezTo>
                  <a:lnTo>
                    <a:pt x="148209" y="194818"/>
                  </a:lnTo>
                  <a:lnTo>
                    <a:pt x="148209" y="319786"/>
                  </a:lnTo>
                  <a:cubicBezTo>
                    <a:pt x="148209" y="332613"/>
                    <a:pt x="158623" y="343027"/>
                    <a:pt x="171450" y="343027"/>
                  </a:cubicBezTo>
                  <a:cubicBezTo>
                    <a:pt x="184277" y="343027"/>
                    <a:pt x="194691" y="332613"/>
                    <a:pt x="194691" y="319786"/>
                  </a:cubicBezTo>
                  <a:lnTo>
                    <a:pt x="194691" y="194818"/>
                  </a:lnTo>
                  <a:lnTo>
                    <a:pt x="319659" y="194818"/>
                  </a:lnTo>
                  <a:cubicBezTo>
                    <a:pt x="332486" y="194818"/>
                    <a:pt x="342900" y="184404"/>
                    <a:pt x="342900" y="171577"/>
                  </a:cubicBezTo>
                  <a:cubicBezTo>
                    <a:pt x="342900" y="158750"/>
                    <a:pt x="332486" y="148336"/>
                    <a:pt x="319659" y="148336"/>
                  </a:cubicBezTo>
                  <a:close/>
                </a:path>
              </a:pathLst>
            </a:custGeom>
            <a:solidFill>
              <a:srgbClr val="4F81BD"/>
            </a:solidFill>
          </p:spPr>
        </p:sp>
      </p:grpSp>
      <p:grpSp>
        <p:nvGrpSpPr>
          <p:cNvPr id="12" name="Group 12"/>
          <p:cNvGrpSpPr/>
          <p:nvPr/>
        </p:nvGrpSpPr>
        <p:grpSpPr>
          <a:xfrm>
            <a:off x="634129" y="2344044"/>
            <a:ext cx="236318" cy="236317"/>
            <a:chOff x="0" y="0"/>
            <a:chExt cx="315091" cy="315089"/>
          </a:xfrm>
        </p:grpSpPr>
        <p:sp>
          <p:nvSpPr>
            <p:cNvPr id="13" name="Freeform 13"/>
            <p:cNvSpPr/>
            <p:nvPr/>
          </p:nvSpPr>
          <p:spPr>
            <a:xfrm>
              <a:off x="0" y="0"/>
              <a:ext cx="315214" cy="315087"/>
            </a:xfrm>
            <a:custGeom>
              <a:avLst/>
              <a:gdLst/>
              <a:ahLst/>
              <a:cxnLst/>
              <a:rect l="l" t="t" r="r" b="b"/>
              <a:pathLst>
                <a:path w="315214" h="315087">
                  <a:moveTo>
                    <a:pt x="157607" y="46609"/>
                  </a:moveTo>
                  <a:cubicBezTo>
                    <a:pt x="218948" y="46609"/>
                    <a:pt x="268605" y="96266"/>
                    <a:pt x="268605" y="157607"/>
                  </a:cubicBezTo>
                  <a:cubicBezTo>
                    <a:pt x="268605" y="218948"/>
                    <a:pt x="218948" y="268605"/>
                    <a:pt x="157607" y="268605"/>
                  </a:cubicBezTo>
                  <a:cubicBezTo>
                    <a:pt x="96266" y="268605"/>
                    <a:pt x="46609" y="218948"/>
                    <a:pt x="46609" y="157607"/>
                  </a:cubicBezTo>
                  <a:cubicBezTo>
                    <a:pt x="46609" y="96266"/>
                    <a:pt x="96266" y="46736"/>
                    <a:pt x="157607" y="46609"/>
                  </a:cubicBezTo>
                  <a:moveTo>
                    <a:pt x="157607" y="0"/>
                  </a:moveTo>
                  <a:cubicBezTo>
                    <a:pt x="70485" y="0"/>
                    <a:pt x="0" y="70485"/>
                    <a:pt x="0" y="157607"/>
                  </a:cubicBezTo>
                  <a:cubicBezTo>
                    <a:pt x="0" y="244729"/>
                    <a:pt x="70485" y="315087"/>
                    <a:pt x="157607" y="315087"/>
                  </a:cubicBezTo>
                  <a:cubicBezTo>
                    <a:pt x="244729" y="315087"/>
                    <a:pt x="315214" y="244602"/>
                    <a:pt x="315214" y="157480"/>
                  </a:cubicBezTo>
                  <a:cubicBezTo>
                    <a:pt x="315214" y="70358"/>
                    <a:pt x="244602" y="0"/>
                    <a:pt x="157607" y="0"/>
                  </a:cubicBezTo>
                  <a:close/>
                </a:path>
              </a:pathLst>
            </a:custGeom>
            <a:solidFill>
              <a:srgbClr val="4F81BD"/>
            </a:solidFill>
          </p:spPr>
        </p:sp>
      </p:grpSp>
      <p:grpSp>
        <p:nvGrpSpPr>
          <p:cNvPr id="14" name="Group 14"/>
          <p:cNvGrpSpPr/>
          <p:nvPr/>
        </p:nvGrpSpPr>
        <p:grpSpPr>
          <a:xfrm>
            <a:off x="9986572" y="2580361"/>
            <a:ext cx="7118975" cy="6733008"/>
            <a:chOff x="0" y="0"/>
            <a:chExt cx="9491967" cy="8977344"/>
          </a:xfrm>
        </p:grpSpPr>
        <p:sp>
          <p:nvSpPr>
            <p:cNvPr id="15" name="Freeform 15"/>
            <p:cNvSpPr/>
            <p:nvPr/>
          </p:nvSpPr>
          <p:spPr>
            <a:xfrm>
              <a:off x="0" y="0"/>
              <a:ext cx="9491966" cy="8977344"/>
            </a:xfrm>
            <a:custGeom>
              <a:avLst/>
              <a:gdLst/>
              <a:ahLst/>
              <a:cxnLst/>
              <a:rect l="l" t="t" r="r" b="b"/>
              <a:pathLst>
                <a:path w="9491966" h="8977344">
                  <a:moveTo>
                    <a:pt x="0" y="0"/>
                  </a:moveTo>
                  <a:lnTo>
                    <a:pt x="9491966" y="0"/>
                  </a:lnTo>
                  <a:lnTo>
                    <a:pt x="9491966" y="8977344"/>
                  </a:lnTo>
                  <a:lnTo>
                    <a:pt x="0" y="8977344"/>
                  </a:lnTo>
                  <a:close/>
                </a:path>
              </a:pathLst>
            </a:custGeom>
          </p:spPr>
        </p:sp>
        <p:sp>
          <p:nvSpPr>
            <p:cNvPr id="16" name="TextBox 16"/>
            <p:cNvSpPr txBox="1"/>
            <p:nvPr/>
          </p:nvSpPr>
          <p:spPr>
            <a:xfrm>
              <a:off x="0" y="-104775"/>
              <a:ext cx="9491967" cy="9082119"/>
            </a:xfrm>
            <a:prstGeom prst="rect">
              <a:avLst/>
            </a:prstGeom>
          </p:spPr>
          <p:txBody>
            <a:bodyPr lIns="0" tIns="0" rIns="0" bIns="0" rtlCol="0" anchor="t"/>
            <a:lstStyle/>
            <a:p>
              <a:pPr marL="518160" lvl="1" indent="-259080" algn="just">
                <a:lnSpc>
                  <a:spcPts val="3424"/>
                </a:lnSpc>
                <a:buFont typeface="Arial"/>
                <a:buChar char="•"/>
              </a:pPr>
              <a:r>
                <a:rPr lang="en-US" sz="2400">
                  <a:solidFill>
                    <a:srgbClr val="000000"/>
                  </a:solidFill>
                  <a:latin typeface="Arial MT Pro"/>
                  <a:ea typeface="Arial MT Pro"/>
                  <a:cs typeface="Arial MT Pro"/>
                  <a:sym typeface="Arial MT Pro"/>
                </a:rPr>
                <a:t>Collecting and verifying data from multiple sources to ensure accuracy and reliability.</a:t>
              </a:r>
            </a:p>
            <a:p>
              <a:pPr marL="518160" lvl="1" indent="-259080" algn="just">
                <a:lnSpc>
                  <a:spcPts val="3424"/>
                </a:lnSpc>
                <a:buFont typeface="Arial"/>
                <a:buChar char="•"/>
              </a:pPr>
              <a:r>
                <a:rPr lang="en-US" sz="2400">
                  <a:solidFill>
                    <a:srgbClr val="000000"/>
                  </a:solidFill>
                  <a:latin typeface="Arial MT Pro"/>
                  <a:ea typeface="Arial MT Pro"/>
                  <a:cs typeface="Arial MT Pro"/>
                  <a:sym typeface="Arial MT Pro"/>
                </a:rPr>
                <a:t>They manage the transfer of data from one system to another or from physical formats to digital databases.</a:t>
              </a:r>
            </a:p>
            <a:p>
              <a:pPr marL="518160" lvl="1" indent="-259080" algn="just">
                <a:lnSpc>
                  <a:spcPts val="3424"/>
                </a:lnSpc>
                <a:buFont typeface="Arial"/>
                <a:buChar char="•"/>
              </a:pPr>
              <a:r>
                <a:rPr lang="en-US" sz="2400">
                  <a:solidFill>
                    <a:srgbClr val="000000"/>
                  </a:solidFill>
                  <a:latin typeface="Arial MT Pro"/>
                  <a:ea typeface="Arial MT Pro"/>
                  <a:cs typeface="Arial MT Pro"/>
                  <a:sym typeface="Arial MT Pro"/>
                </a:rPr>
                <a:t>Overseeing the development and performance monitoring of databases. </a:t>
              </a:r>
            </a:p>
            <a:p>
              <a:pPr marL="518160" lvl="1" indent="-259080" algn="just">
                <a:lnSpc>
                  <a:spcPts val="3424"/>
                </a:lnSpc>
                <a:buFont typeface="Arial"/>
                <a:buChar char="•"/>
              </a:pPr>
              <a:r>
                <a:rPr lang="en-US" sz="2400">
                  <a:solidFill>
                    <a:srgbClr val="000000"/>
                  </a:solidFill>
                  <a:latin typeface="Arial MT Pro"/>
                  <a:ea typeface="Arial MT Pro"/>
                  <a:cs typeface="Arial MT Pro"/>
                  <a:sym typeface="Arial MT Pro"/>
                </a:rPr>
                <a:t>They regularly perform audits to assess the quality of data in the system.</a:t>
              </a:r>
            </a:p>
            <a:p>
              <a:pPr marL="518160" lvl="1" indent="-259080" algn="just">
                <a:lnSpc>
                  <a:spcPts val="3424"/>
                </a:lnSpc>
                <a:buFont typeface="Arial"/>
                <a:buChar char="•"/>
              </a:pPr>
              <a:r>
                <a:rPr lang="en-US" sz="2400">
                  <a:solidFill>
                    <a:srgbClr val="000000"/>
                  </a:solidFill>
                  <a:latin typeface="Arial MT Pro"/>
                  <a:ea typeface="Arial MT Pro"/>
                  <a:cs typeface="Arial MT Pro"/>
                  <a:sym typeface="Arial MT Pro"/>
                </a:rPr>
                <a:t>When there are issues related to data storage or retrieval, data specialists troubleshoot and resolve these problems.</a:t>
              </a:r>
            </a:p>
            <a:p>
              <a:pPr marL="518160" lvl="1" indent="-259080" algn="just">
                <a:lnSpc>
                  <a:spcPts val="3424"/>
                </a:lnSpc>
                <a:buFont typeface="Arial"/>
                <a:buChar char="•"/>
              </a:pPr>
              <a:r>
                <a:rPr lang="en-US" sz="2400">
                  <a:solidFill>
                    <a:srgbClr val="000000"/>
                  </a:solidFill>
                  <a:latin typeface="Arial MT Pro"/>
                  <a:ea typeface="Arial MT Pro"/>
                  <a:cs typeface="Arial MT Pro"/>
                  <a:sym typeface="Arial MT Pro"/>
                </a:rPr>
                <a:t>Data specialists create reports based on data analysis, presenting the findings to senior management or board meetings.  </a:t>
              </a:r>
            </a:p>
          </p:txBody>
        </p:sp>
      </p:grpSp>
      <p:grpSp>
        <p:nvGrpSpPr>
          <p:cNvPr id="17" name="Group 17"/>
          <p:cNvGrpSpPr/>
          <p:nvPr/>
        </p:nvGrpSpPr>
        <p:grpSpPr>
          <a:xfrm>
            <a:off x="8181223" y="8662623"/>
            <a:ext cx="168639" cy="168639"/>
            <a:chOff x="0" y="0"/>
            <a:chExt cx="224852" cy="224852"/>
          </a:xfrm>
        </p:grpSpPr>
        <p:sp>
          <p:nvSpPr>
            <p:cNvPr id="18" name="Freeform 18"/>
            <p:cNvSpPr/>
            <p:nvPr/>
          </p:nvSpPr>
          <p:spPr>
            <a:xfrm>
              <a:off x="0" y="0"/>
              <a:ext cx="224790" cy="224790"/>
            </a:xfrm>
            <a:custGeom>
              <a:avLst/>
              <a:gdLst/>
              <a:ahLst/>
              <a:cxnLst/>
              <a:rect l="l" t="t" r="r" b="b"/>
              <a:pathLst>
                <a:path w="224790" h="224790">
                  <a:moveTo>
                    <a:pt x="224790" y="112395"/>
                  </a:moveTo>
                  <a:cubicBezTo>
                    <a:pt x="224790" y="174498"/>
                    <a:pt x="174498" y="224790"/>
                    <a:pt x="112395" y="224790"/>
                  </a:cubicBezTo>
                  <a:cubicBezTo>
                    <a:pt x="50292" y="224790"/>
                    <a:pt x="0" y="174498"/>
                    <a:pt x="0" y="112395"/>
                  </a:cubicBezTo>
                  <a:cubicBezTo>
                    <a:pt x="0" y="50292"/>
                    <a:pt x="50292" y="0"/>
                    <a:pt x="112395" y="0"/>
                  </a:cubicBezTo>
                  <a:cubicBezTo>
                    <a:pt x="174498" y="0"/>
                    <a:pt x="224790" y="50292"/>
                    <a:pt x="224790" y="112395"/>
                  </a:cubicBezTo>
                  <a:close/>
                </a:path>
              </a:pathLst>
            </a:custGeom>
            <a:solidFill>
              <a:srgbClr val="4F81BD"/>
            </a:solidFill>
          </p:spPr>
        </p:sp>
      </p:grpSp>
      <p:sp>
        <p:nvSpPr>
          <p:cNvPr id="19" name="AutoShape 19"/>
          <p:cNvSpPr/>
          <p:nvPr/>
        </p:nvSpPr>
        <p:spPr>
          <a:xfrm rot="5382119">
            <a:off x="14937464" y="7848429"/>
            <a:ext cx="4883558" cy="0"/>
          </a:xfrm>
          <a:prstGeom prst="line">
            <a:avLst/>
          </a:prstGeom>
          <a:ln w="19050" cap="rnd">
            <a:solidFill>
              <a:srgbClr val="4F81BD"/>
            </a:solidFill>
            <a:prstDash val="solid"/>
            <a:headEnd type="none" w="sm" len="sm"/>
            <a:tailEnd type="none" w="sm" len="sm"/>
          </a:ln>
        </p:spPr>
      </p:sp>
      <p:sp>
        <p:nvSpPr>
          <p:cNvPr id="20" name="TextBox 20"/>
          <p:cNvSpPr txBox="1"/>
          <p:nvPr/>
        </p:nvSpPr>
        <p:spPr>
          <a:xfrm>
            <a:off x="9986572" y="9579122"/>
            <a:ext cx="696612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(Peters, 2020)</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168859">
            <a:off x="1268433" y="1287669"/>
            <a:ext cx="1163962" cy="0"/>
          </a:xfrm>
          <a:prstGeom prst="line">
            <a:avLst/>
          </a:prstGeom>
          <a:ln w="47625" cap="rnd">
            <a:solidFill>
              <a:srgbClr val="8064A2"/>
            </a:solidFill>
            <a:prstDash val="solid"/>
            <a:headEnd type="none" w="sm" len="sm"/>
            <a:tailEnd type="none" w="sm" len="sm"/>
          </a:ln>
        </p:spPr>
      </p:sp>
      <p:sp>
        <p:nvSpPr>
          <p:cNvPr id="3" name="Freeform 3" descr="Data displayed on screen"/>
          <p:cNvSpPr/>
          <p:nvPr/>
        </p:nvSpPr>
        <p:spPr>
          <a:xfrm>
            <a:off x="8476488" y="10"/>
            <a:ext cx="9811512" cy="10286990"/>
          </a:xfrm>
          <a:custGeom>
            <a:avLst/>
            <a:gdLst/>
            <a:ahLst/>
            <a:cxnLst/>
            <a:rect l="l" t="t" r="r" b="b"/>
            <a:pathLst>
              <a:path w="9811512" h="10286990">
                <a:moveTo>
                  <a:pt x="0" y="0"/>
                </a:moveTo>
                <a:lnTo>
                  <a:pt x="9811512" y="0"/>
                </a:lnTo>
                <a:lnTo>
                  <a:pt x="9811512" y="10286990"/>
                </a:lnTo>
                <a:lnTo>
                  <a:pt x="0" y="10286990"/>
                </a:lnTo>
                <a:lnTo>
                  <a:pt x="0" y="0"/>
                </a:lnTo>
                <a:close/>
              </a:path>
            </a:pathLst>
          </a:custGeom>
          <a:blipFill>
            <a:blip r:embed="rId3"/>
            <a:stretch>
              <a:fillRect l="-25676" r="-31560"/>
            </a:stretch>
          </a:blipFill>
        </p:spPr>
      </p:sp>
      <p:grpSp>
        <p:nvGrpSpPr>
          <p:cNvPr id="4" name="Group 4"/>
          <p:cNvGrpSpPr/>
          <p:nvPr/>
        </p:nvGrpSpPr>
        <p:grpSpPr>
          <a:xfrm>
            <a:off x="381000" y="1409700"/>
            <a:ext cx="6293511" cy="1117763"/>
            <a:chOff x="0" y="0"/>
            <a:chExt cx="8391348" cy="1490351"/>
          </a:xfrm>
        </p:grpSpPr>
        <p:sp>
          <p:nvSpPr>
            <p:cNvPr id="5" name="Freeform 5"/>
            <p:cNvSpPr/>
            <p:nvPr/>
          </p:nvSpPr>
          <p:spPr>
            <a:xfrm>
              <a:off x="0" y="0"/>
              <a:ext cx="8391348" cy="1490351"/>
            </a:xfrm>
            <a:custGeom>
              <a:avLst/>
              <a:gdLst/>
              <a:ahLst/>
              <a:cxnLst/>
              <a:rect l="l" t="t" r="r" b="b"/>
              <a:pathLst>
                <a:path w="8391348" h="1490351">
                  <a:moveTo>
                    <a:pt x="0" y="0"/>
                  </a:moveTo>
                  <a:lnTo>
                    <a:pt x="8391348" y="0"/>
                  </a:lnTo>
                  <a:lnTo>
                    <a:pt x="8391348" y="1490351"/>
                  </a:lnTo>
                  <a:lnTo>
                    <a:pt x="0" y="1490351"/>
                  </a:lnTo>
                  <a:close/>
                </a:path>
              </a:pathLst>
            </a:custGeom>
          </p:spPr>
        </p:sp>
        <p:sp>
          <p:nvSpPr>
            <p:cNvPr id="6" name="TextBox 6"/>
            <p:cNvSpPr txBox="1"/>
            <p:nvPr/>
          </p:nvSpPr>
          <p:spPr>
            <a:xfrm>
              <a:off x="0" y="-114300"/>
              <a:ext cx="8391348" cy="1604651"/>
            </a:xfrm>
            <a:prstGeom prst="rect">
              <a:avLst/>
            </a:prstGeom>
          </p:spPr>
          <p:txBody>
            <a:bodyPr lIns="0" tIns="0" rIns="0" bIns="0" rtlCol="0" anchor="b"/>
            <a:lstStyle/>
            <a:p>
              <a:pPr algn="l">
                <a:lnSpc>
                  <a:spcPts val="6100"/>
                </a:lnSpc>
              </a:pPr>
              <a:r>
                <a:rPr lang="en-US" sz="4499" b="1">
                  <a:solidFill>
                    <a:srgbClr val="000000"/>
                  </a:solidFill>
                  <a:latin typeface="Poppins Bold"/>
                  <a:ea typeface="Poppins Bold"/>
                  <a:cs typeface="Poppins Bold"/>
                  <a:sym typeface="Poppins Bold"/>
                </a:rPr>
                <a:t>Common Issues</a:t>
              </a:r>
            </a:p>
          </p:txBody>
        </p:sp>
      </p:grpSp>
      <p:grpSp>
        <p:nvGrpSpPr>
          <p:cNvPr id="7" name="Group 7"/>
          <p:cNvGrpSpPr/>
          <p:nvPr/>
        </p:nvGrpSpPr>
        <p:grpSpPr>
          <a:xfrm>
            <a:off x="381000" y="2527463"/>
            <a:ext cx="7118975" cy="6733008"/>
            <a:chOff x="0" y="0"/>
            <a:chExt cx="9491967" cy="8977344"/>
          </a:xfrm>
        </p:grpSpPr>
        <p:sp>
          <p:nvSpPr>
            <p:cNvPr id="8" name="Freeform 8"/>
            <p:cNvSpPr/>
            <p:nvPr/>
          </p:nvSpPr>
          <p:spPr>
            <a:xfrm>
              <a:off x="0" y="0"/>
              <a:ext cx="9491966" cy="8977344"/>
            </a:xfrm>
            <a:custGeom>
              <a:avLst/>
              <a:gdLst/>
              <a:ahLst/>
              <a:cxnLst/>
              <a:rect l="l" t="t" r="r" b="b"/>
              <a:pathLst>
                <a:path w="9491966" h="8977344">
                  <a:moveTo>
                    <a:pt x="0" y="0"/>
                  </a:moveTo>
                  <a:lnTo>
                    <a:pt x="9491966" y="0"/>
                  </a:lnTo>
                  <a:lnTo>
                    <a:pt x="9491966" y="8977344"/>
                  </a:lnTo>
                  <a:lnTo>
                    <a:pt x="0" y="8977344"/>
                  </a:lnTo>
                  <a:close/>
                </a:path>
              </a:pathLst>
            </a:custGeom>
          </p:spPr>
        </p:sp>
        <p:sp>
          <p:nvSpPr>
            <p:cNvPr id="9" name="TextBox 9"/>
            <p:cNvSpPr txBox="1"/>
            <p:nvPr/>
          </p:nvSpPr>
          <p:spPr>
            <a:xfrm>
              <a:off x="0" y="-104775"/>
              <a:ext cx="9491967" cy="9082119"/>
            </a:xfrm>
            <a:prstGeom prst="rect">
              <a:avLst/>
            </a:prstGeom>
          </p:spPr>
          <p:txBody>
            <a:bodyPr lIns="0" tIns="0" rIns="0" bIns="0" rtlCol="0" anchor="t"/>
            <a:lstStyle/>
            <a:p>
              <a:pPr marL="539749" lvl="1" indent="-269875" algn="just">
                <a:lnSpc>
                  <a:spcPts val="3567"/>
                </a:lnSpc>
                <a:buFont typeface="Arial"/>
                <a:buChar char="•"/>
              </a:pPr>
              <a:r>
                <a:rPr lang="en-US" sz="2499">
                  <a:solidFill>
                    <a:srgbClr val="000000"/>
                  </a:solidFill>
                  <a:latin typeface="Arial MT Pro"/>
                  <a:ea typeface="Arial MT Pro"/>
                  <a:cs typeface="Arial MT Pro"/>
                  <a:sym typeface="Arial MT Pro"/>
                </a:rPr>
                <a:t>Cleaning and preparing data for analysis can be time-consuming and mundane, as they must ensure data accuracy and consistency.</a:t>
              </a:r>
            </a:p>
            <a:p>
              <a:pPr marL="539749" lvl="1" indent="-269875" algn="just">
                <a:lnSpc>
                  <a:spcPts val="3567"/>
                </a:lnSpc>
                <a:buFont typeface="Arial"/>
                <a:buChar char="•"/>
              </a:pPr>
              <a:r>
                <a:rPr lang="en-US" sz="2499">
                  <a:solidFill>
                    <a:srgbClr val="000000"/>
                  </a:solidFill>
                  <a:latin typeface="Arial MT Pro"/>
                  <a:ea typeface="Arial MT Pro"/>
                  <a:cs typeface="Arial MT Pro"/>
                  <a:sym typeface="Arial MT Pro"/>
                </a:rPr>
                <a:t>Difficulty in communicating complex technical data issues to non-technical stakeholders, such as business executives or clients.</a:t>
              </a:r>
            </a:p>
            <a:p>
              <a:pPr marL="539749" lvl="1" indent="-269875" algn="just">
                <a:lnSpc>
                  <a:spcPts val="3567"/>
                </a:lnSpc>
                <a:buFont typeface="Arial"/>
                <a:buChar char="•"/>
              </a:pPr>
              <a:r>
                <a:rPr lang="en-US" sz="2499">
                  <a:solidFill>
                    <a:srgbClr val="000000"/>
                  </a:solidFill>
                  <a:latin typeface="Arial MT Pro"/>
                  <a:ea typeface="Arial MT Pro"/>
                  <a:cs typeface="Arial MT Pro"/>
                  <a:sym typeface="Arial MT Pro"/>
                </a:rPr>
                <a:t>As organizations move to cloud-based data systems, data specialists must ensure data security amidst increasing cyber threats. </a:t>
              </a:r>
            </a:p>
            <a:p>
              <a:pPr marL="539749" lvl="1" indent="-269875" algn="just">
                <a:lnSpc>
                  <a:spcPts val="3567"/>
                </a:lnSpc>
                <a:buFont typeface="Arial"/>
                <a:buChar char="•"/>
              </a:pPr>
              <a:r>
                <a:rPr lang="en-US" sz="2499">
                  <a:solidFill>
                    <a:srgbClr val="000000"/>
                  </a:solidFill>
                  <a:latin typeface="Arial MT Pro"/>
                  <a:ea typeface="Arial MT Pro"/>
                  <a:cs typeface="Arial MT Pro"/>
                  <a:sym typeface="Arial MT Pro"/>
                </a:rPr>
                <a:t>They have to manage and extract data from multiple sources and formats. Integrating these sources into a cohesive and unified data platform can be a complicated and tedious process.</a:t>
              </a:r>
            </a:p>
          </p:txBody>
        </p:sp>
      </p:grpSp>
      <p:sp>
        <p:nvSpPr>
          <p:cNvPr id="10" name="TextBox 10"/>
          <p:cNvSpPr txBox="1"/>
          <p:nvPr/>
        </p:nvSpPr>
        <p:spPr>
          <a:xfrm>
            <a:off x="1028700" y="9701537"/>
            <a:ext cx="696612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(Sheriff, 2020)</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69135" y="372129"/>
            <a:ext cx="1162558" cy="57150"/>
          </a:xfrm>
          <a:prstGeom prst="line">
            <a:avLst/>
          </a:prstGeom>
          <a:ln w="47625" cap="rnd">
            <a:solidFill>
              <a:srgbClr val="8064A2"/>
            </a:solidFill>
            <a:prstDash val="solid"/>
            <a:headEnd type="none" w="sm" len="sm"/>
            <a:tailEnd type="none" w="sm" len="sm"/>
          </a:ln>
        </p:spPr>
      </p:sp>
      <p:sp>
        <p:nvSpPr>
          <p:cNvPr id="3" name="Freeform 3" descr="Data displayed on screen"/>
          <p:cNvSpPr/>
          <p:nvPr/>
        </p:nvSpPr>
        <p:spPr>
          <a:xfrm>
            <a:off x="8476488" y="10"/>
            <a:ext cx="9811512" cy="10286990"/>
          </a:xfrm>
          <a:custGeom>
            <a:avLst/>
            <a:gdLst/>
            <a:ahLst/>
            <a:cxnLst/>
            <a:rect l="l" t="t" r="r" b="b"/>
            <a:pathLst>
              <a:path w="9811512" h="10286990">
                <a:moveTo>
                  <a:pt x="0" y="0"/>
                </a:moveTo>
                <a:lnTo>
                  <a:pt x="9811512" y="0"/>
                </a:lnTo>
                <a:lnTo>
                  <a:pt x="9811512" y="10286990"/>
                </a:lnTo>
                <a:lnTo>
                  <a:pt x="0" y="10286990"/>
                </a:lnTo>
                <a:lnTo>
                  <a:pt x="0" y="0"/>
                </a:lnTo>
                <a:close/>
              </a:path>
            </a:pathLst>
          </a:custGeom>
          <a:blipFill>
            <a:blip r:embed="rId3"/>
            <a:stretch>
              <a:fillRect l="-25676" r="-31560"/>
            </a:stretch>
          </a:blipFill>
        </p:spPr>
      </p:sp>
      <p:grpSp>
        <p:nvGrpSpPr>
          <p:cNvPr id="4" name="Group 4"/>
          <p:cNvGrpSpPr/>
          <p:nvPr/>
        </p:nvGrpSpPr>
        <p:grpSpPr>
          <a:xfrm>
            <a:off x="670385" y="429279"/>
            <a:ext cx="7682756" cy="1889288"/>
            <a:chOff x="0" y="0"/>
            <a:chExt cx="10243675" cy="2519051"/>
          </a:xfrm>
        </p:grpSpPr>
        <p:sp>
          <p:nvSpPr>
            <p:cNvPr id="5" name="Freeform 5"/>
            <p:cNvSpPr/>
            <p:nvPr/>
          </p:nvSpPr>
          <p:spPr>
            <a:xfrm>
              <a:off x="0" y="0"/>
              <a:ext cx="10243675" cy="2519051"/>
            </a:xfrm>
            <a:custGeom>
              <a:avLst/>
              <a:gdLst/>
              <a:ahLst/>
              <a:cxnLst/>
              <a:rect l="l" t="t" r="r" b="b"/>
              <a:pathLst>
                <a:path w="10243675" h="2519051">
                  <a:moveTo>
                    <a:pt x="0" y="0"/>
                  </a:moveTo>
                  <a:lnTo>
                    <a:pt x="10243675" y="0"/>
                  </a:lnTo>
                  <a:lnTo>
                    <a:pt x="10243675" y="2519051"/>
                  </a:lnTo>
                  <a:lnTo>
                    <a:pt x="0" y="2519051"/>
                  </a:lnTo>
                  <a:close/>
                </a:path>
              </a:pathLst>
            </a:custGeom>
          </p:spPr>
        </p:sp>
        <p:sp>
          <p:nvSpPr>
            <p:cNvPr id="6" name="TextBox 6"/>
            <p:cNvSpPr txBox="1"/>
            <p:nvPr/>
          </p:nvSpPr>
          <p:spPr>
            <a:xfrm>
              <a:off x="0" y="-114300"/>
              <a:ext cx="10243675" cy="2633351"/>
            </a:xfrm>
            <a:prstGeom prst="rect">
              <a:avLst/>
            </a:prstGeom>
          </p:spPr>
          <p:txBody>
            <a:bodyPr lIns="0" tIns="0" rIns="0" bIns="0" rtlCol="0" anchor="b"/>
            <a:lstStyle/>
            <a:p>
              <a:pPr algn="l">
                <a:lnSpc>
                  <a:spcPts val="6100"/>
                </a:lnSpc>
              </a:pPr>
              <a:r>
                <a:rPr lang="en-US" sz="4499" b="1">
                  <a:solidFill>
                    <a:srgbClr val="000000"/>
                  </a:solidFill>
                  <a:latin typeface="Poppins Bold"/>
                  <a:ea typeface="Poppins Bold"/>
                  <a:cs typeface="Poppins Bold"/>
                  <a:sym typeface="Poppins Bold"/>
                </a:rPr>
                <a:t>Impact of Key Issues on Data-Driven Culture</a:t>
              </a:r>
            </a:p>
          </p:txBody>
        </p:sp>
      </p:grpSp>
      <p:grpSp>
        <p:nvGrpSpPr>
          <p:cNvPr id="7" name="Group 7"/>
          <p:cNvGrpSpPr/>
          <p:nvPr/>
        </p:nvGrpSpPr>
        <p:grpSpPr>
          <a:xfrm>
            <a:off x="381000" y="2270894"/>
            <a:ext cx="7118975" cy="7011772"/>
            <a:chOff x="0" y="0"/>
            <a:chExt cx="9491967" cy="9349029"/>
          </a:xfrm>
        </p:grpSpPr>
        <p:sp>
          <p:nvSpPr>
            <p:cNvPr id="8" name="Freeform 8"/>
            <p:cNvSpPr/>
            <p:nvPr/>
          </p:nvSpPr>
          <p:spPr>
            <a:xfrm>
              <a:off x="0" y="0"/>
              <a:ext cx="9491966" cy="9349029"/>
            </a:xfrm>
            <a:custGeom>
              <a:avLst/>
              <a:gdLst/>
              <a:ahLst/>
              <a:cxnLst/>
              <a:rect l="l" t="t" r="r" b="b"/>
              <a:pathLst>
                <a:path w="9491966" h="9349029">
                  <a:moveTo>
                    <a:pt x="0" y="0"/>
                  </a:moveTo>
                  <a:lnTo>
                    <a:pt x="9491966" y="0"/>
                  </a:lnTo>
                  <a:lnTo>
                    <a:pt x="9491966" y="9349029"/>
                  </a:lnTo>
                  <a:lnTo>
                    <a:pt x="0" y="9349029"/>
                  </a:lnTo>
                  <a:close/>
                </a:path>
              </a:pathLst>
            </a:custGeom>
          </p:spPr>
        </p:sp>
        <p:sp>
          <p:nvSpPr>
            <p:cNvPr id="9" name="TextBox 9"/>
            <p:cNvSpPr txBox="1"/>
            <p:nvPr/>
          </p:nvSpPr>
          <p:spPr>
            <a:xfrm>
              <a:off x="0" y="-114300"/>
              <a:ext cx="9491967" cy="9463329"/>
            </a:xfrm>
            <a:prstGeom prst="rect">
              <a:avLst/>
            </a:prstGeom>
          </p:spPr>
          <p:txBody>
            <a:bodyPr lIns="0" tIns="0" rIns="0" bIns="0" rtlCol="0" anchor="t"/>
            <a:lstStyle/>
            <a:p>
              <a:pPr marL="561339" lvl="1" indent="-280669" algn="just">
                <a:lnSpc>
                  <a:spcPts val="3710"/>
                </a:lnSpc>
                <a:buFont typeface="Arial"/>
                <a:buChar char="•"/>
              </a:pPr>
              <a:r>
                <a:rPr lang="en-US" sz="2599">
                  <a:solidFill>
                    <a:srgbClr val="000000"/>
                  </a:solidFill>
                  <a:latin typeface="Arial MT Pro"/>
                  <a:ea typeface="Arial MT Pro"/>
                  <a:cs typeface="Arial MT Pro"/>
                  <a:sym typeface="Arial MT Pro"/>
                </a:rPr>
                <a:t>Reduced productivity since data preparation, handling multiple data sources, and dealing with security concerns consume a large portion of a data specialist’s time.</a:t>
              </a:r>
            </a:p>
            <a:p>
              <a:pPr marL="561339" lvl="1" indent="-280669" algn="just">
                <a:lnSpc>
                  <a:spcPts val="3710"/>
                </a:lnSpc>
                <a:buFont typeface="Arial"/>
                <a:buChar char="•"/>
              </a:pPr>
              <a:r>
                <a:rPr lang="en-US" sz="2599">
                  <a:solidFill>
                    <a:srgbClr val="000000"/>
                  </a:solidFill>
                  <a:latin typeface="Arial MT Pro"/>
                  <a:ea typeface="Arial MT Pro"/>
                  <a:cs typeface="Arial MT Pro"/>
                  <a:sym typeface="Arial MT Pro"/>
                </a:rPr>
                <a:t>Inconsistent and inaccurate data resulting from fragmented sources leads to poor insights and misguided business decisions.</a:t>
              </a:r>
            </a:p>
            <a:p>
              <a:pPr marL="561339" lvl="1" indent="-280669" algn="just">
                <a:lnSpc>
                  <a:spcPts val="3710"/>
                </a:lnSpc>
                <a:buFont typeface="Arial"/>
                <a:buChar char="•"/>
              </a:pPr>
              <a:r>
                <a:rPr lang="en-US" sz="2599">
                  <a:solidFill>
                    <a:srgbClr val="000000"/>
                  </a:solidFill>
                  <a:latin typeface="Arial MT Pro"/>
                  <a:ea typeface="Arial MT Pro"/>
                  <a:cs typeface="Arial MT Pro"/>
                  <a:sym typeface="Arial MT Pro"/>
                </a:rPr>
                <a:t>Data specialists facing unclear roles and excessive responsibilities, like data preparation and model building, are prone to burnout and job dissatisfaction.</a:t>
              </a:r>
            </a:p>
            <a:p>
              <a:pPr marL="561339" lvl="1" indent="-280669" algn="just">
                <a:lnSpc>
                  <a:spcPts val="3710"/>
                </a:lnSpc>
                <a:buFont typeface="Arial"/>
                <a:buChar char="•"/>
              </a:pPr>
              <a:r>
                <a:rPr lang="en-US" sz="2599">
                  <a:solidFill>
                    <a:srgbClr val="000000"/>
                  </a:solidFill>
                  <a:latin typeface="Arial MT Pro"/>
                  <a:ea typeface="Arial MT Pro"/>
                  <a:cs typeface="Arial MT Pro"/>
                  <a:sym typeface="Arial MT Pro"/>
                </a:rPr>
                <a:t>Undefined KPIs and unclear business objectives cause data specialists to work on tasks that do not contribute to organizational goals, wasting valuable resources.</a:t>
              </a:r>
            </a:p>
          </p:txBody>
        </p:sp>
      </p:grpSp>
      <p:sp>
        <p:nvSpPr>
          <p:cNvPr id="10" name="TextBox 10"/>
          <p:cNvSpPr txBox="1"/>
          <p:nvPr/>
        </p:nvSpPr>
        <p:spPr>
          <a:xfrm>
            <a:off x="1028700" y="9701537"/>
            <a:ext cx="696612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(Sheriff, 2020)</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36938"/>
            <a:ext cx="16095390" cy="6574355"/>
            <a:chOff x="0" y="0"/>
            <a:chExt cx="21460520" cy="8765806"/>
          </a:xfrm>
        </p:grpSpPr>
        <p:sp>
          <p:nvSpPr>
            <p:cNvPr id="3" name="Freeform 3"/>
            <p:cNvSpPr/>
            <p:nvPr/>
          </p:nvSpPr>
          <p:spPr>
            <a:xfrm>
              <a:off x="0" y="0"/>
              <a:ext cx="21460521" cy="8765806"/>
            </a:xfrm>
            <a:custGeom>
              <a:avLst/>
              <a:gdLst/>
              <a:ahLst/>
              <a:cxnLst/>
              <a:rect l="l" t="t" r="r" b="b"/>
              <a:pathLst>
                <a:path w="21460521" h="8765806">
                  <a:moveTo>
                    <a:pt x="0" y="0"/>
                  </a:moveTo>
                  <a:lnTo>
                    <a:pt x="21460521" y="0"/>
                  </a:lnTo>
                  <a:lnTo>
                    <a:pt x="21460521" y="8765806"/>
                  </a:lnTo>
                  <a:lnTo>
                    <a:pt x="0" y="8765806"/>
                  </a:lnTo>
                  <a:close/>
                </a:path>
              </a:pathLst>
            </a:custGeom>
          </p:spPr>
        </p:sp>
        <p:sp>
          <p:nvSpPr>
            <p:cNvPr id="4" name="TextBox 4"/>
            <p:cNvSpPr txBox="1"/>
            <p:nvPr/>
          </p:nvSpPr>
          <p:spPr>
            <a:xfrm>
              <a:off x="0" y="-114300"/>
              <a:ext cx="21460520" cy="8880106"/>
            </a:xfrm>
            <a:prstGeom prst="rect">
              <a:avLst/>
            </a:prstGeom>
          </p:spPr>
          <p:txBody>
            <a:bodyPr lIns="0" tIns="0" rIns="0" bIns="0" rtlCol="0" anchor="t"/>
            <a:lstStyle/>
            <a:p>
              <a:pPr marL="604521" lvl="1" indent="-302261" algn="just">
                <a:lnSpc>
                  <a:spcPts val="3997"/>
                </a:lnSpc>
                <a:buAutoNum type="arabicPeriod"/>
              </a:pPr>
              <a:r>
                <a:rPr lang="en-US" sz="2800" b="1">
                  <a:solidFill>
                    <a:srgbClr val="000000"/>
                  </a:solidFill>
                  <a:latin typeface="Arial MT Pro Bold"/>
                  <a:ea typeface="Arial MT Pro Bold"/>
                  <a:cs typeface="Arial MT Pro Bold"/>
                  <a:sym typeface="Arial MT Pro Bold"/>
                </a:rPr>
                <a:t>Creating a Compliance Framework: </a:t>
              </a:r>
              <a:r>
                <a:rPr lang="en-US" sz="2800" u="none">
                  <a:solidFill>
                    <a:srgbClr val="000000"/>
                  </a:solidFill>
                  <a:latin typeface="Arial MT Pro"/>
                  <a:ea typeface="Arial MT Pro"/>
                  <a:cs typeface="Arial MT Pro"/>
                  <a:sym typeface="Arial MT Pro"/>
                </a:rPr>
                <a:t>Data </a:t>
              </a:r>
              <a:r>
                <a:rPr lang="en-US" sz="2800">
                  <a:solidFill>
                    <a:srgbClr val="000000"/>
                  </a:solidFill>
                  <a:latin typeface="Arial MT Pro"/>
                  <a:ea typeface="Arial MT Pro"/>
                  <a:cs typeface="Arial MT Pro"/>
                  <a:sym typeface="Arial MT Pro"/>
                </a:rPr>
                <a:t>sp</a:t>
              </a:r>
              <a:r>
                <a:rPr lang="en-US" sz="2800" u="none">
                  <a:solidFill>
                    <a:srgbClr val="000000"/>
                  </a:solidFill>
                  <a:latin typeface="Arial MT Pro"/>
                  <a:ea typeface="Arial MT Pro"/>
                  <a:cs typeface="Arial MT Pro"/>
                  <a:sym typeface="Arial MT Pro"/>
                </a:rPr>
                <a:t>ec</a:t>
              </a:r>
              <a:r>
                <a:rPr lang="en-US" sz="2800">
                  <a:solidFill>
                    <a:srgbClr val="000000"/>
                  </a:solidFill>
                  <a:latin typeface="Arial MT Pro"/>
                  <a:ea typeface="Arial MT Pro"/>
                  <a:cs typeface="Arial MT Pro"/>
                  <a:sym typeface="Arial MT Pro"/>
                </a:rPr>
                <a:t>i</a:t>
              </a:r>
              <a:r>
                <a:rPr lang="en-US" sz="2800" u="none">
                  <a:solidFill>
                    <a:srgbClr val="000000"/>
                  </a:solidFill>
                  <a:latin typeface="Arial MT Pro"/>
                  <a:ea typeface="Arial MT Pro"/>
                  <a:cs typeface="Arial MT Pro"/>
                  <a:sym typeface="Arial MT Pro"/>
                </a:rPr>
                <a:t>a</a:t>
              </a:r>
              <a:r>
                <a:rPr lang="en-US" sz="2800">
                  <a:solidFill>
                    <a:srgbClr val="000000"/>
                  </a:solidFill>
                  <a:latin typeface="Arial MT Pro"/>
                  <a:ea typeface="Arial MT Pro"/>
                  <a:cs typeface="Arial MT Pro"/>
                  <a:sym typeface="Arial MT Pro"/>
                </a:rPr>
                <a:t>list</a:t>
              </a:r>
              <a:r>
                <a:rPr lang="en-US" sz="2800" u="none">
                  <a:solidFill>
                    <a:srgbClr val="000000"/>
                  </a:solidFill>
                  <a:latin typeface="Arial MT Pro"/>
                  <a:ea typeface="Arial MT Pro"/>
                  <a:cs typeface="Arial MT Pro"/>
                  <a:sym typeface="Arial MT Pro"/>
                </a:rPr>
                <a:t>s </a:t>
              </a:r>
              <a:r>
                <a:rPr lang="en-US" sz="2800">
                  <a:solidFill>
                    <a:srgbClr val="000000"/>
                  </a:solidFill>
                  <a:latin typeface="Arial MT Pro"/>
                  <a:ea typeface="Arial MT Pro"/>
                  <a:cs typeface="Arial MT Pro"/>
                  <a:sym typeface="Arial MT Pro"/>
                </a:rPr>
                <a:t>establish a structured framework that outlines how to address compliance regulations, evaluate internal privacy controls, and ensure data security, particularly for sensitive data.</a:t>
              </a:r>
            </a:p>
            <a:p>
              <a:pPr marL="604521" lvl="1" indent="-302261" algn="just">
                <a:lnSpc>
                  <a:spcPts val="3995"/>
                </a:lnSpc>
                <a:buAutoNum type="arabicPeriod"/>
              </a:pPr>
              <a:r>
                <a:rPr lang="en-US" sz="2800" b="1">
                  <a:solidFill>
                    <a:srgbClr val="000000"/>
                  </a:solidFill>
                  <a:latin typeface="Arial MT Pro Bold"/>
                  <a:ea typeface="Arial MT Pro Bold"/>
                  <a:cs typeface="Arial MT Pro Bold"/>
                  <a:sym typeface="Arial MT Pro Bold"/>
                </a:rPr>
                <a:t>Defining Data Collection Policies: </a:t>
              </a:r>
              <a:r>
                <a:rPr lang="en-US" sz="2800">
                  <a:solidFill>
                    <a:srgbClr val="000000"/>
                  </a:solidFill>
                  <a:latin typeface="Arial MT Pro"/>
                  <a:ea typeface="Arial MT Pro"/>
                  <a:cs typeface="Arial MT Pro"/>
                  <a:sym typeface="Arial MT Pro"/>
                </a:rPr>
                <a:t>It’s essential t</a:t>
              </a:r>
              <a:r>
                <a:rPr lang="en-US" sz="2800" u="none">
                  <a:solidFill>
                    <a:srgbClr val="000000"/>
                  </a:solidFill>
                  <a:latin typeface="Arial MT Pro"/>
                  <a:ea typeface="Arial MT Pro"/>
                  <a:cs typeface="Arial MT Pro"/>
                  <a:sym typeface="Arial MT Pro"/>
                </a:rPr>
                <a:t>o </a:t>
              </a:r>
              <a:r>
                <a:rPr lang="en-US" sz="2800">
                  <a:solidFill>
                    <a:srgbClr val="000000"/>
                  </a:solidFill>
                  <a:latin typeface="Arial MT Pro"/>
                  <a:ea typeface="Arial MT Pro"/>
                  <a:cs typeface="Arial MT Pro"/>
                  <a:sym typeface="Arial MT Pro"/>
                </a:rPr>
                <a:t>docu</a:t>
              </a:r>
              <a:r>
                <a:rPr lang="en-US" sz="2800" u="none">
                  <a:solidFill>
                    <a:srgbClr val="000000"/>
                  </a:solidFill>
                  <a:latin typeface="Arial MT Pro"/>
                  <a:ea typeface="Arial MT Pro"/>
                  <a:cs typeface="Arial MT Pro"/>
                  <a:sym typeface="Arial MT Pro"/>
                </a:rPr>
                <a:t>ment </a:t>
              </a:r>
              <a:r>
                <a:rPr lang="en-US" sz="2800">
                  <a:solidFill>
                    <a:srgbClr val="000000"/>
                  </a:solidFill>
                  <a:latin typeface="Arial MT Pro"/>
                  <a:ea typeface="Arial MT Pro"/>
                  <a:cs typeface="Arial MT Pro"/>
                  <a:sym typeface="Arial MT Pro"/>
                </a:rPr>
                <a:t>what data is being collected and the purpose behind its collection. This step ensures transparency and helps meet regulatory requirements, especially if the data involves personal or consumer information.</a:t>
              </a:r>
            </a:p>
            <a:p>
              <a:pPr marL="604521" lvl="1" indent="-302261" algn="just">
                <a:lnSpc>
                  <a:spcPts val="3995"/>
                </a:lnSpc>
                <a:buAutoNum type="arabicPeriod"/>
              </a:pPr>
              <a:r>
                <a:rPr lang="en-US" sz="2800" b="1">
                  <a:solidFill>
                    <a:srgbClr val="000000"/>
                  </a:solidFill>
                  <a:latin typeface="Arial MT Pro Bold"/>
                  <a:ea typeface="Arial MT Pro Bold"/>
                  <a:cs typeface="Arial MT Pro Bold"/>
                  <a:sym typeface="Arial MT Pro Bold"/>
                </a:rPr>
                <a:t>Developing Privacy Policies:</a:t>
              </a:r>
              <a:r>
                <a:rPr lang="en-US" sz="2800">
                  <a:solidFill>
                    <a:srgbClr val="000000"/>
                  </a:solidFill>
                  <a:latin typeface="Arial MT Pro"/>
                  <a:ea typeface="Arial MT Pro"/>
                  <a:cs typeface="Arial MT Pro"/>
                  <a:sym typeface="Arial MT Pro"/>
                </a:rPr>
                <a:t> Clear privacy policies </a:t>
              </a:r>
              <a:r>
                <a:rPr lang="en-US" sz="2800" u="none">
                  <a:solidFill>
                    <a:srgbClr val="000000"/>
                  </a:solidFill>
                  <a:latin typeface="Arial MT Pro"/>
                  <a:ea typeface="Arial MT Pro"/>
                  <a:cs typeface="Arial MT Pro"/>
                  <a:sym typeface="Arial MT Pro"/>
                </a:rPr>
                <a:t>a</a:t>
              </a:r>
              <a:r>
                <a:rPr lang="en-US" sz="2800">
                  <a:solidFill>
                    <a:srgbClr val="000000"/>
                  </a:solidFill>
                  <a:latin typeface="Arial MT Pro"/>
                  <a:ea typeface="Arial MT Pro"/>
                  <a:cs typeface="Arial MT Pro"/>
                  <a:sym typeface="Arial MT Pro"/>
                </a:rPr>
                <a:t>re</a:t>
              </a:r>
              <a:r>
                <a:rPr lang="en-US" sz="2800" u="none">
                  <a:solidFill>
                    <a:srgbClr val="000000"/>
                  </a:solidFill>
                  <a:latin typeface="Arial MT Pro"/>
                  <a:ea typeface="Arial MT Pro"/>
                  <a:cs typeface="Arial MT Pro"/>
                  <a:sym typeface="Arial MT Pro"/>
                </a:rPr>
                <a:t> c</a:t>
              </a:r>
              <a:r>
                <a:rPr lang="en-US" sz="2800">
                  <a:solidFill>
                    <a:srgbClr val="000000"/>
                  </a:solidFill>
                  <a:latin typeface="Arial MT Pro"/>
                  <a:ea typeface="Arial MT Pro"/>
                  <a:cs typeface="Arial MT Pro"/>
                  <a:sym typeface="Arial MT Pro"/>
                </a:rPr>
                <a:t>r</a:t>
              </a:r>
              <a:r>
                <a:rPr lang="en-US" sz="2800" u="none">
                  <a:solidFill>
                    <a:srgbClr val="000000"/>
                  </a:solidFill>
                  <a:latin typeface="Arial MT Pro"/>
                  <a:ea typeface="Arial MT Pro"/>
                  <a:cs typeface="Arial MT Pro"/>
                  <a:sym typeface="Arial MT Pro"/>
                </a:rPr>
                <a:t>ea</a:t>
              </a:r>
              <a:r>
                <a:rPr lang="en-US" sz="2800">
                  <a:solidFill>
                    <a:srgbClr val="000000"/>
                  </a:solidFill>
                  <a:latin typeface="Arial MT Pro"/>
                  <a:ea typeface="Arial MT Pro"/>
                  <a:cs typeface="Arial MT Pro"/>
                  <a:sym typeface="Arial MT Pro"/>
                </a:rPr>
                <a:t>te</a:t>
              </a:r>
              <a:r>
                <a:rPr lang="en-US" sz="2800" u="none">
                  <a:solidFill>
                    <a:srgbClr val="000000"/>
                  </a:solidFill>
                  <a:latin typeface="Arial MT Pro"/>
                  <a:ea typeface="Arial MT Pro"/>
                  <a:cs typeface="Arial MT Pro"/>
                  <a:sym typeface="Arial MT Pro"/>
                </a:rPr>
                <a:t>d to in</a:t>
              </a:r>
              <a:r>
                <a:rPr lang="en-US" sz="2800">
                  <a:solidFill>
                    <a:srgbClr val="000000"/>
                  </a:solidFill>
                  <a:latin typeface="Arial MT Pro"/>
                  <a:ea typeface="Arial MT Pro"/>
                  <a:cs typeface="Arial MT Pro"/>
                  <a:sym typeface="Arial MT Pro"/>
                </a:rPr>
                <a:t>form </a:t>
              </a:r>
              <a:r>
                <a:rPr lang="en-US" sz="2800" u="none">
                  <a:solidFill>
                    <a:srgbClr val="000000"/>
                  </a:solidFill>
                  <a:latin typeface="Arial MT Pro"/>
                  <a:ea typeface="Arial MT Pro"/>
                  <a:cs typeface="Arial MT Pro"/>
                  <a:sym typeface="Arial MT Pro"/>
                </a:rPr>
                <a:t>c</a:t>
              </a:r>
              <a:r>
                <a:rPr lang="en-US" sz="2800">
                  <a:solidFill>
                    <a:srgbClr val="000000"/>
                  </a:solidFill>
                  <a:latin typeface="Arial MT Pro"/>
                  <a:ea typeface="Arial MT Pro"/>
                  <a:cs typeface="Arial MT Pro"/>
                  <a:sym typeface="Arial MT Pro"/>
                </a:rPr>
                <a:t>ustom</a:t>
              </a:r>
              <a:r>
                <a:rPr lang="en-US" sz="2800" u="none">
                  <a:solidFill>
                    <a:srgbClr val="000000"/>
                  </a:solidFill>
                  <a:latin typeface="Arial MT Pro"/>
                  <a:ea typeface="Arial MT Pro"/>
                  <a:cs typeface="Arial MT Pro"/>
                  <a:sym typeface="Arial MT Pro"/>
                </a:rPr>
                <a:t>ers</a:t>
              </a:r>
              <a:r>
                <a:rPr lang="en-US" sz="2800">
                  <a:solidFill>
                    <a:srgbClr val="000000"/>
                  </a:solidFill>
                  <a:latin typeface="Arial MT Pro"/>
                  <a:ea typeface="Arial MT Pro"/>
                  <a:cs typeface="Arial MT Pro"/>
                  <a:sym typeface="Arial MT Pro"/>
                </a:rPr>
                <a:t> about what data is being collected, how it will be used, stored, and for how long.</a:t>
              </a:r>
            </a:p>
            <a:p>
              <a:pPr marL="604521" lvl="1" indent="-302261" algn="just">
                <a:lnSpc>
                  <a:spcPts val="3995"/>
                </a:lnSpc>
                <a:buAutoNum type="arabicPeriod"/>
              </a:pPr>
              <a:r>
                <a:rPr lang="en-US" sz="2800" b="1">
                  <a:solidFill>
                    <a:srgbClr val="000000"/>
                  </a:solidFill>
                  <a:latin typeface="Arial MT Pro Bold"/>
                  <a:ea typeface="Arial MT Pro Bold"/>
                  <a:cs typeface="Arial MT Pro Bold"/>
                  <a:sym typeface="Arial MT Pro Bold"/>
                </a:rPr>
                <a:t>Commitment to Disclosures:</a:t>
              </a:r>
              <a:r>
                <a:rPr lang="en-US" sz="2800">
                  <a:solidFill>
                    <a:srgbClr val="000000"/>
                  </a:solidFill>
                  <a:latin typeface="Arial MT Pro"/>
                  <a:ea typeface="Arial MT Pro"/>
                  <a:cs typeface="Arial MT Pro"/>
                  <a:sym typeface="Arial MT Pro"/>
                </a:rPr>
                <a:t> Data specialists ensure that privacy policies are publicly available and easily accessible to customers, maintaining transparency and fostering trust.</a:t>
              </a:r>
            </a:p>
            <a:p>
              <a:pPr marL="604521" lvl="1" indent="-302261" algn="just">
                <a:lnSpc>
                  <a:spcPts val="3995"/>
                </a:lnSpc>
                <a:buAutoNum type="arabicPeriod"/>
              </a:pPr>
              <a:r>
                <a:rPr lang="en-US" sz="2800" b="1">
                  <a:solidFill>
                    <a:srgbClr val="000000"/>
                  </a:solidFill>
                  <a:latin typeface="Arial MT Pro Bold"/>
                  <a:ea typeface="Arial MT Pro Bold"/>
                  <a:cs typeface="Arial MT Pro Bold"/>
                  <a:sym typeface="Arial MT Pro Bold"/>
                </a:rPr>
                <a:t>Staying Updated with Regulations:</a:t>
              </a:r>
              <a:r>
                <a:rPr lang="en-US" sz="2800">
                  <a:solidFill>
                    <a:srgbClr val="000000"/>
                  </a:solidFill>
                  <a:latin typeface="Arial MT Pro"/>
                  <a:ea typeface="Arial MT Pro"/>
                  <a:cs typeface="Arial MT Pro"/>
                  <a:sym typeface="Arial MT Pro"/>
                </a:rPr>
                <a:t> Data specialists monitor and adapt to the constantly evolving data protection regulations, ensuring the organization’s compliance practices are up-to-date and aligned with the latest legal requirements.</a:t>
              </a:r>
            </a:p>
          </p:txBody>
        </p:sp>
      </p:grpSp>
      <p:grpSp>
        <p:nvGrpSpPr>
          <p:cNvPr id="5" name="Group 5"/>
          <p:cNvGrpSpPr/>
          <p:nvPr/>
        </p:nvGrpSpPr>
        <p:grpSpPr>
          <a:xfrm>
            <a:off x="1028700" y="1019175"/>
            <a:ext cx="7081258" cy="1117763"/>
            <a:chOff x="0" y="0"/>
            <a:chExt cx="9441677" cy="1490351"/>
          </a:xfrm>
        </p:grpSpPr>
        <p:sp>
          <p:nvSpPr>
            <p:cNvPr id="6" name="Freeform 6"/>
            <p:cNvSpPr/>
            <p:nvPr/>
          </p:nvSpPr>
          <p:spPr>
            <a:xfrm>
              <a:off x="0" y="0"/>
              <a:ext cx="9441677" cy="1490351"/>
            </a:xfrm>
            <a:custGeom>
              <a:avLst/>
              <a:gdLst/>
              <a:ahLst/>
              <a:cxnLst/>
              <a:rect l="l" t="t" r="r" b="b"/>
              <a:pathLst>
                <a:path w="9441677" h="1490351">
                  <a:moveTo>
                    <a:pt x="0" y="0"/>
                  </a:moveTo>
                  <a:lnTo>
                    <a:pt x="9441677" y="0"/>
                  </a:lnTo>
                  <a:lnTo>
                    <a:pt x="9441677" y="1490351"/>
                  </a:lnTo>
                  <a:lnTo>
                    <a:pt x="0" y="1490351"/>
                  </a:lnTo>
                  <a:close/>
                </a:path>
              </a:pathLst>
            </a:custGeom>
          </p:spPr>
        </p:sp>
        <p:sp>
          <p:nvSpPr>
            <p:cNvPr id="7" name="TextBox 7"/>
            <p:cNvSpPr txBox="1"/>
            <p:nvPr/>
          </p:nvSpPr>
          <p:spPr>
            <a:xfrm>
              <a:off x="0" y="-114300"/>
              <a:ext cx="9441677"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Data Compliance</a:t>
              </a:r>
            </a:p>
          </p:txBody>
        </p:sp>
      </p:grpSp>
      <p:sp>
        <p:nvSpPr>
          <p:cNvPr id="8" name="TextBox 8"/>
          <p:cNvSpPr txBox="1"/>
          <p:nvPr/>
        </p:nvSpPr>
        <p:spPr>
          <a:xfrm>
            <a:off x="10940875" y="9191625"/>
            <a:ext cx="6966125" cy="318770"/>
          </a:xfrm>
          <a:prstGeom prst="rect">
            <a:avLst/>
          </a:prstGeom>
        </p:spPr>
        <p:txBody>
          <a:bodyPr lIns="0" tIns="0" rIns="0" bIns="0" rtlCol="0" anchor="t">
            <a:spAutoFit/>
          </a:bodyPr>
          <a:lstStyle/>
          <a:p>
            <a:pPr algn="r">
              <a:lnSpc>
                <a:spcPts val="2380"/>
              </a:lnSpc>
              <a:spcBef>
                <a:spcPct val="0"/>
              </a:spcBef>
            </a:pPr>
            <a:r>
              <a:rPr lang="en-US" sz="1700" i="1">
                <a:solidFill>
                  <a:srgbClr val="000000"/>
                </a:solidFill>
                <a:latin typeface="Arial MT Pro Italics"/>
                <a:ea typeface="Arial MT Pro Italics"/>
                <a:cs typeface="Arial MT Pro Italics"/>
                <a:sym typeface="Arial MT Pro Italics"/>
              </a:rPr>
              <a:t>(Stone, 2022)</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436370"/>
            <a:ext cx="16875878" cy="8564880"/>
            <a:chOff x="0" y="0"/>
            <a:chExt cx="22501171" cy="11419840"/>
          </a:xfrm>
        </p:grpSpPr>
        <p:sp>
          <p:nvSpPr>
            <p:cNvPr id="3" name="Freeform 3"/>
            <p:cNvSpPr/>
            <p:nvPr/>
          </p:nvSpPr>
          <p:spPr>
            <a:xfrm>
              <a:off x="0" y="0"/>
              <a:ext cx="22501171" cy="11419840"/>
            </a:xfrm>
            <a:custGeom>
              <a:avLst/>
              <a:gdLst/>
              <a:ahLst/>
              <a:cxnLst/>
              <a:rect l="l" t="t" r="r" b="b"/>
              <a:pathLst>
                <a:path w="22501171" h="11419840">
                  <a:moveTo>
                    <a:pt x="0" y="0"/>
                  </a:moveTo>
                  <a:lnTo>
                    <a:pt x="22501171" y="0"/>
                  </a:lnTo>
                  <a:lnTo>
                    <a:pt x="22501171" y="11419840"/>
                  </a:lnTo>
                  <a:lnTo>
                    <a:pt x="0" y="11419840"/>
                  </a:lnTo>
                  <a:close/>
                </a:path>
              </a:pathLst>
            </a:custGeom>
          </p:spPr>
        </p:sp>
        <p:sp>
          <p:nvSpPr>
            <p:cNvPr id="4" name="TextBox 4"/>
            <p:cNvSpPr txBox="1"/>
            <p:nvPr/>
          </p:nvSpPr>
          <p:spPr>
            <a:xfrm>
              <a:off x="0" y="-76200"/>
              <a:ext cx="22501171" cy="11496040"/>
            </a:xfrm>
            <a:prstGeom prst="rect">
              <a:avLst/>
            </a:prstGeom>
          </p:spPr>
          <p:txBody>
            <a:bodyPr lIns="0" tIns="0" rIns="0" bIns="0" rtlCol="0" anchor="t"/>
            <a:lstStyle/>
            <a:p>
              <a:pPr algn="l">
                <a:lnSpc>
                  <a:spcPts val="2250"/>
                </a:lnSpc>
              </a:pPr>
              <a:r>
                <a:rPr lang="en-US" sz="1500" dirty="0" err="1">
                  <a:solidFill>
                    <a:srgbClr val="000000"/>
                  </a:solidFill>
                  <a:latin typeface="Arial MT Pro"/>
                  <a:ea typeface="Arial MT Pro"/>
                  <a:cs typeface="Arial MT Pro"/>
                  <a:sym typeface="Arial MT Pro"/>
                </a:rPr>
                <a:t>Felipe_Esc</a:t>
              </a:r>
              <a:r>
                <a:rPr lang="en-US" sz="1500" dirty="0">
                  <a:solidFill>
                    <a:srgbClr val="000000"/>
                  </a:solidFill>
                  <a:latin typeface="Arial MT Pro"/>
                  <a:ea typeface="Arial MT Pro"/>
                  <a:cs typeface="Arial MT Pro"/>
                  <a:sym typeface="Arial MT Pro"/>
                </a:rPr>
                <a:t> (2021) </a:t>
              </a:r>
              <a:r>
                <a:rPr lang="en-US" sz="1500" i="1" dirty="0">
                  <a:solidFill>
                    <a:srgbClr val="000000"/>
                  </a:solidFill>
                  <a:latin typeface="Arial MT Pro Italics"/>
                  <a:ea typeface="Arial MT Pro Italics"/>
                  <a:cs typeface="Arial MT Pro Italics"/>
                  <a:sym typeface="Arial MT Pro Italics"/>
                </a:rPr>
                <a:t>Shark attack dataset</a:t>
              </a:r>
              <a:r>
                <a:rPr lang="en-US" sz="1500" dirty="0">
                  <a:solidFill>
                    <a:srgbClr val="000000"/>
                  </a:solidFill>
                  <a:latin typeface="Arial MT Pro"/>
                  <a:ea typeface="Arial MT Pro"/>
                  <a:cs typeface="Arial MT Pro"/>
                  <a:sym typeface="Arial MT Pro"/>
                </a:rPr>
                <a:t>. [Online] Kaggle.com. Available from : https://www.kaggle.com/datasets/felipeesc/shark-attack-dataset/data [Accessed 08/04/25].</a:t>
              </a:r>
            </a:p>
            <a:p>
              <a:pPr algn="l">
                <a:lnSpc>
                  <a:spcPts val="2250"/>
                </a:lnSpc>
              </a:pPr>
              <a:r>
                <a:rPr lang="en-US" sz="1500" dirty="0">
                  <a:solidFill>
                    <a:srgbClr val="000000"/>
                  </a:solidFill>
                  <a:latin typeface="Arial MT Pro"/>
                  <a:ea typeface="Arial MT Pro"/>
                  <a:cs typeface="Arial MT Pro"/>
                  <a:sym typeface="Arial MT Pro"/>
                </a:rPr>
                <a:t>‌</a:t>
              </a:r>
              <a:r>
                <a:rPr lang="en-US" sz="1500" dirty="0" err="1">
                  <a:solidFill>
                    <a:srgbClr val="000000"/>
                  </a:solidFill>
                  <a:latin typeface="Arial MT Pro"/>
                  <a:ea typeface="Arial MT Pro"/>
                  <a:cs typeface="Arial MT Pro"/>
                  <a:sym typeface="Arial MT Pro"/>
                </a:rPr>
                <a:t>GeeksforGeeks</a:t>
              </a:r>
              <a:r>
                <a:rPr lang="en-US" sz="1500" dirty="0">
                  <a:solidFill>
                    <a:srgbClr val="000000"/>
                  </a:solidFill>
                  <a:latin typeface="Arial MT Pro"/>
                  <a:ea typeface="Arial MT Pro"/>
                  <a:cs typeface="Arial MT Pro"/>
                  <a:sym typeface="Arial MT Pro"/>
                </a:rPr>
                <a:t> (2018) Clustering in Machine Learning. [Online] </a:t>
              </a:r>
              <a:r>
                <a:rPr lang="en-US" sz="1500" dirty="0" err="1">
                  <a:solidFill>
                    <a:srgbClr val="000000"/>
                  </a:solidFill>
                  <a:latin typeface="Arial MT Pro"/>
                  <a:ea typeface="Arial MT Pro"/>
                  <a:cs typeface="Arial MT Pro"/>
                  <a:sym typeface="Arial MT Pro"/>
                </a:rPr>
                <a:t>GeeksforGeeks</a:t>
              </a:r>
              <a:r>
                <a:rPr lang="en-US" sz="1500" dirty="0">
                  <a:solidFill>
                    <a:srgbClr val="000000"/>
                  </a:solidFill>
                  <a:latin typeface="Arial MT Pro"/>
                  <a:ea typeface="Arial MT Pro"/>
                  <a:cs typeface="Arial MT Pro"/>
                  <a:sym typeface="Arial MT Pro"/>
                </a:rPr>
                <a:t>. Available from : https://www.geeksforgeeks.org/clustering-in-machine-learning/ [Accessed 09/04/25].</a:t>
              </a:r>
            </a:p>
            <a:p>
              <a:pPr algn="l">
                <a:lnSpc>
                  <a:spcPts val="2250"/>
                </a:lnSpc>
              </a:pPr>
              <a:r>
                <a:rPr lang="en-US" sz="1500" dirty="0">
                  <a:solidFill>
                    <a:srgbClr val="000000"/>
                  </a:solidFill>
                  <a:latin typeface="Arial MT Pro"/>
                  <a:ea typeface="Arial MT Pro"/>
                  <a:cs typeface="Arial MT Pro"/>
                  <a:sym typeface="Arial MT Pro"/>
                </a:rPr>
                <a:t>Cote, K., (2021) What Is Prescriptive Analytics? 6 Examples | HBS Online. [Online] Business Insights Blog. Available from : https://online.hbs.edu/blog/post/prescriptive-analytics [Accessed 09/04/25].</a:t>
              </a:r>
            </a:p>
            <a:p>
              <a:pPr algn="l">
                <a:lnSpc>
                  <a:spcPts val="2250"/>
                </a:lnSpc>
              </a:pPr>
              <a:r>
                <a:rPr lang="en-US" sz="1500" dirty="0">
                  <a:solidFill>
                    <a:srgbClr val="000000"/>
                  </a:solidFill>
                  <a:latin typeface="Arial MT Pro"/>
                  <a:ea typeface="Arial MT Pro"/>
                  <a:cs typeface="Arial MT Pro"/>
                  <a:sym typeface="Arial MT Pro"/>
                </a:rPr>
                <a:t>Cote, K., (2021)What Is Predictive Analytics? 5 Examples | HBS Online. [Online] Business Insights Blog. Available from : https://online.hbs.edu/blog/post/predictive-analytics [Accessed 09/04/25].</a:t>
              </a:r>
            </a:p>
            <a:p>
              <a:pPr algn="l">
                <a:lnSpc>
                  <a:spcPts val="2250"/>
                </a:lnSpc>
              </a:pPr>
              <a:r>
                <a:rPr lang="en-US" sz="1500" dirty="0">
                  <a:solidFill>
                    <a:srgbClr val="000000"/>
                  </a:solidFill>
                  <a:latin typeface="Arial MT Pro"/>
                  <a:ea typeface="Arial MT Pro"/>
                  <a:cs typeface="Arial MT Pro"/>
                  <a:sym typeface="Arial MT Pro"/>
                </a:rPr>
                <a:t>Hassan, M. (2024) Prescriptive Analytics - Techniques, Tools and Examples. [Online] Research Method. Available from : https://researchmethod.net/prescriptive-analytics/ [Accessed 09/04/25].</a:t>
              </a:r>
            </a:p>
            <a:p>
              <a:pPr algn="l">
                <a:lnSpc>
                  <a:spcPts val="2250"/>
                </a:lnSpc>
              </a:pPr>
              <a:r>
                <a:rPr lang="en-US" sz="1500" dirty="0">
                  <a:solidFill>
                    <a:srgbClr val="000000"/>
                  </a:solidFill>
                  <a:latin typeface="Arial MT Pro"/>
                  <a:ea typeface="Arial MT Pro"/>
                  <a:cs typeface="Arial MT Pro"/>
                  <a:sym typeface="Arial MT Pro"/>
                </a:rPr>
                <a:t>Halton, C. (2025) Predictive Analytics: Definition, Model Types, and Uses. [Online] Investopedia. Available from : https://www.investopedia.com/terms/p/predictive-analytics.asp [Accessed 09/04/25].</a:t>
              </a:r>
            </a:p>
            <a:p>
              <a:pPr algn="l">
                <a:lnSpc>
                  <a:spcPts val="2250"/>
                </a:lnSpc>
              </a:pPr>
              <a:r>
                <a:rPr lang="en-US" sz="1500" dirty="0">
                  <a:solidFill>
                    <a:srgbClr val="000000"/>
                  </a:solidFill>
                  <a:latin typeface="Arial MT Pro"/>
                  <a:ea typeface="Arial MT Pro"/>
                  <a:cs typeface="Arial MT Pro"/>
                  <a:sym typeface="Arial MT Pro"/>
                </a:rPr>
                <a:t>IBM (2024) Prescriptive analytics. [Online] Ibm.com. Available from : https://www.ibm.com/think/topics/prescriptive-analytics[Accessed 09/04/25].</a:t>
              </a:r>
            </a:p>
            <a:p>
              <a:pPr algn="l">
                <a:lnSpc>
                  <a:spcPts val="2250"/>
                </a:lnSpc>
              </a:pPr>
              <a:r>
                <a:rPr lang="en-US" sz="1500" dirty="0">
                  <a:solidFill>
                    <a:srgbClr val="000000"/>
                  </a:solidFill>
                  <a:latin typeface="Arial MT Pro"/>
                  <a:ea typeface="Arial MT Pro"/>
                  <a:cs typeface="Arial MT Pro"/>
                  <a:sym typeface="Arial MT Pro"/>
                </a:rPr>
                <a:t>Edwards, J. and Thor </a:t>
              </a:r>
              <a:r>
                <a:rPr lang="en-US" sz="1500" dirty="0" err="1">
                  <a:solidFill>
                    <a:srgbClr val="000000"/>
                  </a:solidFill>
                  <a:latin typeface="Arial MT Pro"/>
                  <a:ea typeface="Arial MT Pro"/>
                  <a:cs typeface="Arial MT Pro"/>
                  <a:sym typeface="Arial MT Pro"/>
                </a:rPr>
                <a:t>Olavsrud</a:t>
              </a:r>
              <a:r>
                <a:rPr lang="en-US" sz="1500" dirty="0">
                  <a:solidFill>
                    <a:srgbClr val="000000"/>
                  </a:solidFill>
                  <a:latin typeface="Arial MT Pro"/>
                  <a:ea typeface="Arial MT Pro"/>
                  <a:cs typeface="Arial MT Pro"/>
                  <a:sym typeface="Arial MT Pro"/>
                </a:rPr>
                <a:t> (2019) What is predictive analytics? Transforming data into future insights. [Online] CIO. Available from : https://www.cio.com/article/228901/what-is-predictive-analytics-transforming-data-into-future-insights.html [Accessed 09/04/25].</a:t>
              </a:r>
            </a:p>
            <a:p>
              <a:pPr algn="l">
                <a:lnSpc>
                  <a:spcPts val="2250"/>
                </a:lnSpc>
              </a:pPr>
              <a:r>
                <a:rPr lang="en-US" sz="1500" dirty="0">
                  <a:solidFill>
                    <a:srgbClr val="000000"/>
                  </a:solidFill>
                  <a:latin typeface="Arial MT Pro"/>
                  <a:ea typeface="Arial MT Pro"/>
                  <a:cs typeface="Arial MT Pro"/>
                  <a:sym typeface="Arial MT Pro"/>
                </a:rPr>
                <a:t>Chabrier (2021) Pros and Cons of different Prescriptive Analytics technologies. [</a:t>
              </a:r>
              <a:r>
                <a:rPr lang="en-US" sz="1500" dirty="0" err="1">
                  <a:solidFill>
                    <a:srgbClr val="000000"/>
                  </a:solidFill>
                  <a:latin typeface="Arial MT Pro"/>
                  <a:ea typeface="Arial MT Pro"/>
                  <a:cs typeface="Arial MT Pro"/>
                  <a:sym typeface="Arial MT Pro"/>
                </a:rPr>
                <a:t>Onlin</a:t>
              </a:r>
              <a:endParaRPr lang="en-US" sz="1500" dirty="0">
                <a:solidFill>
                  <a:srgbClr val="000000"/>
                </a:solidFill>
                <a:latin typeface="Arial MT Pro"/>
                <a:ea typeface="Arial MT Pro"/>
                <a:cs typeface="Arial MT Pro"/>
                <a:sym typeface="Arial MT Pro"/>
              </a:endParaRPr>
            </a:p>
            <a:p>
              <a:pPr algn="l">
                <a:lnSpc>
                  <a:spcPts val="2250"/>
                </a:lnSpc>
              </a:pPr>
              <a:r>
                <a:rPr lang="en-US" sz="1500" dirty="0">
                  <a:solidFill>
                    <a:srgbClr val="000000"/>
                  </a:solidFill>
                  <a:latin typeface="Arial MT Pro"/>
                  <a:ea typeface="Arial MT Pro"/>
                  <a:cs typeface="Arial MT Pro"/>
                  <a:sym typeface="Arial MT Pro"/>
                </a:rPr>
                <a:t>Gajjar, J. and Jacques, M. (2016) [Online] SlideShare. </a:t>
              </a:r>
              <a:r>
                <a:rPr lang="en-US" sz="1500" dirty="0" err="1">
                  <a:solidFill>
                    <a:srgbClr val="000000"/>
                  </a:solidFill>
                  <a:latin typeface="Arial MT Pro"/>
                  <a:ea typeface="Arial MT Pro"/>
                  <a:cs typeface="Arial MT Pro"/>
                  <a:sym typeface="Arial MT Pro"/>
                </a:rPr>
                <a:t>vailable</a:t>
              </a:r>
              <a:r>
                <a:rPr lang="en-US" sz="1500" dirty="0">
                  <a:solidFill>
                    <a:srgbClr val="000000"/>
                  </a:solidFill>
                  <a:latin typeface="Arial MT Pro"/>
                  <a:ea typeface="Arial MT Pro"/>
                  <a:cs typeface="Arial MT Pro"/>
                  <a:sym typeface="Arial MT Pro"/>
                </a:rPr>
                <a:t> from : https://www.slideshare.net/slideshow/ceo-regression-analysis/58334028 [Accessed 09/04/25].</a:t>
              </a:r>
            </a:p>
            <a:p>
              <a:pPr algn="l">
                <a:lnSpc>
                  <a:spcPts val="2250"/>
                </a:lnSpc>
              </a:pPr>
              <a:r>
                <a:rPr lang="en-US" sz="1500" dirty="0">
                  <a:solidFill>
                    <a:srgbClr val="000000"/>
                  </a:solidFill>
                  <a:latin typeface="Arial MT Pro"/>
                  <a:ea typeface="Arial MT Pro"/>
                  <a:cs typeface="Arial MT Pro"/>
                  <a:sym typeface="Arial MT Pro"/>
                </a:rPr>
                <a:t>‌</a:t>
              </a:r>
              <a:r>
                <a:rPr lang="en-US" sz="1500" dirty="0" err="1">
                  <a:solidFill>
                    <a:srgbClr val="000000"/>
                  </a:solidFill>
                  <a:latin typeface="Arial MT Pro"/>
                  <a:ea typeface="Arial MT Pro"/>
                  <a:cs typeface="Arial MT Pro"/>
                  <a:sym typeface="Arial MT Pro"/>
                </a:rPr>
                <a:t>mljourney</a:t>
              </a:r>
              <a:r>
                <a:rPr lang="en-US" sz="1500" dirty="0">
                  <a:solidFill>
                    <a:srgbClr val="000000"/>
                  </a:solidFill>
                  <a:latin typeface="Arial MT Pro"/>
                  <a:ea typeface="Arial MT Pro"/>
                  <a:cs typeface="Arial MT Pro"/>
                  <a:sym typeface="Arial MT Pro"/>
                </a:rPr>
                <a:t> (2024) Decision Tree Real Life Examples - ML Journey. [Online] ML Journey. Available from : https://mljourney.com/decision-tree-real-life-examples/ [Accessed 09/04/25].</a:t>
              </a:r>
            </a:p>
            <a:p>
              <a:pPr algn="l">
                <a:lnSpc>
                  <a:spcPts val="2250"/>
                </a:lnSpc>
              </a:pPr>
              <a:r>
                <a:rPr lang="en-US" sz="1500" dirty="0">
                  <a:solidFill>
                    <a:srgbClr val="000000"/>
                  </a:solidFill>
                  <a:latin typeface="Arial MT Pro"/>
                  <a:ea typeface="Arial MT Pro"/>
                  <a:cs typeface="Arial MT Pro"/>
                  <a:sym typeface="Arial MT Pro"/>
                </a:rPr>
                <a:t>IBM (2021) Decision tree. [Online] Ibm.com. Available from : https://www.ibm.com/think/topics/decision-trees [Accessed 09/04/25].</a:t>
              </a:r>
            </a:p>
            <a:p>
              <a:pPr algn="l">
                <a:lnSpc>
                  <a:spcPts val="2250"/>
                </a:lnSpc>
              </a:pPr>
              <a:r>
                <a:rPr lang="en-US" sz="1500" dirty="0">
                  <a:solidFill>
                    <a:srgbClr val="000000"/>
                  </a:solidFill>
                  <a:latin typeface="Arial MT Pro"/>
                  <a:ea typeface="Arial MT Pro"/>
                  <a:cs typeface="Arial MT Pro"/>
                  <a:sym typeface="Arial MT Pro"/>
                </a:rPr>
                <a:t>What Is Regression Analysis? Types, Importance, and Benefits. (2023) [Online] G2. Available from : https://www.g2.com/articles/regression-analysis [Accessed 09/04/25].</a:t>
              </a:r>
            </a:p>
            <a:p>
              <a:pPr algn="l">
                <a:lnSpc>
                  <a:spcPts val="2250"/>
                </a:lnSpc>
              </a:pPr>
              <a:r>
                <a:rPr lang="en-US" sz="1500" dirty="0" err="1">
                  <a:solidFill>
                    <a:srgbClr val="000000"/>
                  </a:solidFill>
                  <a:latin typeface="Arial MT Pro"/>
                  <a:ea typeface="Arial MT Pro"/>
                  <a:cs typeface="Arial MT Pro"/>
                  <a:sym typeface="Arial MT Pro"/>
                </a:rPr>
                <a:t>GeeksforGeeks</a:t>
              </a:r>
              <a:r>
                <a:rPr lang="en-US" sz="1500" dirty="0">
                  <a:solidFill>
                    <a:srgbClr val="000000"/>
                  </a:solidFill>
                  <a:latin typeface="Arial MT Pro"/>
                  <a:ea typeface="Arial MT Pro"/>
                  <a:cs typeface="Arial MT Pro"/>
                  <a:sym typeface="Arial MT Pro"/>
                </a:rPr>
                <a:t> (2018) Clustering in Machine Learning. [Online] </a:t>
              </a:r>
              <a:r>
                <a:rPr lang="en-US" sz="1500" dirty="0" err="1">
                  <a:solidFill>
                    <a:srgbClr val="000000"/>
                  </a:solidFill>
                  <a:latin typeface="Arial MT Pro"/>
                  <a:ea typeface="Arial MT Pro"/>
                  <a:cs typeface="Arial MT Pro"/>
                  <a:sym typeface="Arial MT Pro"/>
                </a:rPr>
                <a:t>GeeksforGeeks</a:t>
              </a:r>
              <a:r>
                <a:rPr lang="en-US" sz="1500" dirty="0">
                  <a:solidFill>
                    <a:srgbClr val="000000"/>
                  </a:solidFill>
                  <a:latin typeface="Arial MT Pro"/>
                  <a:ea typeface="Arial MT Pro"/>
                  <a:cs typeface="Arial MT Pro"/>
                  <a:sym typeface="Arial MT Pro"/>
                </a:rPr>
                <a:t>. Availa</a:t>
              </a:r>
            </a:p>
            <a:p>
              <a:pPr algn="l">
                <a:lnSpc>
                  <a:spcPts val="2250"/>
                </a:lnSpc>
              </a:pPr>
              <a:r>
                <a:rPr lang="en-US" sz="1500" dirty="0" err="1">
                  <a:solidFill>
                    <a:srgbClr val="000000"/>
                  </a:solidFill>
                  <a:latin typeface="Arial MT Pro"/>
                  <a:ea typeface="Arial MT Pro"/>
                  <a:cs typeface="Arial MT Pro"/>
                  <a:sym typeface="Arial MT Pro"/>
                </a:rPr>
                <a:t>ble</a:t>
              </a:r>
              <a:r>
                <a:rPr lang="en-US" sz="1500" dirty="0">
                  <a:solidFill>
                    <a:srgbClr val="000000"/>
                  </a:solidFill>
                  <a:latin typeface="Arial MT Pro"/>
                  <a:ea typeface="Arial MT Pro"/>
                  <a:cs typeface="Arial MT Pro"/>
                  <a:sym typeface="Arial MT Pro"/>
                </a:rPr>
                <a:t> from : https://www.geeksforgeeks.org/clustering-in-machine-learning/ [Accessed 09/04/25].</a:t>
              </a:r>
            </a:p>
            <a:p>
              <a:pPr algn="l">
                <a:lnSpc>
                  <a:spcPts val="2250"/>
                </a:lnSpc>
              </a:pPr>
              <a:r>
                <a:rPr lang="en-US" sz="1500" dirty="0">
                  <a:solidFill>
                    <a:srgbClr val="000000"/>
                  </a:solidFill>
                  <a:latin typeface="Arial MT Pro"/>
                  <a:ea typeface="Arial MT Pro"/>
                  <a:cs typeface="Arial MT Pro"/>
                  <a:sym typeface="Arial MT Pro"/>
                </a:rPr>
                <a:t>Hassan, M. (2024) Regression Analysis - Methods, Types and Examples. [Online] Research Method. Available from : https://researchmethod.net/regression-analysis/ [Accessed 09/04/25].</a:t>
              </a:r>
            </a:p>
            <a:p>
              <a:pPr algn="l">
                <a:lnSpc>
                  <a:spcPts val="2250"/>
                </a:lnSpc>
              </a:pPr>
              <a:r>
                <a:rPr lang="en-US" sz="1500" dirty="0">
                  <a:solidFill>
                    <a:srgbClr val="000000"/>
                  </a:solidFill>
                  <a:latin typeface="Arial MT Pro"/>
                  <a:ea typeface="Arial MT Pro"/>
                  <a:cs typeface="Arial MT Pro"/>
                  <a:sym typeface="Arial MT Pro"/>
                </a:rPr>
                <a:t>Youssef </a:t>
              </a:r>
              <a:r>
                <a:rPr lang="en-US" sz="1500" dirty="0" err="1">
                  <a:solidFill>
                    <a:srgbClr val="000000"/>
                  </a:solidFill>
                  <a:latin typeface="Arial MT Pro"/>
                  <a:ea typeface="Arial MT Pro"/>
                  <a:cs typeface="Arial MT Pro"/>
                  <a:sym typeface="Arial MT Pro"/>
                </a:rPr>
                <a:t>Fenjiro</a:t>
              </a:r>
              <a:r>
                <a:rPr lang="en-US" sz="1500" dirty="0">
                  <a:solidFill>
                    <a:srgbClr val="000000"/>
                  </a:solidFill>
                  <a:latin typeface="Arial MT Pro"/>
                  <a:ea typeface="Arial MT Pro"/>
                  <a:cs typeface="Arial MT Pro"/>
                  <a:sym typeface="Arial MT Pro"/>
                </a:rPr>
                <a:t> (2018) Machine learning for Banking: Loan approval use case. [Online] Medium. </a:t>
              </a:r>
              <a:r>
                <a:rPr lang="en-US" sz="1500">
                  <a:solidFill>
                    <a:srgbClr val="000000"/>
                  </a:solidFill>
                  <a:latin typeface="Arial MT Pro"/>
                  <a:ea typeface="Arial MT Pro"/>
                  <a:cs typeface="Arial MT Pro"/>
                  <a:sym typeface="Arial MT Pro"/>
                </a:rPr>
                <a:t>Available from : https://medium.com/@fenjiro/data-mining-for-banking-loan-approval-use-case-e7c2bc3ece3 [Accessed 09/04/25].</a:t>
              </a:r>
            </a:p>
            <a:p>
              <a:pPr algn="l">
                <a:lnSpc>
                  <a:spcPts val="2250"/>
                </a:lnSpc>
              </a:pPr>
              <a:r>
                <a:rPr lang="en-US" sz="1500" dirty="0">
                  <a:solidFill>
                    <a:srgbClr val="000000"/>
                  </a:solidFill>
                  <a:latin typeface="Arial MT Pro"/>
                  <a:ea typeface="Arial MT Pro"/>
                  <a:cs typeface="Arial MT Pro"/>
                  <a:sym typeface="Arial MT Pro"/>
                </a:rPr>
                <a:t>Quilty, F. (2022) Clustering: The New World Of Retail Product Segmentation. [Online] Forbes. Available from : https://www.forbes.com/councils/forbestechcouncil/2022/04/20/clustering-the-new-world-of-retail-product-segmentation/ [Accessed 09/04/25].</a:t>
              </a:r>
            </a:p>
            <a:p>
              <a:pPr algn="l">
                <a:lnSpc>
                  <a:spcPts val="2250"/>
                </a:lnSpc>
              </a:pPr>
              <a:r>
                <a:rPr lang="en-US" sz="1500" dirty="0">
                  <a:solidFill>
                    <a:srgbClr val="000000"/>
                  </a:solidFill>
                  <a:latin typeface="Arial MT Pro"/>
                  <a:ea typeface="Arial MT Pro"/>
                  <a:cs typeface="Arial MT Pro"/>
                  <a:sym typeface="Arial MT Pro"/>
                </a:rPr>
                <a:t>Naveen Kumar K (2019) Case Study : Customer Segmentation of E-Commerce data using Clustering Algorithms : Step by Step explanation for Beginners. [Online] Medium. Available from : https://medium.com/@naveeen.kumar.k/case-study-customer-segmentation-of-e-commerce-data-using-clustering-algorithms-step-by-step-1098ef49424b [Accessed 09/04/25].</a:t>
              </a:r>
            </a:p>
            <a:p>
              <a:pPr algn="l">
                <a:lnSpc>
                  <a:spcPts val="2250"/>
                </a:lnSpc>
              </a:pPr>
              <a:r>
                <a:rPr lang="en-US" sz="1500" dirty="0">
                  <a:solidFill>
                    <a:srgbClr val="000000"/>
                  </a:solidFill>
                  <a:latin typeface="Arial MT Pro"/>
                  <a:ea typeface="Arial MT Pro"/>
                  <a:cs typeface="Arial MT Pro"/>
                  <a:sym typeface="Arial MT Pro"/>
                </a:rPr>
                <a:t>e] Medium. Available from : https://medium.com/ibm-data-ai/pros-and-cons-of-different-prescriptive-analytics-technologies-10514098399a [Accessed 09/04/25]</a:t>
              </a:r>
            </a:p>
            <a:p>
              <a:pPr algn="l">
                <a:lnSpc>
                  <a:spcPts val="2250"/>
                </a:lnSpc>
              </a:pPr>
              <a:r>
                <a:rPr lang="en-US" sz="1500" dirty="0">
                  <a:solidFill>
                    <a:srgbClr val="000000"/>
                  </a:solidFill>
                  <a:latin typeface="Arial MT Pro"/>
                  <a:ea typeface="Arial MT Pro"/>
                  <a:cs typeface="Arial MT Pro"/>
                  <a:sym typeface="Arial MT Pro"/>
                </a:rPr>
                <a:t>Peters, P. (2020) Data Specialist Job Description. [Online] </a:t>
              </a:r>
              <a:r>
                <a:rPr lang="en-US" sz="1500" dirty="0" err="1">
                  <a:solidFill>
                    <a:srgbClr val="000000"/>
                  </a:solidFill>
                  <a:latin typeface="Arial MT Pro"/>
                  <a:ea typeface="Arial MT Pro"/>
                  <a:cs typeface="Arial MT Pro"/>
                  <a:sym typeface="Arial MT Pro"/>
                </a:rPr>
                <a:t>Betterteam</a:t>
              </a:r>
              <a:r>
                <a:rPr lang="en-US" sz="1500" dirty="0">
                  <a:solidFill>
                    <a:srgbClr val="000000"/>
                  </a:solidFill>
                  <a:latin typeface="Arial MT Pro"/>
                  <a:ea typeface="Arial MT Pro"/>
                  <a:cs typeface="Arial MT Pro"/>
                  <a:sym typeface="Arial MT Pro"/>
                </a:rPr>
                <a:t>. Available from : https://www.betterteam.com/data-specialist-job-description [Accessed 09/04/25].</a:t>
              </a:r>
            </a:p>
            <a:p>
              <a:pPr algn="l">
                <a:lnSpc>
                  <a:spcPts val="2250"/>
                </a:lnSpc>
              </a:pPr>
              <a:r>
                <a:rPr lang="en-US" sz="1500" dirty="0">
                  <a:solidFill>
                    <a:srgbClr val="000000"/>
                  </a:solidFill>
                  <a:latin typeface="Arial MT Pro"/>
                  <a:ea typeface="Arial MT Pro"/>
                  <a:cs typeface="Arial MT Pro"/>
                  <a:sym typeface="Arial MT Pro"/>
                </a:rPr>
                <a:t>Sheriff, S. (2024) 8 Data Scientist Challenges in 2025: Expert Tips to Overcome. [Online] </a:t>
              </a:r>
              <a:r>
                <a:rPr lang="en-US" sz="1500" dirty="0" err="1">
                  <a:solidFill>
                    <a:srgbClr val="000000"/>
                  </a:solidFill>
                  <a:latin typeface="Arial MT Pro"/>
                  <a:ea typeface="Arial MT Pro"/>
                  <a:cs typeface="Arial MT Pro"/>
                  <a:sym typeface="Arial MT Pro"/>
                </a:rPr>
                <a:t>Acuvate</a:t>
              </a:r>
              <a:r>
                <a:rPr lang="en-US" sz="1500" dirty="0">
                  <a:solidFill>
                    <a:srgbClr val="000000"/>
                  </a:solidFill>
                  <a:latin typeface="Arial MT Pro"/>
                  <a:ea typeface="Arial MT Pro"/>
                  <a:cs typeface="Arial MT Pro"/>
                  <a:sym typeface="Arial MT Pro"/>
                </a:rPr>
                <a:t> software. Available from : https://acuvate.com/blog/challenges-faced-by-data-scientists [Accessed 09/04/25]</a:t>
              </a:r>
            </a:p>
            <a:p>
              <a:pPr algn="l">
                <a:lnSpc>
                  <a:spcPts val="2250"/>
                </a:lnSpc>
              </a:pPr>
              <a:r>
                <a:rPr lang="en-US" sz="1500" dirty="0">
                  <a:solidFill>
                    <a:srgbClr val="000000"/>
                  </a:solidFill>
                  <a:latin typeface="Arial MT Pro"/>
                  <a:ea typeface="Arial MT Pro"/>
                  <a:cs typeface="Arial MT Pro"/>
                  <a:sym typeface="Arial MT Pro"/>
                </a:rPr>
                <a:t>.Stone, A. (2022) Data Compliance Strategies: 10 Best Practices to Consider. [Online] Best Enterprise Data Storage Software, Solutions, Vendors and Platforms. Available from : https://solutionsreview.com/data-storage/data-compliance-strategies/ [Accessed 09/04/25].</a:t>
              </a:r>
            </a:p>
            <a:p>
              <a:pPr algn="l">
                <a:lnSpc>
                  <a:spcPts val="2250"/>
                </a:lnSpc>
              </a:pPr>
              <a:r>
                <a:rPr lang="en-US" sz="1500" dirty="0">
                  <a:solidFill>
                    <a:srgbClr val="000000"/>
                  </a:solidFill>
                  <a:latin typeface="Arial MT Pro"/>
                  <a:ea typeface="Arial MT Pro"/>
                  <a:cs typeface="Arial MT Pro"/>
                  <a:sym typeface="Arial MT Pro"/>
                </a:rPr>
                <a:t>‌</a:t>
              </a:r>
            </a:p>
          </p:txBody>
        </p:sp>
      </p:grpSp>
      <p:grpSp>
        <p:nvGrpSpPr>
          <p:cNvPr id="5" name="Group 5"/>
          <p:cNvGrpSpPr/>
          <p:nvPr/>
        </p:nvGrpSpPr>
        <p:grpSpPr>
          <a:xfrm>
            <a:off x="1028700" y="469818"/>
            <a:ext cx="3686542" cy="1117763"/>
            <a:chOff x="0" y="0"/>
            <a:chExt cx="4915389" cy="1490351"/>
          </a:xfrm>
        </p:grpSpPr>
        <p:sp>
          <p:nvSpPr>
            <p:cNvPr id="6" name="Freeform 6"/>
            <p:cNvSpPr/>
            <p:nvPr/>
          </p:nvSpPr>
          <p:spPr>
            <a:xfrm>
              <a:off x="0" y="0"/>
              <a:ext cx="4915389" cy="1490351"/>
            </a:xfrm>
            <a:custGeom>
              <a:avLst/>
              <a:gdLst/>
              <a:ahLst/>
              <a:cxnLst/>
              <a:rect l="l" t="t" r="r" b="b"/>
              <a:pathLst>
                <a:path w="4915389" h="1490351">
                  <a:moveTo>
                    <a:pt x="0" y="0"/>
                  </a:moveTo>
                  <a:lnTo>
                    <a:pt x="4915389" y="0"/>
                  </a:lnTo>
                  <a:lnTo>
                    <a:pt x="4915389" y="1490351"/>
                  </a:lnTo>
                  <a:lnTo>
                    <a:pt x="0" y="1490351"/>
                  </a:lnTo>
                  <a:close/>
                </a:path>
              </a:pathLst>
            </a:custGeom>
          </p:spPr>
        </p:sp>
        <p:sp>
          <p:nvSpPr>
            <p:cNvPr id="7" name="TextBox 7"/>
            <p:cNvSpPr txBox="1"/>
            <p:nvPr/>
          </p:nvSpPr>
          <p:spPr>
            <a:xfrm>
              <a:off x="0" y="-114300"/>
              <a:ext cx="4915389"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References</a:t>
              </a: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587459"/>
            <a:ext cx="3686542" cy="1117763"/>
            <a:chOff x="0" y="0"/>
            <a:chExt cx="4915389" cy="1490351"/>
          </a:xfrm>
        </p:grpSpPr>
        <p:sp>
          <p:nvSpPr>
            <p:cNvPr id="3" name="Freeform 3"/>
            <p:cNvSpPr/>
            <p:nvPr/>
          </p:nvSpPr>
          <p:spPr>
            <a:xfrm>
              <a:off x="0" y="0"/>
              <a:ext cx="4915389" cy="1490351"/>
            </a:xfrm>
            <a:custGeom>
              <a:avLst/>
              <a:gdLst/>
              <a:ahLst/>
              <a:cxnLst/>
              <a:rect l="l" t="t" r="r" b="b"/>
              <a:pathLst>
                <a:path w="4915389" h="1490351">
                  <a:moveTo>
                    <a:pt x="0" y="0"/>
                  </a:moveTo>
                  <a:lnTo>
                    <a:pt x="4915389" y="0"/>
                  </a:lnTo>
                  <a:lnTo>
                    <a:pt x="4915389" y="1490351"/>
                  </a:lnTo>
                  <a:lnTo>
                    <a:pt x="0" y="1490351"/>
                  </a:lnTo>
                  <a:close/>
                </a:path>
              </a:pathLst>
            </a:custGeom>
          </p:spPr>
        </p:sp>
        <p:sp>
          <p:nvSpPr>
            <p:cNvPr id="4" name="TextBox 4"/>
            <p:cNvSpPr txBox="1"/>
            <p:nvPr/>
          </p:nvSpPr>
          <p:spPr>
            <a:xfrm>
              <a:off x="0" y="-114300"/>
              <a:ext cx="4915389"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References</a:t>
              </a:r>
            </a:p>
          </p:txBody>
        </p:sp>
      </p:grpSp>
      <p:grpSp>
        <p:nvGrpSpPr>
          <p:cNvPr id="5" name="Group 5"/>
          <p:cNvGrpSpPr/>
          <p:nvPr/>
        </p:nvGrpSpPr>
        <p:grpSpPr>
          <a:xfrm>
            <a:off x="1028700" y="1705222"/>
            <a:ext cx="16230600" cy="9592056"/>
            <a:chOff x="0" y="0"/>
            <a:chExt cx="21640800" cy="12789408"/>
          </a:xfrm>
        </p:grpSpPr>
        <p:sp>
          <p:nvSpPr>
            <p:cNvPr id="6" name="Freeform 6"/>
            <p:cNvSpPr/>
            <p:nvPr/>
          </p:nvSpPr>
          <p:spPr>
            <a:xfrm>
              <a:off x="0" y="0"/>
              <a:ext cx="21640800" cy="12789408"/>
            </a:xfrm>
            <a:custGeom>
              <a:avLst/>
              <a:gdLst/>
              <a:ahLst/>
              <a:cxnLst/>
              <a:rect l="l" t="t" r="r" b="b"/>
              <a:pathLst>
                <a:path w="21640800" h="12789408">
                  <a:moveTo>
                    <a:pt x="0" y="0"/>
                  </a:moveTo>
                  <a:lnTo>
                    <a:pt x="21640800" y="0"/>
                  </a:lnTo>
                  <a:lnTo>
                    <a:pt x="21640800" y="12789408"/>
                  </a:lnTo>
                  <a:lnTo>
                    <a:pt x="0" y="12789408"/>
                  </a:lnTo>
                  <a:close/>
                </a:path>
              </a:pathLst>
            </a:custGeom>
          </p:spPr>
        </p:sp>
        <p:sp>
          <p:nvSpPr>
            <p:cNvPr id="7" name="TextBox 7"/>
            <p:cNvSpPr txBox="1"/>
            <p:nvPr/>
          </p:nvSpPr>
          <p:spPr>
            <a:xfrm>
              <a:off x="0" y="-76200"/>
              <a:ext cx="21640800" cy="12865608"/>
            </a:xfrm>
            <a:prstGeom prst="rect">
              <a:avLst/>
            </a:prstGeom>
          </p:spPr>
          <p:txBody>
            <a:bodyPr lIns="0" tIns="0" rIns="0" bIns="0" rtlCol="0" anchor="t"/>
            <a:lstStyle/>
            <a:p>
              <a:pPr algn="l">
                <a:lnSpc>
                  <a:spcPts val="2250"/>
                </a:lnSpc>
              </a:pPr>
              <a:r>
                <a:rPr lang="en-US" sz="1500">
                  <a:solidFill>
                    <a:srgbClr val="000000"/>
                  </a:solidFill>
                  <a:latin typeface="Arial MT Pro"/>
                  <a:ea typeface="Arial MT Pro"/>
                  <a:cs typeface="Arial MT Pro"/>
                  <a:sym typeface="Arial MT Pro"/>
                </a:rPr>
                <a:t>Kumari, R. (2021) Top 10 Companies that Uses Big Data | Analytics Steps. [Online] AnalyticsSteps. Available from : https://www.analyticssteps.com/blogs/companies-uses-big-data [Accessed 09/04/25].</a:t>
              </a:r>
            </a:p>
            <a:p>
              <a:pPr algn="l">
                <a:lnSpc>
                  <a:spcPts val="2250"/>
                </a:lnSpc>
              </a:pPr>
              <a:r>
                <a:rPr lang="en-US" sz="1500">
                  <a:solidFill>
                    <a:srgbClr val="000000"/>
                  </a:solidFill>
                  <a:latin typeface="Arial MT Pro"/>
                  <a:ea typeface="Arial MT Pro"/>
                  <a:cs typeface="Arial MT Pro"/>
                  <a:sym typeface="Arial MT Pro"/>
                </a:rPr>
                <a:t>‌The Role of Big Data in Business Decision-Making. (2025) [Online] The Data Scientist. Available from : https://thedatascientist.com/the-role-of-big-data-in-business-decision-making [Accessed 09/04/25].</a:t>
              </a:r>
            </a:p>
            <a:p>
              <a:pPr algn="l">
                <a:lnSpc>
                  <a:spcPts val="2250"/>
                </a:lnSpc>
              </a:pPr>
              <a:r>
                <a:rPr lang="en-US" sz="1500">
                  <a:solidFill>
                    <a:srgbClr val="000000"/>
                  </a:solidFill>
                  <a:latin typeface="Arial MT Pro"/>
                  <a:ea typeface="Arial MT Pro"/>
                  <a:cs typeface="Arial MT Pro"/>
                  <a:sym typeface="Arial MT Pro"/>
                </a:rPr>
                <a:t>Mucci, T. (2024) Data Driven Decision Making. [Online] Ibm.com. Available from : https://www.ibm.com/think/topics/data-driven-decision-making [Accessed 09/04/25].</a:t>
              </a:r>
            </a:p>
            <a:p>
              <a:pPr algn="l">
                <a:lnSpc>
                  <a:spcPts val="2250"/>
                </a:lnSpc>
              </a:pPr>
              <a:r>
                <a:rPr lang="en-US" sz="1500">
                  <a:solidFill>
                    <a:srgbClr val="000000"/>
                  </a:solidFill>
                  <a:latin typeface="Arial MT Pro"/>
                  <a:ea typeface="Arial MT Pro"/>
                  <a:cs typeface="Arial MT Pro"/>
                  <a:sym typeface="Arial MT Pro"/>
                </a:rPr>
                <a:t>Ticong, L. (2024) Data-Driven Decision-Making: 6 Key Steps (+ Examples). [Online] Datamation. Available from : https://www.datamation.com/big-data/data-driven-decision-making/ [Accessed 09/04/25].</a:t>
              </a:r>
            </a:p>
            <a:p>
              <a:pPr algn="l">
                <a:lnSpc>
                  <a:spcPts val="2250"/>
                </a:lnSpc>
              </a:pPr>
              <a:r>
                <a:rPr lang="en-US" sz="1500">
                  <a:solidFill>
                    <a:srgbClr val="000000"/>
                  </a:solidFill>
                  <a:latin typeface="Arial MT Pro"/>
                  <a:ea typeface="Arial MT Pro"/>
                  <a:cs typeface="Arial MT Pro"/>
                  <a:sym typeface="Arial MT Pro"/>
                </a:rPr>
                <a:t>Buijsse, R., Willemsen, M. and Snijders, C. (2023) Data-Driven Decision-Making. Classroom Companion: Business, pp. 239–277.</a:t>
              </a:r>
            </a:p>
            <a:p>
              <a:pPr algn="l">
                <a:lnSpc>
                  <a:spcPts val="2250"/>
                </a:lnSpc>
              </a:pPr>
              <a:r>
                <a:rPr lang="en-US" sz="1500">
                  <a:solidFill>
                    <a:srgbClr val="000000"/>
                  </a:solidFill>
                  <a:latin typeface="Arial MT Pro"/>
                  <a:ea typeface="Arial MT Pro"/>
                  <a:cs typeface="Arial MT Pro"/>
                  <a:sym typeface="Arial MT Pro"/>
                </a:rPr>
                <a:t>Ohaba, E. (2023) The Impact Of Big Data Analytics On Business Decision-Making. [Online] eLearning Industry. Available from : https://elearningindustry.com/the-impact-of-big-data-analytics-on-business-decision-making [Accessed 09/04/25].</a:t>
              </a:r>
            </a:p>
            <a:p>
              <a:pPr algn="l">
                <a:lnSpc>
                  <a:spcPts val="2250"/>
                </a:lnSpc>
              </a:pPr>
              <a:r>
                <a:rPr lang="en-US" sz="1500">
                  <a:solidFill>
                    <a:srgbClr val="000000"/>
                  </a:solidFill>
                  <a:latin typeface="Arial MT Pro"/>
                  <a:ea typeface="Arial MT Pro"/>
                  <a:cs typeface="Arial MT Pro"/>
                  <a:sym typeface="Arial MT Pro"/>
                </a:rPr>
                <a:t>Hillier, W. (2025) [Online] CareerFoundry. Available from : https://careerfoundry.com/en/blog/data-analytics/data-analytics-tools/ [Accessed 09/04/25].</a:t>
              </a:r>
            </a:p>
            <a:p>
              <a:pPr algn="l">
                <a:lnSpc>
                  <a:spcPts val="2250"/>
                </a:lnSpc>
              </a:pPr>
              <a:r>
                <a:rPr lang="en-US" sz="1500">
                  <a:solidFill>
                    <a:srgbClr val="000000"/>
                  </a:solidFill>
                  <a:latin typeface="Arial MT Pro"/>
                  <a:ea typeface="Arial MT Pro"/>
                  <a:cs typeface="Arial MT Pro"/>
                  <a:sym typeface="Arial MT Pro"/>
                </a:rPr>
                <a:t>7 Types of Statistical Analysis Techniques (And Process Steps). (2025) [Online] Indeed Career Guide. Available from : https://www.indeed.com/career-advice/career-development/types-of-statistical-analysis [Accessed 09/04/25].</a:t>
              </a:r>
            </a:p>
            <a:p>
              <a:pPr algn="l">
                <a:lnSpc>
                  <a:spcPts val="2250"/>
                </a:lnSpc>
              </a:pPr>
              <a:r>
                <a:rPr lang="en-US" sz="1500">
                  <a:solidFill>
                    <a:srgbClr val="000000"/>
                  </a:solidFill>
                  <a:latin typeface="Arial MT Pro"/>
                  <a:ea typeface="Arial MT Pro"/>
                  <a:cs typeface="Arial MT Pro"/>
                  <a:sym typeface="Arial MT Pro"/>
                </a:rPr>
                <a:t>GeeksforGeeks (2020) Best Data Visualization Tools for 2025. [Online] GeeksforGeeks. Available from : https://www.geeksforgeeks.org/data-visualization-tools/ [Accessed 09/04/25].</a:t>
              </a:r>
            </a:p>
            <a:p>
              <a:pPr algn="l">
                <a:lnSpc>
                  <a:spcPts val="2250"/>
                </a:lnSpc>
              </a:pPr>
              <a:r>
                <a:rPr lang="en-US" sz="1500">
                  <a:solidFill>
                    <a:srgbClr val="000000"/>
                  </a:solidFill>
                  <a:latin typeface="Arial MT Pro"/>
                  <a:ea typeface="Arial MT Pro"/>
                  <a:cs typeface="Arial MT Pro"/>
                  <a:sym typeface="Arial MT Pro"/>
                </a:rPr>
                <a:t>Writer, R.C. (2020) Big data visualization: what it is, techniques and best tools. [Online] Rock Content. Available from : https://rockcontent.com/blog/big-data-visualization/ [Accessed 09/04/25].</a:t>
              </a:r>
            </a:p>
            <a:p>
              <a:pPr algn="l">
                <a:lnSpc>
                  <a:spcPts val="2250"/>
                </a:lnSpc>
              </a:pPr>
              <a:r>
                <a:rPr lang="en-US" sz="1500">
                  <a:solidFill>
                    <a:srgbClr val="000000"/>
                  </a:solidFill>
                  <a:latin typeface="Arial MT Pro"/>
                  <a:ea typeface="Arial MT Pro"/>
                  <a:cs typeface="Arial MT Pro"/>
                  <a:sym typeface="Arial MT Pro"/>
                </a:rPr>
                <a:t>5 V’s of Big Data: Definition and Explanation. (2024) [Online] DatabaseTown. Available from : https://databasetown.com/5-vs-of-big-data-definition-and-explanation/#google_vignette [Accessed 18/04/25].</a:t>
              </a:r>
            </a:p>
            <a:p>
              <a:pPr algn="l">
                <a:lnSpc>
                  <a:spcPts val="2250"/>
                </a:lnSpc>
              </a:pPr>
              <a:r>
                <a:rPr lang="en-US" sz="1500">
                  <a:solidFill>
                    <a:srgbClr val="000000"/>
                  </a:solidFill>
                  <a:latin typeface="Arial MT Pro"/>
                  <a:ea typeface="Arial MT Pro"/>
                  <a:cs typeface="Arial MT Pro"/>
                  <a:sym typeface="Arial MT Pro"/>
                </a:rPr>
                <a:t>Mission (2025) Shark Research Institute. [Online] Shark Research Institute. Available from : https://www.sharks.org/mission-work [Accessed 20/04/25].</a:t>
              </a:r>
            </a:p>
            <a:p>
              <a:pPr algn="l">
                <a:lnSpc>
                  <a:spcPts val="2250"/>
                </a:lnSpc>
              </a:pPr>
              <a:r>
                <a:rPr lang="en-US" sz="1500">
                  <a:solidFill>
                    <a:srgbClr val="000000"/>
                  </a:solidFill>
                  <a:latin typeface="Arial MT Pro"/>
                  <a:ea typeface="Arial MT Pro"/>
                  <a:cs typeface="Arial MT Pro"/>
                  <a:sym typeface="Arial MT Pro"/>
                </a:rPr>
                <a:t>Ganesh, S. (2023) 5 Ways Big Data Can Enhance Decision-Making. [Online] Analytics Insight. Available from : https://www.analyticsinsight.net/insights/5-ways-big-data-can-enhance-decision-making [Accessed 24/04/25].</a:t>
              </a:r>
            </a:p>
            <a:p>
              <a:pPr algn="l">
                <a:lnSpc>
                  <a:spcPts val="2250"/>
                </a:lnSpc>
              </a:pPr>
              <a:r>
                <a:rPr lang="en-US" sz="1500">
                  <a:solidFill>
                    <a:srgbClr val="000000"/>
                  </a:solidFill>
                  <a:latin typeface="Arial MT Pro"/>
                  <a:ea typeface="Arial MT Pro"/>
                  <a:cs typeface="Arial MT Pro"/>
                  <a:sym typeface="Arial MT Pro"/>
                </a:rPr>
                <a:t>Cristofaro, D. (2024) The Power of Data-Driven Decisions: How Leveraging Data Leads to More Informed and Effective Business Choices. [Online] Proof Insights. Available from : https://proof-insights.com/the-power-of-data-driven-decisions-how-leveraging-data-leads-to-more-informed-and-effective-business-choices/ [Accessed 24/04/25].</a:t>
              </a:r>
            </a:p>
            <a:p>
              <a:pPr algn="l">
                <a:lnSpc>
                  <a:spcPts val="2250"/>
                </a:lnSpc>
              </a:pPr>
              <a:r>
                <a:rPr lang="en-US" sz="1500">
                  <a:solidFill>
                    <a:srgbClr val="000000"/>
                  </a:solidFill>
                  <a:latin typeface="Arial MT Pro"/>
                  <a:ea typeface="Arial MT Pro"/>
                  <a:cs typeface="Arial MT Pro"/>
                  <a:sym typeface="Arial MT Pro"/>
                </a:rPr>
                <a:t>20 Advantages and Disadvantages of Microsoft Excel. (2024) [Online] Carlos Barraza. Available from : https://barrazacarlos.com/advantages-and-disadvantages-of-microsoft-excel [Accessed 24/04/25].</a:t>
              </a:r>
            </a:p>
            <a:p>
              <a:pPr algn="l">
                <a:lnSpc>
                  <a:spcPts val="2250"/>
                </a:lnSpc>
              </a:pPr>
              <a:r>
                <a:rPr lang="en-US" sz="1500">
                  <a:solidFill>
                    <a:srgbClr val="000000"/>
                  </a:solidFill>
                  <a:latin typeface="Arial MT Pro"/>
                  <a:ea typeface="Arial MT Pro"/>
                  <a:cs typeface="Arial MT Pro"/>
                  <a:sym typeface="Arial MT Pro"/>
                </a:rPr>
                <a:t>Brownlee, J. (2020) How to Configure XGBoost for Imbalanced Classification - MachineLearningMastery.com. [Online] MachineLearningMastery.com. Available from : https://machinelearningmastery.com/xgboost-for-imbalanced-classification [Accessed 24/04/25].</a:t>
              </a:r>
            </a:p>
            <a:p>
              <a:pPr algn="l">
                <a:lnSpc>
                  <a:spcPts val="2250"/>
                </a:lnSpc>
              </a:pPr>
              <a:r>
                <a:rPr lang="en-US" sz="1500">
                  <a:solidFill>
                    <a:srgbClr val="000000"/>
                  </a:solidFill>
                  <a:latin typeface="Arial MT Pro"/>
                  <a:ea typeface="Arial MT Pro"/>
                  <a:cs typeface="Arial MT Pro"/>
                  <a:sym typeface="Arial MT Pro"/>
                </a:rPr>
                <a:t>Challenges in Data Analytics Implementation and How To Overcome Them. (2025a) [Online] Intone Networks. Available from : https://intone.com/challenges-in-data-analytics-implementation-and-how-to-overcome-them/.</a:t>
              </a:r>
            </a:p>
            <a:p>
              <a:pPr algn="l">
                <a:lnSpc>
                  <a:spcPts val="2250"/>
                </a:lnSpc>
              </a:pPr>
              <a:endParaRPr lang="en-US" sz="1500">
                <a:solidFill>
                  <a:srgbClr val="000000"/>
                </a:solidFill>
                <a:latin typeface="Arial MT Pro"/>
                <a:ea typeface="Arial MT Pro"/>
                <a:cs typeface="Arial MT Pro"/>
                <a:sym typeface="Arial MT Pro"/>
              </a:endParaRPr>
            </a:p>
            <a:p>
              <a:pPr algn="l">
                <a:lnSpc>
                  <a:spcPts val="2250"/>
                </a:lnSpc>
              </a:pPr>
              <a:r>
                <a:rPr lang="en-US" sz="1500">
                  <a:solidFill>
                    <a:srgbClr val="000000"/>
                  </a:solidFill>
                  <a:latin typeface="Arial MT Pro"/>
                  <a:ea typeface="Arial MT Pro"/>
                  <a:cs typeface="Arial MT Pro"/>
                  <a:sym typeface="Arial MT Pro"/>
                </a:rPr>
                <a:t>‌</a:t>
              </a:r>
            </a:p>
            <a:p>
              <a:pPr algn="l">
                <a:lnSpc>
                  <a:spcPts val="2250"/>
                </a:lnSpc>
              </a:pPr>
              <a:endParaRPr lang="en-US" sz="1500">
                <a:solidFill>
                  <a:srgbClr val="000000"/>
                </a:solidFill>
                <a:latin typeface="Arial MT Pro"/>
                <a:ea typeface="Arial MT Pro"/>
                <a:cs typeface="Arial MT Pro"/>
                <a:sym typeface="Arial MT Pro"/>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587459"/>
            <a:ext cx="3686542" cy="1117763"/>
            <a:chOff x="0" y="0"/>
            <a:chExt cx="4915389" cy="1490351"/>
          </a:xfrm>
        </p:grpSpPr>
        <p:sp>
          <p:nvSpPr>
            <p:cNvPr id="3" name="Freeform 3"/>
            <p:cNvSpPr/>
            <p:nvPr/>
          </p:nvSpPr>
          <p:spPr>
            <a:xfrm>
              <a:off x="0" y="0"/>
              <a:ext cx="4915389" cy="1490351"/>
            </a:xfrm>
            <a:custGeom>
              <a:avLst/>
              <a:gdLst/>
              <a:ahLst/>
              <a:cxnLst/>
              <a:rect l="l" t="t" r="r" b="b"/>
              <a:pathLst>
                <a:path w="4915389" h="1490351">
                  <a:moveTo>
                    <a:pt x="0" y="0"/>
                  </a:moveTo>
                  <a:lnTo>
                    <a:pt x="4915389" y="0"/>
                  </a:lnTo>
                  <a:lnTo>
                    <a:pt x="4915389" y="1490351"/>
                  </a:lnTo>
                  <a:lnTo>
                    <a:pt x="0" y="1490351"/>
                  </a:lnTo>
                  <a:close/>
                </a:path>
              </a:pathLst>
            </a:custGeom>
          </p:spPr>
        </p:sp>
        <p:sp>
          <p:nvSpPr>
            <p:cNvPr id="4" name="TextBox 4"/>
            <p:cNvSpPr txBox="1"/>
            <p:nvPr/>
          </p:nvSpPr>
          <p:spPr>
            <a:xfrm>
              <a:off x="0" y="-114300"/>
              <a:ext cx="4915389"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References</a:t>
              </a:r>
            </a:p>
          </p:txBody>
        </p:sp>
      </p:grpSp>
      <p:grpSp>
        <p:nvGrpSpPr>
          <p:cNvPr id="5" name="Group 5"/>
          <p:cNvGrpSpPr/>
          <p:nvPr/>
        </p:nvGrpSpPr>
        <p:grpSpPr>
          <a:xfrm>
            <a:off x="1028700" y="1705222"/>
            <a:ext cx="16230600" cy="14565630"/>
            <a:chOff x="0" y="0"/>
            <a:chExt cx="21640800" cy="19420840"/>
          </a:xfrm>
        </p:grpSpPr>
        <p:sp>
          <p:nvSpPr>
            <p:cNvPr id="6" name="Freeform 6"/>
            <p:cNvSpPr/>
            <p:nvPr/>
          </p:nvSpPr>
          <p:spPr>
            <a:xfrm>
              <a:off x="0" y="0"/>
              <a:ext cx="21640800" cy="19420839"/>
            </a:xfrm>
            <a:custGeom>
              <a:avLst/>
              <a:gdLst/>
              <a:ahLst/>
              <a:cxnLst/>
              <a:rect l="l" t="t" r="r" b="b"/>
              <a:pathLst>
                <a:path w="21640800" h="19420839">
                  <a:moveTo>
                    <a:pt x="0" y="0"/>
                  </a:moveTo>
                  <a:lnTo>
                    <a:pt x="21640800" y="0"/>
                  </a:lnTo>
                  <a:lnTo>
                    <a:pt x="21640800" y="19420839"/>
                  </a:lnTo>
                  <a:lnTo>
                    <a:pt x="0" y="19420839"/>
                  </a:lnTo>
                  <a:close/>
                </a:path>
              </a:pathLst>
            </a:custGeom>
          </p:spPr>
        </p:sp>
        <p:sp>
          <p:nvSpPr>
            <p:cNvPr id="7" name="TextBox 7"/>
            <p:cNvSpPr txBox="1"/>
            <p:nvPr/>
          </p:nvSpPr>
          <p:spPr>
            <a:xfrm>
              <a:off x="0" y="-76200"/>
              <a:ext cx="21640800" cy="19497040"/>
            </a:xfrm>
            <a:prstGeom prst="rect">
              <a:avLst/>
            </a:prstGeom>
          </p:spPr>
          <p:txBody>
            <a:bodyPr lIns="0" tIns="0" rIns="0" bIns="0" rtlCol="0" anchor="t"/>
            <a:lstStyle/>
            <a:p>
              <a:pPr algn="l">
                <a:lnSpc>
                  <a:spcPts val="2250"/>
                </a:lnSpc>
              </a:pPr>
              <a:r>
                <a:rPr lang="en-US" sz="1500">
                  <a:solidFill>
                    <a:srgbClr val="000000"/>
                  </a:solidFill>
                  <a:latin typeface="Arial MT Pro"/>
                  <a:ea typeface="Arial MT Pro"/>
                  <a:cs typeface="Arial MT Pro"/>
                  <a:sym typeface="Arial MT Pro"/>
                </a:rPr>
                <a:t>DataCalculus (2025) Using Regular Expressions for Efficient Data Cleaning. [Online] DataCalculus. Available from : https://datacalculus.com/en/knowledge-hub/data-analytics/data-cleaning-and-preprocessing/using-regular-expressions-for-data-cleaning [Accessed 24/04/25].</a:t>
              </a:r>
            </a:p>
            <a:p>
              <a:pPr algn="l">
                <a:lnSpc>
                  <a:spcPts val="2250"/>
                </a:lnSpc>
              </a:pPr>
              <a:r>
                <a:rPr lang="en-US" sz="1500">
                  <a:solidFill>
                    <a:srgbClr val="000000"/>
                  </a:solidFill>
                  <a:latin typeface="Arial MT Pro"/>
                  <a:ea typeface="Arial MT Pro"/>
                  <a:cs typeface="Arial MT Pro"/>
                  <a:sym typeface="Arial MT Pro"/>
                </a:rPr>
                <a:t>Dixon, D. (2010) The Quest To Make Web Data ‘Fun’. [Online] WIRED. Available from : https://www.wired.com/2010/02/the-quest-to-make-web-data-fun [Accessed 24/04/25].</a:t>
              </a:r>
            </a:p>
            <a:p>
              <a:pPr algn="l">
                <a:lnSpc>
                  <a:spcPts val="2250"/>
                </a:lnSpc>
              </a:pPr>
              <a:r>
                <a:rPr lang="en-US" sz="1500">
                  <a:solidFill>
                    <a:srgbClr val="000000"/>
                  </a:solidFill>
                  <a:latin typeface="Arial MT Pro"/>
                  <a:ea typeface="Arial MT Pro"/>
                  <a:cs typeface="Arial MT Pro"/>
                  <a:sym typeface="Arial MT Pro"/>
                </a:rPr>
                <a:t>Excel’s Advantages and Disadvantages in Data Analysis - esProc SPL Official Blog. (2025b) [Online] esProc SPL Official Blog. Available from : https://blog.esproc.com/excels-advantages-and-disadvantages-in-data-analysis [Accessed 24/04/25].</a:t>
              </a:r>
            </a:p>
            <a:p>
              <a:pPr algn="l">
                <a:lnSpc>
                  <a:spcPts val="2250"/>
                </a:lnSpc>
              </a:pPr>
              <a:r>
                <a:rPr lang="en-US" sz="1500">
                  <a:solidFill>
                    <a:srgbClr val="000000"/>
                  </a:solidFill>
                  <a:latin typeface="Arial MT Pro"/>
                  <a:ea typeface="Arial MT Pro"/>
                  <a:cs typeface="Arial MT Pro"/>
                  <a:sym typeface="Arial MT Pro"/>
                </a:rPr>
                <a:t>Florida Museum (2025) Victim Activity During Attacks. [Online] International Shark Attack File. Available from : https://www.floridamuseum.ufl.edu/shark-attacks/factors/victim-activity [Accessed 24/04/25].</a:t>
              </a:r>
            </a:p>
            <a:p>
              <a:pPr algn="l">
                <a:lnSpc>
                  <a:spcPts val="2250"/>
                </a:lnSpc>
              </a:pPr>
              <a:r>
                <a:rPr lang="en-US" sz="1500">
                  <a:solidFill>
                    <a:srgbClr val="000000"/>
                  </a:solidFill>
                  <a:latin typeface="Arial MT Pro"/>
                  <a:ea typeface="Arial MT Pro"/>
                  <a:cs typeface="Arial MT Pro"/>
                  <a:sym typeface="Arial MT Pro"/>
                </a:rPr>
                <a:t>Florida Museum (2024) Yearly Worldwide Shark Attack Summary. [Online] International Shark Attack File. Available from : https://www.floridamuseum.ufl.edu/shark-attacks/yearly-worldwide-summary</a:t>
              </a:r>
            </a:p>
            <a:p>
              <a:pPr algn="l">
                <a:lnSpc>
                  <a:spcPts val="2250"/>
                </a:lnSpc>
              </a:pPr>
              <a:r>
                <a:rPr lang="en-US" sz="1500">
                  <a:solidFill>
                    <a:srgbClr val="000000"/>
                  </a:solidFill>
                  <a:latin typeface="Arial MT Pro"/>
                  <a:ea typeface="Arial MT Pro"/>
                  <a:cs typeface="Arial MT Pro"/>
                  <a:sym typeface="Arial MT Pro"/>
                </a:rPr>
                <a:t>GeeksforGeeks (2019) Elbow Method for optimal value of k in KMeans. [Online] GeeksforGeeks. Available from : https://www.geeksforgeeks.org/elbow-method-for-optimal-value-of-k-in-kmeans [Accessed 24/04/25].</a:t>
              </a:r>
            </a:p>
            <a:p>
              <a:pPr algn="l">
                <a:lnSpc>
                  <a:spcPts val="2250"/>
                </a:lnSpc>
              </a:pPr>
              <a:r>
                <a:rPr lang="en-US" sz="1500">
                  <a:solidFill>
                    <a:srgbClr val="000000"/>
                  </a:solidFill>
                  <a:latin typeface="Arial MT Pro"/>
                  <a:ea typeface="Arial MT Pro"/>
                  <a:cs typeface="Arial MT Pro"/>
                  <a:sym typeface="Arial MT Pro"/>
                </a:rPr>
                <a:t>GeeksforGeeks (2024a) Overcoming Big Data Challenges: Strategies for Efficient Management and Analysis. [Online] GeeksforGeeks. Available from : https://www.geeksforgeeks.org/overcoming-big-data-challenges-strategies-for-efficient-management-and-analysis/.</a:t>
              </a:r>
            </a:p>
            <a:p>
              <a:pPr algn="l">
                <a:lnSpc>
                  <a:spcPts val="2250"/>
                </a:lnSpc>
              </a:pPr>
              <a:r>
                <a:rPr lang="en-US" sz="1500">
                  <a:solidFill>
                    <a:srgbClr val="000000"/>
                  </a:solidFill>
                  <a:latin typeface="Arial MT Pro"/>
                  <a:ea typeface="Arial MT Pro"/>
                  <a:cs typeface="Arial MT Pro"/>
                  <a:sym typeface="Arial MT Pro"/>
                </a:rPr>
                <a:t>GeeksforGeeks (2024b) Overfitting in Decision Tree Models. [Online] GeeksforGeeks. Available from : https://www.geeksforgeeks.org/overfitting-in-decision-tree-models/</a:t>
              </a:r>
            </a:p>
            <a:p>
              <a:pPr algn="l">
                <a:lnSpc>
                  <a:spcPts val="2250"/>
                </a:lnSpc>
              </a:pPr>
              <a:r>
                <a:rPr lang="en-US" sz="1500">
                  <a:solidFill>
                    <a:srgbClr val="000000"/>
                  </a:solidFill>
                  <a:latin typeface="Arial MT Pro"/>
                  <a:ea typeface="Arial MT Pro"/>
                  <a:cs typeface="Arial MT Pro"/>
                  <a:sym typeface="Arial MT Pro"/>
                </a:rPr>
                <a:t>Global Shark (2025) Shark Research Institute. [Online] Shark Research Institute. Available from : https://www.sharks.org/global-shark-attack-file [Accessed 24/04/25].</a:t>
              </a:r>
            </a:p>
            <a:p>
              <a:pPr algn="l">
                <a:lnSpc>
                  <a:spcPts val="2250"/>
                </a:lnSpc>
              </a:pPr>
              <a:r>
                <a:rPr lang="en-US" sz="1500">
                  <a:solidFill>
                    <a:srgbClr val="000000"/>
                  </a:solidFill>
                  <a:latin typeface="Arial MT Pro"/>
                  <a:ea typeface="Arial MT Pro"/>
                  <a:cs typeface="Arial MT Pro"/>
                  <a:sym typeface="Arial MT Pro"/>
                </a:rPr>
                <a:t>Hayes, A. (2024) Autoregressive Integrated Moving Average (ARIMA) Prediction Model. [Online] Investopedia. Available from : https://www.investopedia.com/terms/a/autoregressive-integrated-moving-average-arima.asp [Accessed 24/04/25].</a:t>
              </a:r>
            </a:p>
            <a:p>
              <a:pPr algn="l">
                <a:lnSpc>
                  <a:spcPts val="2250"/>
                </a:lnSpc>
              </a:pPr>
              <a:r>
                <a:rPr lang="en-US" sz="1500">
                  <a:solidFill>
                    <a:srgbClr val="000000"/>
                  </a:solidFill>
                  <a:latin typeface="Arial MT Pro"/>
                  <a:ea typeface="Arial MT Pro"/>
                  <a:cs typeface="Arial MT Pro"/>
                  <a:sym typeface="Arial MT Pro"/>
                </a:rPr>
                <a:t>Kluger, J. (2023) Are Shark Attacks Increasing? Here Are What the Data Say. [Online] TIME. Available from : https://time.com/6292696/shark-attack-data-2023 [Accessed 24/04/25].</a:t>
              </a:r>
            </a:p>
            <a:p>
              <a:pPr algn="l">
                <a:lnSpc>
                  <a:spcPts val="2250"/>
                </a:lnSpc>
              </a:pPr>
              <a:r>
                <a:rPr lang="en-US" sz="1500">
                  <a:solidFill>
                    <a:srgbClr val="000000"/>
                  </a:solidFill>
                  <a:latin typeface="Arial MT Pro"/>
                  <a:ea typeface="Arial MT Pro"/>
                  <a:cs typeface="Arial MT Pro"/>
                  <a:sym typeface="Arial MT Pro"/>
                </a:rPr>
                <a:t>Kumar, B. (2025) Data Preprocessing In Machine Learning. [Online] Python Guides. Available from : https://pythonguides.com/data-preprocessing-in-machine-learning [Accessed 24/04/25].</a:t>
              </a:r>
            </a:p>
            <a:p>
              <a:pPr algn="l">
                <a:lnSpc>
                  <a:spcPts val="2250"/>
                </a:lnSpc>
              </a:pPr>
              <a:r>
                <a:rPr lang="en-US" sz="1500">
                  <a:solidFill>
                    <a:srgbClr val="000000"/>
                  </a:solidFill>
                  <a:latin typeface="Arial MT Pro"/>
                  <a:ea typeface="Arial MT Pro"/>
                  <a:cs typeface="Arial MT Pro"/>
                  <a:sym typeface="Arial MT Pro"/>
                </a:rPr>
                <a:t>McGuire, D. (2024) Ten Tips to Avoid a Shark Attack – Shark Stewards. [Online] Shark Stewards. Available from : https://sharkstewards.org/ten-tips-to-avoid-a-shark-attack [Accessed 24/04/25].</a:t>
              </a:r>
            </a:p>
            <a:p>
              <a:pPr algn="l">
                <a:lnSpc>
                  <a:spcPts val="2250"/>
                </a:lnSpc>
              </a:pPr>
              <a:r>
                <a:rPr lang="en-US" sz="1500">
                  <a:solidFill>
                    <a:srgbClr val="000000"/>
                  </a:solidFill>
                  <a:latin typeface="Arial MT Pro"/>
                  <a:ea typeface="Arial MT Pro"/>
                  <a:cs typeface="Arial MT Pro"/>
                  <a:sym typeface="Arial MT Pro"/>
                </a:rPr>
                <a:t>Megafauna, M. (2017) Marine Megafauna Foundation. [Online] Marine Megafauna Foundation. Available from : https://marinemegafauna.org/human-threats-sharks-rays/habitat-loss[Accessed 24/04/25].</a:t>
              </a:r>
            </a:p>
            <a:p>
              <a:pPr algn="l">
                <a:lnSpc>
                  <a:spcPts val="2250"/>
                </a:lnSpc>
              </a:pPr>
              <a:r>
                <a:rPr lang="en-US" sz="1500">
                  <a:solidFill>
                    <a:srgbClr val="000000"/>
                  </a:solidFill>
                  <a:latin typeface="Arial MT Pro"/>
                  <a:ea typeface="Arial MT Pro"/>
                  <a:cs typeface="Arial MT Pro"/>
                  <a:sym typeface="Arial MT Pro"/>
                </a:rPr>
                <a:t>Papareddy , S. and Gotsman, T. (2025) Top 10 Python Data Visualization Libraries in 2025 · Reflex Blog. [Online] Reflex.dev. Available from : https://reflex.dev/blog/2025-10-27-top-10-data-visualization-libraries [Accessed 24/04/25].</a:t>
              </a:r>
            </a:p>
            <a:p>
              <a:pPr algn="l">
                <a:lnSpc>
                  <a:spcPts val="2250"/>
                </a:lnSpc>
              </a:pPr>
              <a:r>
                <a:rPr lang="en-US" sz="1500">
                  <a:solidFill>
                    <a:srgbClr val="000000"/>
                  </a:solidFill>
                  <a:latin typeface="Arial MT Pro"/>
                  <a:ea typeface="Arial MT Pro"/>
                  <a:cs typeface="Arial MT Pro"/>
                  <a:sym typeface="Arial MT Pro"/>
                </a:rPr>
                <a:t>Pavlenko, M. (2022) The Good and the Bad of Microsoft Power BI Data Visualization. [Online] AltexSoft. Available from : https://www.altexsoft.com/blog/power-bi-pros-cons/.</a:t>
              </a:r>
            </a:p>
            <a:p>
              <a:pPr algn="l">
                <a:lnSpc>
                  <a:spcPts val="2250"/>
                </a:lnSpc>
              </a:pPr>
              <a:endParaRPr lang="en-US" sz="1500">
                <a:solidFill>
                  <a:srgbClr val="000000"/>
                </a:solidFill>
                <a:latin typeface="Arial MT Pro"/>
                <a:ea typeface="Arial MT Pro"/>
                <a:cs typeface="Arial MT Pro"/>
                <a:sym typeface="Arial MT Pro"/>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587459"/>
            <a:ext cx="3686542" cy="1117763"/>
            <a:chOff x="0" y="0"/>
            <a:chExt cx="4915389" cy="1490351"/>
          </a:xfrm>
        </p:grpSpPr>
        <p:sp>
          <p:nvSpPr>
            <p:cNvPr id="3" name="Freeform 3"/>
            <p:cNvSpPr/>
            <p:nvPr/>
          </p:nvSpPr>
          <p:spPr>
            <a:xfrm>
              <a:off x="0" y="0"/>
              <a:ext cx="4915389" cy="1490351"/>
            </a:xfrm>
            <a:custGeom>
              <a:avLst/>
              <a:gdLst/>
              <a:ahLst/>
              <a:cxnLst/>
              <a:rect l="l" t="t" r="r" b="b"/>
              <a:pathLst>
                <a:path w="4915389" h="1490351">
                  <a:moveTo>
                    <a:pt x="0" y="0"/>
                  </a:moveTo>
                  <a:lnTo>
                    <a:pt x="4915389" y="0"/>
                  </a:lnTo>
                  <a:lnTo>
                    <a:pt x="4915389" y="1490351"/>
                  </a:lnTo>
                  <a:lnTo>
                    <a:pt x="0" y="1490351"/>
                  </a:lnTo>
                  <a:close/>
                </a:path>
              </a:pathLst>
            </a:custGeom>
          </p:spPr>
        </p:sp>
        <p:sp>
          <p:nvSpPr>
            <p:cNvPr id="4" name="TextBox 4"/>
            <p:cNvSpPr txBox="1"/>
            <p:nvPr/>
          </p:nvSpPr>
          <p:spPr>
            <a:xfrm>
              <a:off x="0" y="-114300"/>
              <a:ext cx="4915389" cy="1604651"/>
            </a:xfrm>
            <a:prstGeom prst="rect">
              <a:avLst/>
            </a:prstGeom>
          </p:spPr>
          <p:txBody>
            <a:bodyPr lIns="0" tIns="0" rIns="0" bIns="0" rtlCol="0" anchor="t"/>
            <a:lstStyle/>
            <a:p>
              <a:pPr algn="l">
                <a:lnSpc>
                  <a:spcPts val="6100"/>
                </a:lnSpc>
              </a:pPr>
              <a:r>
                <a:rPr lang="en-US" sz="4499" b="1">
                  <a:solidFill>
                    <a:srgbClr val="000000"/>
                  </a:solidFill>
                  <a:latin typeface="Poppins Bold"/>
                  <a:ea typeface="Poppins Bold"/>
                  <a:cs typeface="Poppins Bold"/>
                  <a:sym typeface="Poppins Bold"/>
                </a:rPr>
                <a:t>References</a:t>
              </a:r>
            </a:p>
          </p:txBody>
        </p:sp>
      </p:grpSp>
      <p:grpSp>
        <p:nvGrpSpPr>
          <p:cNvPr id="5" name="Group 5"/>
          <p:cNvGrpSpPr/>
          <p:nvPr/>
        </p:nvGrpSpPr>
        <p:grpSpPr>
          <a:xfrm>
            <a:off x="1028700" y="1479095"/>
            <a:ext cx="16230600" cy="14565630"/>
            <a:chOff x="0" y="0"/>
            <a:chExt cx="21640800" cy="19420840"/>
          </a:xfrm>
        </p:grpSpPr>
        <p:sp>
          <p:nvSpPr>
            <p:cNvPr id="6" name="Freeform 6"/>
            <p:cNvSpPr/>
            <p:nvPr/>
          </p:nvSpPr>
          <p:spPr>
            <a:xfrm>
              <a:off x="0" y="0"/>
              <a:ext cx="21640800" cy="19420839"/>
            </a:xfrm>
            <a:custGeom>
              <a:avLst/>
              <a:gdLst/>
              <a:ahLst/>
              <a:cxnLst/>
              <a:rect l="l" t="t" r="r" b="b"/>
              <a:pathLst>
                <a:path w="21640800" h="19420839">
                  <a:moveTo>
                    <a:pt x="0" y="0"/>
                  </a:moveTo>
                  <a:lnTo>
                    <a:pt x="21640800" y="0"/>
                  </a:lnTo>
                  <a:lnTo>
                    <a:pt x="21640800" y="19420839"/>
                  </a:lnTo>
                  <a:lnTo>
                    <a:pt x="0" y="19420839"/>
                  </a:lnTo>
                  <a:close/>
                </a:path>
              </a:pathLst>
            </a:custGeom>
          </p:spPr>
        </p:sp>
        <p:sp>
          <p:nvSpPr>
            <p:cNvPr id="7" name="TextBox 7"/>
            <p:cNvSpPr txBox="1"/>
            <p:nvPr/>
          </p:nvSpPr>
          <p:spPr>
            <a:xfrm>
              <a:off x="0" y="-76200"/>
              <a:ext cx="21640800" cy="19497040"/>
            </a:xfrm>
            <a:prstGeom prst="rect">
              <a:avLst/>
            </a:prstGeom>
          </p:spPr>
          <p:txBody>
            <a:bodyPr lIns="0" tIns="0" rIns="0" bIns="0" rtlCol="0" anchor="t"/>
            <a:lstStyle/>
            <a:p>
              <a:pPr algn="l">
                <a:lnSpc>
                  <a:spcPts val="2250"/>
                </a:lnSpc>
              </a:pPr>
              <a:endParaRPr/>
            </a:p>
            <a:p>
              <a:pPr algn="l">
                <a:lnSpc>
                  <a:spcPts val="2250"/>
                </a:lnSpc>
              </a:pPr>
              <a:r>
                <a:rPr lang="en-US" sz="1500">
                  <a:solidFill>
                    <a:srgbClr val="000000"/>
                  </a:solidFill>
                  <a:latin typeface="Arial MT Pro"/>
                  <a:ea typeface="Arial MT Pro"/>
                  <a:cs typeface="Arial MT Pro"/>
                  <a:sym typeface="Arial MT Pro"/>
                </a:rPr>
                <a:t>Pavlovych, A. (2025) Is Python Good for Data Visualization? [Online] PLANEKS. Available from : https://www.planeks.net/python-for-data-visualization/.</a:t>
              </a:r>
            </a:p>
            <a:p>
              <a:pPr algn="l">
                <a:lnSpc>
                  <a:spcPts val="2250"/>
                </a:lnSpc>
              </a:pPr>
              <a:r>
                <a:rPr lang="en-US" sz="1500">
                  <a:solidFill>
                    <a:srgbClr val="000000"/>
                  </a:solidFill>
                  <a:latin typeface="Arial MT Pro"/>
                  <a:ea typeface="Arial MT Pro"/>
                  <a:cs typeface="Arial MT Pro"/>
                  <a:sym typeface="Arial MT Pro"/>
                </a:rPr>
                <a:t>PCA for Clustering | DataScienceBase. (2025c) [Online] Datasciencebase.com. Available from : https://www.datasciencebase.com/unsupervised-ml/dimensionality-reduction-decomposition-techniques/pca-for-clustering [Accessed 24/04/25].</a:t>
              </a:r>
            </a:p>
            <a:p>
              <a:pPr algn="l">
                <a:lnSpc>
                  <a:spcPts val="2250"/>
                </a:lnSpc>
              </a:pPr>
              <a:r>
                <a:rPr lang="en-US" sz="1500">
                  <a:solidFill>
                    <a:srgbClr val="000000"/>
                  </a:solidFill>
                  <a:latin typeface="Arial MT Pro"/>
                  <a:ea typeface="Arial MT Pro"/>
                  <a:cs typeface="Arial MT Pro"/>
                  <a:sym typeface="Arial MT Pro"/>
                </a:rPr>
                <a:t>Pykes, K. (2025) Data Preprocessing: A Complete Guide with Python Examples. [Online] Datacamp.com. Available from : https://www.datacamp.com/blog/data-preprocessing.</a:t>
              </a:r>
            </a:p>
            <a:p>
              <a:pPr algn="l">
                <a:lnSpc>
                  <a:spcPts val="2250"/>
                </a:lnSpc>
              </a:pPr>
              <a:r>
                <a:rPr lang="en-US" sz="1500">
                  <a:solidFill>
                    <a:srgbClr val="000000"/>
                  </a:solidFill>
                  <a:latin typeface="Arial MT Pro"/>
                  <a:ea typeface="Arial MT Pro"/>
                  <a:cs typeface="Arial MT Pro"/>
                  <a:sym typeface="Arial MT Pro"/>
                </a:rPr>
                <a:t>Queensland Government (2022) Advance Queensland. Advance Queensland, [Online] Available from: doi.org/https://doi.org/10/1471807/sentry-6.16.1.</a:t>
              </a:r>
            </a:p>
            <a:p>
              <a:pPr algn="l">
                <a:lnSpc>
                  <a:spcPts val="2250"/>
                </a:lnSpc>
              </a:pPr>
              <a:r>
                <a:rPr lang="en-US" sz="1500">
                  <a:solidFill>
                    <a:srgbClr val="000000"/>
                  </a:solidFill>
                  <a:latin typeface="Arial MT Pro"/>
                  <a:ea typeface="Arial MT Pro"/>
                  <a:cs typeface="Arial MT Pro"/>
                  <a:sym typeface="Arial MT Pro"/>
                </a:rPr>
                <a:t>Sahil Mattoo (2023) A Complete Guide to Data Visualization in Python. [Online] Intellipaat. Available from : https://intellipaat.com/blog/what-is-data-visualization-in-python/ [Accessed 24/04/25].</a:t>
              </a:r>
            </a:p>
            <a:p>
              <a:pPr algn="l">
                <a:lnSpc>
                  <a:spcPts val="2250"/>
                </a:lnSpc>
              </a:pPr>
              <a:r>
                <a:rPr lang="en-US" sz="1500">
                  <a:solidFill>
                    <a:srgbClr val="000000"/>
                  </a:solidFill>
                  <a:latin typeface="Arial MT Pro"/>
                  <a:ea typeface="Arial MT Pro"/>
                  <a:cs typeface="Arial MT Pro"/>
                  <a:sym typeface="Arial MT Pro"/>
                </a:rPr>
                <a:t>Shaptunova, Y. (2025) Pros and Cons of Tableau Software for Data Visualization [Review] | SaM Solutions. [Online] SaM Solutions. Available from : https://sam-solutions.com/blog/tableau-software-review-pros-and-cons-of-a-bi-solution-for-data-visualization [Accessed 24/04/25].</a:t>
              </a:r>
            </a:p>
            <a:p>
              <a:pPr algn="l">
                <a:lnSpc>
                  <a:spcPts val="2250"/>
                </a:lnSpc>
              </a:pPr>
              <a:r>
                <a:rPr lang="en-US" sz="1500">
                  <a:solidFill>
                    <a:srgbClr val="000000"/>
                  </a:solidFill>
                  <a:latin typeface="Arial MT Pro"/>
                  <a:ea typeface="Arial MT Pro"/>
                  <a:cs typeface="Arial MT Pro"/>
                  <a:sym typeface="Arial MT Pro"/>
                </a:rPr>
                <a:t>Shark Smart (2016) Shark detection and deterrent technologies. [Online] SharkSmart. Available from : https://www.sharksmart.com.au/research/shark-detection-and-deterrent/ [Accessed 24/04/25].</a:t>
              </a:r>
            </a:p>
            <a:p>
              <a:pPr algn="l">
                <a:lnSpc>
                  <a:spcPts val="2250"/>
                </a:lnSpc>
              </a:pPr>
              <a:r>
                <a:rPr lang="en-US" sz="1500">
                  <a:solidFill>
                    <a:srgbClr val="000000"/>
                  </a:solidFill>
                  <a:latin typeface="Arial MT Pro"/>
                  <a:ea typeface="Arial MT Pro"/>
                  <a:cs typeface="Arial MT Pro"/>
                  <a:sym typeface="Arial MT Pro"/>
                </a:rPr>
                <a:t>Solanki, S. (2020) Scikit-Learn - Data Preprocessing [Scaling, Imputation &amp; One-Hot Encoding]. [Online] Coderzcolumn.com. Available from : https://coderzcolumn.com/tutorials/machine-learning/scikit-learn-sklearn-data-preprocessing [Accessed 24/04/25].</a:t>
              </a:r>
            </a:p>
            <a:p>
              <a:pPr algn="l">
                <a:lnSpc>
                  <a:spcPts val="2250"/>
                </a:lnSpc>
              </a:pPr>
              <a:r>
                <a:rPr lang="en-US" sz="1500">
                  <a:solidFill>
                    <a:srgbClr val="000000"/>
                  </a:solidFill>
                  <a:latin typeface="Arial MT Pro"/>
                  <a:ea typeface="Arial MT Pro"/>
                  <a:cs typeface="Arial MT Pro"/>
                  <a:sym typeface="Arial MT Pro"/>
                </a:rPr>
                <a:t>South Africa’s second National Plan of Action for the Conservation and Management of Sharks (NPOA-Sharks II).</a:t>
              </a:r>
            </a:p>
            <a:p>
              <a:pPr algn="l">
                <a:lnSpc>
                  <a:spcPts val="2250"/>
                </a:lnSpc>
              </a:pPr>
              <a:r>
                <a:rPr lang="en-US" sz="1500">
                  <a:solidFill>
                    <a:srgbClr val="000000"/>
                  </a:solidFill>
                  <a:latin typeface="Arial MT Pro"/>
                  <a:ea typeface="Arial MT Pro"/>
                  <a:cs typeface="Arial MT Pro"/>
                  <a:sym typeface="Arial MT Pro"/>
                </a:rPr>
                <a:t>Stack Overflow (2020) Applying SimpleImputer and OneHotEncoder to multiple columns at once. [Online] Stack Overflow. Available from : https://stackoverflow.com/questions/62417617/applying-simpleimputer-and-onehotencoder-to-multiple-columns-at-once?</a:t>
              </a:r>
            </a:p>
            <a:p>
              <a:pPr algn="l">
                <a:lnSpc>
                  <a:spcPts val="2250"/>
                </a:lnSpc>
              </a:pPr>
              <a:r>
                <a:rPr lang="en-US" sz="1500">
                  <a:solidFill>
                    <a:srgbClr val="000000"/>
                  </a:solidFill>
                  <a:latin typeface="Arial MT Pro"/>
                  <a:ea typeface="Arial MT Pro"/>
                  <a:cs typeface="Arial MT Pro"/>
                  <a:sym typeface="Arial MT Pro"/>
                </a:rPr>
                <a:t>Team, D. (2018) Pros and Cons of Power BI - The Bright &amp; the Dull side of visualization suite - DataFlair. [Online] DataFlair. Available from : https://data-flair.training/blogs/power-bi-advantages-and-disadvantages [Accessed 24/04/25].</a:t>
              </a:r>
            </a:p>
            <a:p>
              <a:pPr algn="l">
                <a:lnSpc>
                  <a:spcPts val="2250"/>
                </a:lnSpc>
              </a:pPr>
              <a:r>
                <a:rPr lang="en-US" sz="1500">
                  <a:solidFill>
                    <a:srgbClr val="000000"/>
                  </a:solidFill>
                  <a:latin typeface="Arial MT Pro"/>
                  <a:ea typeface="Arial MT Pro"/>
                  <a:cs typeface="Arial MT Pro"/>
                  <a:sym typeface="Arial MT Pro"/>
                </a:rPr>
                <a:t>Team, E. (2025) What would happen if sharks were extinct? - The Environmental Literacy Council. [Online] The Environmental Literacy Council. Available from : https://enviroliteracy.org/what-would-happen-if-sharks-were-extinct [Accessed 24/04/25].</a:t>
              </a:r>
            </a:p>
            <a:p>
              <a:pPr algn="l">
                <a:lnSpc>
                  <a:spcPts val="2250"/>
                </a:lnSpc>
              </a:pPr>
              <a:r>
                <a:rPr lang="en-US" sz="1500">
                  <a:solidFill>
                    <a:srgbClr val="000000"/>
                  </a:solidFill>
                  <a:latin typeface="Arial MT Pro"/>
                  <a:ea typeface="Arial MT Pro"/>
                  <a:cs typeface="Arial MT Pro"/>
                  <a:sym typeface="Arial MT Pro"/>
                </a:rPr>
                <a:t>Wang, L. et al. (2024) Novel resampling algorithms with maximal cliques for class-imbalance problems. Computers &amp; Industrial Engineering, 199, p. 110754.</a:t>
              </a:r>
            </a:p>
            <a:p>
              <a:pPr algn="l">
                <a:lnSpc>
                  <a:spcPts val="2250"/>
                </a:lnSpc>
              </a:pPr>
              <a:r>
                <a:rPr lang="en-US" sz="1500">
                  <a:solidFill>
                    <a:srgbClr val="000000"/>
                  </a:solidFill>
                  <a:latin typeface="Arial MT Pro"/>
                  <a:ea typeface="Arial MT Pro"/>
                  <a:cs typeface="Arial MT Pro"/>
                  <a:sym typeface="Arial MT Pro"/>
                </a:rPr>
                <a:t>Dimri, T., Ahmad, S. and Sharif, M. (2020) Time series analysis of climate variables using seasonal ARIMA approach. Journal of Earth System Science, 129(1), [Online] Available from: doi.org/https://doi.org/10.1007/s12040-020-01408-x.</a:t>
              </a:r>
            </a:p>
            <a:p>
              <a:pPr algn="l">
                <a:lnSpc>
                  <a:spcPts val="2250"/>
                </a:lnSpc>
              </a:pPr>
              <a:r>
                <a:rPr lang="en-US" sz="1500">
                  <a:solidFill>
                    <a:srgbClr val="000000"/>
                  </a:solidFill>
                  <a:latin typeface="Arial MT Pro"/>
                  <a:ea typeface="Arial MT Pro"/>
                  <a:cs typeface="Arial MT Pro"/>
                  <a:sym typeface="Arial MT Pro"/>
                </a:rPr>
                <a:t>elsayedibraheem (2024) GitHub - elsayedibraheem/Shark-_Attack-_Data-_Analysis-_Project: A comprehensive report on global shark attack trends and patterns. [Online] GitHub. Available from : https://github.com/elsayedibraheem/Shark-_Attack-_Data-_Analysis-_Project [Accessed 24/04/25].</a:t>
              </a:r>
            </a:p>
            <a:p>
              <a:pPr algn="l">
                <a:lnSpc>
                  <a:spcPts val="2250"/>
                </a:lnSpc>
              </a:pPr>
              <a:r>
                <a:rPr lang="en-US" sz="1500">
                  <a:solidFill>
                    <a:srgbClr val="000000"/>
                  </a:solidFill>
                  <a:latin typeface="Arial MT Pro"/>
                  <a:ea typeface="Arial MT Pro"/>
                  <a:cs typeface="Arial MT Pro"/>
                  <a:sym typeface="Arial MT Pro"/>
                </a:rPr>
                <a:t>Valenti, E. (2023) Forecasting Shark Attack Risk Using AI: A Deep Learning Approach. Journal of Data Analysis and Information Processing, 11(04), pp. 360–370.</a:t>
              </a:r>
            </a:p>
            <a:p>
              <a:pPr algn="l">
                <a:lnSpc>
                  <a:spcPts val="2250"/>
                </a:lnSpc>
              </a:pPr>
              <a:r>
                <a:rPr lang="en-US" sz="1500">
                  <a:solidFill>
                    <a:srgbClr val="000000"/>
                  </a:solidFill>
                  <a:latin typeface="Arial MT Pro"/>
                  <a:ea typeface="Arial MT Pro"/>
                  <a:cs typeface="Arial MT Pro"/>
                  <a:sym typeface="Arial MT Pro"/>
                </a:rPr>
                <a:t>Felipe_Esc (2021) Shark attack dataset. [Online] Kaggle.com. Available from : https://www.kaggle.com/datasets/felipeesc/shark-attack-dataset/data [Accessed 29/03/25].</a:t>
              </a:r>
            </a:p>
            <a:p>
              <a:pPr algn="l">
                <a:lnSpc>
                  <a:spcPts val="2250"/>
                </a:lnSpc>
              </a:pPr>
              <a:r>
                <a:rPr lang="en-US" sz="1500">
                  <a:solidFill>
                    <a:srgbClr val="000000"/>
                  </a:solidFill>
                  <a:latin typeface="Arial MT Pro"/>
                  <a:ea typeface="Arial MT Pro"/>
                  <a:cs typeface="Arial MT Pro"/>
                  <a:sym typeface="Arial MT Pro"/>
                </a:rPr>
                <a:t>Why study shark attacks? (2025) [Online] Sharkattackfile.net. Available from : https://www.sharkattackfile.net/whystudy.htm [Accessed 29/03/25].</a:t>
              </a:r>
            </a:p>
            <a:p>
              <a:pPr algn="l">
                <a:lnSpc>
                  <a:spcPts val="2250"/>
                </a:lnSpc>
              </a:pPr>
              <a:r>
                <a:rPr lang="en-US" sz="1500">
                  <a:solidFill>
                    <a:srgbClr val="000000"/>
                  </a:solidFill>
                  <a:latin typeface="Arial MT Pro"/>
                  <a:ea typeface="Arial MT Pro"/>
                  <a:cs typeface="Arial MT Pro"/>
                  <a:sym typeface="Arial MT Pro"/>
                </a:rPr>
                <a:t>N-Enzer (2020) SharkAttackAnalysis/Shark Attacks.ipynb at main · N-Enzer/SharkAttackAnalysis. [Online] GitHub. Available from : https://github.com/N-Enzer/SharkAttackAnalysis/blob/main/Shark%20Attacks.ipynb [Accessed 29/04/25].</a:t>
              </a:r>
            </a:p>
            <a:p>
              <a:pPr algn="l">
                <a:lnSpc>
                  <a:spcPts val="2250"/>
                </a:lnSpc>
              </a:pPr>
              <a:endParaRPr lang="en-US" sz="1500">
                <a:solidFill>
                  <a:srgbClr val="000000"/>
                </a:solidFill>
                <a:latin typeface="Arial MT Pro"/>
                <a:ea typeface="Arial MT Pro"/>
                <a:cs typeface="Arial MT Pro"/>
                <a:sym typeface="Arial MT Pro"/>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15401</Words>
  <Application>Microsoft Office PowerPoint</Application>
  <PresentationFormat>Custom</PresentationFormat>
  <Paragraphs>877</Paragraphs>
  <Slides>70</Slides>
  <Notes>68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70</vt:i4>
      </vt:variant>
    </vt:vector>
  </HeadingPairs>
  <TitlesOfParts>
    <vt:vector size="80" baseType="lpstr">
      <vt:lpstr>Poppins Bold</vt:lpstr>
      <vt:lpstr>Arial MT Pro Italics</vt:lpstr>
      <vt:lpstr>Arial</vt:lpstr>
      <vt:lpstr>Canva Sans Bold</vt:lpstr>
      <vt:lpstr>Arial MT Pro Bold</vt:lpstr>
      <vt:lpstr>Calibri</vt:lpstr>
      <vt:lpstr>Arial MT Pro</vt:lpstr>
      <vt:lpstr>Canva Sans</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26-33 - ANG, AMANDA - SLIDE.pptx</dc:title>
  <cp:lastModifiedBy>Amanda Ang</cp:lastModifiedBy>
  <cp:revision>2</cp:revision>
  <dcterms:created xsi:type="dcterms:W3CDTF">2006-08-16T00:00:00Z</dcterms:created>
  <dcterms:modified xsi:type="dcterms:W3CDTF">2026-10-17T05:34:21Z</dcterms:modified>
  <dc:identifier>DAGkBkXP5v4</dc:identifier>
</cp:coreProperties>
</file>